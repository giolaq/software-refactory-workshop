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f35c68af6343b8" /><Relationship Type="http://schemas.openxmlformats.org/officeDocument/2006/relationships/extended-properties" Target="/docProps/app.xml" Id="R13a792e50d9a479c" /><Relationship Type="http://schemas.openxmlformats.org/officeDocument/2006/relationships/officeDocument" Target="/ppt/presentation.xml" Id="Rea89f9dc0361463c" /></Relationships>
</file>

<file path=ppt/presentation.xml><?xml version="1.0" encoding="utf-8"?>
<p:presentation xmlns:p="http://schemas.openxmlformats.org/presentationml/2006/main">
  <p:sldMasterIdLst>
    <p:sldMasterId xmlns:r="http://schemas.openxmlformats.org/officeDocument/2006/relationships" id="2147483648" r:id="R156e22ffeb744139"/>
  </p:sldMasterIdLst>
  <p:notesMasterIdLst>
    <p:notesMasterId xmlns:r="http://schemas.openxmlformats.org/officeDocument/2006/relationships" r:id="R36cb97746c884d2e"/>
  </p:notesMasterIdLst>
  <p:sldIdLst>
    <p:sldId xmlns:r="http://schemas.openxmlformats.org/officeDocument/2006/relationships" id="256" r:id="Reabd5c9b56db4b08"/>
    <p:sldId xmlns:r="http://schemas.openxmlformats.org/officeDocument/2006/relationships" id="257" r:id="Rb770cfe1665e4331"/>
    <p:sldId xmlns:r="http://schemas.openxmlformats.org/officeDocument/2006/relationships" id="258" r:id="Raf730594b2c24460"/>
    <p:sldId xmlns:r="http://schemas.openxmlformats.org/officeDocument/2006/relationships" id="259" r:id="Rb451572507824c34"/>
    <p:sldId xmlns:r="http://schemas.openxmlformats.org/officeDocument/2006/relationships" id="260" r:id="Rf00c4174e3984ec0"/>
    <p:sldId xmlns:r="http://schemas.openxmlformats.org/officeDocument/2006/relationships" id="261" r:id="R65fded5bdbb947c1"/>
    <p:sldId xmlns:r="http://schemas.openxmlformats.org/officeDocument/2006/relationships" id="262" r:id="Rbb1433b7b9e54fe6"/>
    <p:sldId xmlns:r="http://schemas.openxmlformats.org/officeDocument/2006/relationships" id="263" r:id="R0d2030c9922c4cd8"/>
    <p:sldId xmlns:r="http://schemas.openxmlformats.org/officeDocument/2006/relationships" id="264" r:id="R32bcf457547a4916"/>
    <p:sldId xmlns:r="http://schemas.openxmlformats.org/officeDocument/2006/relationships" id="265" r:id="Rcb67b48813f44f8e"/>
    <p:sldId xmlns:r="http://schemas.openxmlformats.org/officeDocument/2006/relationships" id="266" r:id="Rbb497b09464e4c83"/>
    <p:sldId xmlns:r="http://schemas.openxmlformats.org/officeDocument/2006/relationships" id="267" r:id="Refd5615271b84482"/>
    <p:sldId xmlns:r="http://schemas.openxmlformats.org/officeDocument/2006/relationships" id="268" r:id="Re7cf521cd78b49c7"/>
    <p:sldId xmlns:r="http://schemas.openxmlformats.org/officeDocument/2006/relationships" id="269" r:id="R50fca80f239749c9"/>
    <p:sldId xmlns:r="http://schemas.openxmlformats.org/officeDocument/2006/relationships" id="270" r:id="Rd910e95e33f04bde"/>
    <p:sldId xmlns:r="http://schemas.openxmlformats.org/officeDocument/2006/relationships" id="271" r:id="R6508d8be23a5436c"/>
    <p:sldId xmlns:r="http://schemas.openxmlformats.org/officeDocument/2006/relationships" id="272" r:id="Rb9d98dc9e7444ea9"/>
    <p:sldId xmlns:r="http://schemas.openxmlformats.org/officeDocument/2006/relationships" id="273" r:id="Rab6ca88993ae46b3"/>
    <p:sldId xmlns:r="http://schemas.openxmlformats.org/officeDocument/2006/relationships" id="274" r:id="R890f2356767c4434"/>
    <p:sldId xmlns:r="http://schemas.openxmlformats.org/officeDocument/2006/relationships" id="275" r:id="R5f191c94a9b34f75"/>
    <p:sldId xmlns:r="http://schemas.openxmlformats.org/officeDocument/2006/relationships" id="276" r:id="Rd175ca880e704914"/>
    <p:sldId xmlns:r="http://schemas.openxmlformats.org/officeDocument/2006/relationships" id="277" r:id="Rbe0519f4cc074739"/>
    <p:sldId xmlns:r="http://schemas.openxmlformats.org/officeDocument/2006/relationships" id="278" r:id="R43ee6239ea014773"/>
    <p:sldId xmlns:r="http://schemas.openxmlformats.org/officeDocument/2006/relationships" id="279" r:id="R09bd4ebdffa54d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e180be047d487c" /><Relationship Type="http://schemas.openxmlformats.org/officeDocument/2006/relationships/slideMaster" Target="/ppt/slideMasters/slideMaster1.xml" Id="R156e22ffeb744139" /><Relationship Type="http://schemas.openxmlformats.org/officeDocument/2006/relationships/notesMaster" Target="/ppt/notesMasters/notesMaster1.xml" Id="R36cb97746c884d2e" /><Relationship Type="http://schemas.openxmlformats.org/officeDocument/2006/relationships/presProps" Target="/ppt/presProps.xml" Id="R9d1838e30a904126" /><Relationship Type="http://schemas.openxmlformats.org/officeDocument/2006/relationships/tableStyles" Target="/ppt/tableStyles.xml" Id="R5346db0a0ff945c4" /><Relationship Type="http://schemas.openxmlformats.org/officeDocument/2006/relationships/slide" Target="/ppt/slides/slide1.xml" Id="Reabd5c9b56db4b08" /><Relationship Type="http://schemas.openxmlformats.org/officeDocument/2006/relationships/slide" Target="/ppt/slides/slide2.xml" Id="Rb770cfe1665e4331" /><Relationship Type="http://schemas.openxmlformats.org/officeDocument/2006/relationships/slide" Target="/ppt/slides/slide3.xml" Id="Raf730594b2c24460" /><Relationship Type="http://schemas.openxmlformats.org/officeDocument/2006/relationships/slide" Target="/ppt/slides/slide4.xml" Id="Rb451572507824c34" /><Relationship Type="http://schemas.openxmlformats.org/officeDocument/2006/relationships/slide" Target="/ppt/slides/slide5.xml" Id="Rf00c4174e3984ec0" /><Relationship Type="http://schemas.openxmlformats.org/officeDocument/2006/relationships/slide" Target="/ppt/slides/slide6.xml" Id="R65fded5bdbb947c1" /><Relationship Type="http://schemas.openxmlformats.org/officeDocument/2006/relationships/slide" Target="/ppt/slides/slide7.xml" Id="Rbb1433b7b9e54fe6" /><Relationship Type="http://schemas.openxmlformats.org/officeDocument/2006/relationships/slide" Target="/ppt/slides/slide8.xml" Id="R0d2030c9922c4cd8" /><Relationship Type="http://schemas.openxmlformats.org/officeDocument/2006/relationships/slide" Target="/ppt/slides/slide9.xml" Id="R32bcf457547a4916" /><Relationship Type="http://schemas.openxmlformats.org/officeDocument/2006/relationships/slide" Target="/ppt/slides/slide10.xml" Id="Rcb67b48813f44f8e" /><Relationship Type="http://schemas.openxmlformats.org/officeDocument/2006/relationships/slide" Target="/ppt/slides/slide11.xml" Id="Rbb497b09464e4c83" /><Relationship Type="http://schemas.openxmlformats.org/officeDocument/2006/relationships/slide" Target="/ppt/slides/slide12.xml" Id="Refd5615271b84482" /><Relationship Type="http://schemas.openxmlformats.org/officeDocument/2006/relationships/slide" Target="/ppt/slides/slide13.xml" Id="Re7cf521cd78b49c7" /><Relationship Type="http://schemas.openxmlformats.org/officeDocument/2006/relationships/slide" Target="/ppt/slides/slide14.xml" Id="R50fca80f239749c9" /><Relationship Type="http://schemas.openxmlformats.org/officeDocument/2006/relationships/slide" Target="/ppt/slides/slide15.xml" Id="Rd910e95e33f04bde" /><Relationship Type="http://schemas.openxmlformats.org/officeDocument/2006/relationships/slide" Target="/ppt/slides/slide16.xml" Id="R6508d8be23a5436c" /><Relationship Type="http://schemas.openxmlformats.org/officeDocument/2006/relationships/slide" Target="/ppt/slides/slide17.xml" Id="Rb9d98dc9e7444ea9" /><Relationship Type="http://schemas.openxmlformats.org/officeDocument/2006/relationships/slide" Target="/ppt/slides/slide18.xml" Id="Rab6ca88993ae46b3" /><Relationship Type="http://schemas.openxmlformats.org/officeDocument/2006/relationships/slide" Target="/ppt/slides/slide19.xml" Id="R890f2356767c4434" /><Relationship Type="http://schemas.openxmlformats.org/officeDocument/2006/relationships/slide" Target="/ppt/slides/slide20.xml" Id="R5f191c94a9b34f75" /><Relationship Type="http://schemas.openxmlformats.org/officeDocument/2006/relationships/slide" Target="/ppt/slides/slide21.xml" Id="Rd175ca880e704914" /><Relationship Type="http://schemas.openxmlformats.org/officeDocument/2006/relationships/slide" Target="/ppt/slides/slide22.xml" Id="Rbe0519f4cc074739" /><Relationship Type="http://schemas.openxmlformats.org/officeDocument/2006/relationships/slide" Target="/ppt/slides/slide23.xml" Id="R43ee6239ea014773" /><Relationship Type="http://schemas.openxmlformats.org/officeDocument/2006/relationships/slide" Target="/ppt/slides/slide24.xml" Id="R09bd4ebdffa54d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83fd41fdd248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b89a3dee5b4623" /><Relationship Type="http://schemas.openxmlformats.org/officeDocument/2006/relationships/notesMaster" Target="/ppt/notesMasters/notesMaster1.xml" Id="Rb601ce6b773a47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ef1249e7864b5b" /><Relationship Type="http://schemas.openxmlformats.org/officeDocument/2006/relationships/notesMaster" Target="/ppt/notesMasters/notesMaster1.xml" Id="R13bad9a90ab743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344a5ec9e24eca" /><Relationship Type="http://schemas.openxmlformats.org/officeDocument/2006/relationships/notesMaster" Target="/ppt/notesMasters/notesMaster1.xml" Id="R48173b2270bd4e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fa293be3c74504" /><Relationship Type="http://schemas.openxmlformats.org/officeDocument/2006/relationships/notesMaster" Target="/ppt/notesMasters/notesMaster1.xml" Id="Rdae21904a2004c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bf8c6876944684" /><Relationship Type="http://schemas.openxmlformats.org/officeDocument/2006/relationships/notesMaster" Target="/ppt/notesMasters/notesMaster1.xml" Id="R18c4760cfd7142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2c9c310b4d4fca" /><Relationship Type="http://schemas.openxmlformats.org/officeDocument/2006/relationships/notesMaster" Target="/ppt/notesMasters/notesMaster1.xml" Id="R9a3ed4c3f7d147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ff7e29e7694757" /><Relationship Type="http://schemas.openxmlformats.org/officeDocument/2006/relationships/notesMaster" Target="/ppt/notesMasters/notesMaster1.xml" Id="Re3164a1497ea4e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3fd956dc9a4761" /><Relationship Type="http://schemas.openxmlformats.org/officeDocument/2006/relationships/notesMaster" Target="/ppt/notesMasters/notesMaster1.xml" Id="Rfd1fc9a254a946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4ed2f759b64cfb" /><Relationship Type="http://schemas.openxmlformats.org/officeDocument/2006/relationships/notesMaster" Target="/ppt/notesMasters/notesMaster1.xml" Id="R0b014470b2374c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a3ff148edc472e" /><Relationship Type="http://schemas.openxmlformats.org/officeDocument/2006/relationships/notesMaster" Target="/ppt/notesMasters/notesMaster1.xml" Id="R171dcacb547947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52e13fea3d49a2" /><Relationship Type="http://schemas.openxmlformats.org/officeDocument/2006/relationships/notesMaster" Target="/ppt/notesMasters/notesMaster1.xml" Id="R97df80bb0ebb47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20a21d9d43408d" /><Relationship Type="http://schemas.openxmlformats.org/officeDocument/2006/relationships/notesMaster" Target="/ppt/notesMasters/notesMaster1.xml" Id="R9df6317cf4a944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e9c9e12f454d50" /><Relationship Type="http://schemas.openxmlformats.org/officeDocument/2006/relationships/notesMaster" Target="/ppt/notesMasters/notesMaster1.xml" Id="Rb6b72e3443c24d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de914dac164822" /><Relationship Type="http://schemas.openxmlformats.org/officeDocument/2006/relationships/notesMaster" Target="/ppt/notesMasters/notesMaster1.xml" Id="R1e36d5798c164b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8471049477147ba" /><Relationship Type="http://schemas.openxmlformats.org/officeDocument/2006/relationships/notesMaster" Target="/ppt/notesMasters/notesMaster1.xml" Id="Rbdd693c206ee4eb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016a791d654555" /><Relationship Type="http://schemas.openxmlformats.org/officeDocument/2006/relationships/notesMaster" Target="/ppt/notesMasters/notesMaster1.xml" Id="R416e10e6a6e846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a30c3e545845b3" /><Relationship Type="http://schemas.openxmlformats.org/officeDocument/2006/relationships/notesMaster" Target="/ppt/notesMasters/notesMaster1.xml" Id="R2dd07265045148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efd575b4939494d" /><Relationship Type="http://schemas.openxmlformats.org/officeDocument/2006/relationships/notesMaster" Target="/ppt/notesMasters/notesMaster1.xml" Id="R6665d5bbf8a1461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c108440d0274637" /><Relationship Type="http://schemas.openxmlformats.org/officeDocument/2006/relationships/notesMaster" Target="/ppt/notesMasters/notesMaster1.xml" Id="Reb601277a47845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6edf35e8b884861" /><Relationship Type="http://schemas.openxmlformats.org/officeDocument/2006/relationships/notesMaster" Target="/ppt/notesMasters/notesMaster1.xml" Id="R48d29c95a0a5463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9d0a80e1b134e22" /><Relationship Type="http://schemas.openxmlformats.org/officeDocument/2006/relationships/notesMaster" Target="/ppt/notesMasters/notesMaster1.xml" Id="Recc751e5147540a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f65f7af93ae412f" /><Relationship Type="http://schemas.openxmlformats.org/officeDocument/2006/relationships/notesMaster" Target="/ppt/notesMasters/notesMaster1.xml" Id="R964f3d2963124f3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ebacb3394d348cf" /><Relationship Type="http://schemas.openxmlformats.org/officeDocument/2006/relationships/notesMaster" Target="/ppt/notesMasters/notesMaster1.xml" Id="Rd25304a17474464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79d7611deb54f18" /><Relationship Type="http://schemas.openxmlformats.org/officeDocument/2006/relationships/notesMaster" Target="/ppt/notesMasters/notesMaster1.xml" Id="R49c1a59470454f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Today we will follow a PRD through planning, independent tests, implementation, review, and a human merge. The running example transforms Pocket Cinema into the TableStory recipe app. Use the main sequence between workshop activities. Optional-role slides can support questions.</a:t>
            </a:r>
          </a:p>
          <a:p xmlns:a="http://schemas.openxmlformats.org/drawingml/2006/main">
            <a:r>
              <a:t>Image: workshop-guide/public/illustrations/01-from-prompt-to-evidence.png.</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Pocket Cinema is the starting application. The exercise changes its product purpose to TableStory, a recipe application. These are repository sample screenshots, not evidence that a particular Live run completed. Example outcomes later in this deck illustrate the workflow; they are not literal generated ticket specifications.</a:t>
            </a:r>
          </a:p>
          <a:p xmlns:a="http://schemas.openxmlformats.org/drawingml/2006/main">
            <a:r>
              <a:t>Images: workshop-guide/public/screenshots/pocket-cinema-before.webp and tablestory-desktop.webp.</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factory as a control layer around coding agents. Its value comes from explicit handoffs and evidence. Explain deterministic as ordinary code that follows configured rules. Human judgement remains necessary.</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planning roles run in sequence. Product approval separates intent from technical planning. A person reviews the aligned package before publishing tickets. Each dependency-ready ticket then gets QA, implementation, automated verification and Code Review. Standard uses deterministic scheduling and human merge. A role can run repeatedly, and the same provider can fill several roles.</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experts share a PRD but own distinct questions. The artifact from one becomes context for the next. Stable identifiers connect requirements to contracts, program design, tickets, and QA evidence.</a:t>
            </a:r>
          </a:p>
          <a:p xmlns:a="http://schemas.openxmlformats.org/drawingml/2006/main">
            <a:r>
              <a:t>Image: workshop-guide/public/illustrations/02-four-planning-perspectives.png.</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Makes product intent explicit before technical planning.</a:t>
            </a:r>
          </a:p>
          <a:p xmlns:a="http://schemas.openxmlformats.org/drawingml/2006/main">
            <a:r>
              <a:t/>
            </a:r>
          </a:p>
          <a:p xmlns:a="http://schemas.openxmlformats.org/drawingml/2006/main">
            <a:r>
              <a:t>Explain the incoming artifact and the artifact this role hands on. A person approves product intent before the next experts run. Example for discussion: what observable recipe behavior would prove the rebrand is more than a visual change?</a:t>
            </a:r>
          </a:p>
          <a:p xmlns:a="http://schemas.openxmlformats.org/drawingml/2006/main">
            <a:r>
              <a:t/>
            </a:r>
          </a:p>
          <a:p xmlns:a="http://schemas.openxmlformats.org/drawingml/2006/main">
            <a:r>
              <a:t>Reference and prompt instructions:</a:t>
            </a:r>
          </a:p>
          <a:p xmlns:a="http://schemas.openxmlformats.org/drawingml/2006/main">
            <a:r>
              <a:t>### 1. Product Review</a:t>
            </a:r>
          </a:p>
          <a:p xmlns:a="http://schemas.openxmlformats.org/drawingml/2006/main">
            <a:r>
              <a:t/>
            </a:r>
          </a:p>
          <a:p xmlns:a="http://schemas.openxmlformats.org/drawingml/2006/main">
            <a:r>
              <a:t>**Task:** Turn the PRD into an explicit statement of product intent. Surface</a:t>
            </a:r>
          </a:p>
          <a:p xmlns:a="http://schemas.openxmlformats.org/drawingml/2006/main">
            <a:r>
              <a:t>questions before technical planning begins.</a:t>
            </a:r>
          </a:p>
          <a:p xmlns:a="http://schemas.openxmlformats.org/drawingml/2006/main">
            <a:r>
              <a:t/>
            </a:r>
          </a:p>
          <a:p xmlns:a="http://schemas.openxmlformats.org/drawingml/2006/main">
            <a:r>
              <a:t>**Input:** Source PRD, repository inventory and Project Contract, approved Charter,</a:t>
            </a:r>
          </a:p>
          <a:p xmlns:a="http://schemas.openxmlformats.org/drawingml/2006/main">
            <a:r>
              <a:t>role contract, and applicable policy. A revision also receives the current</a:t>
            </a:r>
          </a:p>
          <a:p xmlns:a="http://schemas.openxmlformats.org/drawingml/2006/main">
            <a:r>
              <a:t>artifact and human feedback.</a:t>
            </a:r>
          </a:p>
          <a:p xmlns:a="http://schemas.openxmlformats.org/drawingml/2006/main">
            <a:r>
              <a:t/>
            </a:r>
          </a:p>
          <a:p xmlns:a="http://schemas.openxmlformats.org/drawingml/2006/main">
            <a:r>
              <a:t>**Output:** `01-product-review.json` and its factory-rendered `.md` counterpart.</a:t>
            </a:r>
          </a:p>
          <a:p xmlns:a="http://schemas.openxmlformats.org/drawingml/2006/main">
            <a:r>
              <a:t>The artifact contains the problem, users, scope, journeys, requirements with</a:t>
            </a:r>
          </a:p>
          <a:p xmlns:a="http://schemas.openxmlformats.org/drawingml/2006/main">
            <a:r>
              <a:t>stable IDs and PRD sources, success evidence, assumptions, and blocking questions.</a:t>
            </a:r>
          </a:p>
          <a:p xmlns:a="http://schemas.openxmlformats.org/drawingml/2006/main">
            <a:r>
              <a:t>A person approves the product intent before technical planning continues.</a:t>
            </a:r>
          </a:p>
          <a:p xmlns:a="http://schemas.openxmlformats.org/drawingml/2006/main">
            <a:r>
              <a:t/>
            </a:r>
          </a:p>
          <a:p xmlns:a="http://schemas.openxmlformats.org/drawingml/2006/main">
            <a:r>
              <a:t>**Prompt:**</a:t>
            </a:r>
          </a:p>
          <a:p xmlns:a="http://schemas.openxmlformats.org/drawingml/2006/main">
            <a:r>
              <a:t/>
            </a:r>
          </a:p>
          <a:p xmlns:a="http://schemas.openxmlformats.org/drawingml/2006/main">
            <a:r>
              <a:t>```text</a:t>
            </a:r>
          </a:p>
          <a:p xmlns:a="http://schemas.openxmlformats.org/drawingml/2006/main">
            <a:r>
              <a:t>You are the Product Review expert. Clarify the problem, users, observable</a:t>
            </a:r>
          </a:p>
          <a:p xmlns:a="http://schemas.openxmlformats.org/drawingml/2006/main">
            <a:r>
              <a:t>behavior, scope, journeys, success evidence, mockup needs, assumptions, and</a:t>
            </a:r>
          </a:p>
          <a:p xmlns:a="http://schemas.openxmlformats.org/drawingml/2006/main">
            <a:r>
              <a:t>blocking questions. Give requirements stable IDs R1, R2, and so on. Cite the</a:t>
            </a:r>
          </a:p>
          <a:p xmlns:a="http://schemas.openxmlformats.org/drawingml/2006/main">
            <a:r>
              <a:t>PRD section or phrase in each requirement's source. Do not design architecture</a:t>
            </a:r>
          </a:p>
          <a:p xmlns:a="http://schemas.openxmlformats.org/drawingml/2006/main">
            <a:r>
              <a:t>or create implementation tickets.</a:t>
            </a:r>
          </a:p>
          <a:p xmlns:a="http://schemas.openxmlformats.org/drawingml/2006/main">
            <a:r>
              <a:t>```</a:t>
            </a:r>
          </a:p>
          <a:p xmlns:a="http://schemas.openxmlformats.org/drawingml/2006/main">
            <a:r>
              <a:t/>
            </a:r>
          </a:p>
          <a:p xmlns:a="http://schemas.openxmlformats.org/drawingml/2006/main">
            <a:r>
              <a:t>Schema: [product_review.json](planning_schemas/product_review.json).</a:t>
            </a:r>
          </a:p>
          <a:p xmlns:a="http://schemas.openxmlformats.org/drawingml/2006/main">
            <a:r>
              <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Defines components and the contracts between them.</a:t>
            </a:r>
          </a:p>
          <a:p xmlns:a="http://schemas.openxmlformats.org/drawingml/2006/main">
            <a:r>
              <a:t/>
            </a:r>
          </a:p>
          <a:p xmlns:a="http://schemas.openxmlformats.org/drawingml/2006/main">
            <a:r>
              <a:t>Explain the incoming artifact and the artifact this role hands on. Example for discussion: which component owns recipe search, and what does its caller receive? The expert returns JSON; the factory validates it and renders the review document.</a:t>
            </a:r>
          </a:p>
          <a:p xmlns:a="http://schemas.openxmlformats.org/drawingml/2006/main">
            <a:r>
              <a:t/>
            </a:r>
          </a:p>
          <a:p xmlns:a="http://schemas.openxmlformats.org/drawingml/2006/main">
            <a:r>
              <a:t>Reference and prompt instructions:</a:t>
            </a:r>
          </a:p>
          <a:p xmlns:a="http://schemas.openxmlformats.org/drawingml/2006/main">
            <a:r>
              <a:t>### 2. System Architecture</a:t>
            </a:r>
          </a:p>
          <a:p xmlns:a="http://schemas.openxmlformats.org/drawingml/2006/main">
            <a:r>
              <a:t/>
            </a:r>
          </a:p>
          <a:p xmlns:a="http://schemas.openxmlformats.org/drawingml/2006/main">
            <a:r>
              <a:t>**Task:** Define how components work together to deliver the approved product.</a:t>
            </a:r>
          </a:p>
          <a:p xmlns:a="http://schemas.openxmlformats.org/drawingml/2006/main">
            <a:r>
              <a:t/>
            </a:r>
          </a:p>
          <a:p xmlns:a="http://schemas.openxmlformats.org/drawingml/2006/main">
            <a:r>
              <a:t>**Input:** Source PRD, Product Review, repository context, Charter, role contract,</a:t>
            </a:r>
          </a:p>
          <a:p xmlns:a="http://schemas.openxmlformats.org/drawingml/2006/main">
            <a:r>
              <a:t>and policy. The agent can inspect the existing codebase through its adapter.</a:t>
            </a:r>
          </a:p>
          <a:p xmlns:a="http://schemas.openxmlformats.org/drawingml/2006/main">
            <a:r>
              <a:t/>
            </a:r>
          </a:p>
          <a:p xmlns:a="http://schemas.openxmlformats.org/drawingml/2006/main">
            <a:r>
              <a:t>**Output:** `02-system-architecture.json` and rendered `.md`: components,</a:t>
            </a:r>
          </a:p>
          <a:p xmlns:a="http://schemas.openxmlformats.org/drawingml/2006/main">
            <a:r>
              <a:t>ownership, contracts, data models, decisions, constraints, risks, and blocking</a:t>
            </a:r>
          </a:p>
          <a:p xmlns:a="http://schemas.openxmlformats.org/drawingml/2006/main">
            <a:r>
              <a:t>questions. Requirements must have owning components.</a:t>
            </a:r>
          </a:p>
          <a:p xmlns:a="http://schemas.openxmlformats.org/drawingml/2006/main">
            <a:r>
              <a:t/>
            </a:r>
          </a:p>
          <a:p xmlns:a="http://schemas.openxmlformats.org/drawingml/2006/main">
            <a:r>
              <a:t>**Prompt:**</a:t>
            </a:r>
          </a:p>
          <a:p xmlns:a="http://schemas.openxmlformats.org/drawingml/2006/main">
            <a:r>
              <a:t/>
            </a:r>
          </a:p>
          <a:p xmlns:a="http://schemas.openxmlformats.org/drawingml/2006/main">
            <a:r>
              <a:t>```text</a:t>
            </a:r>
          </a:p>
          <a:p xmlns:a="http://schemas.openxmlformats.org/drawingml/2006/main">
            <a:r>
              <a:t>You are the System Architecture expert. Inspect the existing repository and,</a:t>
            </a:r>
          </a:p>
          <a:p xmlns:a="http://schemas.openxmlformats.org/drawingml/2006/main">
            <a:r>
              <a:t>using the approved product review, define components, ownership boundaries,</a:t>
            </a:r>
          </a:p>
          <a:p xmlns:a="http://schemas.openxmlformats.org/drawingml/2006/main">
            <a:r>
              <a:t>data models, explicit component contracts, architectural decisions,</a:t>
            </a:r>
          </a:p>
          <a:p xmlns:a="http://schemas.openxmlformats.org/drawingml/2006/main">
            <a:r>
              <a:t>constraints, and risks. Map every item to product requirement IDs. Every</a:t>
            </a:r>
          </a:p>
          <a:p xmlns:a="http://schemas.openxmlformats.org/drawingml/2006/main">
            <a:r>
              <a:t>requirement must have an owning component. Do not assign tickets or write</a:t>
            </a:r>
          </a:p>
          <a:p xmlns:a="http://schemas.openxmlformats.org/drawingml/2006/main">
            <a:r>
              <a:t>low-level implementation code.</a:t>
            </a:r>
          </a:p>
          <a:p xmlns:a="http://schemas.openxmlformats.org/drawingml/2006/main">
            <a:r>
              <a:t>```</a:t>
            </a:r>
          </a:p>
          <a:p xmlns:a="http://schemas.openxmlformats.org/drawingml/2006/main">
            <a:r>
              <a:t/>
            </a:r>
          </a:p>
          <a:p xmlns:a="http://schemas.openxmlformats.org/drawingml/2006/main">
            <a:r>
              <a:t>Schema: [system_architecture.json](planning_schemas/system_architecture.json).</a:t>
            </a:r>
          </a:p>
          <a:p xmlns:a="http://schemas.openxmlformats.org/drawingml/2006/main">
            <a:r>
              <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Turns architecture into a concrete code design.</a:t>
            </a:r>
          </a:p>
          <a:p xmlns:a="http://schemas.openxmlformats.org/drawingml/2006/main">
            <a:r>
              <a:t/>
            </a:r>
          </a:p>
          <a:p xmlns:a="http://schemas.openxmlformats.org/drawingml/2006/main">
            <a:r>
              <a:t>Explain the incoming artifact and the artifact this role hands on. Distinguish the component contract from the exact type or function that implements it. Explain a test seam as a place where a test can exercise behavior without unrelated dependencies.</a:t>
            </a:r>
          </a:p>
          <a:p xmlns:a="http://schemas.openxmlformats.org/drawingml/2006/main">
            <a:r>
              <a:t/>
            </a:r>
          </a:p>
          <a:p xmlns:a="http://schemas.openxmlformats.org/drawingml/2006/main">
            <a:r>
              <a:t>Reference and prompt instructions:</a:t>
            </a:r>
          </a:p>
          <a:p xmlns:a="http://schemas.openxmlformats.org/drawingml/2006/main">
            <a:r>
              <a:t>### 3. Program Design</a:t>
            </a:r>
          </a:p>
          <a:p xmlns:a="http://schemas.openxmlformats.org/drawingml/2006/main">
            <a:r>
              <a:t/>
            </a:r>
          </a:p>
          <a:p xmlns:a="http://schemas.openxmlformats.org/drawingml/2006/main">
            <a:r>
              <a:t>**Task:** Translate architecture into a code-level design that implementation</a:t>
            </a:r>
          </a:p>
          <a:p xmlns:a="http://schemas.openxmlformats.org/drawingml/2006/main">
            <a:r>
              <a:t>agents can follow without inventing the interfaces independently.</a:t>
            </a:r>
          </a:p>
          <a:p xmlns:a="http://schemas.openxmlformats.org/drawingml/2006/main">
            <a:r>
              <a:t/>
            </a:r>
          </a:p>
          <a:p xmlns:a="http://schemas.openxmlformats.org/drawingml/2006/main">
            <a:r>
              <a:t>**Input:** PRD, Product Review, System Architecture, repository context, Charter,</a:t>
            </a:r>
          </a:p>
          <a:p xmlns:a="http://schemas.openxmlformats.org/drawingml/2006/main">
            <a:r>
              <a:t>role contract, and policy.</a:t>
            </a:r>
          </a:p>
          <a:p xmlns:a="http://schemas.openxmlformats.org/drawingml/2006/main">
            <a:r>
              <a:t/>
            </a:r>
          </a:p>
          <a:p xmlns:a="http://schemas.openxmlformats.org/drawingml/2006/main">
            <a:r>
              <a:t>**Output:** `03-program-design.json` and rendered `.md`: modules and paths,</a:t>
            </a:r>
          </a:p>
          <a:p xmlns:a="http://schemas.openxmlformats.org/drawingml/2006/main">
            <a:r>
              <a:t>types, function signatures, call flows, errors, test seams, and traceability IDs.</a:t>
            </a:r>
          </a:p>
          <a:p xmlns:a="http://schemas.openxmlformats.org/drawingml/2006/main">
            <a:r>
              <a:t/>
            </a:r>
          </a:p>
          <a:p xmlns:a="http://schemas.openxmlformats.org/drawingml/2006/main">
            <a:r>
              <a:t>**Prompt:**</a:t>
            </a:r>
          </a:p>
          <a:p xmlns:a="http://schemas.openxmlformats.org/drawingml/2006/main">
            <a:r>
              <a:t/>
            </a:r>
          </a:p>
          <a:p xmlns:a="http://schemas.openxmlformats.org/drawingml/2006/main">
            <a:r>
              <a:t>```text</a:t>
            </a:r>
          </a:p>
          <a:p xmlns:a="http://schemas.openxmlformats.org/drawingml/2006/main">
            <a:r>
              <a:t>You are the Program Design expert. Inspect the existing code and turn the</a:t>
            </a:r>
          </a:p>
          <a:p xmlns:a="http://schemas.openxmlformats.org/drawingml/2006/main">
            <a:r>
              <a:t>approved architecture into a concrete code design: modules and paths, types,</a:t>
            </a:r>
          </a:p>
          <a:p xmlns:a="http://schemas.openxmlformats.org/drawingml/2006/main">
            <a:r>
              <a:t>function signatures, call relationships, error behavior, call flows, and test</a:t>
            </a:r>
          </a:p>
          <a:p xmlns:a="http://schemas.openxmlformats.org/drawingml/2006/main">
            <a:r>
              <a:t>seams. Use stable IDs (MOD-, TYPE-, FN-, FLOW-, TEST-), reference contracts and</a:t>
            </a:r>
          </a:p>
          <a:p xmlns:a="http://schemas.openxmlformats.org/drawingml/2006/main">
            <a:r>
              <a:t>requirements, and prefix calls outside this design with external:.</a:t>
            </a:r>
          </a:p>
          <a:p xmlns:a="http://schemas.openxmlformats.org/drawingml/2006/main">
            <a:r>
              <a:t>modules[].components must contain only component IDs copied from System</a:t>
            </a:r>
          </a:p>
          <a:p xmlns:a="http://schemas.openxmlformats.org/drawingml/2006/main">
            <a:r>
              <a:t>Architecture. Never put function IDs, type IDs, constants, or prose in</a:t>
            </a:r>
          </a:p>
          <a:p xmlns:a="http://schemas.openxmlformats.org/drawingml/2006/main">
            <a:r>
              <a:t>modules[].components. Every type and function module reference must name a</a:t>
            </a:r>
          </a:p>
          <a:p xmlns:a="http://schemas.openxmlformats.org/drawingml/2006/main">
            <a:r>
              <a:t>MOD- ID defined in this artifact. Do not create tickets.</a:t>
            </a:r>
          </a:p>
          <a:p xmlns:a="http://schemas.openxmlformats.org/drawingml/2006/main">
            <a:r>
              <a:t>```</a:t>
            </a:r>
          </a:p>
          <a:p xmlns:a="http://schemas.openxmlformats.org/drawingml/2006/main">
            <a:r>
              <a:t/>
            </a:r>
          </a:p>
          <a:p xmlns:a="http://schemas.openxmlformats.org/drawingml/2006/main">
            <a:r>
              <a:t>Schema: [program_design.json](planning_schemas/program_design.json).</a:t>
            </a:r>
          </a:p>
          <a:p xmlns:a="http://schemas.openxmlformats.org/drawingml/2006/main">
            <a:r>
              <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Creates small tickets with observable outcomes.</a:t>
            </a:r>
          </a:p>
          <a:p xmlns:a="http://schemas.openxmlformats.org/drawingml/2006/main">
            <a:r>
              <a:t/>
            </a:r>
          </a:p>
          <a:p xmlns:a="http://schemas.openxmlformats.org/drawingml/2006/main">
            <a:r>
              <a:t>Explain the incoming artifact and the artifact this role hands on. The factory checks cycles, references, coverage and file ownership. The person reviews the package before publication. Publishing issues is a separate action from starting delivery.</a:t>
            </a:r>
          </a:p>
          <a:p xmlns:a="http://schemas.openxmlformats.org/drawingml/2006/main">
            <a:r>
              <a:t/>
            </a:r>
          </a:p>
          <a:p xmlns:a="http://schemas.openxmlformats.org/drawingml/2006/main">
            <a:r>
              <a:t>Reference and prompt instructions:</a:t>
            </a:r>
          </a:p>
          <a:p xmlns:a="http://schemas.openxmlformats.org/drawingml/2006/main">
            <a:r>
              <a:t>### 4. Vertical Slices</a:t>
            </a:r>
          </a:p>
          <a:p xmlns:a="http://schemas.openxmlformats.org/drawingml/2006/main">
            <a:r>
              <a:t/>
            </a:r>
          </a:p>
          <a:p xmlns:a="http://schemas.openxmlformats.org/drawingml/2006/main">
            <a:r>
              <a:t>**Task:** Divide the aligned plan into implementable, end-to-end tickets.</a:t>
            </a:r>
          </a:p>
          <a:p xmlns:a="http://schemas.openxmlformats.org/drawingml/2006/main">
            <a:r>
              <a:t/>
            </a:r>
          </a:p>
          <a:p xmlns:a="http://schemas.openxmlformats.org/drawingml/2006/main">
            <a:r>
              <a:t>**Input:** PRD and all available upstream planning artifacts, repository context,</a:t>
            </a:r>
          </a:p>
          <a:p xmlns:a="http://schemas.openxmlformats.org/drawingml/2006/main">
            <a:r>
              <a:t>ticket-count limits, default implementation provider, Charter diff budget, role</a:t>
            </a:r>
          </a:p>
          <a:p xmlns:a="http://schemas.openxmlformats.org/drawingml/2006/main">
            <a:r>
              <a:t>contract, and policy. The prompt lists exact allowed contract and program-element</a:t>
            </a:r>
          </a:p>
          <a:p xmlns:a="http://schemas.openxmlformats.org/drawingml/2006/main">
            <a:r>
              <a:t>IDs for full planning profiles.</a:t>
            </a:r>
          </a:p>
          <a:p xmlns:a="http://schemas.openxmlformats.org/drawingml/2006/main">
            <a:r>
              <a:t/>
            </a:r>
          </a:p>
          <a:p xmlns:a="http://schemas.openxmlformats.org/drawingml/2006/main">
            <a:r>
              <a:t>**Output:** `04-vertical-slices.json` and rendered `.md`: ticket titles and scope,</a:t>
            </a:r>
          </a:p>
          <a:p xmlns:a="http://schemas.openxmlformats.org/drawingml/2006/main">
            <a:r>
              <a:t>acceptance criteria, dependencies, file ownership, required evidence, and links</a:t>
            </a:r>
          </a:p>
          <a:p xmlns:a="http://schemas.openxmlformats.org/drawingml/2006/main">
            <a:r>
              <a:t>to requirements and design elements. The factory checks coverage, cycles,</a:t>
            </a:r>
          </a:p>
          <a:p xmlns:a="http://schemas.openxmlformats.org/drawingml/2006/main">
            <a:r>
              <a:t>references, and overlapping ownership. It builds traceability and review</a:t>
            </a:r>
          </a:p>
          <a:p xmlns:a="http://schemas.openxmlformats.org/drawingml/2006/main">
            <a:r>
              <a:t>documents from the artifacts. Human approval and publication happen separately;</a:t>
            </a:r>
          </a:p>
          <a:p xmlns:a="http://schemas.openxmlformats.org/drawingml/2006/main">
            <a:r>
              <a:t>producing this JSON does not start implementation.</a:t>
            </a:r>
          </a:p>
          <a:p xmlns:a="http://schemas.openxmlformats.org/drawingml/2006/main">
            <a:r>
              <a:t/>
            </a:r>
          </a:p>
          <a:p xmlns:a="http://schemas.openxmlformats.org/drawingml/2006/main">
            <a:r>
              <a:t>**Prompt:**</a:t>
            </a:r>
          </a:p>
          <a:p xmlns:a="http://schemas.openxmlformats.org/drawingml/2006/main">
            <a:r>
              <a:t/>
            </a:r>
          </a:p>
          <a:p xmlns:a="http://schemas.openxmlformats.org/drawingml/2006/main">
            <a:r>
              <a:t>```text</a:t>
            </a:r>
          </a:p>
          <a:p xmlns:a="http://schemas.openxmlformats.org/drawingml/2006/main">
            <a:r>
              <a:t>You are the Vertical Slices expert. Divide the aligned product, architecture,</a:t>
            </a:r>
          </a:p>
          <a:p xmlns:a="http://schemas.openxmlformats.org/drawingml/2006/main">
            <a:r>
              <a:t>and program design into {minimum}-{maximum} small end-to-end tickets. Each</a:t>
            </a:r>
          </a:p>
          <a:p xmlns:a="http://schemas.openxmlformats.org/drawingml/2006/main">
            <a:r>
              <a:t>ticket must deliver an observable vertical outcome, own explicit files, name</a:t>
            </a:r>
          </a:p>
          <a:p xmlns:a="http://schemas.openxmlformats.org/drawingml/2006/main">
            <a:r>
              <a:t>QA evidence, and map requirement, contract, and program-element IDs. Every</a:t>
            </a:r>
          </a:p>
          <a:p xmlns:a="http://schemas.openxmlformats.org/drawingml/2006/main">
            <a:r>
              <a:t>program element and requirement must have an owner. Each ticket must be</a:t>
            </a:r>
          </a:p>
          <a:p xmlns:a="http://schemas.openxmlformats.org/drawingml/2006/main">
            <a:r>
              <a:t>implementable within {max_diff_lines} implementation-owned changed lines;</a:t>
            </a:r>
          </a:p>
          <a:p xmlns:a="http://schemas.openxmlformats.org/drawingml/2006/main">
            <a:r>
              <a:t>independently authored protected QA acceptance tests are measured separately.</a:t>
            </a:r>
          </a:p>
          <a:p xmlns:a="http://schemas.openxmlformats.org/drawingml/2006/main">
            <a:r>
              <a:t>Split a ticket when its production implementation is likely to exceed that</a:t>
            </a:r>
          </a:p>
          <a:p xmlns:a="http://schemas.openxmlformats.org/drawingml/2006/main">
            <a:r>
              <a:t>measurable limit. Overlapping file ownership is allowed only when one ticket</a:t>
            </a:r>
          </a:p>
          <a:p xmlns:a="http://schemas.openxmlformats.org/drawingml/2006/main">
            <a:r>
              <a:t>depends on the other. Keep the dependency graph acyclic and maximize safe</a:t>
            </a:r>
          </a:p>
          <a:p xmlns:a="http://schemas.openxmlformats.org/drawingml/2006/main">
            <a:r>
              <a:t>parallel work. Default agent to {default_agent}.</a:t>
            </a:r>
          </a:p>
          <a:p xmlns:a="http://schemas.openxmlformats.org/drawingml/2006/main">
            <a:r>
              <a:t>```</a:t>
            </a:r>
          </a:p>
          <a:p xmlns:a="http://schemas.openxmlformats.org/drawingml/2006/main">
            <a:r>
              <a:t/>
            </a:r>
          </a:p>
          <a:p xmlns:a="http://schemas.openxmlformats.org/drawingml/2006/main">
            <a:r>
              <a:t>Lean replaces that role instruction with:</a:t>
            </a:r>
          </a:p>
          <a:p xmlns:a="http://schemas.openxmlformats.org/drawingml/2006/main">
            <a:r>
              <a:t/>
            </a:r>
          </a:p>
          <a:p xmlns:a="http://schemas.openxmlformats.org/drawingml/2006/main">
            <a:r>
              <a:t>```text</a:t>
            </a:r>
          </a:p>
          <a:p xmlns:a="http://schemas.openxmlformats.org/drawingml/2006/main">
            <a:r>
              <a:t>You are the Vertical Slices expert for the Lean Factory Profile. Divide the</a:t>
            </a:r>
          </a:p>
          <a:p xmlns:a="http://schemas.openxmlformats.org/drawingml/2006/main">
            <a:r>
              <a:t>approved product intent into {minimum}-{maximum} small end-to-end tickets.</a:t>
            </a:r>
          </a:p>
          <a:p xmlns:a="http://schemas.openxmlformats.org/drawingml/2006/main">
            <a:r>
              <a:t>Each ticket must deliver an observable outcome, own explicit files, name</a:t>
            </a:r>
          </a:p>
          <a:p xmlns:a="http://schemas.openxmlformats.org/drawingml/2006/main">
            <a:r>
              <a:t>evidence from existing tests, and map product requirement IDs. Each ticket</a:t>
            </a:r>
          </a:p>
          <a:p xmlns:a="http://schemas.openxmlformats.org/drawingml/2006/main">
            <a:r>
              <a:t>must be implementable within {max_diff_lines} implementation-owned changed</a:t>
            </a:r>
          </a:p>
          <a:p xmlns:a="http://schemas.openxmlformats.org/drawingml/2006/main">
            <a:r>
              <a:t>lines; split work that is likely to exceed that measurable limit. Set</a:t>
            </a:r>
          </a:p>
          <a:p xmlns:a="http://schemas.openxmlformats.org/drawingml/2006/main">
            <a:r>
              <a:t>contract_ids and program_element_ids to empty arrays because this profile</a:t>
            </a:r>
          </a:p>
          <a:p xmlns:a="http://schemas.openxmlformats.org/drawingml/2006/main">
            <a:r>
              <a:t>intentionally omits architecture and program-design roles. Keep dependencies</a:t>
            </a:r>
          </a:p>
          <a:p xmlns:a="http://schemas.openxmlformats.org/drawingml/2006/main">
            <a:r>
              <a:t>acyclic and default agent to {default_agent}.</a:t>
            </a:r>
          </a:p>
          <a:p xmlns:a="http://schemas.openxmlformats.org/drawingml/2006/main">
            <a:r>
              <a:t>```</a:t>
            </a:r>
          </a:p>
          <a:p xmlns:a="http://schemas.openxmlformats.org/drawingml/2006/main">
            <a:r>
              <a:t/>
            </a:r>
          </a:p>
          <a:p xmlns:a="http://schemas.openxmlformats.org/drawingml/2006/main">
            <a:r>
              <a:t>Schema: [vertical_slices.json](planning_schemas/vertical_slices.json).</a:t>
            </a:r>
          </a:p>
          <a:p xmlns:a="http://schemas.openxmlformats.org/drawingml/2006/main">
            <a:r>
              <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Plan &gt; Review plan. Select System Architecture and use Request a change, then Request revision. Read the replacement artifact. Confirm revision and continue regenerates downstream work. Stale means the older downstream artifacts no longer match the revised input. Product revisions still require product approval.</a:t>
            </a:r>
          </a:p>
          <a:p xmlns:a="http://schemas.openxmlformats.org/drawingml/2006/main">
            <a:r>
              <a:t>Image: workshop-guide/public/screenshots/control-center-plan-revision.jpg.</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Writes acceptance tests before implementation starts.</a:t>
            </a:r>
          </a:p>
          <a:p xmlns:a="http://schemas.openxmlformats.org/drawingml/2006/main">
            <a:r>
              <a:t/>
            </a:r>
          </a:p>
          <a:p xmlns:a="http://schemas.openxmlformats.org/drawingml/2006/main">
            <a:r>
              <a:t>Explain the incoming artifact and the artifact this role hands on. QA adds tests. The factory constructs the focused command, validates RED, and commits accepted tests. Human test approval is a separate gate when configured. The QA role does not commit production changes.</a:t>
            </a:r>
          </a:p>
          <a:p xmlns:a="http://schemas.openxmlformats.org/drawingml/2006/main">
            <a:r>
              <a:t/>
            </a:r>
          </a:p>
          <a:p xmlns:a="http://schemas.openxmlformats.org/drawingml/2006/main">
            <a:r>
              <a:t>Reference and prompt instructions:</a:t>
            </a:r>
          </a:p>
          <a:p xmlns:a="http://schemas.openxmlformats.org/drawingml/2006/main">
            <a:r>
              <a:t>### 5. Independent QA</a:t>
            </a:r>
          </a:p>
          <a:p xmlns:a="http://schemas.openxmlformats.org/drawingml/2006/main">
            <a:r>
              <a:t/>
            </a:r>
          </a:p>
          <a:p xmlns:a="http://schemas.openxmlformats.org/drawingml/2006/main">
            <a:r>
              <a:t>**Task:** Write executable acceptance tests before implementation. Test public</a:t>
            </a:r>
          </a:p>
          <a:p xmlns:a="http://schemas.openxmlformats.org/drawingml/2006/main">
            <a:r>
              <a:t>behavior and the ticket's criteria, not the implementation agent's interpretation.</a:t>
            </a:r>
          </a:p>
          <a:p xmlns:a="http://schemas.openxmlformats.org/drawingml/2006/main">
            <a:r>
              <a:t/>
            </a:r>
          </a:p>
          <a:p xmlns:a="http://schemas.openxmlformats.org/drawingml/2006/main">
            <a:r>
              <a:t>**Input:** Ticket body, delivery planning context, repository and Charter context,</a:t>
            </a:r>
          </a:p>
          <a:p xmlns:a="http://schemas.openxmlformats.org/drawingml/2006/main">
            <a:r>
              <a:t>configured test roots and filename patterns, later verification gates, role and</a:t>
            </a:r>
          </a:p>
          <a:p xmlns:a="http://schemas.openxmlformats.org/drawingml/2006/main">
            <a:r>
              <a:t>policy rules, and any Supervisor instruction. Retries can include failed drafts,</a:t>
            </a:r>
          </a:p>
          <a:p xmlns:a="http://schemas.openxmlformats.org/drawingml/2006/main">
            <a:r>
              <a:t>runner diagnostics, or human test-review feedback.</a:t>
            </a:r>
          </a:p>
          <a:p xmlns:a="http://schemas.openxmlformats.org/drawingml/2006/main">
            <a:r>
              <a:t/>
            </a:r>
          </a:p>
          <a:p xmlns:a="http://schemas.openxmlformats.org/drawingml/2006/main">
            <a:r>
              <a:t>**Output:** New acceptance-test files within allowed roots. The factory builds</a:t>
            </a:r>
          </a:p>
          <a:p xmlns:a="http://schemas.openxmlformats.org/drawingml/2006/main">
            <a:r>
              <a:t>the focused test command, checks that it fails for a missing-behavior assertion,</a:t>
            </a:r>
          </a:p>
          <a:p xmlns:a="http://schemas.openxmlformats.org/drawingml/2006/main">
            <a:r>
              <a:t>and commits and protects the accepted files. The agent must not commit them.</a:t>
            </a:r>
          </a:p>
          <a:p xmlns:a="http://schemas.openxmlformats.org/drawingml/2006/main">
            <a:r>
              <a:t>Already-green tests, collection errors, missing dependencies, skips, and timeouts</a:t>
            </a:r>
          </a:p>
          <a:p xmlns:a="http://schemas.openxmlformats.org/drawingml/2006/main">
            <a:r>
              <a:t>do not count as valid RED evidence. Human test approval is a separate gate when</a:t>
            </a:r>
          </a:p>
          <a:p xmlns:a="http://schemas.openxmlformats.org/drawingml/2006/main">
            <a:r>
              <a:t>configured.</a:t>
            </a:r>
          </a:p>
          <a:p xmlns:a="http://schemas.openxmlformats.org/drawingml/2006/main">
            <a:r>
              <a:t/>
            </a:r>
          </a:p>
          <a:p xmlns:a="http://schemas.openxmlformats.org/drawingml/2006/main">
            <a:r>
              <a:t>**Prompt excerpts** from `make_qa_prompt()`:</a:t>
            </a:r>
          </a:p>
          <a:p xmlns:a="http://schemas.openxmlformats.org/drawingml/2006/main">
            <a:r>
              <a:t/>
            </a:r>
          </a:p>
          <a:p xmlns:a="http://schemas.openxmlformats.org/drawingml/2006/main">
            <a:r>
              <a:t>```text</a:t>
            </a:r>
          </a:p>
          <a:p xmlns:a="http://schemas.openxmlformats.org/drawingml/2006/main">
            <a:r>
              <a:t>Act as the independent QA engineer before implementation begins. Translate</a:t>
            </a:r>
          </a:p>
          <a:p xmlns:a="http://schemas.openxmlformats.org/drawingml/2006/main">
            <a:r>
              <a:t>the ticket's acceptance criteria into deterministic executable acceptance</a:t>
            </a:r>
          </a:p>
          <a:p xmlns:a="http://schemas.openxmlformats.org/drawingml/2006/main">
            <a:r>
              <a:t>tests. Inspect production code only to understand public behavior; do not</a:t>
            </a:r>
          </a:p>
          <a:p xmlns:a="http://schemas.openxmlformats.org/drawingml/2006/main">
            <a:r>
              <a:t>implement or repair the feature.</a:t>
            </a:r>
          </a:p>
          <a:p xmlns:a="http://schemas.openxmlformats.org/drawingml/2006/main">
            <a:r>
              <a:t>```</a:t>
            </a:r>
          </a:p>
          <a:p xmlns:a="http://schemas.openxmlformats.org/drawingml/2006/main">
            <a:r>
              <a:t/>
            </a:r>
          </a:p>
          <a:p xmlns:a="http://schemas.openxmlformats.org/drawingml/2006/main">
            <a:r>
              <a:t>```text</a:t>
            </a:r>
          </a:p>
          <a:p xmlns:a="http://schemas.openxmlformats.org/drawingml/2006/main">
            <a:r>
              <a:t>Include at least one assertion that detects behavior missing at the assigned</a:t>
            </a:r>
          </a:p>
          <a:p xmlns:a="http://schemas.openxmlformats.org/drawingml/2006/main">
            <a:r>
              <a:t>base revision. The factory runs the exact new files before implementation and</a:t>
            </a:r>
          </a:p>
          <a:p xmlns:a="http://schemas.openxmlformats.org/drawingml/2006/main">
            <a:r>
              <a:t>accepts red evidence only for a behavior assertion failure. Already-passing,</a:t>
            </a:r>
          </a:p>
          <a:p xmlns:a="http://schemas.openxmlformats.org/drawingml/2006/main">
            <a:r>
              <a:t>skipped, uncollectable, timed-out, or infrastructure-broken tests are rejected.</a:t>
            </a:r>
          </a:p>
          <a:p xmlns:a="http://schemas.openxmlformats.org/drawingml/2006/main">
            <a:r>
              <a:t>```</a:t>
            </a:r>
          </a:p>
          <a:p xmlns:a="http://schemas.openxmlformats.org/drawingml/2006/main">
            <a:r>
              <a:t/>
            </a:r>
          </a:p>
          <a:p xmlns:a="http://schemas.openxmlformats.org/drawingml/2006/main">
            <a:r>
              <a:t>The full test-file contract also requires deterministic, offline tests; covers</a:t>
            </a:r>
          </a:p>
          <a:p xmlns:a="http://schemas.openxmlformats.org/drawingml/2006/main">
            <a:r>
              <a:t>failure and boundary cases; forbids production changes and changes to existing</a:t>
            </a:r>
          </a:p>
          <a:p xmlns:a="http://schemas.openxmlformats.org/drawingml/2006/main">
            <a:r>
              <a:t>files except explicitly listed unaccepted drafts; and forbids assertions that</a:t>
            </a:r>
          </a:p>
          <a:p xmlns:a="http://schemas.openxmlformats.org/drawingml/2006/main">
            <a:r>
              <a:t>later approved slices' capabilities must remain absent.</a:t>
            </a:r>
          </a:p>
          <a:p xmlns:a="http://schemas.openxmlformats.org/drawingml/2006/main">
            <a:r>
              <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the audience: a test command exits with an error because pytest is missing. Does that prove the feature is absent? No. RED must be a behavior assertion failure at the QA revision. The same accepted command later proves GREEN against the candidate. Independent QA ownership means a separate assignment and protected files; it can still use the same model.</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Builds the assigned behavior in an isolated worktree.</a:t>
            </a:r>
          </a:p>
          <a:p xmlns:a="http://schemas.openxmlformats.org/drawingml/2006/main">
            <a:r>
              <a:t/>
            </a:r>
          </a:p>
          <a:p xmlns:a="http://schemas.openxmlformats.org/drawingml/2006/main">
            <a:r>
              <a:t>Explain the incoming artifact and the artifact this role hands on. The implementation must preserve independent QA test hashes. Existing repository tests follow the Charter review or protect policy. Failed gates and reviewer comments return to this role. A report is a claim for reviewers to assess, not independent approval.</a:t>
            </a:r>
          </a:p>
          <a:p xmlns:a="http://schemas.openxmlformats.org/drawingml/2006/main">
            <a:r>
              <a:t/>
            </a:r>
          </a:p>
          <a:p xmlns:a="http://schemas.openxmlformats.org/drawingml/2006/main">
            <a:r>
              <a:t>Reference and prompt instructions:</a:t>
            </a:r>
          </a:p>
          <a:p xmlns:a="http://schemas.openxmlformats.org/drawingml/2006/main">
            <a:r>
              <a:t>### 6. Implementation</a:t>
            </a:r>
          </a:p>
          <a:p xmlns:a="http://schemas.openxmlformats.org/drawingml/2006/main">
            <a:r>
              <a:t/>
            </a:r>
          </a:p>
          <a:p xmlns:a="http://schemas.openxmlformats.org/drawingml/2006/main">
            <a:r>
              <a:t>**Task:** Implement one ticket and repair its rejected candidates within the</a:t>
            </a:r>
          </a:p>
          <a:p xmlns:a="http://schemas.openxmlformats.org/drawingml/2006/main">
            <a:r>
              <a:t>approved scope and diff budget.</a:t>
            </a:r>
          </a:p>
          <a:p xmlns:a="http://schemas.openxmlformats.org/drawingml/2006/main">
            <a:r>
              <a:t/>
            </a:r>
          </a:p>
          <a:p xmlns:a="http://schemas.openxmlformats.org/drawingml/2006/main">
            <a:r>
              <a:t>**Input:** Ticket body, delivery planning context, current worktree, Project</a:t>
            </a:r>
          </a:p>
          <a:p xmlns:a="http://schemas.openxmlformats.org/drawingml/2006/main">
            <a:r>
              <a:t>Contract, Charter, required gates, existing-test policy, protected QA paths and</a:t>
            </a:r>
          </a:p>
          <a:p xmlns:a="http://schemas.openxmlformats.org/drawingml/2006/main">
            <a:r>
              <a:t>focused command, role contract, attached review evidence, and optional Supervisor</a:t>
            </a:r>
          </a:p>
          <a:p xmlns:a="http://schemas.openxmlformats.org/drawingml/2006/main">
            <a:r>
              <a:t>coordination. Retries add previous failure details and any human retry direction.</a:t>
            </a:r>
          </a:p>
          <a:p xmlns:a="http://schemas.openxmlformats.org/drawingml/2006/main">
            <a:r>
              <a:t/>
            </a:r>
          </a:p>
          <a:p xmlns:a="http://schemas.openxmlformats.org/drawingml/2006/main">
            <a:r>
              <a:t>**Output:** Committed production changes and implementation-owned tests. When</a:t>
            </a:r>
          </a:p>
          <a:p xmlns:a="http://schemas.openxmlformats.org/drawingml/2006/main">
            <a:r>
              <a:t>the ticket requires a report, an uncommitted `.factory/review-handoff.md` contains</a:t>
            </a:r>
          </a:p>
          <a:p xmlns:a="http://schemas.openxmlformats.org/drawingml/2006/main">
            <a:r>
              <a:t>the full candidate SHA, actual checks, artifact paths, and unresolved work. The</a:t>
            </a:r>
          </a:p>
          <a:p xmlns:a="http://schemas.openxmlformats.org/drawingml/2006/main">
            <a:r>
              <a:t>factory snapshots that report as implementation-authored evidence, not approval.</a:t>
            </a:r>
          </a:p>
          <a:p xmlns:a="http://schemas.openxmlformats.org/drawingml/2006/main">
            <a:r>
              <a:t/>
            </a:r>
          </a:p>
          <a:p xmlns:a="http://schemas.openxmlformats.org/drawingml/2006/main">
            <a:r>
              <a:t>**Prompt excerpts** from `make_prompt()`:</a:t>
            </a:r>
          </a:p>
          <a:p xmlns:a="http://schemas.openxmlformats.org/drawingml/2006/main">
            <a:r>
              <a:t/>
            </a:r>
          </a:p>
          <a:p xmlns:a="http://schemas.openxmlformats.org/drawingml/2006/main">
            <a:r>
              <a:t>```text</a:t>
            </a:r>
          </a:p>
          <a:p xmlns:a="http://schemas.openxmlformats.org/drawingml/2006/main">
            <a:r>
              <a:t>Make the implementation pass them. You may add other tests, but do not edit,</a:t>
            </a:r>
          </a:p>
          <a:p xmlns:a="http://schemas.openxmlformats.org/drawingml/2006/main">
            <a:r>
              <a:t>rename, delete, skip, or weaken the protected tests; the factory verifies their</a:t>
            </a:r>
          </a:p>
          <a:p xmlns:a="http://schemas.openxmlformats.org/drawingml/2006/main">
            <a:r>
              <a:t>Git hashes.</a:t>
            </a:r>
          </a:p>
          <a:p xmlns:a="http://schemas.openxmlformats.org/drawingml/2006/main">
            <a:r>
              <a:t>```</a:t>
            </a:r>
          </a:p>
          <a:p xmlns:a="http://schemas.openxmlformats.org/drawingml/2006/main">
            <a:r>
              <a:t/>
            </a:r>
          </a:p>
          <a:p xmlns:a="http://schemas.openxmlformats.org/drawingml/2006/main">
            <a:r>
              <a:t>```text</a:t>
            </a:r>
          </a:p>
          <a:p xmlns:a="http://schemas.openxmlformats.org/drawingml/2006/main">
            <a:r>
              <a:t>Commit as `factory(#{ticket_number}): &lt;summary&gt;`.</a:t>
            </a:r>
          </a:p>
          <a:p xmlns:a="http://schemas.openxmlformats.org/drawingml/2006/main">
            <a:r>
              <a:t>```</a:t>
            </a:r>
          </a:p>
          <a:p xmlns:a="http://schemas.openxmlformats.org/drawingml/2006/main">
            <a:r>
              <a:t/>
            </a:r>
          </a:p>
          <a:p xmlns:a="http://schemas.openxmlformats.org/drawingml/2006/main">
            <a:r>
              <a:t>```text</a:t>
            </a:r>
          </a:p>
          <a:p xmlns:a="http://schemas.openxmlformats.org/drawingml/2006/main">
            <a:r>
              <a:t>Work only in the current worktree. Do not change ticket scope.</a:t>
            </a:r>
          </a:p>
          <a:p xmlns:a="http://schemas.openxmlformats.org/drawingml/2006/main">
            <a:r>
              <a:t>```</a:t>
            </a:r>
          </a:p>
          <a:p xmlns:a="http://schemas.openxmlformats.org/drawingml/2006/main">
            <a:r>
              <a:t/>
            </a:r>
          </a:p>
          <a:p xmlns:a="http://schemas.openxmlformats.org/drawingml/2006/main">
            <a:r>
              <a:t>The role's ownership instruction is:</a:t>
            </a:r>
          </a:p>
          <a:p xmlns:a="http://schemas.openxmlformats.org/drawingml/2006/main">
            <a:r>
              <a:t/>
            </a:r>
          </a:p>
          <a:p xmlns:a="http://schemas.openxmlformats.org/drawingml/2006/main">
            <a:r>
              <a:t>```text</a:t>
            </a:r>
          </a:p>
          <a:p xmlns:a="http://schemas.openxmlformats.org/drawingml/2006/main">
            <a:r>
              <a:t>Production code and implementation-owned tests within the assigned Ticket scope.</a:t>
            </a:r>
          </a:p>
          <a:p xmlns:a="http://schemas.openxmlformats.org/drawingml/2006/main">
            <a:r>
              <a:t>```</a:t>
            </a:r>
          </a:p>
          <a:p xmlns:a="http://schemas.openxmlformats.org/drawingml/2006/main">
            <a:r>
              <a:t/>
            </a:r>
          </a:p>
          <a:p xmlns:a="http://schemas.openxmlformats.org/drawingml/2006/main">
            <a:r>
              <a:t>Existing repository tests follow the Charter's `review` or `protect` policy.</a:t>
            </a:r>
          </a:p>
          <a:p xmlns:a="http://schemas.openxmlformats.org/drawingml/2006/main">
            <a:r>
              <a:t>They are distinct from independently authored QA tests, which remain protected.</a:t>
            </a:r>
          </a:p>
          <a:p xmlns:a="http://schemas.openxmlformats.org/drawingml/2006/main">
            <a:r>
              <a:t>Failed gates and Code Review comments return to this role; there is no separate</a:t>
            </a:r>
          </a:p>
          <a:p xmlns:a="http://schemas.openxmlformats.org/drawingml/2006/main">
            <a:r>
              <a:t>“fix comments” agent.</a:t>
            </a:r>
          </a:p>
          <a:p xmlns:a="http://schemas.openxmlformats.org/drawingml/2006/main">
            <a:r>
              <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Ordinary factory code runs the configured commands. It checks protected-test hashes, the focused acceptance command, required gates and relevant policy checks. Advisory failures are recorded separately from required gates. These checks produce evidence for this candidate revision, and do not prove every possible property of the application.</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Assesses the exact PR candidate and requests concrete fixes.</a:t>
            </a:r>
          </a:p>
          <a:p xmlns:a="http://schemas.openxmlformats.org/drawingml/2006/main">
            <a:r>
              <a:t/>
            </a:r>
          </a:p>
          <a:p xmlns:a="http://schemas.openxmlformats.org/drawingml/2006/main">
            <a:r>
              <a:t>Explain the incoming artifact and the artifact this role hands on. Explain SHA as a commit identifier. Reviewer findings must be actionable and in changed paths. The reviewer does not modify files or execute the merge. The orchestrator validates the response and publishes it.</a:t>
            </a:r>
          </a:p>
          <a:p xmlns:a="http://schemas.openxmlformats.org/drawingml/2006/main">
            <a:r>
              <a:t/>
            </a:r>
          </a:p>
          <a:p xmlns:a="http://schemas.openxmlformats.org/drawingml/2006/main">
            <a:r>
              <a:t>Reference and prompt instructions:</a:t>
            </a:r>
          </a:p>
          <a:p xmlns:a="http://schemas.openxmlformats.org/drawingml/2006/main">
            <a:r>
              <a:t>### 7. Code Review</a:t>
            </a:r>
          </a:p>
          <a:p xmlns:a="http://schemas.openxmlformats.org/drawingml/2006/main">
            <a:r>
              <a:t/>
            </a:r>
          </a:p>
          <a:p xmlns:a="http://schemas.openxmlformats.org/drawingml/2006/main">
            <a:r>
              <a:t>**Task:** Review the exact PR candidate and either approve it or request changes.</a:t>
            </a:r>
          </a:p>
          <a:p xmlns:a="http://schemas.openxmlformats.org/drawingml/2006/main">
            <a:r>
              <a:t/>
            </a:r>
          </a:p>
          <a:p xmlns:a="http://schemas.openxmlformats.org/drawingml/2006/main">
            <a:r>
              <a:t>**Input:** Base and head SHAs, PR reference, changed paths, ticket and delivery</a:t>
            </a:r>
          </a:p>
          <a:p xmlns:a="http://schemas.openxmlformats.org/drawingml/2006/main">
            <a:r>
              <a:t>planning context, recorded gate commands and results, QA approval and RED/GREEN</a:t>
            </a:r>
          </a:p>
          <a:p xmlns:a="http://schemas.openxmlformats.org/drawingml/2006/main">
            <a:r>
              <a:t>checkpoint, protected test hashes, attached review reports, Project Contract,</a:t>
            </a:r>
          </a:p>
          <a:p xmlns:a="http://schemas.openxmlformats.org/drawingml/2006/main">
            <a:r>
              <a:t>Charter, and the measured implementation diff budget.</a:t>
            </a:r>
          </a:p>
          <a:p xmlns:a="http://schemas.openxmlformats.org/drawingml/2006/main">
            <a:r>
              <a:t/>
            </a:r>
          </a:p>
          <a:p xmlns:a="http://schemas.openxmlformats.org/drawingml/2006/main">
            <a:r>
              <a:t>**Output:** A structured `APPROVE` or `REQUEST_CHANGES` decision with summary and</a:t>
            </a:r>
          </a:p>
          <a:p xmlns:a="http://schemas.openxmlformats.org/drawingml/2006/main">
            <a:r>
              <a:t>findings. The factory validates it, checks read-only behavior, saves a review</a:t>
            </a:r>
          </a:p>
          <a:p xmlns:a="http://schemas.openxmlformats.org/drawingml/2006/main">
            <a:r>
              <a:t>artifact, and publishes the decision. Any finding sends the candidate back for</a:t>
            </a:r>
          </a:p>
          <a:p xmlns:a="http://schemas.openxmlformats.org/drawingml/2006/main">
            <a:r>
              <a:t>implementation rework. Agent approval is not human merge approval.</a:t>
            </a:r>
          </a:p>
          <a:p xmlns:a="http://schemas.openxmlformats.org/drawingml/2006/main">
            <a:r>
              <a:t/>
            </a:r>
          </a:p>
          <a:p xmlns:a="http://schemas.openxmlformats.org/drawingml/2006/main">
            <a:r>
              <a:t>**Prompt excerpts** from `make_code_review_prompt()`:</a:t>
            </a:r>
          </a:p>
          <a:p xmlns:a="http://schemas.openxmlformats.org/drawingml/2006/main">
            <a:r>
              <a:t/>
            </a:r>
          </a:p>
          <a:p xmlns:a="http://schemas.openxmlformats.org/drawingml/2006/main">
            <a:r>
              <a:t>```text</a:t>
            </a:r>
          </a:p>
          <a:p xmlns:a="http://schemas.openxmlformats.org/drawingml/2006/main">
            <a:r>
              <a:t>Review the exact candidate diff in this worktree. Use</a:t>
            </a:r>
          </a:p>
          <a:p xmlns:a="http://schemas.openxmlformats.org/drawingml/2006/main">
            <a:r>
              <a:t>`git diff {base_sha}..{head_sha}` and inspect relevant surrounding code.</a:t>
            </a:r>
          </a:p>
          <a:p xmlns:a="http://schemas.openxmlformats.org/drawingml/2006/main">
            <a:r>
              <a:t>```</a:t>
            </a:r>
          </a:p>
          <a:p xmlns:a="http://schemas.openxmlformats.org/drawingml/2006/main">
            <a:r>
              <a:t/>
            </a:r>
          </a:p>
          <a:p xmlns:a="http://schemas.openxmlformats.org/drawingml/2006/main">
            <a:r>
              <a:t>```text</a:t>
            </a:r>
          </a:p>
          <a:p xmlns:a="http://schemas.openxmlformats.org/drawingml/2006/main">
            <a:r>
              <a:t>Review for correctness, regressions, security, maintainability, and test</a:t>
            </a:r>
          </a:p>
          <a:p xmlns:a="http://schemas.openxmlformats.org/drawingml/2006/main">
            <a:r>
              <a:t>quality. Report only actionable comments in changed paths. If there is any</a:t>
            </a:r>
          </a:p>
          <a:p xmlns:a="http://schemas.openxmlformats.org/drawingml/2006/main">
            <a:r>
              <a:t>comment, return REQUEST_CHANGES so the Implementation adapter fixes every</a:t>
            </a:r>
          </a:p>
          <a:p xmlns:a="http://schemas.openxmlformats.org/drawingml/2006/main">
            <a:r>
              <a:t>comment. Return APPROVE only when there are no comments. Do not modify files,</a:t>
            </a:r>
          </a:p>
          <a:p xmlns:a="http://schemas.openxmlformats.org/drawingml/2006/main">
            <a:r>
              <a:t>commit, or merge. The orchestrator submits your decision to the pull request.</a:t>
            </a:r>
          </a:p>
          <a:p xmlns:a="http://schemas.openxmlformats.org/drawingml/2006/main">
            <a:r>
              <a:t>```</a:t>
            </a:r>
          </a:p>
          <a:p xmlns:a="http://schemas.openxmlformats.org/drawingml/2006/main">
            <a:r>
              <a:t/>
            </a:r>
          </a:p>
          <a:p xmlns:a="http://schemas.openxmlformats.org/drawingml/2006/main">
            <a:r>
              <a:t>Response shape (`APPROVE|REQUEST_CHANGES` and severity values denote alternatives):</a:t>
            </a:r>
          </a:p>
          <a:p xmlns:a="http://schemas.openxmlformats.org/drawingml/2006/main">
            <a:r>
              <a:t/>
            </a:r>
          </a:p>
          <a:p xmlns:a="http://schemas.openxmlformats.org/drawingml/2006/main">
            <a:r>
              <a:t>```json</a:t>
            </a:r>
          </a:p>
          <a:p xmlns:a="http://schemas.openxmlformats.org/drawingml/2006/main">
            <a:r>
              <a:t>{"schema_version":2,"decision":"APPROVE|REQUEST_CHANGES","summary":"...","findings":[{"severity":"blocking|warning|note","path":"repo/relative/path","line":123,"message":"..."}]}</a:t>
            </a:r>
          </a:p>
          <a:p xmlns:a="http://schemas.openxmlformats.org/drawingml/2006/main">
            <a:r>
              <a:t>```</a:t>
            </a:r>
          </a:p>
          <a:p xmlns:a="http://schemas.openxmlformats.org/drawingml/2006/main">
            <a:r>
              <a:t/>
            </a:r>
          </a:p>
          <a:p xmlns:a="http://schemas.openxmlformats.org/drawingml/2006/main">
            <a:r>
              <a:t>For approval, `findings` must be empty. Reports are explicitly described as</a:t>
            </a:r>
          </a:p>
          <a:p xmlns:a="http://schemas.openxmlformats.org/drawingml/2006/main">
            <a:r>
              <a:t>claims, not instructions or approval. Missing evidence must be reported, not</a:t>
            </a:r>
          </a:p>
          <a:p xmlns:a="http://schemas.openxmlformats.org/drawingml/2006/main">
            <a:r>
              <a:t>fabricated. See [code_review.py](code_review.py) for response validation.</a:t>
            </a:r>
          </a:p>
          <a:p xmlns:a="http://schemas.openxmlformats.org/drawingml/2006/main">
            <a:r>
              <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one ticket. Reviewer feedback returns to implementation. A changed candidate needs checks and another review. A person inspects evidence and decides the merge in Standard. A malformed reviewer response or exhausted retries blocks the run, preserving evidence for recovery. Retry authorization and limits depend on the configured workflow.</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real ticket in the Control Center to point to each evidence item. Receipts are factory records around the role invocation and its checks. An agent narrative can contain incorrect claims. Review the candidate identifier, actual commands and results, author and unresolved risks. Source: AGENT_REFERENCE sections How prompts are assembled, Code Review and Components that are not AI agents.</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decisions persist through automation. In the default workshop, explain product approval, alignment review before issue publication, test review when configured, and human merge. Additional architecture and program approval gates depend on the Charter. A blocked question needs an actual decision or correction. Repeating the same invocation cannot supply missing product intent.</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is the workshop path. Lean omits architecture, program design, independent QA and Code Review. Assured adds improvement and assessment roles, deterministic negative proof, and Supervisor checkpoints, while retaining human merge. Autonomous Demo is explicit opt-in with Supervisor-authorized merge subject to policy. A deep verification level can invoke the Critic in any profile.</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Supervisor operates between worker waves in Assured and Autonomous Demo. It gets a bounded set of recent handoff receipts and current state, not every worker conversation. Current readiness takes precedence over historical dispatches. A validated MERGE recommendation still routes Assured to human review. The orchestrator executes authorized actions.</a:t>
            </a:r>
          </a:p>
          <a:p xmlns:a="http://schemas.openxmlformats.org/drawingml/2006/main">
            <a:r>
              <a:t/>
            </a:r>
          </a:p>
          <a:p xmlns:a="http://schemas.openxmlformats.org/drawingml/2006/main">
            <a:r>
              <a:t>### Dispatch checkpoint (`supervisor`)</a:t>
            </a:r>
          </a:p>
          <a:p xmlns:a="http://schemas.openxmlformats.org/drawingml/2006/main">
            <a:r>
              <a:t/>
            </a:r>
          </a:p>
          <a:p xmlns:a="http://schemas.openxmlformats.org/drawingml/2006/main">
            <a:r>
              <a:t>**Task:** Select a safe wave of dependency-ready tickets and give concise</a:t>
            </a:r>
          </a:p>
          <a:p xmlns:a="http://schemas.openxmlformats.org/drawingml/2006/main">
            <a:r>
              <a:t>coordination instructions.</a:t>
            </a:r>
          </a:p>
          <a:p xmlns:a="http://schemas.openxmlformats.org/drawingml/2006/main">
            <a:r>
              <a:t/>
            </a:r>
          </a:p>
          <a:p xmlns:a="http://schemas.openxmlformats.org/drawingml/2006/main">
            <a:r>
              <a:t>**Input:** Current ready tickets and specifications, ticket states, dependencies,</a:t>
            </a:r>
          </a:p>
          <a:p xmlns:a="http://schemas.openxmlformats.org/drawingml/2006/main">
            <a:r>
              <a:t>failures and retry reasons, available parallel capacity, recent worker handoff</a:t>
            </a:r>
          </a:p>
          <a:p xmlns:a="http://schemas.openxmlformats.org/drawingml/2006/main">
            <a:r>
              <a:t>receipts, approved Charter, role contract, and policy. The input includes a</a:t>
            </a:r>
          </a:p>
          <a:p xmlns:a="http://schemas.openxmlformats.org/drawingml/2006/main">
            <a:r>
              <a:t>bounded selection of reports, not every worker's complete conversation.</a:t>
            </a:r>
          </a:p>
          <a:p xmlns:a="http://schemas.openxmlformats.org/drawingml/2006/main">
            <a:r>
              <a:t/>
            </a:r>
          </a:p>
          <a:p xmlns:a="http://schemas.openxmlformats.org/drawingml/2006/main">
            <a:r>
              <a:t>**Output:** Validated `dispatch` and `block` commands plus a summary. The</a:t>
            </a:r>
          </a:p>
          <a:p xmlns:a="http://schemas.openxmlformats.org/drawingml/2006/main">
            <a:r>
              <a:t>orchestrator applies them. The Supervisor cannot change scope, dependencies,</a:t>
            </a:r>
          </a:p>
          <a:p xmlns:a="http://schemas.openxmlformats.org/drawingml/2006/main">
            <a:r>
              <a:t>tests, gates, policy, or human approvals.</a:t>
            </a:r>
          </a:p>
          <a:p xmlns:a="http://schemas.openxmlformats.org/drawingml/2006/main">
            <a:r>
              <a:t/>
            </a:r>
          </a:p>
          <a:p xmlns:a="http://schemas.openxmlformats.org/drawingml/2006/main">
            <a:r>
              <a:t>**Prompt excerpt** from `_prompt()`:</a:t>
            </a:r>
          </a:p>
          <a:p xmlns:a="http://schemas.openxmlformats.org/drawingml/2006/main">
            <a:r>
              <a:t/>
            </a:r>
          </a:p>
          <a:p xmlns:a="http://schemas.openxmlformats.org/drawingml/2006/main">
            <a:r>
              <a:t>```text</a:t>
            </a:r>
          </a:p>
          <a:p xmlns:a="http://schemas.openxmlformats.org/drawingml/2006/main">
            <a:r>
              <a:t>Coordinate only the dependency-ready Tickets in the supplied state. Ticket</a:t>
            </a:r>
          </a:p>
          <a:p xmlns:a="http://schemas.openxmlformats.org/drawingml/2006/main">
            <a:r>
              <a:t>worker roles report through Handoff Receipts. Select a safe dispatch wave,</a:t>
            </a:r>
          </a:p>
          <a:p xmlns:a="http://schemas.openxmlformats.org/drawingml/2006/main">
            <a:r>
              <a:t>reduce concurrency when coordination requires it, and give each dispatched</a:t>
            </a:r>
          </a:p>
          <a:p xmlns:a="http://schemas.openxmlformats.org/drawingml/2006/main">
            <a:r>
              <a:t>Ticket one concise instruction of at most 1200 characters. The Ticket already</a:t>
            </a:r>
          </a:p>
          <a:p xmlns:a="http://schemas.openxmlformats.org/drawingml/2006/main">
            <a:r>
              <a:t>carries its approved scope, so do not repeat its specification; use the</a:t>
            </a:r>
          </a:p>
          <a:p xmlns:a="http://schemas.openxmlformats.org/drawingml/2006/main">
            <a:r>
              <a:t>instruction only for coordination guidance. Block a Ticket only when its</a:t>
            </a:r>
          </a:p>
          <a:p xmlns:a="http://schemas.openxmlformats.org/drawingml/2006/main">
            <a:r>
              <a:t>reports or current state show a concrete risk that requires intervention.</a:t>
            </a:r>
          </a:p>
          <a:p xmlns:a="http://schemas.openxmlformats.org/drawingml/2006/main">
            <a:r>
              <a:t>```</a:t>
            </a:r>
          </a:p>
          <a:p xmlns:a="http://schemas.openxmlformats.org/drawingml/2006/main">
            <a:r>
              <a:t/>
            </a:r>
          </a:p>
          <a:p xmlns:a="http://schemas.openxmlformats.org/drawingml/2006/main">
            <a:r>
              <a:t>Response shape:</a:t>
            </a:r>
          </a:p>
          <a:p xmlns:a="http://schemas.openxmlformats.org/drawingml/2006/main">
            <a:r>
              <a:t/>
            </a:r>
          </a:p>
          <a:p xmlns:a="http://schemas.openxmlformats.org/drawingml/2006/main">
            <a:r>
              <a:t>```json</a:t>
            </a:r>
          </a:p>
          <a:p xmlns:a="http://schemas.openxmlformats.org/drawingml/2006/main">
            <a:r>
              <a:t>{"schema_version":1,"summary":"...","dispatch":[{"ticket":1,"instruction":"..."}],"block":[{"ticket":2,"reason":"..."}]}</a:t>
            </a:r>
          </a:p>
          <a:p xmlns:a="http://schemas.openxmlformats.org/drawingml/2006/main">
            <a:r>
              <a:t>```</a:t>
            </a:r>
          </a:p>
          <a:p xmlns:a="http://schemas.openxmlformats.org/drawingml/2006/main">
            <a:r>
              <a:t/>
            </a:r>
          </a:p>
          <a:p xmlns:a="http://schemas.openxmlformats.org/drawingml/2006/main">
            <a:r>
              <a:t>The full prompt explains that historical dispatches do not prove a worker is</a:t>
            </a:r>
          </a:p>
          <a:p xmlns:a="http://schemas.openxmlformats.org/drawingml/2006/main">
            <a:r>
              <a:t>still active. A validation-repair invocation can receive the original prompt,</a:t>
            </a:r>
          </a:p>
          <a:p xmlns:a="http://schemas.openxmlformats.org/drawingml/2006/main">
            <a:r>
              <a:t>rejected response, and validator error. It is the same role, not another agent.</a:t>
            </a:r>
          </a:p>
          <a:p xmlns:a="http://schemas.openxmlformats.org/drawingml/2006/main">
            <a:r>
              <a:t/>
            </a:r>
          </a:p>
          <a:p xmlns:a="http://schemas.openxmlformats.org/drawingml/2006/main">
            <a:r>
              <a:t/>
            </a:r>
          </a:p>
          <a:p xmlns:a="http://schemas.openxmlformats.org/drawingml/2006/main">
            <a:r>
              <a:t>### Merge checkpoint (`supervisor_merge`)</a:t>
            </a:r>
          </a:p>
          <a:p xmlns:a="http://schemas.openxmlformats.org/drawingml/2006/main">
            <a:r>
              <a:t/>
            </a:r>
          </a:p>
          <a:p xmlns:a="http://schemas.openxmlformats.org/drawingml/2006/main">
            <a:r>
              <a:t>**Task:** Assess whether a Code Review-approved candidate is ready for merge handoff.</a:t>
            </a:r>
          </a:p>
          <a:p xmlns:a="http://schemas.openxmlformats.org/drawingml/2006/main">
            <a:r>
              <a:t/>
            </a:r>
          </a:p>
          <a:p xmlns:a="http://schemas.openxmlformats.org/drawingml/2006/main">
            <a:r>
              <a:t>**Input:** Ticket scope and dependencies, PR reference, reviewed candidate head,</a:t>
            </a:r>
          </a:p>
          <a:p xmlns:a="http://schemas.openxmlformats.org/drawingml/2006/main">
            <a:r>
              <a:t>Code Review decision and publication status, gates, diff-budget measurement,</a:t>
            </a:r>
          </a:p>
          <a:p xmlns:a="http://schemas.openxmlformats.org/drawingml/2006/main">
            <a:r>
              <a:t>worker receipts, authored review evidence, retry reason, Charter, and policy.</a:t>
            </a:r>
          </a:p>
          <a:p xmlns:a="http://schemas.openxmlformats.org/drawingml/2006/main">
            <a:r>
              <a:t/>
            </a:r>
          </a:p>
          <a:p xmlns:a="http://schemas.openxmlformats.org/drawingml/2006/main">
            <a:r>
              <a:t>**Output:** A revision-bound `MERGE` or `BLOCK` recommendation. Assured still</a:t>
            </a:r>
          </a:p>
          <a:p xmlns:a="http://schemas.openxmlformats.org/drawingml/2006/main">
            <a:r>
              <a:t>requires human merge. Autonomous Demo can let the orchestrator execute an</a:t>
            </a:r>
          </a:p>
          <a:p xmlns:a="http://schemas.openxmlformats.org/drawingml/2006/main">
            <a:r>
              <a:t>authorized merge when all configured restrictions permit it. The agent never</a:t>
            </a:r>
          </a:p>
          <a:p xmlns:a="http://schemas.openxmlformats.org/drawingml/2006/main">
            <a:r>
              <a:t>runs the GitHub merge command itself.</a:t>
            </a:r>
          </a:p>
          <a:p xmlns:a="http://schemas.openxmlformats.org/drawingml/2006/main">
            <a:r>
              <a:t/>
            </a:r>
          </a:p>
          <a:p xmlns:a="http://schemas.openxmlformats.org/drawingml/2006/main">
            <a:r>
              <a:t>**Prompt excerpt** from `_merge_prompt()`:</a:t>
            </a:r>
          </a:p>
          <a:p xmlns:a="http://schemas.openxmlformats.org/drawingml/2006/main">
            <a:r>
              <a:t/>
            </a:r>
          </a:p>
          <a:p xmlns:a="http://schemas.openxmlformats.org/drawingml/2006/main">
            <a:r>
              <a:t>```text</a:t>
            </a:r>
          </a:p>
          <a:p xmlns:a="http://schemas.openxmlformats.org/drawingml/2006/main">
            <a:r>
              <a:t>Return MERGE only when all evidence refers to the same candidate and no</a:t>
            </a:r>
          </a:p>
          <a:p xmlns:a="http://schemas.openxmlformats.org/drawingml/2006/main">
            <a:r>
              <a:t>blocking risk remains. Return BLOCK otherwise. MERGE is a readiness</a:t>
            </a:r>
          </a:p>
          <a:p xmlns:a="http://schemas.openxmlformats.org/drawingml/2006/main">
            <a:r>
              <a:t>recommendation, not permission to execute a merge. When the Charter or path</a:t>
            </a:r>
          </a:p>
          <a:p xmlns:a="http://schemas.openxmlformats.org/drawingml/2006/main">
            <a:r>
              <a:t>policy requires human merge authority, MERGE sends the exact revision to human</a:t>
            </a:r>
          </a:p>
          <a:p xmlns:a="http://schemas.openxmlformats.org/drawingml/2006/main">
            <a:r>
              <a:t>review; it does not supply that approval. Do not BLOCK solely because human</a:t>
            </a:r>
          </a:p>
          <a:p xmlns:a="http://schemas.openxmlformats.org/drawingml/2006/main">
            <a:r>
              <a:t>approval is still pending. Block missing or inconsistent evidence and</a:t>
            </a:r>
          </a:p>
          <a:p xmlns:a="http://schemas.openxmlformats.org/drawingml/2006/main">
            <a:r>
              <a:t>substantive unresolved risks. You do not run GitHub commands; the orchestrator</a:t>
            </a:r>
          </a:p>
          <a:p xmlns:a="http://schemas.openxmlformats.org/drawingml/2006/main">
            <a:r>
              <a:t>validates the recommendation and retains the configured human approval gate.</a:t>
            </a:r>
          </a:p>
          <a:p xmlns:a="http://schemas.openxmlformats.org/drawingml/2006/main">
            <a:r>
              <a:t>```</a:t>
            </a:r>
          </a:p>
          <a:p xmlns:a="http://schemas.openxmlformats.org/drawingml/2006/main">
            <a:r>
              <a:t/>
            </a:r>
          </a:p>
          <a:p xmlns:a="http://schemas.openxmlformats.org/drawingml/2006/main">
            <a:r>
              <a:t>Response shape:</a:t>
            </a:r>
          </a:p>
          <a:p xmlns:a="http://schemas.openxmlformats.org/drawingml/2006/main">
            <a:r>
              <a:t/>
            </a:r>
          </a:p>
          <a:p xmlns:a="http://schemas.openxmlformats.org/drawingml/2006/main">
            <a:r>
              <a:t>```json</a:t>
            </a:r>
          </a:p>
          <a:p xmlns:a="http://schemas.openxmlformats.org/drawingml/2006/main">
            <a:r>
              <a:t>{"schema_version":1,"summary":"...","action":"MERGE|BLOCK","ticket":1,"pull_request":"https://github.com/.../pull/1","candidate_head":"full-git-sha"}</a:t>
            </a:r>
          </a:p>
          <a:p xmlns:a="http://schemas.openxmlformats.org/drawingml/2006/main">
            <a:r>
              <a:t>```</a:t>
            </a:r>
          </a:p>
          <a:p xmlns:a="http://schemas.openxmlformats.org/drawingml/2006/main">
            <a:r>
              <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roles use the ticket implementation adapter and share a role prompt. The generic prompt includes ticket, design, project and policy context, but does not append the dedicated Code Review gate-results and QA-checkpoint payload. All return FACTORY_ROLE_VERDICT: PASS or BLOCK. Final Verifier can trigger a Hardening correction followed by checks and re-assessment.</a:t>
            </a:r>
          </a:p>
          <a:p xmlns:a="http://schemas.openxmlformats.org/drawingml/2006/main">
            <a:r>
              <a:t/>
            </a:r>
          </a:p>
          <a:p xmlns:a="http://schemas.openxmlformats.org/drawingml/2006/main">
            <a:r>
              <a:t>## Additional review and improvement agents</a:t>
            </a:r>
          </a:p>
          <a:p xmlns:a="http://schemas.openxmlformats.org/drawingml/2006/main">
            <a:r>
              <a:t/>
            </a:r>
          </a:p>
          <a:p xmlns:a="http://schemas.openxmlformats.org/drawingml/2006/main">
            <a:r>
              <a:t>These roles share `make_role_prompt()` and `run_profile_role()` in</a:t>
            </a:r>
          </a:p>
          <a:p xmlns:a="http://schemas.openxmlformats.org/drawingml/2006/main">
            <a:r>
              <a:t>[orchestrator.py](orchestrator.py). They use the ticket's implementation adapter,</a:t>
            </a:r>
          </a:p>
          <a:p xmlns:a="http://schemas.openxmlformats.org/drawingml/2006/main">
            <a:r>
              <a:t>not the separately configured Code Review adapter.</a:t>
            </a:r>
          </a:p>
          <a:p xmlns:a="http://schemas.openxmlformats.org/drawingml/2006/main">
            <a:r>
              <a:t/>
            </a:r>
          </a:p>
          <a:p xmlns:a="http://schemas.openxmlformats.org/drawingml/2006/main">
            <a:r>
              <a:t>**Common input:** Ticket body, delivery planning context, current candidate</a:t>
            </a:r>
          </a:p>
          <a:p xmlns:a="http://schemas.openxmlformats.org/drawingml/2006/main">
            <a:r>
              <a:t>worktree, Project Contract, approved Charter, role-specific contract and policy,</a:t>
            </a:r>
          </a:p>
          <a:p xmlns:a="http://schemas.openxmlformats.org/drawingml/2006/main">
            <a:r>
              <a:t>optional Supervisor instruction, and any previous role failure.</a:t>
            </a:r>
          </a:p>
          <a:p xmlns:a="http://schemas.openxmlformats.org/drawingml/2006/main">
            <a:r>
              <a:t/>
            </a:r>
          </a:p>
          <a:p xmlns:a="http://schemas.openxmlformats.org/drawingml/2006/main">
            <a:r>
              <a:t>Unlike the dedicated Code Review prompt, this shared builder does not append</a:t>
            </a:r>
          </a:p>
          <a:p xmlns:a="http://schemas.openxmlformats.org/drawingml/2006/main">
            <a:r>
              <a:t>the structured gate-results and QA-checkpoint payload. Do not assume every</a:t>
            </a:r>
          </a:p>
          <a:p xmlns:a="http://schemas.openxmlformats.org/drawingml/2006/main">
            <a:r>
              <a:t>review role receives the same evidence bundle.</a:t>
            </a:r>
          </a:p>
          <a:p xmlns:a="http://schemas.openxmlformats.org/drawingml/2006/main">
            <a:r>
              <a:t/>
            </a:r>
          </a:p>
          <a:p xmlns:a="http://schemas.openxmlformats.org/drawingml/2006/main">
            <a:r>
              <a:t>Each role's ownership text below is copied from [roles.json](roles.json).</a:t>
            </a:r>
          </a:p>
          <a:p xmlns:a="http://schemas.openxmlformats.org/drawingml/2006/main">
            <a:r>
              <a:t>Its exclusions, verification responsibilities, and handoff requirements are</a:t>
            </a:r>
          </a:p>
          <a:p xmlns:a="http://schemas.openxmlformats.org/drawingml/2006/main">
            <a:r>
              <a:t>also rendered into the full prompt.</a:t>
            </a:r>
          </a:p>
          <a:p xmlns:a="http://schemas.openxmlformats.org/drawingml/2006/main">
            <a:r>
              <a:t/>
            </a:r>
          </a:p>
          <a:p xmlns:a="http://schemas.openxmlformats.org/drawingml/2006/main">
            <a:r>
              <a:t>| Role | Task / ownership prompt | Additional boundary | Output |</a:t>
            </a:r>
          </a:p>
          <a:p xmlns:a="http://schemas.openxmlformats.org/drawingml/2006/main">
            <a:r>
              <a:t>| --- | --- | --- | --- |</a:t>
            </a:r>
          </a:p>
          <a:p xmlns:a="http://schemas.openxmlformats.org/drawingml/2006/main">
            <a:r>
              <a:t>| Cleanup (`cleanup`) | “Readability and maintainability improvements within the implemented Ticket diff.” | No behavior changes, protected-test changes, or unrelated cleanup. | Scoped cleanup changes and a PASS/BLOCK verdict. |</a:t>
            </a:r>
          </a:p>
          <a:p xmlns:a="http://schemas.openxmlformats.org/drawingml/2006/main">
            <a:r>
              <a:t>| Architecture Conformance (`architecture_conformance`) | “Read-only comparison of the implementation with approved architecture contracts.” | No file modifications. | Conformance assessment or precise deviations, with a PASS/BLOCK verdict. |</a:t>
            </a:r>
          </a:p>
          <a:p xmlns:a="http://schemas.openxmlformats.org/drawingml/2006/main">
            <a:r>
              <a:t>| Hardening (`hardening`) | “Ticket-scoped reliability, error handling, and security improvements justified by identified risk.” | No protected-test changes or scope expansion. | Scoped hardening changes, residual risks, and a PASS/BLOCK verdict. |</a:t>
            </a:r>
          </a:p>
          <a:p xmlns:a="http://schemas.openxmlformats.org/drawingml/2006/main">
            <a:r>
              <a:t>| Critic (`critic`) | “Read-only adversarial review of propagated assumptions, untested behavior, scope drift, dead code, and maintainability risk for deep-verification changes.” | No file modifications or lifecycle decisions; distinguish concrete findings from speculation. | Candidate assessment, evidence references, risks, and a PASS/BLOCK verdict. |</a:t>
            </a:r>
          </a:p>
          <a:p xmlns:a="http://schemas.openxmlformats.org/drawingml/2006/main">
            <a:r>
              <a:t>| Final Verifier (`final_verifier`) | “Read-only final assessment of requirements, policy, protected evidence, and gate results.” | No file modifications or acceptance of unresolved blocking risk. | Final assessment, evidence references, risks, and a PASS/BLOCK verdict. |</a:t>
            </a:r>
          </a:p>
          <a:p xmlns:a="http://schemas.openxmlformats.org/drawingml/2006/main">
            <a:r>
              <a:t/>
            </a:r>
          </a:p>
          <a:p xmlns:a="http://schemas.openxmlformats.org/drawingml/2006/main">
            <a:r>
              <a:t>Their shared prompt ends with:</a:t>
            </a:r>
          </a:p>
          <a:p xmlns:a="http://schemas.openxmlformats.org/drawingml/2006/main">
            <a:r>
              <a:t/>
            </a:r>
          </a:p>
          <a:p xmlns:a="http://schemas.openxmlformats.org/drawingml/2006/main">
            <a:r>
              <a:t>```text</a:t>
            </a:r>
          </a:p>
          <a:p xmlns:a="http://schemas.openxmlformats.org/drawingml/2006/main">
            <a:r>
              <a:t>Work only within this Ticket handoff. The orchestrator owns lifecycle state.</a:t>
            </a:r>
          </a:p>
          <a:p xmlns:a="http://schemas.openxmlformats.org/drawingml/2006/main">
            <a:r>
              <a:t/>
            </a:r>
          </a:p>
          <a:p xmlns:a="http://schemas.openxmlformats.org/drawingml/2006/main">
            <a:r>
              <a:t>End the response with exactly one structured verdict line:</a:t>
            </a:r>
          </a:p>
          <a:p xmlns:a="http://schemas.openxmlformats.org/drawingml/2006/main">
            <a:r>
              <a:t>`FACTORY_ROLE_VERDICT: PASS` or `FACTORY_ROLE_VERDICT: BLOCK: &lt;reason&gt;`.</a:t>
            </a:r>
          </a:p>
          <a:p xmlns:a="http://schemas.openxmlformats.org/drawingml/2006/main">
            <a:r>
              <a:t>```</a:t>
            </a:r>
          </a:p>
          <a:p xmlns:a="http://schemas.openxmlformats.org/drawingml/2006/main">
            <a:r>
              <a:t/>
            </a:r>
          </a:p>
          <a:p xmlns:a="http://schemas.openxmlformats.org/drawingml/2006/main">
            <a:r>
              <a:t>Assured runs Cleanup → Architecture Conformance → Hardening after implementation.</a:t>
            </a:r>
          </a:p>
          <a:p xmlns:a="http://schemas.openxmlformats.org/drawingml/2006/main">
            <a:r>
              <a:t>The factory then runs verification, the Critic when deep verification is selected,</a:t>
            </a:r>
          </a:p>
          <a:p xmlns:a="http://schemas.openxmlformats.org/drawingml/2006/main">
            <a:r>
              <a:t>Assured's deterministic negative proof, and the Final Verifier before Code Review.</a:t>
            </a:r>
          </a:p>
          <a:p xmlns:a="http://schemas.openxmlformats.org/drawingml/2006/main">
            <a:r>
              <a:t>If Final Verifier blocks, the code permits a Hardening correction, reruns checks,</a:t>
            </a:r>
          </a:p>
          <a:p xmlns:a="http://schemas.openxmlformats.org/drawingml/2006/main">
            <a:r>
              <a:t>and invokes Final Verifier again.</a:t>
            </a:r>
          </a:p>
          <a:p xmlns:a="http://schemas.openxmlformats.org/drawingml/2006/main">
            <a:r>
              <a:t/>
            </a:r>
          </a:p>
          <a:p xmlns:a="http://schemas.openxmlformats.org/drawingml/2006/main">
            <a:r>
              <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full saved prompt includes actual runtime context. The source reference contains excerpts and links to builders. Provider instructions and available tools add their own layer. Role ownership, exclusions, verification responsibility and handoff requirements are explicit. Revisions and retries add feedback to the relevant role. Notes refer to How prompts are assembled in the source.</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target repository used by the run. In managed Live mode this is under .factory/repositories and may differ from the control-plane checkout. Prompt and log names identify role and attempt. Planning manifests, revision history and receipts provide provenance. Some filenames are reused on resumed runs. Review private content before sharing.</a:t>
            </a:r>
          </a:p>
          <a:p xmlns:a="http://schemas.openxmlformats.org/drawingml/2006/main">
            <a:r>
              <a:t/>
            </a:r>
          </a:p>
          <a:p xmlns:a="http://schemas.openxmlformats.org/drawingml/2006/main">
            <a:r>
              <a:t>Reference: Find the full prompt and result for a run.</a:t>
            </a:r>
          </a:p>
          <a:p xmlns:a="http://schemas.openxmlformats.org/drawingml/2006/main">
            <a:r>
              <a:t>Image: workshop-guide/public/screenshots/control-center-evidence.jpg.</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activity, 3 minutes: ask each attendee to name one change they could try in their own repository. Have them state observable behavior, the evidence they would require and who can approve progression. Ask which failure they would deliberately rehearse. This is an application exercise derived from the factory workflow, not a claim that a specific profile fits every organization.</a:t>
            </a:r>
          </a:p>
          <a:p xmlns:a="http://schemas.openxmlformats.org/drawingml/2006/main">
            <a:r>
              <a:t/>
            </a:r>
          </a:p>
          <a:p xmlns:a="http://schemas.openxmlformats.org/drawingml/2006/main">
            <a:r>
              <a:t>Source: factory/AGENT_REFERENCE.md (7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e98bf9acaa4f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3039a61b42400a" /><Relationship Type="http://schemas.openxmlformats.org/officeDocument/2006/relationships/slideLayout" Target="/ppt/slideLayouts/slideLayout1.xml" Id="R0843ab34e52d4c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43ab34e52d4c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8ca2adcb824165" /><Relationship Type="http://schemas.openxmlformats.org/officeDocument/2006/relationships/image" Target="/ppt/media/image.png" Id="R1935320d9221431a" /><Relationship Type="http://schemas.openxmlformats.org/officeDocument/2006/relationships/notesSlide" Target="/ppt/notesSlides/notesSlide1.xml" Id="Ra0f03652a6b94d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a13db3232f429a" /><Relationship Type="http://schemas.openxmlformats.org/officeDocument/2006/relationships/image" Target="/ppt/media/image.bin" Id="R942fd433bce64469" /><Relationship Type="http://schemas.openxmlformats.org/officeDocument/2006/relationships/image" Target="/ppt/media/image2.bin" Id="Rf898b0f348274850" /><Relationship Type="http://schemas.openxmlformats.org/officeDocument/2006/relationships/notesSlide" Target="/ppt/notesSlides/notesSlide2.xml" Id="R52d28947b7b140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587b7543484adb" /><Relationship Type="http://schemas.openxmlformats.org/officeDocument/2006/relationships/notesSlide" Target="/ppt/notesSlides/notesSlide3.xml" Id="Re35e9476ebbb45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f8e33af3a14c1e" /><Relationship Type="http://schemas.openxmlformats.org/officeDocument/2006/relationships/notesSlide" Target="/ppt/notesSlides/notesSlide4.xml" Id="Redb64996677043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6091395ef44789" /><Relationship Type="http://schemas.openxmlformats.org/officeDocument/2006/relationships/image" Target="/ppt/media/image2.png" Id="Ra69e678360df416a" /><Relationship Type="http://schemas.openxmlformats.org/officeDocument/2006/relationships/notesSlide" Target="/ppt/notesSlides/notesSlide5.xml" Id="R0e481dcb87fd46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f21cd8b2a94ef2" /><Relationship Type="http://schemas.openxmlformats.org/officeDocument/2006/relationships/notesSlide" Target="/ppt/notesSlides/notesSlide6.xml" Id="R84fb5351ae6b47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3ace4f7aaf4331" /><Relationship Type="http://schemas.openxmlformats.org/officeDocument/2006/relationships/notesSlide" Target="/ppt/notesSlides/notesSlide7.xml" Id="R4c0204b30f5f41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33839e08d8440d" /><Relationship Type="http://schemas.openxmlformats.org/officeDocument/2006/relationships/notesSlide" Target="/ppt/notesSlides/notesSlide8.xml" Id="R72c3f3ea73a04e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41bc983f8a94de4" /><Relationship Type="http://schemas.openxmlformats.org/officeDocument/2006/relationships/notesSlide" Target="/ppt/notesSlides/notesSlide9.xml" Id="R5634fa4c2cb54e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54694d0048e4eb9" /><Relationship Type="http://schemas.openxmlformats.org/officeDocument/2006/relationships/image" Target="/ppt/media/image.jpeg" Id="Rb47669c29b984d89" /><Relationship Type="http://schemas.openxmlformats.org/officeDocument/2006/relationships/notesSlide" Target="/ppt/notesSlides/notesSlide10.xml" Id="Ra11b44b5a16a4b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4001ef33290434c" /><Relationship Type="http://schemas.openxmlformats.org/officeDocument/2006/relationships/notesSlide" Target="/ppt/notesSlides/notesSlide11.xml" Id="Rd6fb73bd749246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88c7308f3b4bf5" /><Relationship Type="http://schemas.openxmlformats.org/officeDocument/2006/relationships/notesSlide" Target="/ppt/notesSlides/notesSlide12.xml" Id="R67d2905a7bf84c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66ab17a821b4491" /><Relationship Type="http://schemas.openxmlformats.org/officeDocument/2006/relationships/notesSlide" Target="/ppt/notesSlides/notesSlide13.xml" Id="R3127bebfdca943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5d3122e0aa34c62" /><Relationship Type="http://schemas.openxmlformats.org/officeDocument/2006/relationships/notesSlide" Target="/ppt/notesSlides/notesSlide14.xml" Id="R73fd2f67b5ac46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03cbcb384db458a" /><Relationship Type="http://schemas.openxmlformats.org/officeDocument/2006/relationships/notesSlide" Target="/ppt/notesSlides/notesSlide15.xml" Id="Rf330e11e4db648e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67f469b875a4978" /><Relationship Type="http://schemas.openxmlformats.org/officeDocument/2006/relationships/notesSlide" Target="/ppt/notesSlides/notesSlide16.xml" Id="R9878e05b1d974c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b4e0d77f77746f9" /><Relationship Type="http://schemas.openxmlformats.org/officeDocument/2006/relationships/notesSlide" Target="/ppt/notesSlides/notesSlide17.xml" Id="R575204740dfd43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7c6b56eb5674742" /><Relationship Type="http://schemas.openxmlformats.org/officeDocument/2006/relationships/notesSlide" Target="/ppt/notesSlides/notesSlide18.xml" Id="Rfb4b271926b141d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7cf63c76ff4404b" /><Relationship Type="http://schemas.openxmlformats.org/officeDocument/2006/relationships/notesSlide" Target="/ppt/notesSlides/notesSlide19.xml" Id="Re03cbaaea74b412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c7df2539058477f" /><Relationship Type="http://schemas.openxmlformats.org/officeDocument/2006/relationships/notesSlide" Target="/ppt/notesSlides/notesSlide20.xml" Id="Rcdd7d61447124ce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a8bb6b60f874f64" /><Relationship Type="http://schemas.openxmlformats.org/officeDocument/2006/relationships/notesSlide" Target="/ppt/notesSlides/notesSlide21.xml" Id="R4ef9804fc52449d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ac7db41e3304878" /><Relationship Type="http://schemas.openxmlformats.org/officeDocument/2006/relationships/notesSlide" Target="/ppt/notesSlides/notesSlide22.xml" Id="R0fa9e3c3c45947e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dae480805954015" /><Relationship Type="http://schemas.openxmlformats.org/officeDocument/2006/relationships/image" Target="/ppt/media/image2.jpeg" Id="R9b570c41e4c24e74" /><Relationship Type="http://schemas.openxmlformats.org/officeDocument/2006/relationships/notesSlide" Target="/ppt/notesSlides/notesSlide23.xml" Id="R4094a046d593410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e02665f69804bbe" /><Relationship Type="http://schemas.openxmlformats.org/officeDocument/2006/relationships/notesSlide" Target="/ppt/notesSlides/notesSlide24.xml" Id="R50b10da347714f7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oftware (re)-Factory">
            <a:extLst xmlns:a="http://schemas.openxmlformats.org/drawingml/2006/main">
              <a:ext uri="{FF2B5EF4-FFF2-40B4-BE49-F238E27FC236}">
                <a16:creationId xmlns:a16="http://schemas.microsoft.com/office/drawing/2014/main" id="{06DE0A03-C647-4EB1-8165-FDD8291AE98A}"/>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Software (re)-Factory</a:t>
            </a:r>
          </a:p>
        </p:txBody>
      </p:sp>
      <p:sp>
        <p:nvSpPr>
          <p:cNvPr id="2" name="01">
            <a:extLst xmlns:a="http://schemas.openxmlformats.org/drawingml/2006/main">
              <a:ext uri="{FF2B5EF4-FFF2-40B4-BE49-F238E27FC236}">
                <a16:creationId xmlns:a16="http://schemas.microsoft.com/office/drawing/2014/main" id="{A409867A-EAD8-48DA-86D7-2AE7BCC53BBF}"/>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01</a:t>
            </a:r>
          </a:p>
        </p:txBody>
      </p:sp>
      <p:sp>
        <p:nvSpPr>
          <p:cNvPr id="3" name="How agents turn a PRD into&#10;a reviewable change">
            <a:extLst xmlns:a="http://schemas.openxmlformats.org/drawingml/2006/main">
              <a:ext uri="{FF2B5EF4-FFF2-40B4-BE49-F238E27FC236}">
                <a16:creationId xmlns:a16="http://schemas.microsoft.com/office/drawing/2014/main" id="{21ECF670-0E6B-4829-A44E-8234D1EED200}"/>
              </a:ext>
            </a:extLst>
          </p:cNvPr>
          <p:cNvSpPr>
            <a:spLocks xmlns:a="http://schemas.openxmlformats.org/drawingml/2006/main" noGrp="1"/>
          </p:cNvSpPr>
          <p:nvPr/>
        </p:nvSpPr>
        <p:spPr>
          <a:xfrm xmlns:a="http://schemas.openxmlformats.org/drawingml/2006/main">
            <a:off x="609600" y="1571625"/>
            <a:ext cx="5238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52A3A"/>
                </a:solidFill>
                <a:latin typeface="Helvetica Neue"/>
                <a:ea typeface="Helvetica Neue"/>
                <a:cs typeface="Helvetica Neue"/>
              </a:defRPr>
            </a:pPr>
            <a:r>
              <a:rPr sz="3600" b="1">
                <a:solidFill>
                  <a:srgbClr val="152A3A"/>
                </a:solidFill>
                <a:latin typeface="Helvetica Neue"/>
                <a:ea typeface="Helvetica Neue"/>
                <a:cs typeface="Helvetica Neue"/>
              </a:rPr>
              <a:t>How agents turn a PRD into</a:t>
            </a:r>
          </a:p>
          <a:p xmlns:a="http://schemas.openxmlformats.org/drawingml/2006/main">
            <a:pPr>
              <a:defRPr sz="3600" b="1">
                <a:solidFill>
                  <a:srgbClr val="152A3A"/>
                </a:solidFill>
                <a:latin typeface="Helvetica Neue"/>
                <a:ea typeface="Helvetica Neue"/>
                <a:cs typeface="Helvetica Neue"/>
              </a:defRPr>
            </a:pPr>
            <a:r>
              <a:rPr sz="3600" b="1">
                <a:solidFill>
                  <a:srgbClr val="152A3A"/>
                </a:solidFill>
                <a:latin typeface="Helvetica Neue"/>
                <a:ea typeface="Helvetica Neue"/>
                <a:cs typeface="Helvetica Neue"/>
              </a:rPr>
              <a:t>a reviewable change</a:t>
            </a:r>
          </a:p>
        </p:txBody>
      </p:sp>
      <p:sp>
        <p:nvSpPr>
          <p:cNvPr id="4" name="Agents, evidence, and human decisions">
            <a:extLst xmlns:a="http://schemas.openxmlformats.org/drawingml/2006/main">
              <a:ext uri="{FF2B5EF4-FFF2-40B4-BE49-F238E27FC236}">
                <a16:creationId xmlns:a16="http://schemas.microsoft.com/office/drawing/2014/main" id="{DD4D594B-6E43-4D24-AFFA-E7312A5D66DB}"/>
              </a:ext>
            </a:extLst>
          </p:cNvPr>
          <p:cNvSpPr>
            <a:spLocks xmlns:a="http://schemas.openxmlformats.org/drawingml/2006/main" noGrp="1"/>
          </p:cNvSpPr>
          <p:nvPr/>
        </p:nvSpPr>
        <p:spPr>
          <a:xfrm xmlns:a="http://schemas.openxmlformats.org/drawingml/2006/main">
            <a:off x="609600" y="351472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Agents, evidence, and human decisions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935320d9221431a"/>
          <a:stretch xmlns:a="http://schemas.openxmlformats.org/drawingml/2006/main"/>
        </p:blipFill>
        <p:spPr>
          <a:xfrm xmlns:a="http://schemas.openxmlformats.org/drawingml/2006/main">
            <a:off x="5905500" y="1963677"/>
            <a:ext cx="5715000" cy="3216397"/>
          </a:xfrm>
          <a:prstGeom xmlns:a="http://schemas.openxmlformats.org/drawingml/2006/main" prst="rect">
            <a:avLst/>
          </a:prstGeom>
        </p:spPr>
      </p:pic>
    </p:spTree>
    <p:extLst>
      <p:ext uri="{BB962C8B-B14F-4D97-AF65-F5344CB8AC3E}">
        <p14:creationId xmlns:p14="http://schemas.microsoft.com/office/powerpoint/2010/main" val="10144309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e workshop product transformation">
            <a:extLst xmlns:a="http://schemas.openxmlformats.org/drawingml/2006/main">
              <a:ext uri="{FF2B5EF4-FFF2-40B4-BE49-F238E27FC236}">
                <a16:creationId xmlns:a16="http://schemas.microsoft.com/office/drawing/2014/main" id="{B25B7A8E-A9EC-42A5-A4C2-87D9298ED0A7}"/>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The workshop product transformation</a:t>
            </a:r>
          </a:p>
        </p:txBody>
      </p:sp>
      <p:sp>
        <p:nvSpPr>
          <p:cNvPr id="2" name="02">
            <a:extLst xmlns:a="http://schemas.openxmlformats.org/drawingml/2006/main">
              <a:ext uri="{FF2B5EF4-FFF2-40B4-BE49-F238E27FC236}">
                <a16:creationId xmlns:a16="http://schemas.microsoft.com/office/drawing/2014/main" id="{8237D946-FB17-44A6-A0BB-58033622D4B8}"/>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02</a:t>
            </a:r>
          </a:p>
        </p:txBody>
      </p:sp>
      <p:sp>
        <p:nvSpPr>
          <p:cNvPr id="3" name="Pocket Cinema">
            <a:extLst xmlns:a="http://schemas.openxmlformats.org/drawingml/2006/main">
              <a:ext uri="{FF2B5EF4-FFF2-40B4-BE49-F238E27FC236}">
                <a16:creationId xmlns:a16="http://schemas.microsoft.com/office/drawing/2014/main" id="{05E8A585-FB97-46F1-8012-91754E4AE139}"/>
              </a:ext>
            </a:extLst>
          </p:cNvPr>
          <p:cNvSpPr>
            <a:spLocks xmlns:a="http://schemas.openxmlformats.org/drawingml/2006/main" noGrp="1"/>
          </p:cNvSpPr>
          <p:nvPr/>
        </p:nvSpPr>
        <p:spPr>
          <a:xfrm xmlns:a="http://schemas.openxmlformats.org/drawingml/2006/main">
            <a:off x="609600" y="1438275"/>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2A3A"/>
                </a:solidFill>
                <a:latin typeface="Helvetica Neue"/>
                <a:ea typeface="Helvetica Neue"/>
                <a:cs typeface="Helvetica Neue"/>
              </a:defRPr>
            </a:pPr>
            <a:r>
              <a:rPr sz="2175" b="1">
                <a:solidFill>
                  <a:srgbClr val="152A3A"/>
                </a:solidFill>
                <a:latin typeface="Helvetica Neue"/>
                <a:ea typeface="Helvetica Neue"/>
                <a:cs typeface="Helvetica Neue"/>
              </a:rPr>
              <a:t>Pocket Cinema</a:t>
            </a:r>
          </a:p>
        </p:txBody>
      </p:sp>
      <p:sp>
        <p:nvSpPr>
          <p:cNvPr id="4" name="TableStory">
            <a:extLst xmlns:a="http://schemas.openxmlformats.org/drawingml/2006/main">
              <a:ext uri="{FF2B5EF4-FFF2-40B4-BE49-F238E27FC236}">
                <a16:creationId xmlns:a16="http://schemas.microsoft.com/office/drawing/2014/main" id="{E919A552-CF12-4DDA-B084-C66307660E76}"/>
              </a:ext>
            </a:extLst>
          </p:cNvPr>
          <p:cNvSpPr>
            <a:spLocks xmlns:a="http://schemas.openxmlformats.org/drawingml/2006/main" noGrp="1"/>
          </p:cNvSpPr>
          <p:nvPr/>
        </p:nvSpPr>
        <p:spPr>
          <a:xfrm xmlns:a="http://schemas.openxmlformats.org/drawingml/2006/main">
            <a:off x="6286500" y="1438275"/>
            <a:ext cx="5286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2A3A"/>
                </a:solidFill>
                <a:latin typeface="Helvetica Neue"/>
                <a:ea typeface="Helvetica Neue"/>
                <a:cs typeface="Helvetica Neue"/>
              </a:defRPr>
            </a:pPr>
            <a:r>
              <a:rPr sz="2175" b="1">
                <a:solidFill>
                  <a:srgbClr val="152A3A"/>
                </a:solidFill>
                <a:latin typeface="Helvetica Neue"/>
                <a:ea typeface="Helvetica Neue"/>
                <a:cs typeface="Helvetica Neue"/>
              </a:rPr>
              <a:t>TableStory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42fd433bce64469"/>
          <a:stretch xmlns:a="http://schemas.openxmlformats.org/drawingml/2006/main"/>
        </p:blipFill>
        <p:spPr>
          <a:xfrm xmlns:a="http://schemas.openxmlformats.org/drawingml/2006/main">
            <a:off x="709710" y="1943100"/>
            <a:ext cx="5038531" cy="34290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898b0f348274850"/>
          <a:stretch xmlns:a="http://schemas.openxmlformats.org/drawingml/2006/main"/>
        </p:blipFill>
        <p:spPr>
          <a:xfrm xmlns:a="http://schemas.openxmlformats.org/drawingml/2006/main">
            <a:off x="6386610" y="1943100"/>
            <a:ext cx="5038531" cy="3429000"/>
          </a:xfrm>
          <a:prstGeom xmlns:a="http://schemas.openxmlformats.org/drawingml/2006/main" prst="rect">
            <a:avLst/>
          </a:prstGeom>
        </p:spPr>
      </p:pic>
      <p:sp>
        <p:nvSpPr>
          <p:cNvPr id="7" name="A new product purpose changes behavior, data, tests, an">
            <a:extLst xmlns:a="http://schemas.openxmlformats.org/drawingml/2006/main">
              <a:ext uri="{FF2B5EF4-FFF2-40B4-BE49-F238E27FC236}">
                <a16:creationId xmlns:a16="http://schemas.microsoft.com/office/drawing/2014/main" id="{EA5B1E29-21B1-4CD8-B737-48EF2735F36D}"/>
              </a:ext>
            </a:extLst>
          </p:cNvPr>
          <p:cNvSpPr>
            <a:spLocks xmlns:a="http://schemas.openxmlformats.org/drawingml/2006/main" noGrp="1"/>
          </p:cNvSpPr>
          <p:nvPr/>
        </p:nvSpPr>
        <p:spPr>
          <a:xfrm xmlns:a="http://schemas.openxmlformats.org/drawingml/2006/main">
            <a:off x="60960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006CA5"/>
                </a:solidFill>
                <a:latin typeface="Helvetica Neue"/>
                <a:ea typeface="Helvetica Neue"/>
                <a:cs typeface="Helvetica Neue"/>
              </a:defRPr>
            </a:pPr>
            <a:r>
              <a:rPr sz="2250" b="0">
                <a:solidFill>
                  <a:srgbClr val="006CA5"/>
                </a:solidFill>
                <a:latin typeface="Helvetica Neue"/>
                <a:ea typeface="Helvetica Neue"/>
                <a:cs typeface="Helvetica Neue"/>
              </a:rPr>
              <a:t>A new product purpose changes behavior, data, tests, and design.</a:t>
            </a:r>
          </a:p>
        </p:txBody>
      </p:sp>
    </p:spTree>
    <p:extLst>
      <p:ext uri="{BB962C8B-B14F-4D97-AF65-F5344CB8AC3E}">
        <p14:creationId xmlns:p14="http://schemas.microsoft.com/office/powerpoint/2010/main" val="7210998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What the factory coordinates">
            <a:extLst xmlns:a="http://schemas.openxmlformats.org/drawingml/2006/main">
              <a:ext uri="{FF2B5EF4-FFF2-40B4-BE49-F238E27FC236}">
                <a16:creationId xmlns:a16="http://schemas.microsoft.com/office/drawing/2014/main" id="{EDE8EBD1-6B72-4869-877E-ECFF6DA86428}"/>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What the factory coordinates</a:t>
            </a:r>
          </a:p>
        </p:txBody>
      </p:sp>
      <p:sp>
        <p:nvSpPr>
          <p:cNvPr id="2" name="03">
            <a:extLst xmlns:a="http://schemas.openxmlformats.org/drawingml/2006/main">
              <a:ext uri="{FF2B5EF4-FFF2-40B4-BE49-F238E27FC236}">
                <a16:creationId xmlns:a16="http://schemas.microsoft.com/office/drawing/2014/main" id="{79DD4DFD-DFE3-4467-B117-6DCECED1EEB8}"/>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03</a:t>
            </a:r>
          </a:p>
        </p:txBody>
      </p:sp>
      <p:graphicFrame>
        <p:nvGraphicFramePr>
          <p:cNvPr id="7" name=""/>
          <p:cNvGraphicFramePr/>
          <p:nvPr/>
        </p:nvGraphicFramePr>
        <p:xfrm>
          <a:off xmlns:a="http://schemas.openxmlformats.org/drawingml/2006/main" x="609600" y="1666875"/>
          <a:ext xmlns:a="http://schemas.openxmlformats.org/drawingml/2006/main" cx="10972800" cy="3524250"/>
        </p:xfrm>
        <a:graphic xmlns:a="http://schemas.openxmlformats.org/drawingml/2006/main">
          <a:graphicData uri="http://schemas.openxmlformats.org/drawingml/2006/table">
            <a:tbl>
              <a:tblPr/>
              <a:tblGrid>
                <a:gridCol w="2238375"/>
                <a:gridCol w="5381625"/>
                <a:gridCol w="3352800"/>
              </a:tblGrid>
              <a:tr h="881063">
                <a:tc>
                  <a:txBody>
                    <a:bodyPr>
                      <a:noAutofit/>
                    </a:bodyPr>
                    <a:lstStyle/>
                    <a:p>
                      <a:r>
                        <a:rPr sz="1875" b="1">
                          <a:solidFill>
                            <a:srgbClr val="006CA5"/>
                          </a:solidFill>
                          <a:latin typeface="Helvetica Neue"/>
                          <a:ea typeface="Helvetica Neue"/>
                          <a:cs typeface="Helvetica Neue"/>
                        </a:rPr>
                        <a:t>Who</a:t>
                      </a:r>
                    </a:p>
                  </a:txBody>
                  <a:tcPr marL="152400" marR="133350" marT="114300" marB="95250" anchor="ctr">
                    <a:solidFill>
                      <a:srgbClr val="EAF3F8"/>
                    </a:solidFill>
                  </a:tcPr>
                </a:tc>
                <a:tc>
                  <a:txBody>
                    <a:bodyPr>
                      <a:noAutofit/>
                    </a:bodyPr>
                    <a:lstStyle/>
                    <a:p>
                      <a:r>
                        <a:rPr sz="1875" b="1">
                          <a:solidFill>
                            <a:srgbClr val="006CA5"/>
                          </a:solidFill>
                          <a:latin typeface="Helvetica Neue"/>
                          <a:ea typeface="Helvetica Neue"/>
                          <a:cs typeface="Helvetica Neue"/>
                        </a:rPr>
                        <a:t>Responsibility</a:t>
                      </a:r>
                    </a:p>
                  </a:txBody>
                  <a:tcPr marL="152400" marR="133350" marT="114300" marB="95250" anchor="ctr">
                    <a:solidFill>
                      <a:srgbClr val="EAF3F8"/>
                    </a:solidFill>
                  </a:tcPr>
                </a:tc>
                <a:tc>
                  <a:txBody>
                    <a:bodyPr>
                      <a:noAutofit/>
                    </a:bodyPr>
                    <a:lstStyle/>
                    <a:p>
                      <a:r>
                        <a:rPr sz="1875" b="1">
                          <a:solidFill>
                            <a:srgbClr val="006CA5"/>
                          </a:solidFill>
                          <a:latin typeface="Helvetica Neue"/>
                          <a:ea typeface="Helvetica Neue"/>
                          <a:cs typeface="Helvetica Neue"/>
                        </a:rPr>
                        <a:t>Result</a:t>
                      </a:r>
                    </a:p>
                  </a:txBody>
                  <a:tcPr marL="152400" marR="133350" marT="114300" marB="95250" anchor="ctr">
                    <a:solidFill>
                      <a:srgbClr val="EAF3F8"/>
                    </a:solidFill>
                  </a:tcPr>
                </a:tc>
              </a:tr>
              <a:tr h="881063">
                <a:tc>
                  <a:txBody>
                    <a:bodyPr>
                      <a:noAutofit/>
                    </a:bodyPr>
                    <a:lstStyle/>
                    <a:p>
                      <a:r>
                        <a:rPr sz="1875" b="0">
                          <a:solidFill>
                            <a:srgbClr val="152A3A"/>
                          </a:solidFill>
                          <a:latin typeface="Helvetica Neue"/>
                          <a:ea typeface="Helvetica Neue"/>
                          <a:cs typeface="Helvetica Neue"/>
                        </a:rPr>
                        <a:t>AI agents</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Propose plans, write tests and code, review changes</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Artifacts and claims</a:t>
                      </a:r>
                    </a:p>
                  </a:txBody>
                  <a:tcPr marL="152400" marR="133350" marT="114300" marB="95250" anchor="ctr">
                    <a:solidFill>
                      <a:srgbClr val="FFFFFF"/>
                    </a:solidFill>
                  </a:tcPr>
                </a:tc>
              </a:tr>
              <a:tr h="881063">
                <a:tc>
                  <a:txBody>
                    <a:bodyPr>
                      <a:noAutofit/>
                    </a:bodyPr>
                    <a:lstStyle/>
                    <a:p>
                      <a:r>
                        <a:rPr sz="1875" b="0">
                          <a:solidFill>
                            <a:srgbClr val="152A3A"/>
                          </a:solidFill>
                          <a:latin typeface="Helvetica Neue"/>
                          <a:ea typeface="Helvetica Neue"/>
                          <a:cs typeface="Helvetica Neue"/>
                        </a:rPr>
                        <a:t>Factory code</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Check dependencies, run gates, validate outputs</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Recorded evidence and state</a:t>
                      </a:r>
                    </a:p>
                  </a:txBody>
                  <a:tcPr marL="152400" marR="133350" marT="114300" marB="95250" anchor="ctr">
                    <a:solidFill>
                      <a:srgbClr val="FFFFFF"/>
                    </a:solidFill>
                  </a:tcPr>
                </a:tc>
              </a:tr>
              <a:tr h="881063">
                <a:tc>
                  <a:txBody>
                    <a:bodyPr>
                      <a:noAutofit/>
                    </a:bodyPr>
                    <a:lstStyle/>
                    <a:p>
                      <a:r>
                        <a:rPr sz="1875" b="0">
                          <a:solidFill>
                            <a:srgbClr val="152A3A"/>
                          </a:solidFill>
                          <a:latin typeface="Helvetica Neue"/>
                          <a:ea typeface="Helvetica Neue"/>
                          <a:cs typeface="Helvetica Neue"/>
                        </a:rPr>
                        <a:t>People</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Approve intent, resolve decisions, review and merge</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Authority to progress</a:t>
                      </a:r>
                    </a:p>
                  </a:txBody>
                  <a:tcPr marL="152400" marR="133350" marT="114300" marB="95250" anchor="ctr">
                    <a:solidFill>
                      <a:srgbClr val="FFFFFF"/>
                    </a:solidFill>
                  </a:tcPr>
                </a:tc>
              </a:tr>
            </a:tbl>
          </a:graphicData>
        </a:graphic>
      </p:graphicFrame>
      <p:sp>
        <p:nvSpPr>
          <p:cNvPr id="4" name="The Control Center shows the workflow and exposes the n">
            <a:extLst xmlns:a="http://schemas.openxmlformats.org/drawingml/2006/main">
              <a:ext uri="{FF2B5EF4-FFF2-40B4-BE49-F238E27FC236}">
                <a16:creationId xmlns:a16="http://schemas.microsoft.com/office/drawing/2014/main" id="{10C155DA-882F-4D49-9851-093BFE03E0B1}"/>
              </a:ext>
            </a:extLst>
          </p:cNvPr>
          <p:cNvSpPr>
            <a:spLocks xmlns:a="http://schemas.openxmlformats.org/drawingml/2006/main" noGrp="1"/>
          </p:cNvSpPr>
          <p:nvPr/>
        </p:nvSpPr>
        <p:spPr>
          <a:xfrm xmlns:a="http://schemas.openxmlformats.org/drawingml/2006/main">
            <a:off x="609600" y="56388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06CA5"/>
                </a:solidFill>
                <a:latin typeface="Helvetica Neue"/>
                <a:ea typeface="Helvetica Neue"/>
                <a:cs typeface="Helvetica Neue"/>
              </a:defRPr>
            </a:pPr>
            <a:r>
              <a:rPr sz="2175" b="0">
                <a:solidFill>
                  <a:srgbClr val="006CA5"/>
                </a:solidFill>
                <a:latin typeface="Helvetica Neue"/>
                <a:ea typeface="Helvetica Neue"/>
                <a:cs typeface="Helvetica Neue"/>
              </a:rPr>
              <a:t>The Control Center shows the workflow and exposes the next action.</a:t>
            </a:r>
          </a:p>
        </p:txBody>
      </p:sp>
    </p:spTree>
    <p:extLst>
      <p:ext uri="{BB962C8B-B14F-4D97-AF65-F5344CB8AC3E}">
        <p14:creationId xmlns:p14="http://schemas.microsoft.com/office/powerpoint/2010/main" val="16248511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he Standard workflow">
            <a:extLst xmlns:a="http://schemas.openxmlformats.org/drawingml/2006/main">
              <a:ext uri="{FF2B5EF4-FFF2-40B4-BE49-F238E27FC236}">
                <a16:creationId xmlns:a16="http://schemas.microsoft.com/office/drawing/2014/main" id="{EBCAF3FE-553F-4D24-814D-65E32E22EE5A}"/>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The Standard workflow</a:t>
            </a:r>
          </a:p>
        </p:txBody>
      </p:sp>
      <p:sp>
        <p:nvSpPr>
          <p:cNvPr id="2" name="04">
            <a:extLst xmlns:a="http://schemas.openxmlformats.org/drawingml/2006/main">
              <a:ext uri="{FF2B5EF4-FFF2-40B4-BE49-F238E27FC236}">
                <a16:creationId xmlns:a16="http://schemas.microsoft.com/office/drawing/2014/main" id="{140D3112-7E62-4B5B-964E-C8A0E46685EF}"/>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04</a:t>
            </a:r>
          </a:p>
        </p:txBody>
      </p:sp>
      <p:sp>
        <p:nvSpPr>
          <p:cNvPr id="3" name="Planning">
            <a:extLst xmlns:a="http://schemas.openxmlformats.org/drawingml/2006/main">
              <a:ext uri="{FF2B5EF4-FFF2-40B4-BE49-F238E27FC236}">
                <a16:creationId xmlns:a16="http://schemas.microsoft.com/office/drawing/2014/main" id="{AF112106-4770-4B8E-80F6-D87F2AD543DE}"/>
              </a:ext>
            </a:extLst>
          </p:cNvPr>
          <p:cNvSpPr>
            <a:spLocks xmlns:a="http://schemas.openxmlformats.org/drawingml/2006/main" noGrp="1"/>
          </p:cNvSpPr>
          <p:nvPr/>
        </p:nvSpPr>
        <p:spPr>
          <a:xfrm xmlns:a="http://schemas.openxmlformats.org/drawingml/2006/main">
            <a:off x="609600" y="15716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6CA5"/>
                </a:solidFill>
                <a:latin typeface="Helvetica Neue"/>
                <a:ea typeface="Helvetica Neue"/>
                <a:cs typeface="Helvetica Neue"/>
              </a:defRPr>
            </a:pPr>
            <a:r>
              <a:rPr sz="2475" b="1">
                <a:solidFill>
                  <a:srgbClr val="006CA5"/>
                </a:solidFill>
                <a:latin typeface="Helvetica Neue"/>
                <a:ea typeface="Helvetica Neue"/>
                <a:cs typeface="Helvetica Neue"/>
              </a:rPr>
              <a:t>Planning</a:t>
            </a:r>
          </a:p>
        </p:txBody>
      </p:sp>
      <p:sp>
        <p:nvSpPr>
          <p:cNvPr id="4" name="1  Product Review&#10;2  System Architecture&#10;3  Program Des">
            <a:extLst xmlns:a="http://schemas.openxmlformats.org/drawingml/2006/main">
              <a:ext uri="{FF2B5EF4-FFF2-40B4-BE49-F238E27FC236}">
                <a16:creationId xmlns:a16="http://schemas.microsoft.com/office/drawing/2014/main" id="{1B415632-44A2-4D29-B532-ACC3F73AF96E}"/>
              </a:ext>
            </a:extLst>
          </p:cNvPr>
          <p:cNvSpPr>
            <a:spLocks xmlns:a="http://schemas.openxmlformats.org/drawingml/2006/main" noGrp="1"/>
          </p:cNvSpPr>
          <p:nvPr/>
        </p:nvSpPr>
        <p:spPr>
          <a:xfrm xmlns:a="http://schemas.openxmlformats.org/drawingml/2006/main">
            <a:off x="609600" y="2257425"/>
            <a:ext cx="521970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1  Product Review</a:t>
            </a:r>
          </a:p>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2  System Architecture</a:t>
            </a:r>
          </a:p>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3  Program Design</a:t>
            </a:r>
          </a:p>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4  Vertical Slices</a:t>
            </a:r>
          </a:p>
        </p:txBody>
      </p:sp>
      <p:sp>
        <p:nvSpPr>
          <p:cNvPr id="5" name="Delivery, for each ready ticket">
            <a:extLst xmlns:a="http://schemas.openxmlformats.org/drawingml/2006/main">
              <a:ext uri="{FF2B5EF4-FFF2-40B4-BE49-F238E27FC236}">
                <a16:creationId xmlns:a16="http://schemas.microsoft.com/office/drawing/2014/main" id="{86528B9F-2DF4-4314-A451-B59ED8D03568}"/>
              </a:ext>
            </a:extLst>
          </p:cNvPr>
          <p:cNvSpPr>
            <a:spLocks xmlns:a="http://schemas.openxmlformats.org/drawingml/2006/main" noGrp="1"/>
          </p:cNvSpPr>
          <p:nvPr/>
        </p:nvSpPr>
        <p:spPr>
          <a:xfrm xmlns:a="http://schemas.openxmlformats.org/drawingml/2006/main">
            <a:off x="6400800" y="1571625"/>
            <a:ext cx="5181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6CA5"/>
                </a:solidFill>
                <a:latin typeface="Helvetica Neue"/>
                <a:ea typeface="Helvetica Neue"/>
                <a:cs typeface="Helvetica Neue"/>
              </a:defRPr>
            </a:pPr>
            <a:r>
              <a:rPr sz="2475" b="1">
                <a:solidFill>
                  <a:srgbClr val="006CA5"/>
                </a:solidFill>
                <a:latin typeface="Helvetica Neue"/>
                <a:ea typeface="Helvetica Neue"/>
                <a:cs typeface="Helvetica Neue"/>
              </a:rPr>
              <a:t>Delivery, for each ready ticket</a:t>
            </a:r>
          </a:p>
        </p:txBody>
      </p:sp>
      <p:sp>
        <p:nvSpPr>
          <p:cNvPr id="6" name="1  Independent QA&#10;2  Implementation&#10;3  Code Review">
            <a:extLst xmlns:a="http://schemas.openxmlformats.org/drawingml/2006/main">
              <a:ext uri="{FF2B5EF4-FFF2-40B4-BE49-F238E27FC236}">
                <a16:creationId xmlns:a16="http://schemas.microsoft.com/office/drawing/2014/main" id="{73BA6FF4-3928-4DC6-A410-AD7A4C8BAA00}"/>
              </a:ext>
            </a:extLst>
          </p:cNvPr>
          <p:cNvSpPr>
            <a:spLocks xmlns:a="http://schemas.openxmlformats.org/drawingml/2006/main" noGrp="1"/>
          </p:cNvSpPr>
          <p:nvPr/>
        </p:nvSpPr>
        <p:spPr>
          <a:xfrm xmlns:a="http://schemas.openxmlformats.org/drawingml/2006/main">
            <a:off x="6400800" y="2381250"/>
            <a:ext cx="51816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1  Independent QA</a:t>
            </a:r>
          </a:p>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2  Implementation</a:t>
            </a:r>
          </a:p>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3  Code Review</a:t>
            </a:r>
          </a:p>
        </p:txBody>
      </p:sp>
      <p:sp>
        <p:nvSpPr>
          <p:cNvPr id="7" name="People approve the plan.">
            <a:extLst xmlns:a="http://schemas.openxmlformats.org/drawingml/2006/main">
              <a:ext uri="{FF2B5EF4-FFF2-40B4-BE49-F238E27FC236}">
                <a16:creationId xmlns:a16="http://schemas.microsoft.com/office/drawing/2014/main" id="{6E858960-9925-4796-A704-A8282592B322}"/>
              </a:ext>
            </a:extLst>
          </p:cNvPr>
          <p:cNvSpPr>
            <a:spLocks xmlns:a="http://schemas.openxmlformats.org/drawingml/2006/main" noGrp="1"/>
          </p:cNvSpPr>
          <p:nvPr/>
        </p:nvSpPr>
        <p:spPr>
          <a:xfrm xmlns:a="http://schemas.openxmlformats.org/drawingml/2006/main">
            <a:off x="609600" y="5324475"/>
            <a:ext cx="504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C84C0B"/>
                </a:solidFill>
                <a:latin typeface="Helvetica Neue"/>
                <a:ea typeface="Helvetica Neue"/>
                <a:cs typeface="Helvetica Neue"/>
              </a:defRPr>
            </a:pPr>
            <a:r>
              <a:rPr sz="2250" b="0">
                <a:solidFill>
                  <a:srgbClr val="C84C0B"/>
                </a:solidFill>
                <a:latin typeface="Helvetica Neue"/>
                <a:ea typeface="Helvetica Neue"/>
                <a:cs typeface="Helvetica Neue"/>
              </a:rPr>
              <a:t>People approve the plan.</a:t>
            </a:r>
          </a:p>
        </p:txBody>
      </p:sp>
      <p:sp>
        <p:nvSpPr>
          <p:cNvPr id="8" name="Factory code runs checks.&#10;People decide the merge.">
            <a:extLst xmlns:a="http://schemas.openxmlformats.org/drawingml/2006/main">
              <a:ext uri="{FF2B5EF4-FFF2-40B4-BE49-F238E27FC236}">
                <a16:creationId xmlns:a16="http://schemas.microsoft.com/office/drawing/2014/main" id="{E736D963-FA93-4442-8C6E-9CFFE64DBDC1}"/>
              </a:ext>
            </a:extLst>
          </p:cNvPr>
          <p:cNvSpPr>
            <a:spLocks xmlns:a="http://schemas.openxmlformats.org/drawingml/2006/main" noGrp="1"/>
          </p:cNvSpPr>
          <p:nvPr/>
        </p:nvSpPr>
        <p:spPr>
          <a:xfrm xmlns:a="http://schemas.openxmlformats.org/drawingml/2006/main">
            <a:off x="6400800" y="5105400"/>
            <a:ext cx="5181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C84C0B"/>
                </a:solidFill>
                <a:latin typeface="Helvetica Neue"/>
                <a:ea typeface="Helvetica Neue"/>
                <a:cs typeface="Helvetica Neue"/>
              </a:defRPr>
            </a:pPr>
            <a:r>
              <a:rPr sz="2250" b="0">
                <a:solidFill>
                  <a:srgbClr val="C84C0B"/>
                </a:solidFill>
                <a:latin typeface="Helvetica Neue"/>
                <a:ea typeface="Helvetica Neue"/>
                <a:cs typeface="Helvetica Neue"/>
              </a:rPr>
              <a:t>Factory code runs checks.</a:t>
            </a:r>
          </a:p>
          <a:p xmlns:a="http://schemas.openxmlformats.org/drawingml/2006/main">
            <a:pPr>
              <a:defRPr sz="2250" b="0">
                <a:solidFill>
                  <a:srgbClr val="C84C0B"/>
                </a:solidFill>
                <a:latin typeface="Helvetica Neue"/>
                <a:ea typeface="Helvetica Neue"/>
                <a:cs typeface="Helvetica Neue"/>
              </a:defRPr>
            </a:pPr>
            <a:r>
              <a:rPr sz="2250" b="0">
                <a:solidFill>
                  <a:srgbClr val="C84C0B"/>
                </a:solidFill>
                <a:latin typeface="Helvetica Neue"/>
                <a:ea typeface="Helvetica Neue"/>
                <a:cs typeface="Helvetica Neue"/>
              </a:rPr>
              <a:t>People decide the merge.</a:t>
            </a:r>
          </a:p>
        </p:txBody>
      </p:sp>
    </p:spTree>
    <p:extLst>
      <p:ext uri="{BB962C8B-B14F-4D97-AF65-F5344CB8AC3E}">
        <p14:creationId xmlns:p14="http://schemas.microsoft.com/office/powerpoint/2010/main" val="10868021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our planning perspectives">
            <a:extLst xmlns:a="http://schemas.openxmlformats.org/drawingml/2006/main">
              <a:ext uri="{FF2B5EF4-FFF2-40B4-BE49-F238E27FC236}">
                <a16:creationId xmlns:a16="http://schemas.microsoft.com/office/drawing/2014/main" id="{2CF49217-6AA8-42C7-8FEB-EE419CAF0D54}"/>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Four planning perspectives</a:t>
            </a:r>
          </a:p>
        </p:txBody>
      </p:sp>
      <p:sp>
        <p:nvSpPr>
          <p:cNvPr id="2" name="05">
            <a:extLst xmlns:a="http://schemas.openxmlformats.org/drawingml/2006/main">
              <a:ext uri="{FF2B5EF4-FFF2-40B4-BE49-F238E27FC236}">
                <a16:creationId xmlns:a16="http://schemas.microsoft.com/office/drawing/2014/main" id="{B30271CE-6374-44A7-BF36-BB61EC74C2DA}"/>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05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69e678360df416a"/>
          <a:stretch xmlns:a="http://schemas.openxmlformats.org/drawingml/2006/main"/>
        </p:blipFill>
        <p:spPr>
          <a:xfrm xmlns:a="http://schemas.openxmlformats.org/drawingml/2006/main">
            <a:off x="514350" y="1713475"/>
            <a:ext cx="6858000" cy="3859676"/>
          </a:xfrm>
          <a:prstGeom xmlns:a="http://schemas.openxmlformats.org/drawingml/2006/main" prst="rect">
            <a:avLst/>
          </a:prstGeom>
        </p:spPr>
      </p:pic>
      <p:sp>
        <p:nvSpPr>
          <p:cNvPr id="4" name="Product&#10;What should users experience?">
            <a:extLst xmlns:a="http://schemas.openxmlformats.org/drawingml/2006/main">
              <a:ext uri="{FF2B5EF4-FFF2-40B4-BE49-F238E27FC236}">
                <a16:creationId xmlns:a16="http://schemas.microsoft.com/office/drawing/2014/main" id="{A5822D08-3D04-47AC-86E0-CEF93D4C5D20}"/>
              </a:ext>
            </a:extLst>
          </p:cNvPr>
          <p:cNvSpPr>
            <a:spLocks xmlns:a="http://schemas.openxmlformats.org/drawingml/2006/main" noGrp="1"/>
          </p:cNvSpPr>
          <p:nvPr/>
        </p:nvSpPr>
        <p:spPr>
          <a:xfrm xmlns:a="http://schemas.openxmlformats.org/drawingml/2006/main">
            <a:off x="7715250" y="1600200"/>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Product</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What should users experience?</a:t>
            </a:r>
          </a:p>
        </p:txBody>
      </p:sp>
      <p:sp>
        <p:nvSpPr>
          <p:cNvPr id="5" name="Architecture&#10;Which components own it?">
            <a:extLst xmlns:a="http://schemas.openxmlformats.org/drawingml/2006/main">
              <a:ext uri="{FF2B5EF4-FFF2-40B4-BE49-F238E27FC236}">
                <a16:creationId xmlns:a16="http://schemas.microsoft.com/office/drawing/2014/main" id="{5A548540-783A-4C85-8EBE-C61E7B9EFBDE}"/>
              </a:ext>
            </a:extLst>
          </p:cNvPr>
          <p:cNvSpPr>
            <a:spLocks xmlns:a="http://schemas.openxmlformats.org/drawingml/2006/main" noGrp="1"/>
          </p:cNvSpPr>
          <p:nvPr/>
        </p:nvSpPr>
        <p:spPr>
          <a:xfrm xmlns:a="http://schemas.openxmlformats.org/drawingml/2006/main">
            <a:off x="7715250" y="2771775"/>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Architecture</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Which components own it?</a:t>
            </a:r>
          </a:p>
        </p:txBody>
      </p:sp>
      <p:sp>
        <p:nvSpPr>
          <p:cNvPr id="6" name="Program design&#10;Which interfaces implement it?">
            <a:extLst xmlns:a="http://schemas.openxmlformats.org/drawingml/2006/main">
              <a:ext uri="{FF2B5EF4-FFF2-40B4-BE49-F238E27FC236}">
                <a16:creationId xmlns:a16="http://schemas.microsoft.com/office/drawing/2014/main" id="{7EC676B9-7E1D-4E45-9A95-A42A6D760D3E}"/>
              </a:ext>
            </a:extLst>
          </p:cNvPr>
          <p:cNvSpPr>
            <a:spLocks xmlns:a="http://schemas.openxmlformats.org/drawingml/2006/main" noGrp="1"/>
          </p:cNvSpPr>
          <p:nvPr/>
        </p:nvSpPr>
        <p:spPr>
          <a:xfrm xmlns:a="http://schemas.openxmlformats.org/drawingml/2006/main">
            <a:off x="7715250" y="3943350"/>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Program design</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Which interfaces implement it?</a:t>
            </a:r>
          </a:p>
        </p:txBody>
      </p:sp>
      <p:sp>
        <p:nvSpPr>
          <p:cNvPr id="7" name="Slices&#10;What can we deliver and test?">
            <a:extLst xmlns:a="http://schemas.openxmlformats.org/drawingml/2006/main">
              <a:ext uri="{FF2B5EF4-FFF2-40B4-BE49-F238E27FC236}">
                <a16:creationId xmlns:a16="http://schemas.microsoft.com/office/drawing/2014/main" id="{4D7D6E3F-CE11-4B2D-B167-A4C56770E183}"/>
              </a:ext>
            </a:extLst>
          </p:cNvPr>
          <p:cNvSpPr>
            <a:spLocks xmlns:a="http://schemas.openxmlformats.org/drawingml/2006/main" noGrp="1"/>
          </p:cNvSpPr>
          <p:nvPr/>
        </p:nvSpPr>
        <p:spPr>
          <a:xfrm xmlns:a="http://schemas.openxmlformats.org/drawingml/2006/main">
            <a:off x="7715250" y="5114925"/>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Slices</a:t>
            </a:r>
          </a:p>
          <a:p xmlns:a="http://schemas.openxmlformats.org/drawingml/2006/main">
            <a:pPr>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What can we deliver and test?</a:t>
            </a:r>
          </a:p>
        </p:txBody>
      </p:sp>
    </p:spTree>
    <p:extLst>
      <p:ext uri="{BB962C8B-B14F-4D97-AF65-F5344CB8AC3E}">
        <p14:creationId xmlns:p14="http://schemas.microsoft.com/office/powerpoint/2010/main" val="12265596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oduct Review">
            <a:extLst xmlns:a="http://schemas.openxmlformats.org/drawingml/2006/main">
              <a:ext uri="{FF2B5EF4-FFF2-40B4-BE49-F238E27FC236}">
                <a16:creationId xmlns:a16="http://schemas.microsoft.com/office/drawing/2014/main" id="{C4A3C4A0-2624-4F06-8B68-DAE1E33FBEDA}"/>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Product Review</a:t>
            </a:r>
          </a:p>
        </p:txBody>
      </p:sp>
      <p:sp>
        <p:nvSpPr>
          <p:cNvPr id="2" name="06">
            <a:extLst xmlns:a="http://schemas.openxmlformats.org/drawingml/2006/main">
              <a:ext uri="{FF2B5EF4-FFF2-40B4-BE49-F238E27FC236}">
                <a16:creationId xmlns:a16="http://schemas.microsoft.com/office/drawing/2014/main" id="{3DC9C4DB-C557-452B-9365-E9EAD777D91A}"/>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06</a:t>
            </a:r>
          </a:p>
        </p:txBody>
      </p:sp>
      <p:sp>
        <p:nvSpPr>
          <p:cNvPr id="3" name="Makes product intent explicit before technical planning">
            <a:extLst xmlns:a="http://schemas.openxmlformats.org/drawingml/2006/main">
              <a:ext uri="{FF2B5EF4-FFF2-40B4-BE49-F238E27FC236}">
                <a16:creationId xmlns:a16="http://schemas.microsoft.com/office/drawing/2014/main" id="{A0A938D8-BF95-40FD-BD9B-56726835B2CC}"/>
              </a:ext>
            </a:extLst>
          </p:cNvPr>
          <p:cNvSpPr>
            <a:spLocks xmlns:a="http://schemas.openxmlformats.org/drawingml/2006/main" noGrp="1"/>
          </p:cNvSpPr>
          <p:nvPr/>
        </p:nvSpPr>
        <p:spPr>
          <a:xfrm xmlns:a="http://schemas.openxmlformats.org/drawingml/2006/main">
            <a:off x="609600" y="1428750"/>
            <a:ext cx="10906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Makes product intent explicit before technical planning.</a:t>
            </a:r>
          </a:p>
        </p:txBody>
      </p:sp>
      <p:sp>
        <p:nvSpPr>
          <p:cNvPr id="4" name="INPUT">
            <a:extLst xmlns:a="http://schemas.openxmlformats.org/drawingml/2006/main">
              <a:ext uri="{FF2B5EF4-FFF2-40B4-BE49-F238E27FC236}">
                <a16:creationId xmlns:a16="http://schemas.microsoft.com/office/drawing/2014/main" id="{8C3713E9-4AEA-4E57-9AA7-342B28F8F78A}"/>
              </a:ext>
            </a:extLst>
          </p:cNvPr>
          <p:cNvSpPr>
            <a:spLocks xmlns:a="http://schemas.openxmlformats.org/drawingml/2006/main" noGrp="1"/>
          </p:cNvSpPr>
          <p:nvPr/>
        </p:nvSpPr>
        <p:spPr>
          <a:xfrm xmlns:a="http://schemas.openxmlformats.org/drawingml/2006/main">
            <a:off x="609600" y="25336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INPUT</a:t>
            </a:r>
          </a:p>
        </p:txBody>
      </p:sp>
      <p:sp>
        <p:nvSpPr>
          <p:cNvPr id="5" name="PRD and repository context.&#10;Approved Charter and policy">
            <a:extLst xmlns:a="http://schemas.openxmlformats.org/drawingml/2006/main">
              <a:ext uri="{FF2B5EF4-FFF2-40B4-BE49-F238E27FC236}">
                <a16:creationId xmlns:a16="http://schemas.microsoft.com/office/drawing/2014/main" id="{1F16D742-0755-415D-8605-00B6BFE64F7F}"/>
              </a:ext>
            </a:extLst>
          </p:cNvPr>
          <p:cNvSpPr>
            <a:spLocks xmlns:a="http://schemas.openxmlformats.org/drawingml/2006/main" noGrp="1"/>
          </p:cNvSpPr>
          <p:nvPr/>
        </p:nvSpPr>
        <p:spPr>
          <a:xfrm xmlns:a="http://schemas.openxmlformats.org/drawingml/2006/main">
            <a:off x="609600" y="28860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PRD and repository context.</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Approved Charter and policy.</a:t>
            </a:r>
          </a:p>
        </p:txBody>
      </p:sp>
      <p:sp>
        <p:nvSpPr>
          <p:cNvPr id="6" name="OUTPUT">
            <a:extLst xmlns:a="http://schemas.openxmlformats.org/drawingml/2006/main">
              <a:ext uri="{FF2B5EF4-FFF2-40B4-BE49-F238E27FC236}">
                <a16:creationId xmlns:a16="http://schemas.microsoft.com/office/drawing/2014/main" id="{770A3C03-7289-4475-8394-BE2668D7FFE4}"/>
              </a:ext>
            </a:extLst>
          </p:cNvPr>
          <p:cNvSpPr>
            <a:spLocks xmlns:a="http://schemas.openxmlformats.org/drawingml/2006/main" noGrp="1"/>
          </p:cNvSpPr>
          <p:nvPr/>
        </p:nvSpPr>
        <p:spPr>
          <a:xfrm xmlns:a="http://schemas.openxmlformats.org/drawingml/2006/main">
            <a:off x="609600" y="42100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OUTPUT</a:t>
            </a:r>
          </a:p>
        </p:txBody>
      </p:sp>
      <p:sp>
        <p:nvSpPr>
          <p:cNvPr id="7" name="Requirements, journeys, scope,&#10;success evidence, open q">
            <a:extLst xmlns:a="http://schemas.openxmlformats.org/drawingml/2006/main">
              <a:ext uri="{FF2B5EF4-FFF2-40B4-BE49-F238E27FC236}">
                <a16:creationId xmlns:a16="http://schemas.microsoft.com/office/drawing/2014/main" id="{BA525255-C03B-4241-AF88-414D323FA99F}"/>
              </a:ext>
            </a:extLst>
          </p:cNvPr>
          <p:cNvSpPr>
            <a:spLocks xmlns:a="http://schemas.openxmlformats.org/drawingml/2006/main" noGrp="1"/>
          </p:cNvSpPr>
          <p:nvPr/>
        </p:nvSpPr>
        <p:spPr>
          <a:xfrm xmlns:a="http://schemas.openxmlformats.org/drawingml/2006/main">
            <a:off x="609600" y="45624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Requirements, journeys, scope,</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success evidence, open questions.</a:t>
            </a:r>
          </a:p>
        </p:txBody>
      </p:sp>
      <p:sp>
        <p:nvSpPr>
          <p:cNvPr id="8" name="PROMPT EXCERPT">
            <a:extLst xmlns:a="http://schemas.openxmlformats.org/drawingml/2006/main">
              <a:ext uri="{FF2B5EF4-FFF2-40B4-BE49-F238E27FC236}">
                <a16:creationId xmlns:a16="http://schemas.microsoft.com/office/drawing/2014/main" id="{EF2EAB43-3AA5-4CDF-949D-DC81724584B6}"/>
              </a:ext>
            </a:extLst>
          </p:cNvPr>
          <p:cNvSpPr>
            <a:spLocks xmlns:a="http://schemas.openxmlformats.org/drawingml/2006/main" noGrp="1"/>
          </p:cNvSpPr>
          <p:nvPr/>
        </p:nvSpPr>
        <p:spPr>
          <a:xfrm xmlns:a="http://schemas.openxmlformats.org/drawingml/2006/main">
            <a:off x="6000750" y="25241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PROMPT EXCERPT</a:t>
            </a:r>
          </a:p>
        </p:txBody>
      </p:sp>
      <p:sp>
        <p:nvSpPr>
          <p:cNvPr id="9" name="“Give requirements stable IDs R1, R2, and so on.”">
            <a:extLst xmlns:a="http://schemas.openxmlformats.org/drawingml/2006/main">
              <a:ext uri="{FF2B5EF4-FFF2-40B4-BE49-F238E27FC236}">
                <a16:creationId xmlns:a16="http://schemas.microsoft.com/office/drawing/2014/main" id="{FCB46770-8146-47E3-B3CA-1785D90A93EF}"/>
              </a:ext>
            </a:extLst>
          </p:cNvPr>
          <p:cNvSpPr>
            <a:spLocks xmlns:a="http://schemas.openxmlformats.org/drawingml/2006/main" noGrp="1"/>
          </p:cNvSpPr>
          <p:nvPr/>
        </p:nvSpPr>
        <p:spPr>
          <a:xfrm xmlns:a="http://schemas.openxmlformats.org/drawingml/2006/main">
            <a:off x="6000750" y="2952750"/>
            <a:ext cx="52197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“Give requirements stable IDs R1, R2, and so on.”</a:t>
            </a:r>
          </a:p>
        </p:txBody>
      </p:sp>
    </p:spTree>
    <p:extLst>
      <p:ext uri="{BB962C8B-B14F-4D97-AF65-F5344CB8AC3E}">
        <p14:creationId xmlns:p14="http://schemas.microsoft.com/office/powerpoint/2010/main" val="9037374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ystem Architecture">
            <a:extLst xmlns:a="http://schemas.openxmlformats.org/drawingml/2006/main">
              <a:ext uri="{FF2B5EF4-FFF2-40B4-BE49-F238E27FC236}">
                <a16:creationId xmlns:a16="http://schemas.microsoft.com/office/drawing/2014/main" id="{9D808AA1-E38D-48C8-AA30-FBFF1158CB64}"/>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System Architecture</a:t>
            </a:r>
          </a:p>
        </p:txBody>
      </p:sp>
      <p:sp>
        <p:nvSpPr>
          <p:cNvPr id="2" name="07">
            <a:extLst xmlns:a="http://schemas.openxmlformats.org/drawingml/2006/main">
              <a:ext uri="{FF2B5EF4-FFF2-40B4-BE49-F238E27FC236}">
                <a16:creationId xmlns:a16="http://schemas.microsoft.com/office/drawing/2014/main" id="{A70A06B2-D106-49B7-9CFD-FEA36B6B4D05}"/>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07</a:t>
            </a:r>
          </a:p>
        </p:txBody>
      </p:sp>
      <p:sp>
        <p:nvSpPr>
          <p:cNvPr id="3" name="Defines components and the contracts between them.">
            <a:extLst xmlns:a="http://schemas.openxmlformats.org/drawingml/2006/main">
              <a:ext uri="{FF2B5EF4-FFF2-40B4-BE49-F238E27FC236}">
                <a16:creationId xmlns:a16="http://schemas.microsoft.com/office/drawing/2014/main" id="{0866C8D8-B8D7-4C18-9693-E4185269D686}"/>
              </a:ext>
            </a:extLst>
          </p:cNvPr>
          <p:cNvSpPr>
            <a:spLocks xmlns:a="http://schemas.openxmlformats.org/drawingml/2006/main" noGrp="1"/>
          </p:cNvSpPr>
          <p:nvPr/>
        </p:nvSpPr>
        <p:spPr>
          <a:xfrm xmlns:a="http://schemas.openxmlformats.org/drawingml/2006/main">
            <a:off x="609600" y="1428750"/>
            <a:ext cx="10906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Defines components and the contracts between them.</a:t>
            </a:r>
          </a:p>
        </p:txBody>
      </p:sp>
      <p:sp>
        <p:nvSpPr>
          <p:cNvPr id="4" name="INPUT">
            <a:extLst xmlns:a="http://schemas.openxmlformats.org/drawingml/2006/main">
              <a:ext uri="{FF2B5EF4-FFF2-40B4-BE49-F238E27FC236}">
                <a16:creationId xmlns:a16="http://schemas.microsoft.com/office/drawing/2014/main" id="{EAE5B6A6-7CA0-48EC-B8DD-8E645E21F41C}"/>
              </a:ext>
            </a:extLst>
          </p:cNvPr>
          <p:cNvSpPr>
            <a:spLocks xmlns:a="http://schemas.openxmlformats.org/drawingml/2006/main" noGrp="1"/>
          </p:cNvSpPr>
          <p:nvPr/>
        </p:nvSpPr>
        <p:spPr>
          <a:xfrm xmlns:a="http://schemas.openxmlformats.org/drawingml/2006/main">
            <a:off x="609600" y="25336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INPUT</a:t>
            </a:r>
          </a:p>
        </p:txBody>
      </p:sp>
      <p:sp>
        <p:nvSpPr>
          <p:cNvPr id="5" name="PRD and approved Product Review.&#10;Existing repository an">
            <a:extLst xmlns:a="http://schemas.openxmlformats.org/drawingml/2006/main">
              <a:ext uri="{FF2B5EF4-FFF2-40B4-BE49-F238E27FC236}">
                <a16:creationId xmlns:a16="http://schemas.microsoft.com/office/drawing/2014/main" id="{E1276F3F-216C-4B55-AA81-AE214F2DA979}"/>
              </a:ext>
            </a:extLst>
          </p:cNvPr>
          <p:cNvSpPr>
            <a:spLocks xmlns:a="http://schemas.openxmlformats.org/drawingml/2006/main" noGrp="1"/>
          </p:cNvSpPr>
          <p:nvPr/>
        </p:nvSpPr>
        <p:spPr>
          <a:xfrm xmlns:a="http://schemas.openxmlformats.org/drawingml/2006/main">
            <a:off x="609600" y="28860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PRD and approved Product Review.</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Existing repository and policy.</a:t>
            </a:r>
          </a:p>
        </p:txBody>
      </p:sp>
      <p:sp>
        <p:nvSpPr>
          <p:cNvPr id="6" name="OUTPUT">
            <a:extLst xmlns:a="http://schemas.openxmlformats.org/drawingml/2006/main">
              <a:ext uri="{FF2B5EF4-FFF2-40B4-BE49-F238E27FC236}">
                <a16:creationId xmlns:a16="http://schemas.microsoft.com/office/drawing/2014/main" id="{EE3F3B14-FA90-4D40-AFF8-B355835F60D3}"/>
              </a:ext>
            </a:extLst>
          </p:cNvPr>
          <p:cNvSpPr>
            <a:spLocks xmlns:a="http://schemas.openxmlformats.org/drawingml/2006/main" noGrp="1"/>
          </p:cNvSpPr>
          <p:nvPr/>
        </p:nvSpPr>
        <p:spPr>
          <a:xfrm xmlns:a="http://schemas.openxmlformats.org/drawingml/2006/main">
            <a:off x="609600" y="42100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OUTPUT</a:t>
            </a:r>
          </a:p>
        </p:txBody>
      </p:sp>
      <p:sp>
        <p:nvSpPr>
          <p:cNvPr id="7" name="Component ownership, contracts,&#10;data models, decisions,">
            <a:extLst xmlns:a="http://schemas.openxmlformats.org/drawingml/2006/main">
              <a:ext uri="{FF2B5EF4-FFF2-40B4-BE49-F238E27FC236}">
                <a16:creationId xmlns:a16="http://schemas.microsoft.com/office/drawing/2014/main" id="{D679E305-BF90-472B-8FC7-7CB281F3D37F}"/>
              </a:ext>
            </a:extLst>
          </p:cNvPr>
          <p:cNvSpPr>
            <a:spLocks xmlns:a="http://schemas.openxmlformats.org/drawingml/2006/main" noGrp="1"/>
          </p:cNvSpPr>
          <p:nvPr/>
        </p:nvSpPr>
        <p:spPr>
          <a:xfrm xmlns:a="http://schemas.openxmlformats.org/drawingml/2006/main">
            <a:off x="609600" y="45624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Component ownership, contracts,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data models, decisions, risks.</a:t>
            </a:r>
          </a:p>
        </p:txBody>
      </p:sp>
      <p:sp>
        <p:nvSpPr>
          <p:cNvPr id="8" name="PROMPT EXCERPT">
            <a:extLst xmlns:a="http://schemas.openxmlformats.org/drawingml/2006/main">
              <a:ext uri="{FF2B5EF4-FFF2-40B4-BE49-F238E27FC236}">
                <a16:creationId xmlns:a16="http://schemas.microsoft.com/office/drawing/2014/main" id="{07D55896-6EA3-4F6F-B90A-12057EBF8ED4}"/>
              </a:ext>
            </a:extLst>
          </p:cNvPr>
          <p:cNvSpPr>
            <a:spLocks xmlns:a="http://schemas.openxmlformats.org/drawingml/2006/main" noGrp="1"/>
          </p:cNvSpPr>
          <p:nvPr/>
        </p:nvSpPr>
        <p:spPr>
          <a:xfrm xmlns:a="http://schemas.openxmlformats.org/drawingml/2006/main">
            <a:off x="6000750" y="25241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PROMPT EXCERPT</a:t>
            </a:r>
          </a:p>
        </p:txBody>
      </p:sp>
      <p:sp>
        <p:nvSpPr>
          <p:cNvPr id="9" name="“Every requirement must have an owning component.”">
            <a:extLst xmlns:a="http://schemas.openxmlformats.org/drawingml/2006/main">
              <a:ext uri="{FF2B5EF4-FFF2-40B4-BE49-F238E27FC236}">
                <a16:creationId xmlns:a16="http://schemas.microsoft.com/office/drawing/2014/main" id="{35FC0D62-CBB6-4FD7-B780-ECD6FD54A3CB}"/>
              </a:ext>
            </a:extLst>
          </p:cNvPr>
          <p:cNvSpPr>
            <a:spLocks xmlns:a="http://schemas.openxmlformats.org/drawingml/2006/main" noGrp="1"/>
          </p:cNvSpPr>
          <p:nvPr/>
        </p:nvSpPr>
        <p:spPr>
          <a:xfrm xmlns:a="http://schemas.openxmlformats.org/drawingml/2006/main">
            <a:off x="6000750" y="2952750"/>
            <a:ext cx="52197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“Every requirement must have an owning component.”</a:t>
            </a:r>
          </a:p>
        </p:txBody>
      </p:sp>
    </p:spTree>
    <p:extLst>
      <p:ext uri="{BB962C8B-B14F-4D97-AF65-F5344CB8AC3E}">
        <p14:creationId xmlns:p14="http://schemas.microsoft.com/office/powerpoint/2010/main" val="7483698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ogram Design">
            <a:extLst xmlns:a="http://schemas.openxmlformats.org/drawingml/2006/main">
              <a:ext uri="{FF2B5EF4-FFF2-40B4-BE49-F238E27FC236}">
                <a16:creationId xmlns:a16="http://schemas.microsoft.com/office/drawing/2014/main" id="{EAA426EF-BF40-4AB6-9E26-436939089140}"/>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Program Design</a:t>
            </a:r>
          </a:p>
        </p:txBody>
      </p:sp>
      <p:sp>
        <p:nvSpPr>
          <p:cNvPr id="2" name="08">
            <a:extLst xmlns:a="http://schemas.openxmlformats.org/drawingml/2006/main">
              <a:ext uri="{FF2B5EF4-FFF2-40B4-BE49-F238E27FC236}">
                <a16:creationId xmlns:a16="http://schemas.microsoft.com/office/drawing/2014/main" id="{7ED5E10B-40CA-42A5-973E-038FDF6DBF83}"/>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08</a:t>
            </a:r>
          </a:p>
        </p:txBody>
      </p:sp>
      <p:sp>
        <p:nvSpPr>
          <p:cNvPr id="3" name="Turns architecture into a concrete code design.">
            <a:extLst xmlns:a="http://schemas.openxmlformats.org/drawingml/2006/main">
              <a:ext uri="{FF2B5EF4-FFF2-40B4-BE49-F238E27FC236}">
                <a16:creationId xmlns:a16="http://schemas.microsoft.com/office/drawing/2014/main" id="{86D48E5D-62B1-42C8-8467-FB7E7A1471FA}"/>
              </a:ext>
            </a:extLst>
          </p:cNvPr>
          <p:cNvSpPr>
            <a:spLocks xmlns:a="http://schemas.openxmlformats.org/drawingml/2006/main" noGrp="1"/>
          </p:cNvSpPr>
          <p:nvPr/>
        </p:nvSpPr>
        <p:spPr>
          <a:xfrm xmlns:a="http://schemas.openxmlformats.org/drawingml/2006/main">
            <a:off x="609600" y="1428750"/>
            <a:ext cx="10906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Turns architecture into a concrete code design.</a:t>
            </a:r>
          </a:p>
        </p:txBody>
      </p:sp>
      <p:sp>
        <p:nvSpPr>
          <p:cNvPr id="4" name="INPUT">
            <a:extLst xmlns:a="http://schemas.openxmlformats.org/drawingml/2006/main">
              <a:ext uri="{FF2B5EF4-FFF2-40B4-BE49-F238E27FC236}">
                <a16:creationId xmlns:a16="http://schemas.microsoft.com/office/drawing/2014/main" id="{E51A36E3-C985-4D28-B40C-A46ACD4F202C}"/>
              </a:ext>
            </a:extLst>
          </p:cNvPr>
          <p:cNvSpPr>
            <a:spLocks xmlns:a="http://schemas.openxmlformats.org/drawingml/2006/main" noGrp="1"/>
          </p:cNvSpPr>
          <p:nvPr/>
        </p:nvSpPr>
        <p:spPr>
          <a:xfrm xmlns:a="http://schemas.openxmlformats.org/drawingml/2006/main">
            <a:off x="609600" y="25336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INPUT</a:t>
            </a:r>
          </a:p>
        </p:txBody>
      </p:sp>
      <p:sp>
        <p:nvSpPr>
          <p:cNvPr id="5" name="Product and architecture artifacts.&#10;Existing code and p">
            <a:extLst xmlns:a="http://schemas.openxmlformats.org/drawingml/2006/main">
              <a:ext uri="{FF2B5EF4-FFF2-40B4-BE49-F238E27FC236}">
                <a16:creationId xmlns:a16="http://schemas.microsoft.com/office/drawing/2014/main" id="{79F553FE-1875-4CC5-B3AB-D80C0B0070FB}"/>
              </a:ext>
            </a:extLst>
          </p:cNvPr>
          <p:cNvSpPr>
            <a:spLocks xmlns:a="http://schemas.openxmlformats.org/drawingml/2006/main" noGrp="1"/>
          </p:cNvSpPr>
          <p:nvPr/>
        </p:nvSpPr>
        <p:spPr>
          <a:xfrm xmlns:a="http://schemas.openxmlformats.org/drawingml/2006/main">
            <a:off x="609600" y="28860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Product and architecture artifacts.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Existing code and project policy.</a:t>
            </a:r>
          </a:p>
        </p:txBody>
      </p:sp>
      <p:sp>
        <p:nvSpPr>
          <p:cNvPr id="6" name="OUTPUT">
            <a:extLst xmlns:a="http://schemas.openxmlformats.org/drawingml/2006/main">
              <a:ext uri="{FF2B5EF4-FFF2-40B4-BE49-F238E27FC236}">
                <a16:creationId xmlns:a16="http://schemas.microsoft.com/office/drawing/2014/main" id="{C28CAD09-2F67-4E43-A0F8-018FF883801F}"/>
              </a:ext>
            </a:extLst>
          </p:cNvPr>
          <p:cNvSpPr>
            <a:spLocks xmlns:a="http://schemas.openxmlformats.org/drawingml/2006/main" noGrp="1"/>
          </p:cNvSpPr>
          <p:nvPr/>
        </p:nvSpPr>
        <p:spPr>
          <a:xfrm xmlns:a="http://schemas.openxmlformats.org/drawingml/2006/main">
            <a:off x="609600" y="42100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OUTPUT</a:t>
            </a:r>
          </a:p>
        </p:txBody>
      </p:sp>
      <p:sp>
        <p:nvSpPr>
          <p:cNvPr id="7" name="Modules, types, signatures,&#10;call flows, errors, test se">
            <a:extLst xmlns:a="http://schemas.openxmlformats.org/drawingml/2006/main">
              <a:ext uri="{FF2B5EF4-FFF2-40B4-BE49-F238E27FC236}">
                <a16:creationId xmlns:a16="http://schemas.microsoft.com/office/drawing/2014/main" id="{B18C60B8-B9DE-45F7-8132-23F490AC471A}"/>
              </a:ext>
            </a:extLst>
          </p:cNvPr>
          <p:cNvSpPr>
            <a:spLocks xmlns:a="http://schemas.openxmlformats.org/drawingml/2006/main" noGrp="1"/>
          </p:cNvSpPr>
          <p:nvPr/>
        </p:nvSpPr>
        <p:spPr>
          <a:xfrm xmlns:a="http://schemas.openxmlformats.org/drawingml/2006/main">
            <a:off x="609600" y="45624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Modules, types, signatures,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call flows, errors, test seams.</a:t>
            </a:r>
          </a:p>
        </p:txBody>
      </p:sp>
      <p:sp>
        <p:nvSpPr>
          <p:cNvPr id="8" name="PROMPT EXCERPT">
            <a:extLst xmlns:a="http://schemas.openxmlformats.org/drawingml/2006/main">
              <a:ext uri="{FF2B5EF4-FFF2-40B4-BE49-F238E27FC236}">
                <a16:creationId xmlns:a16="http://schemas.microsoft.com/office/drawing/2014/main" id="{BF396CF4-D38D-4D09-B264-F478C80A0F7B}"/>
              </a:ext>
            </a:extLst>
          </p:cNvPr>
          <p:cNvSpPr>
            <a:spLocks xmlns:a="http://schemas.openxmlformats.org/drawingml/2006/main" noGrp="1"/>
          </p:cNvSpPr>
          <p:nvPr/>
        </p:nvSpPr>
        <p:spPr>
          <a:xfrm xmlns:a="http://schemas.openxmlformats.org/drawingml/2006/main">
            <a:off x="6000750" y="25241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PROMPT EXCERPT</a:t>
            </a:r>
          </a:p>
        </p:txBody>
      </p:sp>
      <p:sp>
        <p:nvSpPr>
          <p:cNvPr id="9" name="“Every type and function module reference must name a M">
            <a:extLst xmlns:a="http://schemas.openxmlformats.org/drawingml/2006/main">
              <a:ext uri="{FF2B5EF4-FFF2-40B4-BE49-F238E27FC236}">
                <a16:creationId xmlns:a16="http://schemas.microsoft.com/office/drawing/2014/main" id="{34265607-1AA3-4C17-A1EC-D9E8543652D0}"/>
              </a:ext>
            </a:extLst>
          </p:cNvPr>
          <p:cNvSpPr>
            <a:spLocks xmlns:a="http://schemas.openxmlformats.org/drawingml/2006/main" noGrp="1"/>
          </p:cNvSpPr>
          <p:nvPr/>
        </p:nvSpPr>
        <p:spPr>
          <a:xfrm xmlns:a="http://schemas.openxmlformats.org/drawingml/2006/main">
            <a:off x="6000750" y="2952750"/>
            <a:ext cx="52197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“Every type and function module reference must name a MOD- ID defined in this artifact.”</a:t>
            </a:r>
          </a:p>
        </p:txBody>
      </p:sp>
    </p:spTree>
    <p:extLst>
      <p:ext uri="{BB962C8B-B14F-4D97-AF65-F5344CB8AC3E}">
        <p14:creationId xmlns:p14="http://schemas.microsoft.com/office/powerpoint/2010/main" val="14731892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ertical Slices">
            <a:extLst xmlns:a="http://schemas.openxmlformats.org/drawingml/2006/main">
              <a:ext uri="{FF2B5EF4-FFF2-40B4-BE49-F238E27FC236}">
                <a16:creationId xmlns:a16="http://schemas.microsoft.com/office/drawing/2014/main" id="{9F7A0BB6-95F9-468F-B032-B747DA1C3963}"/>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Vertical Slices</a:t>
            </a:r>
          </a:p>
        </p:txBody>
      </p:sp>
      <p:sp>
        <p:nvSpPr>
          <p:cNvPr id="2" name="09">
            <a:extLst xmlns:a="http://schemas.openxmlformats.org/drawingml/2006/main">
              <a:ext uri="{FF2B5EF4-FFF2-40B4-BE49-F238E27FC236}">
                <a16:creationId xmlns:a16="http://schemas.microsoft.com/office/drawing/2014/main" id="{3598A3C2-5378-485E-A431-A2F5049321DE}"/>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09</a:t>
            </a:r>
          </a:p>
        </p:txBody>
      </p:sp>
      <p:sp>
        <p:nvSpPr>
          <p:cNvPr id="3" name="Creates small tickets with observable outcomes.">
            <a:extLst xmlns:a="http://schemas.openxmlformats.org/drawingml/2006/main">
              <a:ext uri="{FF2B5EF4-FFF2-40B4-BE49-F238E27FC236}">
                <a16:creationId xmlns:a16="http://schemas.microsoft.com/office/drawing/2014/main" id="{5833BEBE-3313-488A-BB05-88E88571B819}"/>
              </a:ext>
            </a:extLst>
          </p:cNvPr>
          <p:cNvSpPr>
            <a:spLocks xmlns:a="http://schemas.openxmlformats.org/drawingml/2006/main" noGrp="1"/>
          </p:cNvSpPr>
          <p:nvPr/>
        </p:nvSpPr>
        <p:spPr>
          <a:xfrm xmlns:a="http://schemas.openxmlformats.org/drawingml/2006/main">
            <a:off x="609600" y="1428750"/>
            <a:ext cx="10906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Creates small tickets with observable outcomes.</a:t>
            </a:r>
          </a:p>
        </p:txBody>
      </p:sp>
      <p:sp>
        <p:nvSpPr>
          <p:cNvPr id="4" name="INPUT">
            <a:extLst xmlns:a="http://schemas.openxmlformats.org/drawingml/2006/main">
              <a:ext uri="{FF2B5EF4-FFF2-40B4-BE49-F238E27FC236}">
                <a16:creationId xmlns:a16="http://schemas.microsoft.com/office/drawing/2014/main" id="{60B6950E-4576-41E8-992E-4E21773936DA}"/>
              </a:ext>
            </a:extLst>
          </p:cNvPr>
          <p:cNvSpPr>
            <a:spLocks xmlns:a="http://schemas.openxmlformats.org/drawingml/2006/main" noGrp="1"/>
          </p:cNvSpPr>
          <p:nvPr/>
        </p:nvSpPr>
        <p:spPr>
          <a:xfrm xmlns:a="http://schemas.openxmlformats.org/drawingml/2006/main">
            <a:off x="609600" y="25336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INPUT</a:t>
            </a:r>
          </a:p>
        </p:txBody>
      </p:sp>
      <p:sp>
        <p:nvSpPr>
          <p:cNvPr id="5" name="Aligned planning artifacts.&#10;Ticket limits and diff budg">
            <a:extLst xmlns:a="http://schemas.openxmlformats.org/drawingml/2006/main">
              <a:ext uri="{FF2B5EF4-FFF2-40B4-BE49-F238E27FC236}">
                <a16:creationId xmlns:a16="http://schemas.microsoft.com/office/drawing/2014/main" id="{9B5E621F-925B-48A1-A3FF-BFD8CA0F417A}"/>
              </a:ext>
            </a:extLst>
          </p:cNvPr>
          <p:cNvSpPr>
            <a:spLocks xmlns:a="http://schemas.openxmlformats.org/drawingml/2006/main" noGrp="1"/>
          </p:cNvSpPr>
          <p:nvPr/>
        </p:nvSpPr>
        <p:spPr>
          <a:xfrm xmlns:a="http://schemas.openxmlformats.org/drawingml/2006/main">
            <a:off x="609600" y="28860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Aligned planning artifacts.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Ticket limits and diff budget.</a:t>
            </a:r>
          </a:p>
        </p:txBody>
      </p:sp>
      <p:sp>
        <p:nvSpPr>
          <p:cNvPr id="6" name="OUTPUT">
            <a:extLst xmlns:a="http://schemas.openxmlformats.org/drawingml/2006/main">
              <a:ext uri="{FF2B5EF4-FFF2-40B4-BE49-F238E27FC236}">
                <a16:creationId xmlns:a16="http://schemas.microsoft.com/office/drawing/2014/main" id="{ABECCA51-D03B-4371-9AEE-63E6C32F8B91}"/>
              </a:ext>
            </a:extLst>
          </p:cNvPr>
          <p:cNvSpPr>
            <a:spLocks xmlns:a="http://schemas.openxmlformats.org/drawingml/2006/main" noGrp="1"/>
          </p:cNvSpPr>
          <p:nvPr/>
        </p:nvSpPr>
        <p:spPr>
          <a:xfrm xmlns:a="http://schemas.openxmlformats.org/drawingml/2006/main">
            <a:off x="609600" y="42100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OUTPUT</a:t>
            </a:r>
          </a:p>
        </p:txBody>
      </p:sp>
      <p:sp>
        <p:nvSpPr>
          <p:cNvPr id="7" name="Acceptance criteria, dependencies,&#10;file ownership, evid">
            <a:extLst xmlns:a="http://schemas.openxmlformats.org/drawingml/2006/main">
              <a:ext uri="{FF2B5EF4-FFF2-40B4-BE49-F238E27FC236}">
                <a16:creationId xmlns:a16="http://schemas.microsoft.com/office/drawing/2014/main" id="{258B4ED8-8DB0-4B25-932B-3F0E22652F0A}"/>
              </a:ext>
            </a:extLst>
          </p:cNvPr>
          <p:cNvSpPr>
            <a:spLocks xmlns:a="http://schemas.openxmlformats.org/drawingml/2006/main" noGrp="1"/>
          </p:cNvSpPr>
          <p:nvPr/>
        </p:nvSpPr>
        <p:spPr>
          <a:xfrm xmlns:a="http://schemas.openxmlformats.org/drawingml/2006/main">
            <a:off x="609600" y="45624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Acceptance criteria, dependencies,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file ownership, evidence links.</a:t>
            </a:r>
          </a:p>
        </p:txBody>
      </p:sp>
      <p:sp>
        <p:nvSpPr>
          <p:cNvPr id="8" name="PROMPT EXCERPT">
            <a:extLst xmlns:a="http://schemas.openxmlformats.org/drawingml/2006/main">
              <a:ext uri="{FF2B5EF4-FFF2-40B4-BE49-F238E27FC236}">
                <a16:creationId xmlns:a16="http://schemas.microsoft.com/office/drawing/2014/main" id="{D5D40FCB-F374-42FE-BE62-2475432CD885}"/>
              </a:ext>
            </a:extLst>
          </p:cNvPr>
          <p:cNvSpPr>
            <a:spLocks xmlns:a="http://schemas.openxmlformats.org/drawingml/2006/main" noGrp="1"/>
          </p:cNvSpPr>
          <p:nvPr/>
        </p:nvSpPr>
        <p:spPr>
          <a:xfrm xmlns:a="http://schemas.openxmlformats.org/drawingml/2006/main">
            <a:off x="6000750" y="25241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PROMPT EXCERPT</a:t>
            </a:r>
          </a:p>
        </p:txBody>
      </p:sp>
      <p:sp>
        <p:nvSpPr>
          <p:cNvPr id="9" name="“Overlapping file ownership is allowed only when one ti">
            <a:extLst xmlns:a="http://schemas.openxmlformats.org/drawingml/2006/main">
              <a:ext uri="{FF2B5EF4-FFF2-40B4-BE49-F238E27FC236}">
                <a16:creationId xmlns:a16="http://schemas.microsoft.com/office/drawing/2014/main" id="{0E801B8B-ADDB-4A87-BEA5-A7A8B1254D61}"/>
              </a:ext>
            </a:extLst>
          </p:cNvPr>
          <p:cNvSpPr>
            <a:spLocks xmlns:a="http://schemas.openxmlformats.org/drawingml/2006/main" noGrp="1"/>
          </p:cNvSpPr>
          <p:nvPr/>
        </p:nvSpPr>
        <p:spPr>
          <a:xfrm xmlns:a="http://schemas.openxmlformats.org/drawingml/2006/main">
            <a:off x="6000750" y="2952750"/>
            <a:ext cx="52197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“Overlapping file ownership is allowed only when one ticket depends on the other.”</a:t>
            </a:r>
          </a:p>
        </p:txBody>
      </p:sp>
    </p:spTree>
    <p:extLst>
      <p:ext uri="{BB962C8B-B14F-4D97-AF65-F5344CB8AC3E}">
        <p14:creationId xmlns:p14="http://schemas.microsoft.com/office/powerpoint/2010/main" val="18373043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lan changes before tickets">
            <a:extLst xmlns:a="http://schemas.openxmlformats.org/drawingml/2006/main">
              <a:ext uri="{FF2B5EF4-FFF2-40B4-BE49-F238E27FC236}">
                <a16:creationId xmlns:a16="http://schemas.microsoft.com/office/drawing/2014/main" id="{69B8077F-4522-4E01-903F-A5958AF61C0F}"/>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Plan changes before tickets</a:t>
            </a:r>
          </a:p>
        </p:txBody>
      </p:sp>
      <p:sp>
        <p:nvSpPr>
          <p:cNvPr id="2" name="10">
            <a:extLst xmlns:a="http://schemas.openxmlformats.org/drawingml/2006/main">
              <a:ext uri="{FF2B5EF4-FFF2-40B4-BE49-F238E27FC236}">
                <a16:creationId xmlns:a16="http://schemas.microsoft.com/office/drawing/2014/main" id="{6056AE06-929E-4AC9-975F-6B2DEA1B18E2}"/>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47669c29b984d89"/>
          <a:stretch xmlns:a="http://schemas.openxmlformats.org/drawingml/2006/main"/>
        </p:blipFill>
        <p:spPr>
          <a:xfrm xmlns:a="http://schemas.openxmlformats.org/drawingml/2006/main">
            <a:off x="4607573" y="1457325"/>
            <a:ext cx="6844004" cy="4657725"/>
          </a:xfrm>
          <a:prstGeom xmlns:a="http://schemas.openxmlformats.org/drawingml/2006/main" prst="rect">
            <a:avLst/>
          </a:prstGeom>
        </p:spPr>
      </p:pic>
      <p:sp>
        <p:nvSpPr>
          <p:cNvPr id="4" name="1  Request a change">
            <a:extLst xmlns:a="http://schemas.openxmlformats.org/drawingml/2006/main">
              <a:ext uri="{FF2B5EF4-FFF2-40B4-BE49-F238E27FC236}">
                <a16:creationId xmlns:a16="http://schemas.microsoft.com/office/drawing/2014/main" id="{67ACED75-2729-4489-BC8A-2248820B205D}"/>
              </a:ext>
            </a:extLst>
          </p:cNvPr>
          <p:cNvSpPr>
            <a:spLocks xmlns:a="http://schemas.openxmlformats.org/drawingml/2006/main" noGrp="1"/>
          </p:cNvSpPr>
          <p:nvPr/>
        </p:nvSpPr>
        <p:spPr>
          <a:xfrm xmlns:a="http://schemas.openxmlformats.org/drawingml/2006/main">
            <a:off x="609600" y="1704975"/>
            <a:ext cx="3638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6CA5"/>
                </a:solidFill>
                <a:latin typeface="Helvetica Neue"/>
                <a:ea typeface="Helvetica Neue"/>
                <a:cs typeface="Helvetica Neue"/>
              </a:defRPr>
            </a:pPr>
            <a:r>
              <a:rPr sz="2400" b="1">
                <a:solidFill>
                  <a:srgbClr val="006CA5"/>
                </a:solidFill>
                <a:latin typeface="Helvetica Neue"/>
                <a:ea typeface="Helvetica Neue"/>
                <a:cs typeface="Helvetica Neue"/>
              </a:rPr>
              <a:t>1  Request a change</a:t>
            </a:r>
          </a:p>
        </p:txBody>
      </p:sp>
      <p:sp>
        <p:nvSpPr>
          <p:cNvPr id="5" name="2  Review the revision">
            <a:extLst xmlns:a="http://schemas.openxmlformats.org/drawingml/2006/main">
              <a:ext uri="{FF2B5EF4-FFF2-40B4-BE49-F238E27FC236}">
                <a16:creationId xmlns:a16="http://schemas.microsoft.com/office/drawing/2014/main" id="{BA07120D-643A-4501-B43D-2FA233867741}"/>
              </a:ext>
            </a:extLst>
          </p:cNvPr>
          <p:cNvSpPr>
            <a:spLocks xmlns:a="http://schemas.openxmlformats.org/drawingml/2006/main" noGrp="1"/>
          </p:cNvSpPr>
          <p:nvPr/>
        </p:nvSpPr>
        <p:spPr>
          <a:xfrm xmlns:a="http://schemas.openxmlformats.org/drawingml/2006/main">
            <a:off x="609600" y="2895600"/>
            <a:ext cx="3638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2  Review the revision</a:t>
            </a:r>
          </a:p>
        </p:txBody>
      </p:sp>
      <p:sp>
        <p:nvSpPr>
          <p:cNvPr id="6" name="3  Confirm continuation">
            <a:extLst xmlns:a="http://schemas.openxmlformats.org/drawingml/2006/main">
              <a:ext uri="{FF2B5EF4-FFF2-40B4-BE49-F238E27FC236}">
                <a16:creationId xmlns:a16="http://schemas.microsoft.com/office/drawing/2014/main" id="{1D586DAB-0A2A-4980-9AD3-162B22F25658}"/>
              </a:ext>
            </a:extLst>
          </p:cNvPr>
          <p:cNvSpPr>
            <a:spLocks xmlns:a="http://schemas.openxmlformats.org/drawingml/2006/main" noGrp="1"/>
          </p:cNvSpPr>
          <p:nvPr/>
        </p:nvSpPr>
        <p:spPr>
          <a:xfrm xmlns:a="http://schemas.openxmlformats.org/drawingml/2006/main">
            <a:off x="609600" y="4086225"/>
            <a:ext cx="3638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3  Confirm continuation</a:t>
            </a:r>
          </a:p>
        </p:txBody>
      </p:sp>
      <p:sp>
        <p:nvSpPr>
          <p:cNvPr id="7" name="The factory regenerates&#10;affected downstream work.">
            <a:extLst xmlns:a="http://schemas.openxmlformats.org/drawingml/2006/main">
              <a:ext uri="{FF2B5EF4-FFF2-40B4-BE49-F238E27FC236}">
                <a16:creationId xmlns:a16="http://schemas.microsoft.com/office/drawing/2014/main" id="{58D43E38-70AC-48EF-ABEC-8A5E9B82C014}"/>
              </a:ext>
            </a:extLst>
          </p:cNvPr>
          <p:cNvSpPr>
            <a:spLocks xmlns:a="http://schemas.openxmlformats.org/drawingml/2006/main" noGrp="1"/>
          </p:cNvSpPr>
          <p:nvPr/>
        </p:nvSpPr>
        <p:spPr>
          <a:xfrm xmlns:a="http://schemas.openxmlformats.org/drawingml/2006/main">
            <a:off x="609600" y="5248275"/>
            <a:ext cx="36385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7"/>
                </a:solidFill>
                <a:latin typeface="Helvetica Neue"/>
                <a:ea typeface="Helvetica Neue"/>
                <a:cs typeface="Helvetica Neue"/>
              </a:defRPr>
            </a:pPr>
            <a:r>
              <a:rPr sz="1950" b="0">
                <a:solidFill>
                  <a:srgbClr val="526777"/>
                </a:solidFill>
                <a:latin typeface="Helvetica Neue"/>
                <a:ea typeface="Helvetica Neue"/>
                <a:cs typeface="Helvetica Neue"/>
              </a:rPr>
              <a:t>The factory regenerates</a:t>
            </a:r>
          </a:p>
          <a:p xmlns:a="http://schemas.openxmlformats.org/drawingml/2006/main">
            <a:pPr>
              <a:defRPr sz="1950" b="0">
                <a:solidFill>
                  <a:srgbClr val="526777"/>
                </a:solidFill>
                <a:latin typeface="Helvetica Neue"/>
                <a:ea typeface="Helvetica Neue"/>
                <a:cs typeface="Helvetica Neue"/>
              </a:defRPr>
            </a:pPr>
            <a:r>
              <a:rPr sz="1950" b="0">
                <a:solidFill>
                  <a:srgbClr val="526777"/>
                </a:solidFill>
                <a:latin typeface="Helvetica Neue"/>
                <a:ea typeface="Helvetica Neue"/>
                <a:cs typeface="Helvetica Neue"/>
              </a:rPr>
              <a:t>affected downstream work.</a:t>
            </a:r>
          </a:p>
        </p:txBody>
      </p:sp>
    </p:spTree>
    <p:extLst>
      <p:ext uri="{BB962C8B-B14F-4D97-AF65-F5344CB8AC3E}">
        <p14:creationId xmlns:p14="http://schemas.microsoft.com/office/powerpoint/2010/main" val="115680358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ndependent QA">
            <a:extLst xmlns:a="http://schemas.openxmlformats.org/drawingml/2006/main">
              <a:ext uri="{FF2B5EF4-FFF2-40B4-BE49-F238E27FC236}">
                <a16:creationId xmlns:a16="http://schemas.microsoft.com/office/drawing/2014/main" id="{9D05F965-6818-4BDD-91B6-AFEF0118630B}"/>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Independent QA</a:t>
            </a:r>
          </a:p>
        </p:txBody>
      </p:sp>
      <p:sp>
        <p:nvSpPr>
          <p:cNvPr id="2" name="11">
            <a:extLst xmlns:a="http://schemas.openxmlformats.org/drawingml/2006/main">
              <a:ext uri="{FF2B5EF4-FFF2-40B4-BE49-F238E27FC236}">
                <a16:creationId xmlns:a16="http://schemas.microsoft.com/office/drawing/2014/main" id="{BC353063-151A-4D6B-A1B9-8C544CB7AF1B}"/>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11</a:t>
            </a:r>
          </a:p>
        </p:txBody>
      </p:sp>
      <p:sp>
        <p:nvSpPr>
          <p:cNvPr id="3" name="Writes acceptance tests before implementation starts.">
            <a:extLst xmlns:a="http://schemas.openxmlformats.org/drawingml/2006/main">
              <a:ext uri="{FF2B5EF4-FFF2-40B4-BE49-F238E27FC236}">
                <a16:creationId xmlns:a16="http://schemas.microsoft.com/office/drawing/2014/main" id="{BA4CD5B1-A540-4424-91D4-40CD66F69FA8}"/>
              </a:ext>
            </a:extLst>
          </p:cNvPr>
          <p:cNvSpPr>
            <a:spLocks xmlns:a="http://schemas.openxmlformats.org/drawingml/2006/main" noGrp="1"/>
          </p:cNvSpPr>
          <p:nvPr/>
        </p:nvSpPr>
        <p:spPr>
          <a:xfrm xmlns:a="http://schemas.openxmlformats.org/drawingml/2006/main">
            <a:off x="609600" y="1428750"/>
            <a:ext cx="10906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Writes acceptance tests before implementation starts.</a:t>
            </a:r>
          </a:p>
        </p:txBody>
      </p:sp>
      <p:sp>
        <p:nvSpPr>
          <p:cNvPr id="4" name="INPUT">
            <a:extLst xmlns:a="http://schemas.openxmlformats.org/drawingml/2006/main">
              <a:ext uri="{FF2B5EF4-FFF2-40B4-BE49-F238E27FC236}">
                <a16:creationId xmlns:a16="http://schemas.microsoft.com/office/drawing/2014/main" id="{B16D8155-4210-460C-8212-6D00F88850B2}"/>
              </a:ext>
            </a:extLst>
          </p:cNvPr>
          <p:cNvSpPr>
            <a:spLocks xmlns:a="http://schemas.openxmlformats.org/drawingml/2006/main" noGrp="1"/>
          </p:cNvSpPr>
          <p:nvPr/>
        </p:nvSpPr>
        <p:spPr>
          <a:xfrm xmlns:a="http://schemas.openxmlformats.org/drawingml/2006/main">
            <a:off x="609600" y="25336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INPUT</a:t>
            </a:r>
          </a:p>
        </p:txBody>
      </p:sp>
      <p:sp>
        <p:nvSpPr>
          <p:cNvPr id="5" name="Ticket criteria and planning context.&#10;Allowed test path">
            <a:extLst xmlns:a="http://schemas.openxmlformats.org/drawingml/2006/main">
              <a:ext uri="{FF2B5EF4-FFF2-40B4-BE49-F238E27FC236}">
                <a16:creationId xmlns:a16="http://schemas.microsoft.com/office/drawing/2014/main" id="{C6D4484E-C3F8-43AB-9BC1-82F872A79A68}"/>
              </a:ext>
            </a:extLst>
          </p:cNvPr>
          <p:cNvSpPr>
            <a:spLocks xmlns:a="http://schemas.openxmlformats.org/drawingml/2006/main" noGrp="1"/>
          </p:cNvSpPr>
          <p:nvPr/>
        </p:nvSpPr>
        <p:spPr>
          <a:xfrm xmlns:a="http://schemas.openxmlformats.org/drawingml/2006/main">
            <a:off x="609600" y="28860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Ticket criteria and planning context.</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Allowed test paths and tools.</a:t>
            </a:r>
          </a:p>
        </p:txBody>
      </p:sp>
      <p:sp>
        <p:nvSpPr>
          <p:cNvPr id="6" name="OUTPUT">
            <a:extLst xmlns:a="http://schemas.openxmlformats.org/drawingml/2006/main">
              <a:ext uri="{FF2B5EF4-FFF2-40B4-BE49-F238E27FC236}">
                <a16:creationId xmlns:a16="http://schemas.microsoft.com/office/drawing/2014/main" id="{DFB39955-5C65-4FB5-9E95-1760E75A91C7}"/>
              </a:ext>
            </a:extLst>
          </p:cNvPr>
          <p:cNvSpPr>
            <a:spLocks xmlns:a="http://schemas.openxmlformats.org/drawingml/2006/main" noGrp="1"/>
          </p:cNvSpPr>
          <p:nvPr/>
        </p:nvSpPr>
        <p:spPr>
          <a:xfrm xmlns:a="http://schemas.openxmlformats.org/drawingml/2006/main">
            <a:off x="609600" y="42100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OUTPUT</a:t>
            </a:r>
          </a:p>
        </p:txBody>
      </p:sp>
      <p:sp>
        <p:nvSpPr>
          <p:cNvPr id="7" name="New deterministic tests.&#10;Factory records RED and protec">
            <a:extLst xmlns:a="http://schemas.openxmlformats.org/drawingml/2006/main">
              <a:ext uri="{FF2B5EF4-FFF2-40B4-BE49-F238E27FC236}">
                <a16:creationId xmlns:a16="http://schemas.microsoft.com/office/drawing/2014/main" id="{B76E1DB8-69C1-4304-9F03-9B5038639D04}"/>
              </a:ext>
            </a:extLst>
          </p:cNvPr>
          <p:cNvSpPr>
            <a:spLocks xmlns:a="http://schemas.openxmlformats.org/drawingml/2006/main" noGrp="1"/>
          </p:cNvSpPr>
          <p:nvPr/>
        </p:nvSpPr>
        <p:spPr>
          <a:xfrm xmlns:a="http://schemas.openxmlformats.org/drawingml/2006/main">
            <a:off x="609600" y="45624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New deterministic tests.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Factory records RED and protects files.</a:t>
            </a:r>
          </a:p>
        </p:txBody>
      </p:sp>
      <p:sp>
        <p:nvSpPr>
          <p:cNvPr id="8" name="PROMPT EXCERPT">
            <a:extLst xmlns:a="http://schemas.openxmlformats.org/drawingml/2006/main">
              <a:ext uri="{FF2B5EF4-FFF2-40B4-BE49-F238E27FC236}">
                <a16:creationId xmlns:a16="http://schemas.microsoft.com/office/drawing/2014/main" id="{01CFC0F8-5A6A-4457-8B63-26F52D034967}"/>
              </a:ext>
            </a:extLst>
          </p:cNvPr>
          <p:cNvSpPr>
            <a:spLocks xmlns:a="http://schemas.openxmlformats.org/drawingml/2006/main" noGrp="1"/>
          </p:cNvSpPr>
          <p:nvPr/>
        </p:nvSpPr>
        <p:spPr>
          <a:xfrm xmlns:a="http://schemas.openxmlformats.org/drawingml/2006/main">
            <a:off x="6000750" y="25241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PROMPT EXCERPT</a:t>
            </a:r>
          </a:p>
        </p:txBody>
      </p:sp>
      <p:sp>
        <p:nvSpPr>
          <p:cNvPr id="9" name="“Inspect production code only to understand public beha">
            <a:extLst xmlns:a="http://schemas.openxmlformats.org/drawingml/2006/main">
              <a:ext uri="{FF2B5EF4-FFF2-40B4-BE49-F238E27FC236}">
                <a16:creationId xmlns:a16="http://schemas.microsoft.com/office/drawing/2014/main" id="{00E75CAE-C4F8-4BD1-85D2-46241B7EB4B6}"/>
              </a:ext>
            </a:extLst>
          </p:cNvPr>
          <p:cNvSpPr>
            <a:spLocks xmlns:a="http://schemas.openxmlformats.org/drawingml/2006/main" noGrp="1"/>
          </p:cNvSpPr>
          <p:nvPr/>
        </p:nvSpPr>
        <p:spPr>
          <a:xfrm xmlns:a="http://schemas.openxmlformats.org/drawingml/2006/main">
            <a:off x="6000750" y="2952750"/>
            <a:ext cx="52197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“Inspect production code only to understand public behavior; do not implement or repair the feature.”</a:t>
            </a:r>
          </a:p>
        </p:txBody>
      </p:sp>
    </p:spTree>
    <p:extLst>
      <p:ext uri="{BB962C8B-B14F-4D97-AF65-F5344CB8AC3E}">
        <p14:creationId xmlns:p14="http://schemas.microsoft.com/office/powerpoint/2010/main" val="21340965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What counts as RED evidence?">
            <a:extLst xmlns:a="http://schemas.openxmlformats.org/drawingml/2006/main">
              <a:ext uri="{FF2B5EF4-FFF2-40B4-BE49-F238E27FC236}">
                <a16:creationId xmlns:a16="http://schemas.microsoft.com/office/drawing/2014/main" id="{E6F9DB95-6D3D-4041-B826-F1515D9FFFBC}"/>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What counts as RED evidence?</a:t>
            </a:r>
          </a:p>
        </p:txBody>
      </p:sp>
      <p:sp>
        <p:nvSpPr>
          <p:cNvPr id="2" name="12">
            <a:extLst xmlns:a="http://schemas.openxmlformats.org/drawingml/2006/main">
              <a:ext uri="{FF2B5EF4-FFF2-40B4-BE49-F238E27FC236}">
                <a16:creationId xmlns:a16="http://schemas.microsoft.com/office/drawing/2014/main" id="{A021F54D-0C4B-4179-B9D4-03FBAD0E3488}"/>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12</a:t>
            </a:r>
          </a:p>
        </p:txBody>
      </p:sp>
      <p:graphicFrame>
        <p:nvGraphicFramePr>
          <p:cNvPr id="7" name=""/>
          <p:cNvGraphicFramePr/>
          <p:nvPr/>
        </p:nvGraphicFramePr>
        <p:xfrm>
          <a:off xmlns:a="http://schemas.openxmlformats.org/drawingml/2006/main" x="609600" y="1666875"/>
          <a:ext xmlns:a="http://schemas.openxmlformats.org/drawingml/2006/main" cx="10972800" cy="3571875"/>
        </p:xfrm>
        <a:graphic xmlns:a="http://schemas.openxmlformats.org/drawingml/2006/main">
          <a:graphicData uri="http://schemas.openxmlformats.org/drawingml/2006/table">
            <a:tbl>
              <a:tblPr/>
              <a:tblGrid>
                <a:gridCol w="3619500"/>
                <a:gridCol w="4229100"/>
                <a:gridCol w="3124200"/>
              </a:tblGrid>
              <a:tr h="892969">
                <a:tc>
                  <a:txBody>
                    <a:bodyPr>
                      <a:noAutofit/>
                    </a:bodyPr>
                    <a:lstStyle/>
                    <a:p>
                      <a:r>
                        <a:rPr sz="1875" b="1">
                          <a:solidFill>
                            <a:srgbClr val="006CA5"/>
                          </a:solidFill>
                          <a:latin typeface="Helvetica Neue"/>
                          <a:ea typeface="Helvetica Neue"/>
                          <a:cs typeface="Helvetica Neue"/>
                        </a:rPr>
                        <a:t>Observed result</a:t>
                      </a:r>
                    </a:p>
                  </a:txBody>
                  <a:tcPr marL="152400" marR="133350" marT="114300" marB="95250" anchor="ctr">
                    <a:solidFill>
                      <a:srgbClr val="EAF3F8"/>
                    </a:solidFill>
                  </a:tcPr>
                </a:tc>
                <a:tc>
                  <a:txBody>
                    <a:bodyPr>
                      <a:noAutofit/>
                    </a:bodyPr>
                    <a:lstStyle/>
                    <a:p>
                      <a:r>
                        <a:rPr sz="1875" b="1">
                          <a:solidFill>
                            <a:srgbClr val="006CA5"/>
                          </a:solidFill>
                          <a:latin typeface="Helvetica Neue"/>
                          <a:ea typeface="Helvetica Neue"/>
                          <a:cs typeface="Helvetica Neue"/>
                        </a:rPr>
                        <a:t>Meaning</a:t>
                      </a:r>
                    </a:p>
                  </a:txBody>
                  <a:tcPr marL="152400" marR="133350" marT="114300" marB="95250" anchor="ctr">
                    <a:solidFill>
                      <a:srgbClr val="EAF3F8"/>
                    </a:solidFill>
                  </a:tcPr>
                </a:tc>
                <a:tc>
                  <a:txBody>
                    <a:bodyPr>
                      <a:noAutofit/>
                    </a:bodyPr>
                    <a:lstStyle/>
                    <a:p>
                      <a:r>
                        <a:rPr sz="1875" b="1">
                          <a:solidFill>
                            <a:srgbClr val="006CA5"/>
                          </a:solidFill>
                          <a:latin typeface="Helvetica Neue"/>
                          <a:ea typeface="Helvetica Neue"/>
                          <a:cs typeface="Helvetica Neue"/>
                        </a:rPr>
                        <a:t>Factory response</a:t>
                      </a:r>
                    </a:p>
                  </a:txBody>
                  <a:tcPr marL="152400" marR="133350" marT="114300" marB="95250" anchor="ctr">
                    <a:solidFill>
                      <a:srgbClr val="EAF3F8"/>
                    </a:solidFill>
                  </a:tcPr>
                </a:tc>
              </a:tr>
              <a:tr h="892969">
                <a:tc>
                  <a:txBody>
                    <a:bodyPr>
                      <a:noAutofit/>
                    </a:bodyPr>
                    <a:lstStyle/>
                    <a:p>
                      <a:r>
                        <a:rPr sz="1875" b="0">
                          <a:solidFill>
                            <a:srgbClr val="152A3A"/>
                          </a:solidFill>
                          <a:latin typeface="Helvetica Neue"/>
                          <a:ea typeface="Helvetica Neue"/>
                          <a:cs typeface="Helvetica Neue"/>
                        </a:rPr>
                        <a:t>Behavior assertion fails</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The intended behavior is missing</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Accept RED evidence</a:t>
                      </a:r>
                    </a:p>
                  </a:txBody>
                  <a:tcPr marL="152400" marR="133350" marT="114300" marB="95250" anchor="ctr">
                    <a:solidFill>
                      <a:srgbClr val="FFFFFF"/>
                    </a:solidFill>
                  </a:tcPr>
                </a:tc>
              </a:tr>
              <a:tr h="892969">
                <a:tc>
                  <a:txBody>
                    <a:bodyPr>
                      <a:noAutofit/>
                    </a:bodyPr>
                    <a:lstStyle/>
                    <a:p>
                      <a:r>
                        <a:rPr sz="1875" b="0">
                          <a:solidFill>
                            <a:srgbClr val="152A3A"/>
                          </a:solidFill>
                          <a:latin typeface="Helvetica Neue"/>
                          <a:ea typeface="Helvetica Neue"/>
                          <a:cs typeface="Helvetica Neue"/>
                        </a:rPr>
                        <a:t>Missing dependency or collection error</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The tests could not run correctly</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Reject and repair setup or tests</a:t>
                      </a:r>
                    </a:p>
                  </a:txBody>
                  <a:tcPr marL="152400" marR="133350" marT="114300" marB="95250" anchor="ctr">
                    <a:solidFill>
                      <a:srgbClr val="FFFFFF"/>
                    </a:solidFill>
                  </a:tcPr>
                </a:tc>
              </a:tr>
              <a:tr h="892969">
                <a:tc>
                  <a:txBody>
                    <a:bodyPr>
                      <a:noAutofit/>
                    </a:bodyPr>
                    <a:lstStyle/>
                    <a:p>
                      <a:r>
                        <a:rPr sz="1875" b="0">
                          <a:solidFill>
                            <a:srgbClr val="152A3A"/>
                          </a:solidFill>
                          <a:latin typeface="Helvetica Neue"/>
                          <a:ea typeface="Helvetica Neue"/>
                          <a:cs typeface="Helvetica Neue"/>
                        </a:rPr>
                        <a:t>Already green, skipped, or timed out</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Missing behavior has not been proved</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Reject the RED claim</a:t>
                      </a:r>
                    </a:p>
                  </a:txBody>
                  <a:tcPr marL="152400" marR="133350" marT="114300" marB="95250" anchor="ctr">
                    <a:solidFill>
                      <a:srgbClr val="FFFFFF"/>
                    </a:solidFill>
                  </a:tcPr>
                </a:tc>
              </a:tr>
            </a:tbl>
          </a:graphicData>
        </a:graphic>
      </p:graphicFrame>
      <p:sp>
        <p:nvSpPr>
          <p:cNvPr id="4" name="Discussion: a failing command alone cannot establish RE">
            <a:extLst xmlns:a="http://schemas.openxmlformats.org/drawingml/2006/main">
              <a:ext uri="{FF2B5EF4-FFF2-40B4-BE49-F238E27FC236}">
                <a16:creationId xmlns:a16="http://schemas.microsoft.com/office/drawing/2014/main" id="{4D868E78-82AC-416F-9CA8-FA448EF7E613}"/>
              </a:ext>
            </a:extLst>
          </p:cNvPr>
          <p:cNvSpPr>
            <a:spLocks xmlns:a="http://schemas.openxmlformats.org/drawingml/2006/main" noGrp="1"/>
          </p:cNvSpPr>
          <p:nvPr/>
        </p:nvSpPr>
        <p:spPr>
          <a:xfrm xmlns:a="http://schemas.openxmlformats.org/drawingml/2006/main">
            <a:off x="609600" y="56673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84C0B"/>
                </a:solidFill>
                <a:latin typeface="Helvetica Neue"/>
                <a:ea typeface="Helvetica Neue"/>
                <a:cs typeface="Helvetica Neue"/>
              </a:defRPr>
            </a:pPr>
            <a:r>
              <a:rPr sz="2175" b="0">
                <a:solidFill>
                  <a:srgbClr val="C84C0B"/>
                </a:solidFill>
                <a:latin typeface="Helvetica Neue"/>
                <a:ea typeface="Helvetica Neue"/>
                <a:cs typeface="Helvetica Neue"/>
              </a:rPr>
              <a:t>Discussion: a failing command alone cannot establish RED.</a:t>
            </a:r>
          </a:p>
        </p:txBody>
      </p:sp>
    </p:spTree>
    <p:extLst>
      <p:ext uri="{BB962C8B-B14F-4D97-AF65-F5344CB8AC3E}">
        <p14:creationId xmlns:p14="http://schemas.microsoft.com/office/powerpoint/2010/main" val="15879513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mplementation">
            <a:extLst xmlns:a="http://schemas.openxmlformats.org/drawingml/2006/main">
              <a:ext uri="{FF2B5EF4-FFF2-40B4-BE49-F238E27FC236}">
                <a16:creationId xmlns:a16="http://schemas.microsoft.com/office/drawing/2014/main" id="{D51CD2AC-BD3E-433D-8365-9FFC0252F250}"/>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Implementation</a:t>
            </a:r>
          </a:p>
        </p:txBody>
      </p:sp>
      <p:sp>
        <p:nvSpPr>
          <p:cNvPr id="2" name="13">
            <a:extLst xmlns:a="http://schemas.openxmlformats.org/drawingml/2006/main">
              <a:ext uri="{FF2B5EF4-FFF2-40B4-BE49-F238E27FC236}">
                <a16:creationId xmlns:a16="http://schemas.microsoft.com/office/drawing/2014/main" id="{3AF4D0A3-D409-498B-A371-38F1F2DC2FA5}"/>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13</a:t>
            </a:r>
          </a:p>
        </p:txBody>
      </p:sp>
      <p:sp>
        <p:nvSpPr>
          <p:cNvPr id="3" name="Builds the assigned behavior in an isolated worktree.">
            <a:extLst xmlns:a="http://schemas.openxmlformats.org/drawingml/2006/main">
              <a:ext uri="{FF2B5EF4-FFF2-40B4-BE49-F238E27FC236}">
                <a16:creationId xmlns:a16="http://schemas.microsoft.com/office/drawing/2014/main" id="{7EE4969F-3B5A-4BA9-ABD6-DA81201E5DBF}"/>
              </a:ext>
            </a:extLst>
          </p:cNvPr>
          <p:cNvSpPr>
            <a:spLocks xmlns:a="http://schemas.openxmlformats.org/drawingml/2006/main" noGrp="1"/>
          </p:cNvSpPr>
          <p:nvPr/>
        </p:nvSpPr>
        <p:spPr>
          <a:xfrm xmlns:a="http://schemas.openxmlformats.org/drawingml/2006/main">
            <a:off x="609600" y="1428750"/>
            <a:ext cx="10906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Builds the assigned behavior in an isolated worktree.</a:t>
            </a:r>
          </a:p>
        </p:txBody>
      </p:sp>
      <p:sp>
        <p:nvSpPr>
          <p:cNvPr id="4" name="INPUT">
            <a:extLst xmlns:a="http://schemas.openxmlformats.org/drawingml/2006/main">
              <a:ext uri="{FF2B5EF4-FFF2-40B4-BE49-F238E27FC236}">
                <a16:creationId xmlns:a16="http://schemas.microsoft.com/office/drawing/2014/main" id="{F5AC218E-4847-4B13-B736-BEBDA1EF6269}"/>
              </a:ext>
            </a:extLst>
          </p:cNvPr>
          <p:cNvSpPr>
            <a:spLocks xmlns:a="http://schemas.openxmlformats.org/drawingml/2006/main" noGrp="1"/>
          </p:cNvSpPr>
          <p:nvPr/>
        </p:nvSpPr>
        <p:spPr>
          <a:xfrm xmlns:a="http://schemas.openxmlformats.org/drawingml/2006/main">
            <a:off x="609600" y="25336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INPUT</a:t>
            </a:r>
          </a:p>
        </p:txBody>
      </p:sp>
      <p:sp>
        <p:nvSpPr>
          <p:cNvPr id="5" name="Ticket, approved design, QA tests.&#10;Gates, policy, prior">
            <a:extLst xmlns:a="http://schemas.openxmlformats.org/drawingml/2006/main">
              <a:ext uri="{FF2B5EF4-FFF2-40B4-BE49-F238E27FC236}">
                <a16:creationId xmlns:a16="http://schemas.microsoft.com/office/drawing/2014/main" id="{469243F5-13D4-4AC0-9DC4-77D9685E9390}"/>
              </a:ext>
            </a:extLst>
          </p:cNvPr>
          <p:cNvSpPr>
            <a:spLocks xmlns:a="http://schemas.openxmlformats.org/drawingml/2006/main" noGrp="1"/>
          </p:cNvSpPr>
          <p:nvPr/>
        </p:nvSpPr>
        <p:spPr>
          <a:xfrm xmlns:a="http://schemas.openxmlformats.org/drawingml/2006/main">
            <a:off x="609600" y="28860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Ticket, approved design, QA tests.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Gates, policy, prior review feedback.</a:t>
            </a:r>
          </a:p>
        </p:txBody>
      </p:sp>
      <p:sp>
        <p:nvSpPr>
          <p:cNvPr id="6" name="OUTPUT">
            <a:extLst xmlns:a="http://schemas.openxmlformats.org/drawingml/2006/main">
              <a:ext uri="{FF2B5EF4-FFF2-40B4-BE49-F238E27FC236}">
                <a16:creationId xmlns:a16="http://schemas.microsoft.com/office/drawing/2014/main" id="{5DCC5654-0DBB-46C2-879B-35C5362ED8A9}"/>
              </a:ext>
            </a:extLst>
          </p:cNvPr>
          <p:cNvSpPr>
            <a:spLocks xmlns:a="http://schemas.openxmlformats.org/drawingml/2006/main" noGrp="1"/>
          </p:cNvSpPr>
          <p:nvPr/>
        </p:nvSpPr>
        <p:spPr>
          <a:xfrm xmlns:a="http://schemas.openxmlformats.org/drawingml/2006/main">
            <a:off x="609600" y="42100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OUTPUT</a:t>
            </a:r>
          </a:p>
        </p:txBody>
      </p:sp>
      <p:sp>
        <p:nvSpPr>
          <p:cNvPr id="7" name="Committed code and owned tests.&#10;Review report when the ">
            <a:extLst xmlns:a="http://schemas.openxmlformats.org/drawingml/2006/main">
              <a:ext uri="{FF2B5EF4-FFF2-40B4-BE49-F238E27FC236}">
                <a16:creationId xmlns:a16="http://schemas.microsoft.com/office/drawing/2014/main" id="{C7950538-1B06-4F98-9611-E227D0927EDF}"/>
              </a:ext>
            </a:extLst>
          </p:cNvPr>
          <p:cNvSpPr>
            <a:spLocks xmlns:a="http://schemas.openxmlformats.org/drawingml/2006/main" noGrp="1"/>
          </p:cNvSpPr>
          <p:nvPr/>
        </p:nvSpPr>
        <p:spPr>
          <a:xfrm xmlns:a="http://schemas.openxmlformats.org/drawingml/2006/main">
            <a:off x="609600" y="45624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Committed code and owned tests.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Review report when the ticket needs one.</a:t>
            </a:r>
          </a:p>
        </p:txBody>
      </p:sp>
      <p:sp>
        <p:nvSpPr>
          <p:cNvPr id="8" name="PROMPT EXCERPT">
            <a:extLst xmlns:a="http://schemas.openxmlformats.org/drawingml/2006/main">
              <a:ext uri="{FF2B5EF4-FFF2-40B4-BE49-F238E27FC236}">
                <a16:creationId xmlns:a16="http://schemas.microsoft.com/office/drawing/2014/main" id="{AF7477EF-398D-4DBE-84FD-E88C4361F9DB}"/>
              </a:ext>
            </a:extLst>
          </p:cNvPr>
          <p:cNvSpPr>
            <a:spLocks xmlns:a="http://schemas.openxmlformats.org/drawingml/2006/main" noGrp="1"/>
          </p:cNvSpPr>
          <p:nvPr/>
        </p:nvSpPr>
        <p:spPr>
          <a:xfrm xmlns:a="http://schemas.openxmlformats.org/drawingml/2006/main">
            <a:off x="6000750" y="25241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PROMPT EXCERPT</a:t>
            </a:r>
          </a:p>
        </p:txBody>
      </p:sp>
      <p:sp>
        <p:nvSpPr>
          <p:cNvPr id="9" name="“Work only in the current worktree. Do not change ticke">
            <a:extLst xmlns:a="http://schemas.openxmlformats.org/drawingml/2006/main">
              <a:ext uri="{FF2B5EF4-FFF2-40B4-BE49-F238E27FC236}">
                <a16:creationId xmlns:a16="http://schemas.microsoft.com/office/drawing/2014/main" id="{6B83F071-BF06-4C6C-8370-2DC01B13261E}"/>
              </a:ext>
            </a:extLst>
          </p:cNvPr>
          <p:cNvSpPr>
            <a:spLocks xmlns:a="http://schemas.openxmlformats.org/drawingml/2006/main" noGrp="1"/>
          </p:cNvSpPr>
          <p:nvPr/>
        </p:nvSpPr>
        <p:spPr>
          <a:xfrm xmlns:a="http://schemas.openxmlformats.org/drawingml/2006/main">
            <a:off x="6000750" y="2952750"/>
            <a:ext cx="52197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“Work only in the current worktree. Do not change ticket scope.”</a:t>
            </a:r>
          </a:p>
        </p:txBody>
      </p:sp>
    </p:spTree>
    <p:extLst>
      <p:ext uri="{BB962C8B-B14F-4D97-AF65-F5344CB8AC3E}">
        <p14:creationId xmlns:p14="http://schemas.microsoft.com/office/powerpoint/2010/main" val="7717112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Automated verification">
            <a:extLst xmlns:a="http://schemas.openxmlformats.org/drawingml/2006/main">
              <a:ext uri="{FF2B5EF4-FFF2-40B4-BE49-F238E27FC236}">
                <a16:creationId xmlns:a16="http://schemas.microsoft.com/office/drawing/2014/main" id="{9689F7EF-4FF2-4BBB-A848-2EC165B732CF}"/>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Automated verification</a:t>
            </a:r>
          </a:p>
        </p:txBody>
      </p:sp>
      <p:sp>
        <p:nvSpPr>
          <p:cNvPr id="2" name="14">
            <a:extLst xmlns:a="http://schemas.openxmlformats.org/drawingml/2006/main">
              <a:ext uri="{FF2B5EF4-FFF2-40B4-BE49-F238E27FC236}">
                <a16:creationId xmlns:a16="http://schemas.microsoft.com/office/drawing/2014/main" id="{2990BA6F-934A-4D2F-A646-27030C948C07}"/>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14</a:t>
            </a:r>
          </a:p>
        </p:txBody>
      </p:sp>
      <p:graphicFrame>
        <p:nvGraphicFramePr>
          <p:cNvPr id="6" name=""/>
          <p:cNvGraphicFramePr/>
          <p:nvPr/>
        </p:nvGraphicFramePr>
        <p:xfrm>
          <a:off xmlns:a="http://schemas.openxmlformats.org/drawingml/2006/main" x="609600" y="1666875"/>
          <a:ext xmlns:a="http://schemas.openxmlformats.org/drawingml/2006/main" cx="10972800" cy="4000500"/>
        </p:xfrm>
        <a:graphic xmlns:a="http://schemas.openxmlformats.org/drawingml/2006/main">
          <a:graphicData uri="http://schemas.openxmlformats.org/drawingml/2006/table">
            <a:tbl>
              <a:tblPr/>
              <a:tblGrid>
                <a:gridCol w="4286250"/>
                <a:gridCol w="6686550"/>
              </a:tblGrid>
              <a:tr h="800100">
                <a:tc>
                  <a:txBody>
                    <a:bodyPr>
                      <a:noAutofit/>
                    </a:bodyPr>
                    <a:lstStyle/>
                    <a:p>
                      <a:r>
                        <a:rPr sz="1950" b="1">
                          <a:solidFill>
                            <a:srgbClr val="006CA5"/>
                          </a:solidFill>
                          <a:latin typeface="Helvetica Neue"/>
                          <a:ea typeface="Helvetica Neue"/>
                          <a:cs typeface="Helvetica Neue"/>
                        </a:rPr>
                        <a:t>Check</a:t>
                      </a:r>
                    </a:p>
                  </a:txBody>
                  <a:tcPr marL="152400" marR="133350" marT="114300" marB="95250" anchor="ctr">
                    <a:solidFill>
                      <a:srgbClr val="EAF3F8"/>
                    </a:solidFill>
                  </a:tcPr>
                </a:tc>
                <a:tc>
                  <a:txBody>
                    <a:bodyPr>
                      <a:noAutofit/>
                    </a:bodyPr>
                    <a:lstStyle/>
                    <a:p>
                      <a:r>
                        <a:rPr sz="1950" b="1">
                          <a:solidFill>
                            <a:srgbClr val="006CA5"/>
                          </a:solidFill>
                          <a:latin typeface="Helvetica Neue"/>
                          <a:ea typeface="Helvetica Neue"/>
                          <a:cs typeface="Helvetica Neue"/>
                        </a:rPr>
                        <a:t>Evidence</a:t>
                      </a:r>
                    </a:p>
                  </a:txBody>
                  <a:tcPr marL="152400" marR="133350" marT="114300" marB="95250" anchor="ctr">
                    <a:solidFill>
                      <a:srgbClr val="EAF3F8"/>
                    </a:solidFill>
                  </a:tcPr>
                </a:tc>
              </a:tr>
              <a:tr h="800100">
                <a:tc>
                  <a:txBody>
                    <a:bodyPr>
                      <a:noAutofit/>
                    </a:bodyPr>
                    <a:lstStyle/>
                    <a:p>
                      <a:r>
                        <a:rPr sz="1950" b="0">
                          <a:solidFill>
                            <a:srgbClr val="152A3A"/>
                          </a:solidFill>
                          <a:latin typeface="Helvetica Neue"/>
                          <a:ea typeface="Helvetica Neue"/>
                          <a:cs typeface="Helvetica Neue"/>
                        </a:rPr>
                        <a:t>Protected acceptance tests</a:t>
                      </a:r>
                    </a:p>
                  </a:txBody>
                  <a:tcPr marL="152400" marR="133350" marT="114300" marB="95250" anchor="ctr">
                    <a:solidFill>
                      <a:srgbClr val="FFFFFF"/>
                    </a:solidFill>
                  </a:tcPr>
                </a:tc>
                <a:tc>
                  <a:txBody>
                    <a:bodyPr>
                      <a:noAutofit/>
                    </a:bodyPr>
                    <a:lstStyle/>
                    <a:p>
                      <a:r>
                        <a:rPr sz="1950" b="0">
                          <a:solidFill>
                            <a:srgbClr val="152A3A"/>
                          </a:solidFill>
                          <a:latin typeface="Helvetica Neue"/>
                          <a:ea typeface="Helvetica Neue"/>
                          <a:cs typeface="Helvetica Neue"/>
                        </a:rPr>
                        <a:t>Accepted test hashes still match</a:t>
                      </a:r>
                    </a:p>
                  </a:txBody>
                  <a:tcPr marL="152400" marR="133350" marT="114300" marB="95250" anchor="ctr">
                    <a:solidFill>
                      <a:srgbClr val="FFFFFF"/>
                    </a:solidFill>
                  </a:tcPr>
                </a:tc>
              </a:tr>
              <a:tr h="800100">
                <a:tc>
                  <a:txBody>
                    <a:bodyPr>
                      <a:noAutofit/>
                    </a:bodyPr>
                    <a:lstStyle/>
                    <a:p>
                      <a:r>
                        <a:rPr sz="1950" b="0">
                          <a:solidFill>
                            <a:srgbClr val="152A3A"/>
                          </a:solidFill>
                          <a:latin typeface="Helvetica Neue"/>
                          <a:ea typeface="Helvetica Neue"/>
                          <a:cs typeface="Helvetica Neue"/>
                        </a:rPr>
                        <a:t>Focused acceptance command</a:t>
                      </a:r>
                    </a:p>
                  </a:txBody>
                  <a:tcPr marL="152400" marR="133350" marT="114300" marB="95250" anchor="ctr">
                    <a:solidFill>
                      <a:srgbClr val="FFFFFF"/>
                    </a:solidFill>
                  </a:tcPr>
                </a:tc>
                <a:tc>
                  <a:txBody>
                    <a:bodyPr>
                      <a:noAutofit/>
                    </a:bodyPr>
                    <a:lstStyle/>
                    <a:p>
                      <a:r>
                        <a:rPr sz="1950" b="0">
                          <a:solidFill>
                            <a:srgbClr val="152A3A"/>
                          </a:solidFill>
                          <a:latin typeface="Helvetica Neue"/>
                          <a:ea typeface="Helvetica Neue"/>
                          <a:cs typeface="Helvetica Neue"/>
                        </a:rPr>
                        <a:t>GREEN against the candidate revision</a:t>
                      </a:r>
                    </a:p>
                  </a:txBody>
                  <a:tcPr marL="152400" marR="133350" marT="114300" marB="95250" anchor="ctr">
                    <a:solidFill>
                      <a:srgbClr val="FFFFFF"/>
                    </a:solidFill>
                  </a:tcPr>
                </a:tc>
              </a:tr>
              <a:tr h="800100">
                <a:tc>
                  <a:txBody>
                    <a:bodyPr>
                      <a:noAutofit/>
                    </a:bodyPr>
                    <a:lstStyle/>
                    <a:p>
                      <a:r>
                        <a:rPr sz="1950" b="0">
                          <a:solidFill>
                            <a:srgbClr val="152A3A"/>
                          </a:solidFill>
                          <a:latin typeface="Helvetica Neue"/>
                          <a:ea typeface="Helvetica Neue"/>
                          <a:cs typeface="Helvetica Neue"/>
                        </a:rPr>
                        <a:t>Configured verification gates</a:t>
                      </a:r>
                    </a:p>
                  </a:txBody>
                  <a:tcPr marL="152400" marR="133350" marT="114300" marB="95250" anchor="ctr">
                    <a:solidFill>
                      <a:srgbClr val="FFFFFF"/>
                    </a:solidFill>
                  </a:tcPr>
                </a:tc>
                <a:tc>
                  <a:txBody>
                    <a:bodyPr>
                      <a:noAutofit/>
                    </a:bodyPr>
                    <a:lstStyle/>
                    <a:p>
                      <a:r>
                        <a:rPr sz="1950" b="0">
                          <a:solidFill>
                            <a:srgbClr val="152A3A"/>
                          </a:solidFill>
                          <a:latin typeface="Helvetica Neue"/>
                          <a:ea typeface="Helvetica Neue"/>
                          <a:cs typeface="Helvetica Neue"/>
                        </a:rPr>
                        <a:t>Command, exit status, output, duration</a:t>
                      </a:r>
                    </a:p>
                  </a:txBody>
                  <a:tcPr marL="152400" marR="133350" marT="114300" marB="95250" anchor="ctr">
                    <a:solidFill>
                      <a:srgbClr val="FFFFFF"/>
                    </a:solidFill>
                  </a:tcPr>
                </a:tc>
              </a:tr>
              <a:tr h="800100">
                <a:tc>
                  <a:txBody>
                    <a:bodyPr>
                      <a:noAutofit/>
                    </a:bodyPr>
                    <a:lstStyle/>
                    <a:p>
                      <a:r>
                        <a:rPr sz="1950" b="0">
                          <a:solidFill>
                            <a:srgbClr val="152A3A"/>
                          </a:solidFill>
                          <a:latin typeface="Helvetica Neue"/>
                          <a:ea typeface="Helvetica Neue"/>
                          <a:cs typeface="Helvetica Neue"/>
                        </a:rPr>
                        <a:t>Policy and scope checks</a:t>
                      </a:r>
                    </a:p>
                  </a:txBody>
                  <a:tcPr marL="152400" marR="133350" marT="114300" marB="95250" anchor="ctr">
                    <a:solidFill>
                      <a:srgbClr val="FFFFFF"/>
                    </a:solidFill>
                  </a:tcPr>
                </a:tc>
                <a:tc>
                  <a:txBody>
                    <a:bodyPr>
                      <a:noAutofit/>
                    </a:bodyPr>
                    <a:lstStyle/>
                    <a:p>
                      <a:r>
                        <a:rPr sz="1950" b="0">
                          <a:solidFill>
                            <a:srgbClr val="152A3A"/>
                          </a:solidFill>
                          <a:latin typeface="Helvetica Neue"/>
                          <a:ea typeface="Helvetica Neue"/>
                          <a:cs typeface="Helvetica Neue"/>
                        </a:rPr>
                        <a:t>Protected paths and measured diff budget</a:t>
                      </a:r>
                    </a:p>
                  </a:txBody>
                  <a:tcPr marL="152400" marR="133350" marT="114300" marB="95250" anchor="ctr">
                    <a:solidFill>
                      <a:srgbClr val="FFFFFF"/>
                    </a:solidFill>
                  </a:tcPr>
                </a:tc>
              </a:tr>
            </a:tbl>
          </a:graphicData>
        </a:graphic>
      </p:graphicFrame>
    </p:spTree>
    <p:extLst>
      <p:ext uri="{BB962C8B-B14F-4D97-AF65-F5344CB8AC3E}">
        <p14:creationId xmlns:p14="http://schemas.microsoft.com/office/powerpoint/2010/main" val="2640099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de Review">
            <a:extLst xmlns:a="http://schemas.openxmlformats.org/drawingml/2006/main">
              <a:ext uri="{FF2B5EF4-FFF2-40B4-BE49-F238E27FC236}">
                <a16:creationId xmlns:a16="http://schemas.microsoft.com/office/drawing/2014/main" id="{FAE4EE10-2B20-4641-8EB1-14425F7CF7C0}"/>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Code Review</a:t>
            </a:r>
          </a:p>
        </p:txBody>
      </p:sp>
      <p:sp>
        <p:nvSpPr>
          <p:cNvPr id="2" name="15">
            <a:extLst xmlns:a="http://schemas.openxmlformats.org/drawingml/2006/main">
              <a:ext uri="{FF2B5EF4-FFF2-40B4-BE49-F238E27FC236}">
                <a16:creationId xmlns:a16="http://schemas.microsoft.com/office/drawing/2014/main" id="{76B203CC-811A-403F-BE39-CD7765CE8D12}"/>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15</a:t>
            </a:r>
          </a:p>
        </p:txBody>
      </p:sp>
      <p:sp>
        <p:nvSpPr>
          <p:cNvPr id="3" name="Assesses the exact PR candidate and requests concrete f">
            <a:extLst xmlns:a="http://schemas.openxmlformats.org/drawingml/2006/main">
              <a:ext uri="{FF2B5EF4-FFF2-40B4-BE49-F238E27FC236}">
                <a16:creationId xmlns:a16="http://schemas.microsoft.com/office/drawing/2014/main" id="{651D34C4-E5A4-4680-ADF4-99E825A142CA}"/>
              </a:ext>
            </a:extLst>
          </p:cNvPr>
          <p:cNvSpPr>
            <a:spLocks xmlns:a="http://schemas.openxmlformats.org/drawingml/2006/main" noGrp="1"/>
          </p:cNvSpPr>
          <p:nvPr/>
        </p:nvSpPr>
        <p:spPr>
          <a:xfrm xmlns:a="http://schemas.openxmlformats.org/drawingml/2006/main">
            <a:off x="609600" y="1428750"/>
            <a:ext cx="10906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Assesses the exact PR candidate and requests concrete fixes.</a:t>
            </a:r>
          </a:p>
        </p:txBody>
      </p:sp>
      <p:sp>
        <p:nvSpPr>
          <p:cNvPr id="4" name="INPUT">
            <a:extLst xmlns:a="http://schemas.openxmlformats.org/drawingml/2006/main">
              <a:ext uri="{FF2B5EF4-FFF2-40B4-BE49-F238E27FC236}">
                <a16:creationId xmlns:a16="http://schemas.microsoft.com/office/drawing/2014/main" id="{367F7314-26F0-467A-8038-46713626D185}"/>
              </a:ext>
            </a:extLst>
          </p:cNvPr>
          <p:cNvSpPr>
            <a:spLocks xmlns:a="http://schemas.openxmlformats.org/drawingml/2006/main" noGrp="1"/>
          </p:cNvSpPr>
          <p:nvPr/>
        </p:nvSpPr>
        <p:spPr>
          <a:xfrm xmlns:a="http://schemas.openxmlformats.org/drawingml/2006/main">
            <a:off x="609600" y="25336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INPUT</a:t>
            </a:r>
          </a:p>
        </p:txBody>
      </p:sp>
      <p:sp>
        <p:nvSpPr>
          <p:cNvPr id="5" name="Base and head SHAs, diff, ticket.&#10;Gate results, QA evid">
            <a:extLst xmlns:a="http://schemas.openxmlformats.org/drawingml/2006/main">
              <a:ext uri="{FF2B5EF4-FFF2-40B4-BE49-F238E27FC236}">
                <a16:creationId xmlns:a16="http://schemas.microsoft.com/office/drawing/2014/main" id="{120D1F19-7FE8-4E2C-BDFC-71CB05A4CE23}"/>
              </a:ext>
            </a:extLst>
          </p:cNvPr>
          <p:cNvSpPr>
            <a:spLocks xmlns:a="http://schemas.openxmlformats.org/drawingml/2006/main" noGrp="1"/>
          </p:cNvSpPr>
          <p:nvPr/>
        </p:nvSpPr>
        <p:spPr>
          <a:xfrm xmlns:a="http://schemas.openxmlformats.org/drawingml/2006/main">
            <a:off x="609600" y="28860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Base and head SHAs, diff, ticket.</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Gate results, QA evidence, reports.</a:t>
            </a:r>
          </a:p>
        </p:txBody>
      </p:sp>
      <p:sp>
        <p:nvSpPr>
          <p:cNvPr id="6" name="OUTPUT">
            <a:extLst xmlns:a="http://schemas.openxmlformats.org/drawingml/2006/main">
              <a:ext uri="{FF2B5EF4-FFF2-40B4-BE49-F238E27FC236}">
                <a16:creationId xmlns:a16="http://schemas.microsoft.com/office/drawing/2014/main" id="{065D2B75-634F-466D-BBC0-D03A5387770E}"/>
              </a:ext>
            </a:extLst>
          </p:cNvPr>
          <p:cNvSpPr>
            <a:spLocks xmlns:a="http://schemas.openxmlformats.org/drawingml/2006/main" noGrp="1"/>
          </p:cNvSpPr>
          <p:nvPr/>
        </p:nvSpPr>
        <p:spPr>
          <a:xfrm xmlns:a="http://schemas.openxmlformats.org/drawingml/2006/main">
            <a:off x="609600" y="4210050"/>
            <a:ext cx="4667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OUTPUT</a:t>
            </a:r>
          </a:p>
        </p:txBody>
      </p:sp>
      <p:sp>
        <p:nvSpPr>
          <p:cNvPr id="7" name="APPROVE with no findings, or&#10;REQUEST_CHANGES with findi">
            <a:extLst xmlns:a="http://schemas.openxmlformats.org/drawingml/2006/main">
              <a:ext uri="{FF2B5EF4-FFF2-40B4-BE49-F238E27FC236}">
                <a16:creationId xmlns:a16="http://schemas.microsoft.com/office/drawing/2014/main" id="{3171E850-4805-4104-BA5F-A6C146E3B5AC}"/>
              </a:ext>
            </a:extLst>
          </p:cNvPr>
          <p:cNvSpPr>
            <a:spLocks xmlns:a="http://schemas.openxmlformats.org/drawingml/2006/main" noGrp="1"/>
          </p:cNvSpPr>
          <p:nvPr/>
        </p:nvSpPr>
        <p:spPr>
          <a:xfrm xmlns:a="http://schemas.openxmlformats.org/drawingml/2006/main">
            <a:off x="609600" y="4562475"/>
            <a:ext cx="4667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APPROVE with no findings, or</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REQUEST_CHANGES with findings.</a:t>
            </a:r>
          </a:p>
        </p:txBody>
      </p:sp>
      <p:sp>
        <p:nvSpPr>
          <p:cNvPr id="8" name="PROMPT EXCERPT">
            <a:extLst xmlns:a="http://schemas.openxmlformats.org/drawingml/2006/main">
              <a:ext uri="{FF2B5EF4-FFF2-40B4-BE49-F238E27FC236}">
                <a16:creationId xmlns:a16="http://schemas.microsoft.com/office/drawing/2014/main" id="{19025740-E70A-44DF-80A5-519A5BC11A86}"/>
              </a:ext>
            </a:extLst>
          </p:cNvPr>
          <p:cNvSpPr>
            <a:spLocks xmlns:a="http://schemas.openxmlformats.org/drawingml/2006/main" noGrp="1"/>
          </p:cNvSpPr>
          <p:nvPr/>
        </p:nvSpPr>
        <p:spPr>
          <a:xfrm xmlns:a="http://schemas.openxmlformats.org/drawingml/2006/main">
            <a:off x="6000750" y="25241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PROMPT EXCERPT</a:t>
            </a:r>
          </a:p>
        </p:txBody>
      </p:sp>
      <p:sp>
        <p:nvSpPr>
          <p:cNvPr id="9" name="“Return APPROVE only when there are no comments.”">
            <a:extLst xmlns:a="http://schemas.openxmlformats.org/drawingml/2006/main">
              <a:ext uri="{FF2B5EF4-FFF2-40B4-BE49-F238E27FC236}">
                <a16:creationId xmlns:a16="http://schemas.microsoft.com/office/drawing/2014/main" id="{D8113959-E93C-445D-AF6B-8483019A5B5F}"/>
              </a:ext>
            </a:extLst>
          </p:cNvPr>
          <p:cNvSpPr>
            <a:spLocks xmlns:a="http://schemas.openxmlformats.org/drawingml/2006/main" noGrp="1"/>
          </p:cNvSpPr>
          <p:nvPr/>
        </p:nvSpPr>
        <p:spPr>
          <a:xfrm xmlns:a="http://schemas.openxmlformats.org/drawingml/2006/main">
            <a:off x="6000750" y="2952750"/>
            <a:ext cx="52197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“Return APPROVE only when there are no comments.”</a:t>
            </a:r>
          </a:p>
        </p:txBody>
      </p:sp>
    </p:spTree>
    <p:extLst>
      <p:ext uri="{BB962C8B-B14F-4D97-AF65-F5344CB8AC3E}">
        <p14:creationId xmlns:p14="http://schemas.microsoft.com/office/powerpoint/2010/main" val="5397168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he review and repair loop">
            <a:extLst xmlns:a="http://schemas.openxmlformats.org/drawingml/2006/main">
              <a:ext uri="{FF2B5EF4-FFF2-40B4-BE49-F238E27FC236}">
                <a16:creationId xmlns:a16="http://schemas.microsoft.com/office/drawing/2014/main" id="{1BAF2B19-2981-43ED-B200-50DDD3B0FBC1}"/>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The review and repair loop</a:t>
            </a:r>
          </a:p>
        </p:txBody>
      </p:sp>
      <p:sp>
        <p:nvSpPr>
          <p:cNvPr id="2" name="16">
            <a:extLst xmlns:a="http://schemas.openxmlformats.org/drawingml/2006/main">
              <a:ext uri="{FF2B5EF4-FFF2-40B4-BE49-F238E27FC236}">
                <a16:creationId xmlns:a16="http://schemas.microsoft.com/office/drawing/2014/main" id="{325096A2-7DA3-439F-B132-01B8C9193E05}"/>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16</a:t>
            </a:r>
          </a:p>
        </p:txBody>
      </p:sp>
      <p:sp>
        <p:nvSpPr>
          <p:cNvPr id="3" name="01">
            <a:extLst xmlns:a="http://schemas.openxmlformats.org/drawingml/2006/main">
              <a:ext uri="{FF2B5EF4-FFF2-40B4-BE49-F238E27FC236}">
                <a16:creationId xmlns:a16="http://schemas.microsoft.com/office/drawing/2014/main" id="{DB2B674D-E727-4B43-B2B8-672F91DCA027}"/>
              </a:ext>
            </a:extLst>
          </p:cNvPr>
          <p:cNvSpPr>
            <a:spLocks xmlns:a="http://schemas.openxmlformats.org/drawingml/2006/main" noGrp="1"/>
          </p:cNvSpPr>
          <p:nvPr/>
        </p:nvSpPr>
        <p:spPr>
          <a:xfrm xmlns:a="http://schemas.openxmlformats.org/drawingml/2006/main">
            <a:off x="609600" y="1581150"/>
            <a:ext cx="695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6CA5"/>
                </a:solidFill>
                <a:latin typeface="Helvetica Neue"/>
                <a:ea typeface="Helvetica Neue"/>
                <a:cs typeface="Helvetica Neue"/>
              </a:defRPr>
            </a:pPr>
            <a:r>
              <a:rPr sz="2475" b="1">
                <a:solidFill>
                  <a:srgbClr val="006CA5"/>
                </a:solidFill>
                <a:latin typeface="Helvetica Neue"/>
                <a:ea typeface="Helvetica Neue"/>
                <a:cs typeface="Helvetica Neue"/>
              </a:rPr>
              <a:t>01</a:t>
            </a:r>
          </a:p>
        </p:txBody>
      </p:sp>
      <p:sp>
        <p:nvSpPr>
          <p:cNvPr id="4" name="Review">
            <a:extLst xmlns:a="http://schemas.openxmlformats.org/drawingml/2006/main">
              <a:ext uri="{FF2B5EF4-FFF2-40B4-BE49-F238E27FC236}">
                <a16:creationId xmlns:a16="http://schemas.microsoft.com/office/drawing/2014/main" id="{687A86FD-8E94-4609-868C-9EB0D1D11974}"/>
              </a:ext>
            </a:extLst>
          </p:cNvPr>
          <p:cNvSpPr>
            <a:spLocks xmlns:a="http://schemas.openxmlformats.org/drawingml/2006/main" noGrp="1"/>
          </p:cNvSpPr>
          <p:nvPr/>
        </p:nvSpPr>
        <p:spPr>
          <a:xfrm xmlns:a="http://schemas.openxmlformats.org/drawingml/2006/main">
            <a:off x="1495425" y="1581150"/>
            <a:ext cx="2771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2A3A"/>
                </a:solidFill>
                <a:latin typeface="Helvetica Neue"/>
                <a:ea typeface="Helvetica Neue"/>
                <a:cs typeface="Helvetica Neue"/>
              </a:defRPr>
            </a:pPr>
            <a:r>
              <a:rPr sz="2400" b="1">
                <a:solidFill>
                  <a:srgbClr val="152A3A"/>
                </a:solidFill>
                <a:latin typeface="Helvetica Neue"/>
                <a:ea typeface="Helvetica Neue"/>
                <a:cs typeface="Helvetica Neue"/>
              </a:rPr>
              <a:t>Review</a:t>
            </a:r>
          </a:p>
        </p:txBody>
      </p:sp>
      <p:sp>
        <p:nvSpPr>
          <p:cNvPr id="5" name="Code Review identifies an actionable issue.">
            <a:extLst xmlns:a="http://schemas.openxmlformats.org/drawingml/2006/main">
              <a:ext uri="{FF2B5EF4-FFF2-40B4-BE49-F238E27FC236}">
                <a16:creationId xmlns:a16="http://schemas.microsoft.com/office/drawing/2014/main" id="{E26C1531-7012-425D-9715-109E995A7204}"/>
              </a:ext>
            </a:extLst>
          </p:cNvPr>
          <p:cNvSpPr>
            <a:spLocks xmlns:a="http://schemas.openxmlformats.org/drawingml/2006/main" noGrp="1"/>
          </p:cNvSpPr>
          <p:nvPr/>
        </p:nvSpPr>
        <p:spPr>
          <a:xfrm xmlns:a="http://schemas.openxmlformats.org/drawingml/2006/main">
            <a:off x="4552950" y="1581150"/>
            <a:ext cx="70199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Code Review identifies an actionable issue.</a:t>
            </a:r>
          </a:p>
        </p:txBody>
      </p:sp>
      <p:sp>
        <p:nvSpPr>
          <p:cNvPr id="6" name="02">
            <a:extLst xmlns:a="http://schemas.openxmlformats.org/drawingml/2006/main">
              <a:ext uri="{FF2B5EF4-FFF2-40B4-BE49-F238E27FC236}">
                <a16:creationId xmlns:a16="http://schemas.microsoft.com/office/drawing/2014/main" id="{7769DD97-3B4E-4383-B16E-E98CA9BC3E2D}"/>
              </a:ext>
            </a:extLst>
          </p:cNvPr>
          <p:cNvSpPr>
            <a:spLocks xmlns:a="http://schemas.openxmlformats.org/drawingml/2006/main" noGrp="1"/>
          </p:cNvSpPr>
          <p:nvPr/>
        </p:nvSpPr>
        <p:spPr>
          <a:xfrm xmlns:a="http://schemas.openxmlformats.org/drawingml/2006/main">
            <a:off x="609600" y="2676525"/>
            <a:ext cx="695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6CA5"/>
                </a:solidFill>
                <a:latin typeface="Helvetica Neue"/>
                <a:ea typeface="Helvetica Neue"/>
                <a:cs typeface="Helvetica Neue"/>
              </a:defRPr>
            </a:pPr>
            <a:r>
              <a:rPr sz="2475" b="1">
                <a:solidFill>
                  <a:srgbClr val="006CA5"/>
                </a:solidFill>
                <a:latin typeface="Helvetica Neue"/>
                <a:ea typeface="Helvetica Neue"/>
                <a:cs typeface="Helvetica Neue"/>
              </a:rPr>
              <a:t>02</a:t>
            </a:r>
          </a:p>
        </p:txBody>
      </p:sp>
      <p:sp>
        <p:nvSpPr>
          <p:cNvPr id="7" name="Repair">
            <a:extLst xmlns:a="http://schemas.openxmlformats.org/drawingml/2006/main">
              <a:ext uri="{FF2B5EF4-FFF2-40B4-BE49-F238E27FC236}">
                <a16:creationId xmlns:a16="http://schemas.microsoft.com/office/drawing/2014/main" id="{E7FC50E2-12BE-4943-BBF1-AE9D8270F6EE}"/>
              </a:ext>
            </a:extLst>
          </p:cNvPr>
          <p:cNvSpPr>
            <a:spLocks xmlns:a="http://schemas.openxmlformats.org/drawingml/2006/main" noGrp="1"/>
          </p:cNvSpPr>
          <p:nvPr/>
        </p:nvSpPr>
        <p:spPr>
          <a:xfrm xmlns:a="http://schemas.openxmlformats.org/drawingml/2006/main">
            <a:off x="1495425" y="2676525"/>
            <a:ext cx="2771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2A3A"/>
                </a:solidFill>
                <a:latin typeface="Helvetica Neue"/>
                <a:ea typeface="Helvetica Neue"/>
                <a:cs typeface="Helvetica Neue"/>
              </a:defRPr>
            </a:pPr>
            <a:r>
              <a:rPr sz="2400" b="1">
                <a:solidFill>
                  <a:srgbClr val="152A3A"/>
                </a:solidFill>
                <a:latin typeface="Helvetica Neue"/>
                <a:ea typeface="Helvetica Neue"/>
                <a:cs typeface="Helvetica Neue"/>
              </a:rPr>
              <a:t>Repair</a:t>
            </a:r>
          </a:p>
        </p:txBody>
      </p:sp>
      <p:sp>
        <p:nvSpPr>
          <p:cNvPr id="8" name="Implementation addresses the feedback.">
            <a:extLst xmlns:a="http://schemas.openxmlformats.org/drawingml/2006/main">
              <a:ext uri="{FF2B5EF4-FFF2-40B4-BE49-F238E27FC236}">
                <a16:creationId xmlns:a16="http://schemas.microsoft.com/office/drawing/2014/main" id="{BEDF83EA-6F0D-4F9B-8CDA-4F96168186D9}"/>
              </a:ext>
            </a:extLst>
          </p:cNvPr>
          <p:cNvSpPr>
            <a:spLocks xmlns:a="http://schemas.openxmlformats.org/drawingml/2006/main" noGrp="1"/>
          </p:cNvSpPr>
          <p:nvPr/>
        </p:nvSpPr>
        <p:spPr>
          <a:xfrm xmlns:a="http://schemas.openxmlformats.org/drawingml/2006/main">
            <a:off x="4552950" y="2676525"/>
            <a:ext cx="70199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Implementation addresses the feedback.</a:t>
            </a:r>
          </a:p>
        </p:txBody>
      </p:sp>
      <p:sp>
        <p:nvSpPr>
          <p:cNvPr id="9" name="03">
            <a:extLst xmlns:a="http://schemas.openxmlformats.org/drawingml/2006/main">
              <a:ext uri="{FF2B5EF4-FFF2-40B4-BE49-F238E27FC236}">
                <a16:creationId xmlns:a16="http://schemas.microsoft.com/office/drawing/2014/main" id="{C92BBF8E-53C7-4E9F-A427-2D54ADD21F78}"/>
              </a:ext>
            </a:extLst>
          </p:cNvPr>
          <p:cNvSpPr>
            <a:spLocks xmlns:a="http://schemas.openxmlformats.org/drawingml/2006/main" noGrp="1"/>
          </p:cNvSpPr>
          <p:nvPr/>
        </p:nvSpPr>
        <p:spPr>
          <a:xfrm xmlns:a="http://schemas.openxmlformats.org/drawingml/2006/main">
            <a:off x="609600" y="3771900"/>
            <a:ext cx="695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6CA5"/>
                </a:solidFill>
                <a:latin typeface="Helvetica Neue"/>
                <a:ea typeface="Helvetica Neue"/>
                <a:cs typeface="Helvetica Neue"/>
              </a:defRPr>
            </a:pPr>
            <a:r>
              <a:rPr sz="2475" b="1">
                <a:solidFill>
                  <a:srgbClr val="006CA5"/>
                </a:solidFill>
                <a:latin typeface="Helvetica Neue"/>
                <a:ea typeface="Helvetica Neue"/>
                <a:cs typeface="Helvetica Neue"/>
              </a:rPr>
              <a:t>03</a:t>
            </a:r>
          </a:p>
        </p:txBody>
      </p:sp>
      <p:sp>
        <p:nvSpPr>
          <p:cNvPr id="10" name="Verify again">
            <a:extLst xmlns:a="http://schemas.openxmlformats.org/drawingml/2006/main">
              <a:ext uri="{FF2B5EF4-FFF2-40B4-BE49-F238E27FC236}">
                <a16:creationId xmlns:a16="http://schemas.microsoft.com/office/drawing/2014/main" id="{9300F1AC-08F1-461F-BC88-42DCB7B36EF5}"/>
              </a:ext>
            </a:extLst>
          </p:cNvPr>
          <p:cNvSpPr>
            <a:spLocks xmlns:a="http://schemas.openxmlformats.org/drawingml/2006/main" noGrp="1"/>
          </p:cNvSpPr>
          <p:nvPr/>
        </p:nvSpPr>
        <p:spPr>
          <a:xfrm xmlns:a="http://schemas.openxmlformats.org/drawingml/2006/main">
            <a:off x="1495425" y="3771900"/>
            <a:ext cx="2771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2A3A"/>
                </a:solidFill>
                <a:latin typeface="Helvetica Neue"/>
                <a:ea typeface="Helvetica Neue"/>
                <a:cs typeface="Helvetica Neue"/>
              </a:defRPr>
            </a:pPr>
            <a:r>
              <a:rPr sz="2400" b="1">
                <a:solidFill>
                  <a:srgbClr val="152A3A"/>
                </a:solidFill>
                <a:latin typeface="Helvetica Neue"/>
                <a:ea typeface="Helvetica Neue"/>
                <a:cs typeface="Helvetica Neue"/>
              </a:rPr>
              <a:t>Verify again</a:t>
            </a:r>
          </a:p>
        </p:txBody>
      </p:sp>
      <p:sp>
        <p:nvSpPr>
          <p:cNvPr id="11" name="Factory checks run against the new candidate.">
            <a:extLst xmlns:a="http://schemas.openxmlformats.org/drawingml/2006/main">
              <a:ext uri="{FF2B5EF4-FFF2-40B4-BE49-F238E27FC236}">
                <a16:creationId xmlns:a16="http://schemas.microsoft.com/office/drawing/2014/main" id="{869CD223-9403-4D72-A673-5F9297C25D1B}"/>
              </a:ext>
            </a:extLst>
          </p:cNvPr>
          <p:cNvSpPr>
            <a:spLocks xmlns:a="http://schemas.openxmlformats.org/drawingml/2006/main" noGrp="1"/>
          </p:cNvSpPr>
          <p:nvPr/>
        </p:nvSpPr>
        <p:spPr>
          <a:xfrm xmlns:a="http://schemas.openxmlformats.org/drawingml/2006/main">
            <a:off x="4552950" y="3771900"/>
            <a:ext cx="70199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Factory checks run against the new candidate.</a:t>
            </a:r>
          </a:p>
        </p:txBody>
      </p:sp>
      <p:sp>
        <p:nvSpPr>
          <p:cNvPr id="12" name="04">
            <a:extLst xmlns:a="http://schemas.openxmlformats.org/drawingml/2006/main">
              <a:ext uri="{FF2B5EF4-FFF2-40B4-BE49-F238E27FC236}">
                <a16:creationId xmlns:a16="http://schemas.microsoft.com/office/drawing/2014/main" id="{9C1338D2-24EF-4492-B921-B1CA2CCD0A06}"/>
              </a:ext>
            </a:extLst>
          </p:cNvPr>
          <p:cNvSpPr>
            <a:spLocks xmlns:a="http://schemas.openxmlformats.org/drawingml/2006/main" noGrp="1"/>
          </p:cNvSpPr>
          <p:nvPr/>
        </p:nvSpPr>
        <p:spPr>
          <a:xfrm xmlns:a="http://schemas.openxmlformats.org/drawingml/2006/main">
            <a:off x="609600" y="4867275"/>
            <a:ext cx="695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6CA5"/>
                </a:solidFill>
                <a:latin typeface="Helvetica Neue"/>
                <a:ea typeface="Helvetica Neue"/>
                <a:cs typeface="Helvetica Neue"/>
              </a:defRPr>
            </a:pPr>
            <a:r>
              <a:rPr sz="2475" b="1">
                <a:solidFill>
                  <a:srgbClr val="006CA5"/>
                </a:solidFill>
                <a:latin typeface="Helvetica Neue"/>
                <a:ea typeface="Helvetica Neue"/>
                <a:cs typeface="Helvetica Neue"/>
              </a:rPr>
              <a:t>04</a:t>
            </a:r>
          </a:p>
        </p:txBody>
      </p:sp>
      <p:sp>
        <p:nvSpPr>
          <p:cNvPr id="13" name="Review again">
            <a:extLst xmlns:a="http://schemas.openxmlformats.org/drawingml/2006/main">
              <a:ext uri="{FF2B5EF4-FFF2-40B4-BE49-F238E27FC236}">
                <a16:creationId xmlns:a16="http://schemas.microsoft.com/office/drawing/2014/main" id="{DF8AF9BB-54C8-4A91-995E-B09963AB3807}"/>
              </a:ext>
            </a:extLst>
          </p:cNvPr>
          <p:cNvSpPr>
            <a:spLocks xmlns:a="http://schemas.openxmlformats.org/drawingml/2006/main" noGrp="1"/>
          </p:cNvSpPr>
          <p:nvPr/>
        </p:nvSpPr>
        <p:spPr>
          <a:xfrm xmlns:a="http://schemas.openxmlformats.org/drawingml/2006/main">
            <a:off x="1495425" y="4867275"/>
            <a:ext cx="2771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2A3A"/>
                </a:solidFill>
                <a:latin typeface="Helvetica Neue"/>
                <a:ea typeface="Helvetica Neue"/>
                <a:cs typeface="Helvetica Neue"/>
              </a:defRPr>
            </a:pPr>
            <a:r>
              <a:rPr sz="2400" b="1">
                <a:solidFill>
                  <a:srgbClr val="152A3A"/>
                </a:solidFill>
                <a:latin typeface="Helvetica Neue"/>
                <a:ea typeface="Helvetica Neue"/>
                <a:cs typeface="Helvetica Neue"/>
              </a:rPr>
              <a:t>Review again</a:t>
            </a:r>
          </a:p>
        </p:txBody>
      </p:sp>
      <p:sp>
        <p:nvSpPr>
          <p:cNvPr id="14" name="Code Review assesses that revision.">
            <a:extLst xmlns:a="http://schemas.openxmlformats.org/drawingml/2006/main">
              <a:ext uri="{FF2B5EF4-FFF2-40B4-BE49-F238E27FC236}">
                <a16:creationId xmlns:a16="http://schemas.microsoft.com/office/drawing/2014/main" id="{CC082A29-4AF5-43B0-8F97-B6A0FEF548FF}"/>
              </a:ext>
            </a:extLst>
          </p:cNvPr>
          <p:cNvSpPr>
            <a:spLocks xmlns:a="http://schemas.openxmlformats.org/drawingml/2006/main" noGrp="1"/>
          </p:cNvSpPr>
          <p:nvPr/>
        </p:nvSpPr>
        <p:spPr>
          <a:xfrm xmlns:a="http://schemas.openxmlformats.org/drawingml/2006/main">
            <a:off x="4552950" y="4867275"/>
            <a:ext cx="70199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Code Review assesses that revision.</a:t>
            </a:r>
          </a:p>
        </p:txBody>
      </p:sp>
    </p:spTree>
    <p:extLst>
      <p:ext uri="{BB962C8B-B14F-4D97-AF65-F5344CB8AC3E}">
        <p14:creationId xmlns:p14="http://schemas.microsoft.com/office/powerpoint/2010/main" val="196058851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Evidence for a merge decision">
            <a:extLst xmlns:a="http://schemas.openxmlformats.org/drawingml/2006/main">
              <a:ext uri="{FF2B5EF4-FFF2-40B4-BE49-F238E27FC236}">
                <a16:creationId xmlns:a16="http://schemas.microsoft.com/office/drawing/2014/main" id="{8A6967A3-5D2B-4951-8FA1-B616E652A8C1}"/>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Evidence for a merge decision</a:t>
            </a:r>
          </a:p>
        </p:txBody>
      </p:sp>
      <p:sp>
        <p:nvSpPr>
          <p:cNvPr id="2" name="17">
            <a:extLst xmlns:a="http://schemas.openxmlformats.org/drawingml/2006/main">
              <a:ext uri="{FF2B5EF4-FFF2-40B4-BE49-F238E27FC236}">
                <a16:creationId xmlns:a16="http://schemas.microsoft.com/office/drawing/2014/main" id="{A4995F85-B81A-4DFB-A08D-4C4D843B4470}"/>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17</a:t>
            </a:r>
          </a:p>
        </p:txBody>
      </p:sp>
      <p:graphicFrame>
        <p:nvGraphicFramePr>
          <p:cNvPr id="6" name=""/>
          <p:cNvGraphicFramePr/>
          <p:nvPr/>
        </p:nvGraphicFramePr>
        <p:xfrm>
          <a:off xmlns:a="http://schemas.openxmlformats.org/drawingml/2006/main" x="609600" y="1666875"/>
          <a:ext xmlns:a="http://schemas.openxmlformats.org/drawingml/2006/main" cx="10972800" cy="4000500"/>
        </p:xfrm>
        <a:graphic xmlns:a="http://schemas.openxmlformats.org/drawingml/2006/main">
          <a:graphicData uri="http://schemas.openxmlformats.org/drawingml/2006/table">
            <a:tbl>
              <a:tblPr/>
              <a:tblGrid>
                <a:gridCol w="3810000"/>
                <a:gridCol w="7162800"/>
              </a:tblGrid>
              <a:tr h="800100">
                <a:tc>
                  <a:txBody>
                    <a:bodyPr>
                      <a:noAutofit/>
                    </a:bodyPr>
                    <a:lstStyle/>
                    <a:p>
                      <a:r>
                        <a:rPr sz="1950" b="1">
                          <a:solidFill>
                            <a:srgbClr val="006CA5"/>
                          </a:solidFill>
                          <a:latin typeface="Helvetica Neue"/>
                          <a:ea typeface="Helvetica Neue"/>
                          <a:cs typeface="Helvetica Neue"/>
                        </a:rPr>
                        <a:t>Evidence</a:t>
                      </a:r>
                    </a:p>
                  </a:txBody>
                  <a:tcPr marL="152400" marR="133350" marT="114300" marB="95250" anchor="ctr">
                    <a:solidFill>
                      <a:srgbClr val="EAF3F8"/>
                    </a:solidFill>
                  </a:tcPr>
                </a:tc>
                <a:tc>
                  <a:txBody>
                    <a:bodyPr>
                      <a:noAutofit/>
                    </a:bodyPr>
                    <a:lstStyle/>
                    <a:p>
                      <a:r>
                        <a:rPr sz="1950" b="1">
                          <a:solidFill>
                            <a:srgbClr val="006CA5"/>
                          </a:solidFill>
                          <a:latin typeface="Helvetica Neue"/>
                          <a:ea typeface="Helvetica Neue"/>
                          <a:cs typeface="Helvetica Neue"/>
                        </a:rPr>
                        <a:t>What the person checks</a:t>
                      </a:r>
                    </a:p>
                  </a:txBody>
                  <a:tcPr marL="152400" marR="133350" marT="114300" marB="95250" anchor="ctr">
                    <a:solidFill>
                      <a:srgbClr val="EAF3F8"/>
                    </a:solidFill>
                  </a:tcPr>
                </a:tc>
              </a:tr>
              <a:tr h="800100">
                <a:tc>
                  <a:txBody>
                    <a:bodyPr>
                      <a:noAutofit/>
                    </a:bodyPr>
                    <a:lstStyle/>
                    <a:p>
                      <a:r>
                        <a:rPr sz="1950" b="0">
                          <a:solidFill>
                            <a:srgbClr val="152A3A"/>
                          </a:solidFill>
                          <a:latin typeface="Helvetica Neue"/>
                          <a:ea typeface="Helvetica Neue"/>
                          <a:cs typeface="Helvetica Neue"/>
                        </a:rPr>
                        <a:t>Candidate revision</a:t>
                      </a:r>
                    </a:p>
                  </a:txBody>
                  <a:tcPr marL="152400" marR="133350" marT="114300" marB="95250" anchor="ctr">
                    <a:solidFill>
                      <a:srgbClr val="FFFFFF"/>
                    </a:solidFill>
                  </a:tcPr>
                </a:tc>
                <a:tc>
                  <a:txBody>
                    <a:bodyPr>
                      <a:noAutofit/>
                    </a:bodyPr>
                    <a:lstStyle/>
                    <a:p>
                      <a:r>
                        <a:rPr sz="1950" b="0">
                          <a:solidFill>
                            <a:srgbClr val="152A3A"/>
                          </a:solidFill>
                          <a:latin typeface="Helvetica Neue"/>
                          <a:ea typeface="Helvetica Neue"/>
                          <a:cs typeface="Helvetica Neue"/>
                        </a:rPr>
                        <a:t>The diff and approval refer to the same commit</a:t>
                      </a:r>
                    </a:p>
                  </a:txBody>
                  <a:tcPr marL="152400" marR="133350" marT="114300" marB="95250" anchor="ctr">
                    <a:solidFill>
                      <a:srgbClr val="FFFFFF"/>
                    </a:solidFill>
                  </a:tcPr>
                </a:tc>
              </a:tr>
              <a:tr h="800100">
                <a:tc>
                  <a:txBody>
                    <a:bodyPr>
                      <a:noAutofit/>
                    </a:bodyPr>
                    <a:lstStyle/>
                    <a:p>
                      <a:r>
                        <a:rPr sz="1950" b="0">
                          <a:solidFill>
                            <a:srgbClr val="152A3A"/>
                          </a:solidFill>
                          <a:latin typeface="Helvetica Neue"/>
                          <a:ea typeface="Helvetica Neue"/>
                          <a:cs typeface="Helvetica Neue"/>
                        </a:rPr>
                        <a:t>Tests and gates</a:t>
                      </a:r>
                    </a:p>
                  </a:txBody>
                  <a:tcPr marL="152400" marR="133350" marT="114300" marB="95250" anchor="ctr">
                    <a:solidFill>
                      <a:srgbClr val="FFFFFF"/>
                    </a:solidFill>
                  </a:tcPr>
                </a:tc>
                <a:tc>
                  <a:txBody>
                    <a:bodyPr>
                      <a:noAutofit/>
                    </a:bodyPr>
                    <a:lstStyle/>
                    <a:p>
                      <a:r>
                        <a:rPr sz="1950" b="0">
                          <a:solidFill>
                            <a:srgbClr val="152A3A"/>
                          </a:solidFill>
                          <a:latin typeface="Helvetica Neue"/>
                          <a:ea typeface="Helvetica Neue"/>
                          <a:cs typeface="Helvetica Neue"/>
                        </a:rPr>
                        <a:t>RED, GREEN, protected hashes, actual command results</a:t>
                      </a:r>
                    </a:p>
                  </a:txBody>
                  <a:tcPr marL="152400" marR="133350" marT="114300" marB="95250" anchor="ctr">
                    <a:solidFill>
                      <a:srgbClr val="FFFFFF"/>
                    </a:solidFill>
                  </a:tcPr>
                </a:tc>
              </a:tr>
              <a:tr h="800100">
                <a:tc>
                  <a:txBody>
                    <a:bodyPr>
                      <a:noAutofit/>
                    </a:bodyPr>
                    <a:lstStyle/>
                    <a:p>
                      <a:r>
                        <a:rPr sz="1950" b="0">
                          <a:solidFill>
                            <a:srgbClr val="152A3A"/>
                          </a:solidFill>
                          <a:latin typeface="Helvetica Neue"/>
                          <a:ea typeface="Helvetica Neue"/>
                          <a:cs typeface="Helvetica Neue"/>
                        </a:rPr>
                        <a:t>Review and handoffs</a:t>
                      </a:r>
                    </a:p>
                  </a:txBody>
                  <a:tcPr marL="152400" marR="133350" marT="114300" marB="95250" anchor="ctr">
                    <a:solidFill>
                      <a:srgbClr val="FFFFFF"/>
                    </a:solidFill>
                  </a:tcPr>
                </a:tc>
                <a:tc>
                  <a:txBody>
                    <a:bodyPr>
                      <a:noAutofit/>
                    </a:bodyPr>
                    <a:lstStyle/>
                    <a:p>
                      <a:r>
                        <a:rPr sz="1950" b="0">
                          <a:solidFill>
                            <a:srgbClr val="152A3A"/>
                          </a:solidFill>
                          <a:latin typeface="Helvetica Neue"/>
                          <a:ea typeface="Helvetica Neue"/>
                          <a:cs typeface="Helvetica Neue"/>
                        </a:rPr>
                        <a:t>Decision, author, artifact references, unresolved risks</a:t>
                      </a:r>
                    </a:p>
                  </a:txBody>
                  <a:tcPr marL="152400" marR="133350" marT="114300" marB="95250" anchor="ctr">
                    <a:solidFill>
                      <a:srgbClr val="FFFFFF"/>
                    </a:solidFill>
                  </a:tcPr>
                </a:tc>
              </a:tr>
              <a:tr h="800100">
                <a:tc>
                  <a:txBody>
                    <a:bodyPr>
                      <a:noAutofit/>
                    </a:bodyPr>
                    <a:lstStyle/>
                    <a:p>
                      <a:r>
                        <a:rPr sz="1950" b="0">
                          <a:solidFill>
                            <a:srgbClr val="152A3A"/>
                          </a:solidFill>
                          <a:latin typeface="Helvetica Neue"/>
                          <a:ea typeface="Helvetica Neue"/>
                          <a:cs typeface="Helvetica Neue"/>
                        </a:rPr>
                        <a:t>Approved scope</a:t>
                      </a:r>
                    </a:p>
                  </a:txBody>
                  <a:tcPr marL="152400" marR="133350" marT="114300" marB="95250" anchor="ctr">
                    <a:solidFill>
                      <a:srgbClr val="FFFFFF"/>
                    </a:solidFill>
                  </a:tcPr>
                </a:tc>
                <a:tc>
                  <a:txBody>
                    <a:bodyPr>
                      <a:noAutofit/>
                    </a:bodyPr>
                    <a:lstStyle/>
                    <a:p>
                      <a:r>
                        <a:rPr sz="1950" b="0">
                          <a:solidFill>
                            <a:srgbClr val="152A3A"/>
                          </a:solidFill>
                          <a:latin typeface="Helvetica Neue"/>
                          <a:ea typeface="Helvetica Neue"/>
                          <a:cs typeface="Helvetica Neue"/>
                        </a:rPr>
                        <a:t>The delivered behavior matches the ticket</a:t>
                      </a:r>
                    </a:p>
                  </a:txBody>
                  <a:tcPr marL="152400" marR="133350" marT="114300" marB="95250" anchor="ctr">
                    <a:solidFill>
                      <a:srgbClr val="FFFFFF"/>
                    </a:solidFill>
                  </a:tcPr>
                </a:tc>
              </a:tr>
            </a:tbl>
          </a:graphicData>
        </a:graphic>
      </p:graphicFrame>
    </p:spTree>
    <p:extLst>
      <p:ext uri="{BB962C8B-B14F-4D97-AF65-F5344CB8AC3E}">
        <p14:creationId xmlns:p14="http://schemas.microsoft.com/office/powerpoint/2010/main" val="62049256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Where people intervene">
            <a:extLst xmlns:a="http://schemas.openxmlformats.org/drawingml/2006/main">
              <a:ext uri="{FF2B5EF4-FFF2-40B4-BE49-F238E27FC236}">
                <a16:creationId xmlns:a16="http://schemas.microsoft.com/office/drawing/2014/main" id="{8565FDA5-16AC-4F84-8D3C-4BFF7813A01C}"/>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Where people intervene</a:t>
            </a:r>
          </a:p>
        </p:txBody>
      </p:sp>
      <p:sp>
        <p:nvSpPr>
          <p:cNvPr id="2" name="18">
            <a:extLst xmlns:a="http://schemas.openxmlformats.org/drawingml/2006/main">
              <a:ext uri="{FF2B5EF4-FFF2-40B4-BE49-F238E27FC236}">
                <a16:creationId xmlns:a16="http://schemas.microsoft.com/office/drawing/2014/main" id="{37954EAC-1B4D-4E66-B5AD-BFD2009C266B}"/>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18</a:t>
            </a:r>
          </a:p>
        </p:txBody>
      </p:sp>
      <p:graphicFrame>
        <p:nvGraphicFramePr>
          <p:cNvPr id="6" name=""/>
          <p:cNvGraphicFramePr/>
          <p:nvPr/>
        </p:nvGraphicFramePr>
        <p:xfrm>
          <a:off xmlns:a="http://schemas.openxmlformats.org/drawingml/2006/main" x="609600" y="1666875"/>
          <a:ext xmlns:a="http://schemas.openxmlformats.org/drawingml/2006/main" cx="10972800" cy="4333875"/>
        </p:xfrm>
        <a:graphic xmlns:a="http://schemas.openxmlformats.org/drawingml/2006/main">
          <a:graphicData uri="http://schemas.openxmlformats.org/drawingml/2006/table">
            <a:tbl>
              <a:tblPr/>
              <a:tblGrid>
                <a:gridCol w="4095750"/>
                <a:gridCol w="6877050"/>
              </a:tblGrid>
              <a:tr h="722313">
                <a:tc>
                  <a:txBody>
                    <a:bodyPr>
                      <a:noAutofit/>
                    </a:bodyPr>
                    <a:lstStyle/>
                    <a:p>
                      <a:r>
                        <a:rPr sz="1875" b="1">
                          <a:solidFill>
                            <a:srgbClr val="006CA5"/>
                          </a:solidFill>
                          <a:latin typeface="Helvetica Neue"/>
                          <a:ea typeface="Helvetica Neue"/>
                          <a:cs typeface="Helvetica Neue"/>
                        </a:rPr>
                        <a:t>Moment</a:t>
                      </a:r>
                    </a:p>
                  </a:txBody>
                  <a:tcPr marL="152400" marR="133350" marT="114300" marB="95250" anchor="ctr">
                    <a:solidFill>
                      <a:srgbClr val="EAF3F8"/>
                    </a:solidFill>
                  </a:tcPr>
                </a:tc>
                <a:tc>
                  <a:txBody>
                    <a:bodyPr>
                      <a:noAutofit/>
                    </a:bodyPr>
                    <a:lstStyle/>
                    <a:p>
                      <a:r>
                        <a:rPr sz="1875" b="1">
                          <a:solidFill>
                            <a:srgbClr val="006CA5"/>
                          </a:solidFill>
                          <a:latin typeface="Helvetica Neue"/>
                          <a:ea typeface="Helvetica Neue"/>
                          <a:cs typeface="Helvetica Neue"/>
                        </a:rPr>
                        <a:t>Decision</a:t>
                      </a:r>
                    </a:p>
                  </a:txBody>
                  <a:tcPr marL="152400" marR="133350" marT="114300" marB="95250" anchor="ctr">
                    <a:solidFill>
                      <a:srgbClr val="EAF3F8"/>
                    </a:solidFill>
                  </a:tcPr>
                </a:tc>
              </a:tr>
              <a:tr h="722313">
                <a:tc>
                  <a:txBody>
                    <a:bodyPr>
                      <a:noAutofit/>
                    </a:bodyPr>
                    <a:lstStyle/>
                    <a:p>
                      <a:r>
                        <a:rPr sz="1875" b="0">
                          <a:solidFill>
                            <a:srgbClr val="152A3A"/>
                          </a:solidFill>
                          <a:latin typeface="Helvetica Neue"/>
                          <a:ea typeface="Helvetica Neue"/>
                          <a:cs typeface="Helvetica Neue"/>
                        </a:rPr>
                        <a:t>Before technical planning</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Approve product intent and answer open questions</a:t>
                      </a:r>
                    </a:p>
                  </a:txBody>
                  <a:tcPr marL="152400" marR="133350" marT="114300" marB="95250" anchor="ctr">
                    <a:solidFill>
                      <a:srgbClr val="FFFFFF"/>
                    </a:solidFill>
                  </a:tcPr>
                </a:tc>
              </a:tr>
              <a:tr h="722313">
                <a:tc>
                  <a:txBody>
                    <a:bodyPr>
                      <a:noAutofit/>
                    </a:bodyPr>
                    <a:lstStyle/>
                    <a:p>
                      <a:r>
                        <a:rPr sz="1875" b="0">
                          <a:solidFill>
                            <a:srgbClr val="152A3A"/>
                          </a:solidFill>
                          <a:latin typeface="Helvetica Neue"/>
                          <a:ea typeface="Helvetica Neue"/>
                          <a:cs typeface="Helvetica Neue"/>
                        </a:rPr>
                        <a:t>Before publishing tickets</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Review the aligned plan and request revisions</a:t>
                      </a:r>
                    </a:p>
                  </a:txBody>
                  <a:tcPr marL="152400" marR="133350" marT="114300" marB="95250" anchor="ctr">
                    <a:solidFill>
                      <a:srgbClr val="FFFFFF"/>
                    </a:solidFill>
                  </a:tcPr>
                </a:tc>
              </a:tr>
              <a:tr h="722313">
                <a:tc>
                  <a:txBody>
                    <a:bodyPr>
                      <a:noAutofit/>
                    </a:bodyPr>
                    <a:lstStyle/>
                    <a:p>
                      <a:r>
                        <a:rPr sz="1875" b="0">
                          <a:solidFill>
                            <a:srgbClr val="152A3A"/>
                          </a:solidFill>
                          <a:latin typeface="Helvetica Neue"/>
                          <a:ea typeface="Helvetica Neue"/>
                          <a:cs typeface="Helvetica Neue"/>
                        </a:rPr>
                        <a:t>Before implementation, when configured</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Approve or revise the independent tests</a:t>
                      </a:r>
                    </a:p>
                  </a:txBody>
                  <a:tcPr marL="152400" marR="133350" marT="114300" marB="95250" anchor="ctr">
                    <a:solidFill>
                      <a:srgbClr val="FFFFFF"/>
                    </a:solidFill>
                  </a:tcPr>
                </a:tc>
              </a:tr>
              <a:tr h="722313">
                <a:tc>
                  <a:txBody>
                    <a:bodyPr>
                      <a:noAutofit/>
                    </a:bodyPr>
                    <a:lstStyle/>
                    <a:p>
                      <a:r>
                        <a:rPr sz="1875" b="0">
                          <a:solidFill>
                            <a:srgbClr val="152A3A"/>
                          </a:solidFill>
                          <a:latin typeface="Helvetica Neue"/>
                          <a:ea typeface="Helvetica Neue"/>
                          <a:cs typeface="Helvetica Neue"/>
                        </a:rPr>
                        <a:t>At a blocked stage</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Supply the missing decision or fix the reported cause</a:t>
                      </a:r>
                    </a:p>
                  </a:txBody>
                  <a:tcPr marL="152400" marR="133350" marT="114300" marB="95250" anchor="ctr">
                    <a:solidFill>
                      <a:srgbClr val="FFFFFF"/>
                    </a:solidFill>
                  </a:tcPr>
                </a:tc>
              </a:tr>
              <a:tr h="722313">
                <a:tc>
                  <a:txBody>
                    <a:bodyPr>
                      <a:noAutofit/>
                    </a:bodyPr>
                    <a:lstStyle/>
                    <a:p>
                      <a:r>
                        <a:rPr sz="1875" b="0">
                          <a:solidFill>
                            <a:srgbClr val="152A3A"/>
                          </a:solidFill>
                          <a:latin typeface="Helvetica Neue"/>
                          <a:ea typeface="Helvetica Neue"/>
                          <a:cs typeface="Helvetica Neue"/>
                        </a:rPr>
                        <a:t>Before merge</a:t>
                      </a:r>
                    </a:p>
                  </a:txBody>
                  <a:tcPr marL="152400" marR="133350" marT="114300" marB="95250" anchor="ctr">
                    <a:solidFill>
                      <a:srgbClr val="FFFFFF"/>
                    </a:solidFill>
                  </a:tcPr>
                </a:tc>
                <a:tc>
                  <a:txBody>
                    <a:bodyPr>
                      <a:noAutofit/>
                    </a:bodyPr>
                    <a:lstStyle/>
                    <a:p>
                      <a:r>
                        <a:rPr sz="1875" b="0">
                          <a:solidFill>
                            <a:srgbClr val="152A3A"/>
                          </a:solidFill>
                          <a:latin typeface="Helvetica Neue"/>
                          <a:ea typeface="Helvetica Neue"/>
                          <a:cs typeface="Helvetica Neue"/>
                        </a:rPr>
                        <a:t>Accept the current candidate or request changes</a:t>
                      </a:r>
                    </a:p>
                  </a:txBody>
                  <a:tcPr marL="152400" marR="133350" marT="114300" marB="95250" anchor="ctr">
                    <a:solidFill>
                      <a:srgbClr val="FFFFFF"/>
                    </a:solidFill>
                  </a:tcPr>
                </a:tc>
              </a:tr>
            </a:tbl>
          </a:graphicData>
        </a:graphic>
      </p:graphicFrame>
    </p:spTree>
    <p:extLst>
      <p:ext uri="{BB962C8B-B14F-4D97-AF65-F5344CB8AC3E}">
        <p14:creationId xmlns:p14="http://schemas.microsoft.com/office/powerpoint/2010/main" val="13125169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actory profiles">
            <a:extLst xmlns:a="http://schemas.openxmlformats.org/drawingml/2006/main">
              <a:ext uri="{FF2B5EF4-FFF2-40B4-BE49-F238E27FC236}">
                <a16:creationId xmlns:a16="http://schemas.microsoft.com/office/drawing/2014/main" id="{243342C0-5B52-4D43-A0AF-1A96F9602228}"/>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Factory profiles</a:t>
            </a:r>
          </a:p>
        </p:txBody>
      </p:sp>
      <p:sp>
        <p:nvSpPr>
          <p:cNvPr id="2" name="19">
            <a:extLst xmlns:a="http://schemas.openxmlformats.org/drawingml/2006/main">
              <a:ext uri="{FF2B5EF4-FFF2-40B4-BE49-F238E27FC236}">
                <a16:creationId xmlns:a16="http://schemas.microsoft.com/office/drawing/2014/main" id="{C0E9B1F3-4839-46A4-AC9D-0E05D68570BA}"/>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19</a:t>
            </a:r>
          </a:p>
        </p:txBody>
      </p:sp>
      <p:graphicFrame>
        <p:nvGraphicFramePr>
          <p:cNvPr id="7" name=""/>
          <p:cNvGraphicFramePr/>
          <p:nvPr/>
        </p:nvGraphicFramePr>
        <p:xfrm>
          <a:off xmlns:a="http://schemas.openxmlformats.org/drawingml/2006/main" x="609600" y="1666875"/>
          <a:ext xmlns:a="http://schemas.openxmlformats.org/drawingml/2006/main" cx="10972800" cy="3762375"/>
        </p:xfrm>
        <a:graphic xmlns:a="http://schemas.openxmlformats.org/drawingml/2006/main">
          <a:graphicData uri="http://schemas.openxmlformats.org/drawingml/2006/table">
            <a:tbl>
              <a:tblPr/>
              <a:tblGrid>
                <a:gridCol w="2286000"/>
                <a:gridCol w="6096000"/>
                <a:gridCol w="2590800"/>
              </a:tblGrid>
              <a:tr h="752475">
                <a:tc>
                  <a:txBody>
                    <a:bodyPr>
                      <a:noAutofit/>
                    </a:bodyPr>
                    <a:lstStyle/>
                    <a:p>
                      <a:r>
                        <a:rPr sz="1800" b="1">
                          <a:solidFill>
                            <a:srgbClr val="006CA5"/>
                          </a:solidFill>
                          <a:latin typeface="Helvetica Neue"/>
                          <a:ea typeface="Helvetica Neue"/>
                          <a:cs typeface="Helvetica Neue"/>
                        </a:rPr>
                        <a:t>Profile</a:t>
                      </a:r>
                    </a:p>
                  </a:txBody>
                  <a:tcPr marL="152400" marR="133350" marT="114300" marB="95250" anchor="ctr">
                    <a:solidFill>
                      <a:srgbClr val="EAF3F8"/>
                    </a:solidFill>
                  </a:tcPr>
                </a:tc>
                <a:tc>
                  <a:txBody>
                    <a:bodyPr>
                      <a:noAutofit/>
                    </a:bodyPr>
                    <a:lstStyle/>
                    <a:p>
                      <a:r>
                        <a:rPr sz="1800" b="1">
                          <a:solidFill>
                            <a:srgbClr val="006CA5"/>
                          </a:solidFill>
                          <a:latin typeface="Helvetica Neue"/>
                          <a:ea typeface="Helvetica Neue"/>
                          <a:cs typeface="Helvetica Neue"/>
                        </a:rPr>
                        <a:t>Planning and delivery</a:t>
                      </a:r>
                    </a:p>
                  </a:txBody>
                  <a:tcPr marL="152400" marR="133350" marT="114300" marB="95250" anchor="ctr">
                    <a:solidFill>
                      <a:srgbClr val="EAF3F8"/>
                    </a:solidFill>
                  </a:tcPr>
                </a:tc>
                <a:tc>
                  <a:txBody>
                    <a:bodyPr>
                      <a:noAutofit/>
                    </a:bodyPr>
                    <a:lstStyle/>
                    <a:p>
                      <a:r>
                        <a:rPr sz="1800" b="1">
                          <a:solidFill>
                            <a:srgbClr val="006CA5"/>
                          </a:solidFill>
                          <a:latin typeface="Helvetica Neue"/>
                          <a:ea typeface="Helvetica Neue"/>
                          <a:cs typeface="Helvetica Neue"/>
                        </a:rPr>
                        <a:t>Merge authority</a:t>
                      </a:r>
                    </a:p>
                  </a:txBody>
                  <a:tcPr marL="152400" marR="133350" marT="114300" marB="95250" anchor="ctr">
                    <a:solidFill>
                      <a:srgbClr val="EAF3F8"/>
                    </a:solidFill>
                  </a:tcPr>
                </a:tc>
              </a:tr>
              <a:tr h="752475">
                <a:tc>
                  <a:txBody>
                    <a:bodyPr>
                      <a:noAutofit/>
                    </a:bodyPr>
                    <a:lstStyle/>
                    <a:p>
                      <a:r>
                        <a:rPr sz="1800" b="0">
                          <a:solidFill>
                            <a:srgbClr val="152A3A"/>
                          </a:solidFill>
                          <a:latin typeface="Helvetica Neue"/>
                          <a:ea typeface="Helvetica Neue"/>
                          <a:cs typeface="Helvetica Neue"/>
                        </a:rPr>
                        <a:t>Lean</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Product + slices, implementation, existing tests</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Human</a:t>
                      </a:r>
                    </a:p>
                  </a:txBody>
                  <a:tcPr marL="152400" marR="133350" marT="114300" marB="95250" anchor="ctr">
                    <a:solidFill>
                      <a:srgbClr val="FFFFFF"/>
                    </a:solidFill>
                  </a:tcPr>
                </a:tc>
              </a:tr>
              <a:tr h="752475">
                <a:tc>
                  <a:txBody>
                    <a:bodyPr>
                      <a:noAutofit/>
                    </a:bodyPr>
                    <a:lstStyle/>
                    <a:p>
                      <a:r>
                        <a:rPr sz="1800" b="0">
                          <a:solidFill>
                            <a:srgbClr val="152A3A"/>
                          </a:solidFill>
                          <a:latin typeface="Helvetica Neue"/>
                          <a:ea typeface="Helvetica Neue"/>
                          <a:cs typeface="Helvetica Neue"/>
                        </a:rPr>
                        <a:t>Standard</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Four planners, QA, implementation, Code Review</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Human</a:t>
                      </a:r>
                    </a:p>
                  </a:txBody>
                  <a:tcPr marL="152400" marR="133350" marT="114300" marB="95250" anchor="ctr">
                    <a:solidFill>
                      <a:srgbClr val="FFFFFF"/>
                    </a:solidFill>
                  </a:tcPr>
                </a:tc>
              </a:tr>
              <a:tr h="752475">
                <a:tc>
                  <a:txBody>
                    <a:bodyPr>
                      <a:noAutofit/>
                    </a:bodyPr>
                    <a:lstStyle/>
                    <a:p>
                      <a:r>
                        <a:rPr sz="1800" b="0">
                          <a:solidFill>
                            <a:srgbClr val="152A3A"/>
                          </a:solidFill>
                          <a:latin typeface="Helvetica Neue"/>
                          <a:ea typeface="Helvetica Neue"/>
                          <a:cs typeface="Helvetica Neue"/>
                        </a:rPr>
                        <a:t>Assured</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Standard plus Supervisor and additional checks</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Human</a:t>
                      </a:r>
                    </a:p>
                  </a:txBody>
                  <a:tcPr marL="152400" marR="133350" marT="114300" marB="95250" anchor="ctr">
                    <a:solidFill>
                      <a:srgbClr val="FFFFFF"/>
                    </a:solidFill>
                  </a:tcPr>
                </a:tc>
              </a:tr>
              <a:tr h="752475">
                <a:tc>
                  <a:txBody>
                    <a:bodyPr>
                      <a:noAutofit/>
                    </a:bodyPr>
                    <a:lstStyle/>
                    <a:p>
                      <a:r>
                        <a:rPr sz="1800" b="0">
                          <a:solidFill>
                            <a:srgbClr val="152A3A"/>
                          </a:solidFill>
                          <a:latin typeface="Helvetica Neue"/>
                          <a:ea typeface="Helvetica Neue"/>
                          <a:cs typeface="Helvetica Neue"/>
                        </a:rPr>
                        <a:t>Autonomous Demo</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Standard plus Supervisor checkpoints</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Supervisor, within policy</a:t>
                      </a:r>
                    </a:p>
                  </a:txBody>
                  <a:tcPr marL="152400" marR="133350" marT="114300" marB="95250" anchor="ctr">
                    <a:solidFill>
                      <a:srgbClr val="FFFFFF"/>
                    </a:solidFill>
                  </a:tcPr>
                </a:tc>
              </a:tr>
            </a:tbl>
          </a:graphicData>
        </a:graphic>
      </p:graphicFrame>
      <p:sp>
        <p:nvSpPr>
          <p:cNvPr id="4" name="Autonomous Demo requires opt-in.&#10;Deep verification can ">
            <a:extLst xmlns:a="http://schemas.openxmlformats.org/drawingml/2006/main">
              <a:ext uri="{FF2B5EF4-FFF2-40B4-BE49-F238E27FC236}">
                <a16:creationId xmlns:a16="http://schemas.microsoft.com/office/drawing/2014/main" id="{D68B63DE-C1C5-44DA-B7CA-63B185EA3020}"/>
              </a:ext>
            </a:extLst>
          </p:cNvPr>
          <p:cNvSpPr>
            <a:spLocks xmlns:a="http://schemas.openxmlformats.org/drawingml/2006/main" noGrp="1"/>
          </p:cNvSpPr>
          <p:nvPr/>
        </p:nvSpPr>
        <p:spPr>
          <a:xfrm xmlns:a="http://schemas.openxmlformats.org/drawingml/2006/main">
            <a:off x="609600" y="5667375"/>
            <a:ext cx="10906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Autonomous Demo requires opt-in.</a:t>
            </a:r>
          </a:p>
          <a:p xmlns:a="http://schemas.openxmlformats.org/drawingml/2006/main">
            <a:pPr>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Deep verification can invoke the Critic in any profile.</a:t>
            </a:r>
          </a:p>
        </p:txBody>
      </p:sp>
    </p:spTree>
    <p:extLst>
      <p:ext uri="{BB962C8B-B14F-4D97-AF65-F5344CB8AC3E}">
        <p14:creationId xmlns:p14="http://schemas.microsoft.com/office/powerpoint/2010/main" val="199674373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pervisor checkpoints">
            <a:extLst xmlns:a="http://schemas.openxmlformats.org/drawingml/2006/main">
              <a:ext uri="{FF2B5EF4-FFF2-40B4-BE49-F238E27FC236}">
                <a16:creationId xmlns:a16="http://schemas.microsoft.com/office/drawing/2014/main" id="{D4583193-460E-4BD6-8E84-1B8450EBCAD6}"/>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Supervisor checkpoints</a:t>
            </a:r>
          </a:p>
        </p:txBody>
      </p:sp>
      <p:sp>
        <p:nvSpPr>
          <p:cNvPr id="2" name="20">
            <a:extLst xmlns:a="http://schemas.openxmlformats.org/drawingml/2006/main">
              <a:ext uri="{FF2B5EF4-FFF2-40B4-BE49-F238E27FC236}">
                <a16:creationId xmlns:a16="http://schemas.microsoft.com/office/drawing/2014/main" id="{757247E1-171C-462F-BD32-CD4CC409FB63}"/>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20</a:t>
            </a:r>
          </a:p>
        </p:txBody>
      </p:sp>
      <p:sp>
        <p:nvSpPr>
          <p:cNvPr id="3" name="Dispatch">
            <a:extLst xmlns:a="http://schemas.openxmlformats.org/drawingml/2006/main">
              <a:ext uri="{FF2B5EF4-FFF2-40B4-BE49-F238E27FC236}">
                <a16:creationId xmlns:a16="http://schemas.microsoft.com/office/drawing/2014/main" id="{0FBD1D1E-5CAE-495A-95BC-E3383F46729A}"/>
              </a:ext>
            </a:extLst>
          </p:cNvPr>
          <p:cNvSpPr>
            <a:spLocks xmlns:a="http://schemas.openxmlformats.org/drawingml/2006/main" noGrp="1"/>
          </p:cNvSpPr>
          <p:nvPr/>
        </p:nvSpPr>
        <p:spPr>
          <a:xfrm xmlns:a="http://schemas.openxmlformats.org/drawingml/2006/main">
            <a:off x="609600" y="1590675"/>
            <a:ext cx="5095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6CA5"/>
                </a:solidFill>
                <a:latin typeface="Helvetica Neue"/>
                <a:ea typeface="Helvetica Neue"/>
                <a:cs typeface="Helvetica Neue"/>
              </a:defRPr>
            </a:pPr>
            <a:r>
              <a:rPr sz="2625" b="1">
                <a:solidFill>
                  <a:srgbClr val="006CA5"/>
                </a:solidFill>
                <a:latin typeface="Helvetica Neue"/>
                <a:ea typeface="Helvetica Neue"/>
                <a:cs typeface="Helvetica Neue"/>
              </a:rPr>
              <a:t>Dispatch</a:t>
            </a:r>
          </a:p>
        </p:txBody>
      </p:sp>
      <p:sp>
        <p:nvSpPr>
          <p:cNvPr id="4" name="Merge readiness">
            <a:extLst xmlns:a="http://schemas.openxmlformats.org/drawingml/2006/main">
              <a:ext uri="{FF2B5EF4-FFF2-40B4-BE49-F238E27FC236}">
                <a16:creationId xmlns:a16="http://schemas.microsoft.com/office/drawing/2014/main" id="{60379FB8-C48C-4FA5-84AE-3211BC43FC67}"/>
              </a:ext>
            </a:extLst>
          </p:cNvPr>
          <p:cNvSpPr>
            <a:spLocks xmlns:a="http://schemas.openxmlformats.org/drawingml/2006/main" noGrp="1"/>
          </p:cNvSpPr>
          <p:nvPr/>
        </p:nvSpPr>
        <p:spPr>
          <a:xfrm xmlns:a="http://schemas.openxmlformats.org/drawingml/2006/main">
            <a:off x="6324600" y="1590675"/>
            <a:ext cx="5238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6CA5"/>
                </a:solidFill>
                <a:latin typeface="Helvetica Neue"/>
                <a:ea typeface="Helvetica Neue"/>
                <a:cs typeface="Helvetica Neue"/>
              </a:defRPr>
            </a:pPr>
            <a:r>
              <a:rPr sz="2625" b="1">
                <a:solidFill>
                  <a:srgbClr val="006CA5"/>
                </a:solidFill>
                <a:latin typeface="Helvetica Neue"/>
                <a:ea typeface="Helvetica Neue"/>
                <a:cs typeface="Helvetica Neue"/>
              </a:rPr>
              <a:t>Merge readiness</a:t>
            </a:r>
          </a:p>
        </p:txBody>
      </p:sp>
      <p:sp>
        <p:nvSpPr>
          <p:cNvPr id="5" name="INPUT">
            <a:extLst xmlns:a="http://schemas.openxmlformats.org/drawingml/2006/main">
              <a:ext uri="{FF2B5EF4-FFF2-40B4-BE49-F238E27FC236}">
                <a16:creationId xmlns:a16="http://schemas.microsoft.com/office/drawing/2014/main" id="{02C7E34E-BAD5-4EF7-82AA-8B231FECD9E9}"/>
              </a:ext>
            </a:extLst>
          </p:cNvPr>
          <p:cNvSpPr>
            <a:spLocks xmlns:a="http://schemas.openxmlformats.org/drawingml/2006/main" noGrp="1"/>
          </p:cNvSpPr>
          <p:nvPr/>
        </p:nvSpPr>
        <p:spPr>
          <a:xfrm xmlns:a="http://schemas.openxmlformats.org/drawingml/2006/main">
            <a:off x="609600" y="2476500"/>
            <a:ext cx="490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INPUT</a:t>
            </a:r>
          </a:p>
        </p:txBody>
      </p:sp>
      <p:sp>
        <p:nvSpPr>
          <p:cNvPr id="6" name="Ready tickets, dependencies,&#10;capacity, recent worker re">
            <a:extLst xmlns:a="http://schemas.openxmlformats.org/drawingml/2006/main">
              <a:ext uri="{FF2B5EF4-FFF2-40B4-BE49-F238E27FC236}">
                <a16:creationId xmlns:a16="http://schemas.microsoft.com/office/drawing/2014/main" id="{DA4C54E9-C38C-4074-8925-448BF0238D91}"/>
              </a:ext>
            </a:extLst>
          </p:cNvPr>
          <p:cNvSpPr>
            <a:spLocks xmlns:a="http://schemas.openxmlformats.org/drawingml/2006/main" noGrp="1"/>
          </p:cNvSpPr>
          <p:nvPr/>
        </p:nvSpPr>
        <p:spPr>
          <a:xfrm xmlns:a="http://schemas.openxmlformats.org/drawingml/2006/main">
            <a:off x="609600" y="2828925"/>
            <a:ext cx="49053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Ready tickets, dependencies,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capacity, recent worker receipts.</a:t>
            </a:r>
          </a:p>
        </p:txBody>
      </p:sp>
      <p:sp>
        <p:nvSpPr>
          <p:cNvPr id="7" name="OUTPUT">
            <a:extLst xmlns:a="http://schemas.openxmlformats.org/drawingml/2006/main">
              <a:ext uri="{FF2B5EF4-FFF2-40B4-BE49-F238E27FC236}">
                <a16:creationId xmlns:a16="http://schemas.microsoft.com/office/drawing/2014/main" id="{603376B2-59D0-4708-8AFC-3D37AF65F398}"/>
              </a:ext>
            </a:extLst>
          </p:cNvPr>
          <p:cNvSpPr>
            <a:spLocks xmlns:a="http://schemas.openxmlformats.org/drawingml/2006/main" noGrp="1"/>
          </p:cNvSpPr>
          <p:nvPr/>
        </p:nvSpPr>
        <p:spPr>
          <a:xfrm xmlns:a="http://schemas.openxmlformats.org/drawingml/2006/main">
            <a:off x="609600" y="4362450"/>
            <a:ext cx="490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OUTPUT</a:t>
            </a:r>
          </a:p>
        </p:txBody>
      </p:sp>
      <p:sp>
        <p:nvSpPr>
          <p:cNvPr id="8" name="Dispatch instructions&#10;or a concrete reason to block.">
            <a:extLst xmlns:a="http://schemas.openxmlformats.org/drawingml/2006/main">
              <a:ext uri="{FF2B5EF4-FFF2-40B4-BE49-F238E27FC236}">
                <a16:creationId xmlns:a16="http://schemas.microsoft.com/office/drawing/2014/main" id="{9BE7E7A7-7D55-423B-A857-5BB5F2AB4441}"/>
              </a:ext>
            </a:extLst>
          </p:cNvPr>
          <p:cNvSpPr>
            <a:spLocks xmlns:a="http://schemas.openxmlformats.org/drawingml/2006/main" noGrp="1"/>
          </p:cNvSpPr>
          <p:nvPr/>
        </p:nvSpPr>
        <p:spPr>
          <a:xfrm xmlns:a="http://schemas.openxmlformats.org/drawingml/2006/main">
            <a:off x="609600" y="4714875"/>
            <a:ext cx="49053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Dispatch instructions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or a concrete reason to block.</a:t>
            </a:r>
          </a:p>
        </p:txBody>
      </p:sp>
      <p:sp>
        <p:nvSpPr>
          <p:cNvPr id="9" name="INPUT">
            <a:extLst xmlns:a="http://schemas.openxmlformats.org/drawingml/2006/main">
              <a:ext uri="{FF2B5EF4-FFF2-40B4-BE49-F238E27FC236}">
                <a16:creationId xmlns:a16="http://schemas.microsoft.com/office/drawing/2014/main" id="{53A415BE-1CE8-4610-95E3-1C27CC0667A1}"/>
              </a:ext>
            </a:extLst>
          </p:cNvPr>
          <p:cNvSpPr>
            <a:spLocks xmlns:a="http://schemas.openxmlformats.org/drawingml/2006/main" noGrp="1"/>
          </p:cNvSpPr>
          <p:nvPr/>
        </p:nvSpPr>
        <p:spPr>
          <a:xfrm xmlns:a="http://schemas.openxmlformats.org/drawingml/2006/main">
            <a:off x="6324600" y="2476500"/>
            <a:ext cx="490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INPUT</a:t>
            </a:r>
          </a:p>
        </p:txBody>
      </p:sp>
      <p:sp>
        <p:nvSpPr>
          <p:cNvPr id="10" name="Approved candidate, gates,&#10;review evidence, unresolved ">
            <a:extLst xmlns:a="http://schemas.openxmlformats.org/drawingml/2006/main">
              <a:ext uri="{FF2B5EF4-FFF2-40B4-BE49-F238E27FC236}">
                <a16:creationId xmlns:a16="http://schemas.microsoft.com/office/drawing/2014/main" id="{BC582E94-0F14-4883-991A-487C17C5D848}"/>
              </a:ext>
            </a:extLst>
          </p:cNvPr>
          <p:cNvSpPr>
            <a:spLocks xmlns:a="http://schemas.openxmlformats.org/drawingml/2006/main" noGrp="1"/>
          </p:cNvSpPr>
          <p:nvPr/>
        </p:nvSpPr>
        <p:spPr>
          <a:xfrm xmlns:a="http://schemas.openxmlformats.org/drawingml/2006/main">
            <a:off x="6324600" y="2828925"/>
            <a:ext cx="49053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Approved candidate, gates,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review evidence, unresolved risks.</a:t>
            </a:r>
          </a:p>
        </p:txBody>
      </p:sp>
      <p:sp>
        <p:nvSpPr>
          <p:cNvPr id="11" name="OUTPUT">
            <a:extLst xmlns:a="http://schemas.openxmlformats.org/drawingml/2006/main">
              <a:ext uri="{FF2B5EF4-FFF2-40B4-BE49-F238E27FC236}">
                <a16:creationId xmlns:a16="http://schemas.microsoft.com/office/drawing/2014/main" id="{56EA5F1F-DF7C-47A7-8C4A-80372DAED6FC}"/>
              </a:ext>
            </a:extLst>
          </p:cNvPr>
          <p:cNvSpPr>
            <a:spLocks xmlns:a="http://schemas.openxmlformats.org/drawingml/2006/main" noGrp="1"/>
          </p:cNvSpPr>
          <p:nvPr/>
        </p:nvSpPr>
        <p:spPr>
          <a:xfrm xmlns:a="http://schemas.openxmlformats.org/drawingml/2006/main">
            <a:off x="6324600" y="4362450"/>
            <a:ext cx="4905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006CA5"/>
                </a:solidFill>
                <a:latin typeface="Helvetica Neue"/>
                <a:ea typeface="Helvetica Neue"/>
                <a:cs typeface="Helvetica Neue"/>
              </a:defRPr>
            </a:pPr>
            <a:r>
              <a:rPr sz="1575" b="1">
                <a:solidFill>
                  <a:srgbClr val="006CA5"/>
                </a:solidFill>
                <a:latin typeface="Helvetica Neue"/>
                <a:ea typeface="Helvetica Neue"/>
                <a:cs typeface="Helvetica Neue"/>
              </a:rPr>
              <a:t>OUTPUT</a:t>
            </a:r>
          </a:p>
        </p:txBody>
      </p:sp>
      <p:sp>
        <p:nvSpPr>
          <p:cNvPr id="12" name="MERGE or BLOCK recommendation&#10;for the named candidate.">
            <a:extLst xmlns:a="http://schemas.openxmlformats.org/drawingml/2006/main">
              <a:ext uri="{FF2B5EF4-FFF2-40B4-BE49-F238E27FC236}">
                <a16:creationId xmlns:a16="http://schemas.microsoft.com/office/drawing/2014/main" id="{C67A797D-F4EC-4EA4-A59F-3446350043FE}"/>
              </a:ext>
            </a:extLst>
          </p:cNvPr>
          <p:cNvSpPr>
            <a:spLocks xmlns:a="http://schemas.openxmlformats.org/drawingml/2006/main" noGrp="1"/>
          </p:cNvSpPr>
          <p:nvPr/>
        </p:nvSpPr>
        <p:spPr>
          <a:xfrm xmlns:a="http://schemas.openxmlformats.org/drawingml/2006/main">
            <a:off x="6324600" y="4714875"/>
            <a:ext cx="49053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MERGE or BLOCK recommendation</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for the named candidate.</a:t>
            </a:r>
          </a:p>
        </p:txBody>
      </p:sp>
    </p:spTree>
    <p:extLst>
      <p:ext uri="{BB962C8B-B14F-4D97-AF65-F5344CB8AC3E}">
        <p14:creationId xmlns:p14="http://schemas.microsoft.com/office/powerpoint/2010/main" val="96697625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Additional agent roles">
            <a:extLst xmlns:a="http://schemas.openxmlformats.org/drawingml/2006/main">
              <a:ext uri="{FF2B5EF4-FFF2-40B4-BE49-F238E27FC236}">
                <a16:creationId xmlns:a16="http://schemas.microsoft.com/office/drawing/2014/main" id="{7CD6AB2A-61D7-4381-BFD1-AB3B4BBE0B53}"/>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Additional agent roles</a:t>
            </a:r>
          </a:p>
        </p:txBody>
      </p:sp>
      <p:sp>
        <p:nvSpPr>
          <p:cNvPr id="2" name="21">
            <a:extLst xmlns:a="http://schemas.openxmlformats.org/drawingml/2006/main">
              <a:ext uri="{FF2B5EF4-FFF2-40B4-BE49-F238E27FC236}">
                <a16:creationId xmlns:a16="http://schemas.microsoft.com/office/drawing/2014/main" id="{9C09F4A8-2514-4970-9D6D-4B0A17501424}"/>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21</a:t>
            </a:r>
          </a:p>
        </p:txBody>
      </p:sp>
      <p:graphicFrame>
        <p:nvGraphicFramePr>
          <p:cNvPr id="7" name=""/>
          <p:cNvGraphicFramePr/>
          <p:nvPr/>
        </p:nvGraphicFramePr>
        <p:xfrm>
          <a:off xmlns:a="http://schemas.openxmlformats.org/drawingml/2006/main" x="609600" y="1666875"/>
          <a:ext xmlns:a="http://schemas.openxmlformats.org/drawingml/2006/main" cx="10972800" cy="3933825"/>
        </p:xfrm>
        <a:graphic xmlns:a="http://schemas.openxmlformats.org/drawingml/2006/main">
          <a:graphicData uri="http://schemas.openxmlformats.org/drawingml/2006/table">
            <a:tbl>
              <a:tblPr/>
              <a:tblGrid>
                <a:gridCol w="3095625"/>
                <a:gridCol w="5038725"/>
                <a:gridCol w="2838450"/>
              </a:tblGrid>
              <a:tr h="655638">
                <a:tc>
                  <a:txBody>
                    <a:bodyPr>
                      <a:noAutofit/>
                    </a:bodyPr>
                    <a:lstStyle/>
                    <a:p>
                      <a:r>
                        <a:rPr sz="1800" b="1">
                          <a:solidFill>
                            <a:srgbClr val="006CA5"/>
                          </a:solidFill>
                          <a:latin typeface="Helvetica Neue"/>
                          <a:ea typeface="Helvetica Neue"/>
                          <a:cs typeface="Helvetica Neue"/>
                        </a:rPr>
                        <a:t>Role</a:t>
                      </a:r>
                    </a:p>
                  </a:txBody>
                  <a:tcPr marL="152400" marR="133350" marT="114300" marB="95250" anchor="ctr">
                    <a:solidFill>
                      <a:srgbClr val="EAF3F8"/>
                    </a:solidFill>
                  </a:tcPr>
                </a:tc>
                <a:tc>
                  <a:txBody>
                    <a:bodyPr>
                      <a:noAutofit/>
                    </a:bodyPr>
                    <a:lstStyle/>
                    <a:p>
                      <a:r>
                        <a:rPr sz="1800" b="1">
                          <a:solidFill>
                            <a:srgbClr val="006CA5"/>
                          </a:solidFill>
                          <a:latin typeface="Helvetica Neue"/>
                          <a:ea typeface="Helvetica Neue"/>
                          <a:cs typeface="Helvetica Neue"/>
                        </a:rPr>
                        <a:t>Task</a:t>
                      </a:r>
                    </a:p>
                  </a:txBody>
                  <a:tcPr marL="152400" marR="133350" marT="114300" marB="95250" anchor="ctr">
                    <a:solidFill>
                      <a:srgbClr val="EAF3F8"/>
                    </a:solidFill>
                  </a:tcPr>
                </a:tc>
                <a:tc>
                  <a:txBody>
                    <a:bodyPr>
                      <a:noAutofit/>
                    </a:bodyPr>
                    <a:lstStyle/>
                    <a:p>
                      <a:r>
                        <a:rPr sz="1800" b="1">
                          <a:solidFill>
                            <a:srgbClr val="006CA5"/>
                          </a:solidFill>
                          <a:latin typeface="Helvetica Neue"/>
                          <a:ea typeface="Helvetica Neue"/>
                          <a:cs typeface="Helvetica Neue"/>
                        </a:rPr>
                        <a:t>Output</a:t>
                      </a:r>
                    </a:p>
                  </a:txBody>
                  <a:tcPr marL="152400" marR="133350" marT="114300" marB="95250" anchor="ctr">
                    <a:solidFill>
                      <a:srgbClr val="EAF3F8"/>
                    </a:solidFill>
                  </a:tcPr>
                </a:tc>
              </a:tr>
              <a:tr h="655638">
                <a:tc>
                  <a:txBody>
                    <a:bodyPr>
                      <a:noAutofit/>
                    </a:bodyPr>
                    <a:lstStyle/>
                    <a:p>
                      <a:r>
                        <a:rPr sz="1800" b="0">
                          <a:solidFill>
                            <a:srgbClr val="152A3A"/>
                          </a:solidFill>
                          <a:latin typeface="Helvetica Neue"/>
                          <a:ea typeface="Helvetica Neue"/>
                          <a:cs typeface="Helvetica Neue"/>
                        </a:rPr>
                        <a:t>Cleanup</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Improve readability within the ticket diff</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Changes and verdict</a:t>
                      </a:r>
                    </a:p>
                  </a:txBody>
                  <a:tcPr marL="152400" marR="133350" marT="114300" marB="95250" anchor="ctr">
                    <a:solidFill>
                      <a:srgbClr val="FFFFFF"/>
                    </a:solidFill>
                  </a:tcPr>
                </a:tc>
              </a:tr>
              <a:tr h="655638">
                <a:tc>
                  <a:txBody>
                    <a:bodyPr>
                      <a:noAutofit/>
                    </a:bodyPr>
                    <a:lstStyle/>
                    <a:p>
                      <a:r>
                        <a:rPr sz="1800" b="0">
                          <a:solidFill>
                            <a:srgbClr val="152A3A"/>
                          </a:solidFill>
                          <a:latin typeface="Helvetica Neue"/>
                          <a:ea typeface="Helvetica Neue"/>
                          <a:cs typeface="Helvetica Neue"/>
                        </a:rPr>
                        <a:t>Architecture Conformance</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Compare implementation with contracts</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Read-only verdict</a:t>
                      </a:r>
                    </a:p>
                  </a:txBody>
                  <a:tcPr marL="152400" marR="133350" marT="114300" marB="95250" anchor="ctr">
                    <a:solidFill>
                      <a:srgbClr val="FFFFFF"/>
                    </a:solidFill>
                  </a:tcPr>
                </a:tc>
              </a:tr>
              <a:tr h="655638">
                <a:tc>
                  <a:txBody>
                    <a:bodyPr>
                      <a:noAutofit/>
                    </a:bodyPr>
                    <a:lstStyle/>
                    <a:p>
                      <a:r>
                        <a:rPr sz="1800" b="0">
                          <a:solidFill>
                            <a:srgbClr val="152A3A"/>
                          </a:solidFill>
                          <a:latin typeface="Helvetica Neue"/>
                          <a:ea typeface="Helvetica Neue"/>
                          <a:cs typeface="Helvetica Neue"/>
                        </a:rPr>
                        <a:t>Hardening</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Address reliability or security risks</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Changes and verdict</a:t>
                      </a:r>
                    </a:p>
                  </a:txBody>
                  <a:tcPr marL="152400" marR="133350" marT="114300" marB="95250" anchor="ctr">
                    <a:solidFill>
                      <a:srgbClr val="FFFFFF"/>
                    </a:solidFill>
                  </a:tcPr>
                </a:tc>
              </a:tr>
              <a:tr h="655638">
                <a:tc>
                  <a:txBody>
                    <a:bodyPr>
                      <a:noAutofit/>
                    </a:bodyPr>
                    <a:lstStyle/>
                    <a:p>
                      <a:r>
                        <a:rPr sz="1800" b="0">
                          <a:solidFill>
                            <a:srgbClr val="152A3A"/>
                          </a:solidFill>
                          <a:latin typeface="Helvetica Neue"/>
                          <a:ea typeface="Helvetica Neue"/>
                          <a:cs typeface="Helvetica Neue"/>
                        </a:rPr>
                        <a:t>Critic</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Challenge assumptions and missing tests</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Findings and verdict</a:t>
                      </a:r>
                    </a:p>
                  </a:txBody>
                  <a:tcPr marL="152400" marR="133350" marT="114300" marB="95250" anchor="ctr">
                    <a:solidFill>
                      <a:srgbClr val="FFFFFF"/>
                    </a:solidFill>
                  </a:tcPr>
                </a:tc>
              </a:tr>
              <a:tr h="655638">
                <a:tc>
                  <a:txBody>
                    <a:bodyPr>
                      <a:noAutofit/>
                    </a:bodyPr>
                    <a:lstStyle/>
                    <a:p>
                      <a:r>
                        <a:rPr sz="1800" b="0">
                          <a:solidFill>
                            <a:srgbClr val="152A3A"/>
                          </a:solidFill>
                          <a:latin typeface="Helvetica Neue"/>
                          <a:ea typeface="Helvetica Neue"/>
                          <a:cs typeface="Helvetica Neue"/>
                        </a:rPr>
                        <a:t>Final Verifier</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Assess requirements, policy and evidence</a:t>
                      </a:r>
                    </a:p>
                  </a:txBody>
                  <a:tcPr marL="152400" marR="133350" marT="114300" marB="95250" anchor="ctr">
                    <a:solidFill>
                      <a:srgbClr val="FFFFFF"/>
                    </a:solidFill>
                  </a:tcPr>
                </a:tc>
                <a:tc>
                  <a:txBody>
                    <a:bodyPr>
                      <a:noAutofit/>
                    </a:bodyPr>
                    <a:lstStyle/>
                    <a:p>
                      <a:r>
                        <a:rPr sz="1800" b="0">
                          <a:solidFill>
                            <a:srgbClr val="152A3A"/>
                          </a:solidFill>
                          <a:latin typeface="Helvetica Neue"/>
                          <a:ea typeface="Helvetica Neue"/>
                          <a:cs typeface="Helvetica Neue"/>
                        </a:rPr>
                        <a:t>Read-only verdict</a:t>
                      </a:r>
                    </a:p>
                  </a:txBody>
                  <a:tcPr marL="152400" marR="133350" marT="114300" marB="95250" anchor="ctr">
                    <a:solidFill>
                      <a:srgbClr val="FFFFFF"/>
                    </a:solidFill>
                  </a:tcPr>
                </a:tc>
              </a:tr>
            </a:tbl>
          </a:graphicData>
        </a:graphic>
      </p:graphicFrame>
      <p:sp>
        <p:nvSpPr>
          <p:cNvPr id="4" name="Assured also runs negative proof: remove production cha">
            <a:extLst xmlns:a="http://schemas.openxmlformats.org/drawingml/2006/main">
              <a:ext uri="{FF2B5EF4-FFF2-40B4-BE49-F238E27FC236}">
                <a16:creationId xmlns:a16="http://schemas.microsoft.com/office/drawing/2014/main" id="{014B8DC4-53AE-4ED9-AA2D-4534C095D489}"/>
              </a:ext>
            </a:extLst>
          </p:cNvPr>
          <p:cNvSpPr>
            <a:spLocks xmlns:a="http://schemas.openxmlformats.org/drawingml/2006/main" noGrp="1"/>
          </p:cNvSpPr>
          <p:nvPr/>
        </p:nvSpPr>
        <p:spPr>
          <a:xfrm xmlns:a="http://schemas.openxmlformats.org/drawingml/2006/main">
            <a:off x="609600" y="57912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6CA5"/>
                </a:solidFill>
                <a:latin typeface="Helvetica Neue"/>
                <a:ea typeface="Helvetica Neue"/>
                <a:cs typeface="Helvetica Neue"/>
              </a:defRPr>
            </a:pPr>
            <a:r>
              <a:rPr sz="1875" b="0">
                <a:solidFill>
                  <a:srgbClr val="006CA5"/>
                </a:solidFill>
                <a:latin typeface="Helvetica Neue"/>
                <a:ea typeface="Helvetica Neue"/>
                <a:cs typeface="Helvetica Neue"/>
              </a:rPr>
              <a:t>Assured also runs negative proof: remove production changes</a:t>
            </a:r>
          </a:p>
          <a:p xmlns:a="http://schemas.openxmlformats.org/drawingml/2006/main">
            <a:pPr>
              <a:defRPr sz="1875" b="0">
                <a:solidFill>
                  <a:srgbClr val="006CA5"/>
                </a:solidFill>
                <a:latin typeface="Helvetica Neue"/>
                <a:ea typeface="Helvetica Neue"/>
                <a:cs typeface="Helvetica Neue"/>
              </a:defRPr>
            </a:pPr>
            <a:r>
              <a:rPr sz="1875" b="0">
                <a:solidFill>
                  <a:srgbClr val="006CA5"/>
                </a:solidFill>
                <a:latin typeface="Helvetica Neue"/>
                <a:ea typeface="Helvetica Neue"/>
                <a:cs typeface="Helvetica Neue"/>
              </a:rPr>
              <a:t>in a disposable worktree and expect the test to fail again.</a:t>
            </a:r>
          </a:p>
        </p:txBody>
      </p:sp>
    </p:spTree>
    <p:extLst>
      <p:ext uri="{BB962C8B-B14F-4D97-AF65-F5344CB8AC3E}">
        <p14:creationId xmlns:p14="http://schemas.microsoft.com/office/powerpoint/2010/main" val="90463256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e prompt for one assignment">
            <a:extLst xmlns:a="http://schemas.openxmlformats.org/drawingml/2006/main">
              <a:ext uri="{FF2B5EF4-FFF2-40B4-BE49-F238E27FC236}">
                <a16:creationId xmlns:a16="http://schemas.microsoft.com/office/drawing/2014/main" id="{83F3DC5A-FE5A-4E5F-A608-10D969FC2974}"/>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The prompt for one assignment</a:t>
            </a:r>
          </a:p>
        </p:txBody>
      </p:sp>
      <p:sp>
        <p:nvSpPr>
          <p:cNvPr id="2" name="22">
            <a:extLst xmlns:a="http://schemas.openxmlformats.org/drawingml/2006/main">
              <a:ext uri="{FF2B5EF4-FFF2-40B4-BE49-F238E27FC236}">
                <a16:creationId xmlns:a16="http://schemas.microsoft.com/office/drawing/2014/main" id="{5C7C2D80-268D-4A7B-911B-5422F505E53C}"/>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22</a:t>
            </a:r>
          </a:p>
        </p:txBody>
      </p:sp>
      <p:sp>
        <p:nvSpPr>
          <p:cNvPr id="3" name="Role instruction">
            <a:extLst xmlns:a="http://schemas.openxmlformats.org/drawingml/2006/main">
              <a:ext uri="{FF2B5EF4-FFF2-40B4-BE49-F238E27FC236}">
                <a16:creationId xmlns:a16="http://schemas.microsoft.com/office/drawing/2014/main" id="{FCD9E678-679A-421E-ADBC-892823928B67}"/>
              </a:ext>
            </a:extLst>
          </p:cNvPr>
          <p:cNvSpPr>
            <a:spLocks xmlns:a="http://schemas.openxmlformats.org/drawingml/2006/main" noGrp="1"/>
          </p:cNvSpPr>
          <p:nvPr/>
        </p:nvSpPr>
        <p:spPr>
          <a:xfrm xmlns:a="http://schemas.openxmlformats.org/drawingml/2006/main">
            <a:off x="609600" y="174307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Role instruction</a:t>
            </a:r>
          </a:p>
        </p:txBody>
      </p:sp>
      <p:sp>
        <p:nvSpPr>
          <p:cNvPr id="4" name="Ticket or planning artifact&#10;Repository context and appr">
            <a:extLst xmlns:a="http://schemas.openxmlformats.org/drawingml/2006/main">
              <a:ext uri="{FF2B5EF4-FFF2-40B4-BE49-F238E27FC236}">
                <a16:creationId xmlns:a16="http://schemas.microsoft.com/office/drawing/2014/main" id="{34A66488-DA3C-4320-925E-BB4E6CD91894}"/>
              </a:ext>
            </a:extLst>
          </p:cNvPr>
          <p:cNvSpPr>
            <a:spLocks xmlns:a="http://schemas.openxmlformats.org/drawingml/2006/main" noGrp="1"/>
          </p:cNvSpPr>
          <p:nvPr/>
        </p:nvSpPr>
        <p:spPr>
          <a:xfrm xmlns:a="http://schemas.openxmlformats.org/drawingml/2006/main">
            <a:off x="609600" y="2571750"/>
            <a:ext cx="63150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Ticket or planning artifact</a:t>
            </a:r>
          </a:p>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Repository context and approved policy</a:t>
            </a:r>
          </a:p>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Expected output and evidence</a:t>
            </a:r>
          </a:p>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Feedback from the previous attempt</a:t>
            </a:r>
          </a:p>
        </p:txBody>
      </p:sp>
      <p:sp>
        <p:nvSpPr>
          <p:cNvPr id="5" name="“Return only JSON matching&#10;the supplied schema.”">
            <a:extLst xmlns:a="http://schemas.openxmlformats.org/drawingml/2006/main">
              <a:ext uri="{FF2B5EF4-FFF2-40B4-BE49-F238E27FC236}">
                <a16:creationId xmlns:a16="http://schemas.microsoft.com/office/drawing/2014/main" id="{37E3C053-D9B4-42E9-9C1D-06A372865E0F}"/>
              </a:ext>
            </a:extLst>
          </p:cNvPr>
          <p:cNvSpPr>
            <a:spLocks xmlns:a="http://schemas.openxmlformats.org/drawingml/2006/main" noGrp="1"/>
          </p:cNvSpPr>
          <p:nvPr/>
        </p:nvSpPr>
        <p:spPr>
          <a:xfrm xmlns:a="http://schemas.openxmlformats.org/drawingml/2006/main">
            <a:off x="7543800" y="2352675"/>
            <a:ext cx="39719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52A3A"/>
                </a:solidFill>
                <a:latin typeface="Helvetica Neue"/>
                <a:ea typeface="Helvetica Neue"/>
                <a:cs typeface="Helvetica Neue"/>
              </a:defRPr>
            </a:pPr>
            <a:r>
              <a:rPr sz="2700" b="0">
                <a:solidFill>
                  <a:srgbClr val="152A3A"/>
                </a:solidFill>
                <a:latin typeface="Helvetica Neue"/>
                <a:ea typeface="Helvetica Neue"/>
                <a:cs typeface="Helvetica Neue"/>
              </a:rPr>
              <a:t>“Return only JSON matching</a:t>
            </a:r>
          </a:p>
          <a:p xmlns:a="http://schemas.openxmlformats.org/drawingml/2006/main">
            <a:pPr>
              <a:defRPr sz="2700" b="0">
                <a:solidFill>
                  <a:srgbClr val="152A3A"/>
                </a:solidFill>
                <a:latin typeface="Helvetica Neue"/>
                <a:ea typeface="Helvetica Neue"/>
                <a:cs typeface="Helvetica Neue"/>
              </a:defRPr>
            </a:pPr>
            <a:r>
              <a:rPr sz="2700" b="0">
                <a:solidFill>
                  <a:srgbClr val="152A3A"/>
                </a:solidFill>
                <a:latin typeface="Helvetica Neue"/>
                <a:ea typeface="Helvetica Neue"/>
                <a:cs typeface="Helvetica Neue"/>
              </a:rPr>
              <a:t>the supplied schema.”</a:t>
            </a:r>
          </a:p>
        </p:txBody>
      </p:sp>
      <p:sp>
        <p:nvSpPr>
          <p:cNvPr id="6" name="Planning prompt excerpt">
            <a:extLst xmlns:a="http://schemas.openxmlformats.org/drawingml/2006/main">
              <a:ext uri="{FF2B5EF4-FFF2-40B4-BE49-F238E27FC236}">
                <a16:creationId xmlns:a16="http://schemas.microsoft.com/office/drawing/2014/main" id="{FB34450E-07A3-4AC5-A70D-C7AFA2A68B88}"/>
              </a:ext>
            </a:extLst>
          </p:cNvPr>
          <p:cNvSpPr>
            <a:spLocks xmlns:a="http://schemas.openxmlformats.org/drawingml/2006/main" noGrp="1"/>
          </p:cNvSpPr>
          <p:nvPr/>
        </p:nvSpPr>
        <p:spPr>
          <a:xfrm xmlns:a="http://schemas.openxmlformats.org/drawingml/2006/main">
            <a:off x="7543800" y="4133850"/>
            <a:ext cx="3943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7"/>
                </a:solidFill>
                <a:latin typeface="Helvetica Neue"/>
                <a:ea typeface="Helvetica Neue"/>
                <a:cs typeface="Helvetica Neue"/>
              </a:defRPr>
            </a:pPr>
            <a:r>
              <a:rPr sz="1800" b="0">
                <a:solidFill>
                  <a:srgbClr val="526777"/>
                </a:solidFill>
                <a:latin typeface="Helvetica Neue"/>
                <a:ea typeface="Helvetica Neue"/>
                <a:cs typeface="Helvetica Neue"/>
              </a:rPr>
              <a:t>Planning prompt excerpt</a:t>
            </a:r>
          </a:p>
        </p:txBody>
      </p:sp>
      <p:sp>
        <p:nvSpPr>
          <p:cNvPr id="7" name="One provider can fill several roles through separate in">
            <a:extLst xmlns:a="http://schemas.openxmlformats.org/drawingml/2006/main">
              <a:ext uri="{FF2B5EF4-FFF2-40B4-BE49-F238E27FC236}">
                <a16:creationId xmlns:a16="http://schemas.microsoft.com/office/drawing/2014/main" id="{F5859094-C4D2-4841-B377-D780591EA9A6}"/>
              </a:ext>
            </a:extLst>
          </p:cNvPr>
          <p:cNvSpPr>
            <a:spLocks xmlns:a="http://schemas.openxmlformats.org/drawingml/2006/main" noGrp="1"/>
          </p:cNvSpPr>
          <p:nvPr/>
        </p:nvSpPr>
        <p:spPr>
          <a:xfrm xmlns:a="http://schemas.openxmlformats.org/drawingml/2006/main">
            <a:off x="609600" y="56959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06CA5"/>
                </a:solidFill>
                <a:latin typeface="Helvetica Neue"/>
                <a:ea typeface="Helvetica Neue"/>
                <a:cs typeface="Helvetica Neue"/>
              </a:defRPr>
            </a:pPr>
            <a:r>
              <a:rPr sz="2175" b="0">
                <a:solidFill>
                  <a:srgbClr val="006CA5"/>
                </a:solidFill>
                <a:latin typeface="Helvetica Neue"/>
                <a:ea typeface="Helvetica Neue"/>
                <a:cs typeface="Helvetica Neue"/>
              </a:rPr>
              <a:t>One provider can fill several roles through separate invocations.</a:t>
            </a:r>
          </a:p>
        </p:txBody>
      </p:sp>
    </p:spTree>
    <p:extLst>
      <p:ext uri="{BB962C8B-B14F-4D97-AF65-F5344CB8AC3E}">
        <p14:creationId xmlns:p14="http://schemas.microsoft.com/office/powerpoint/2010/main" val="70983303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nspecting a run">
            <a:extLst xmlns:a="http://schemas.openxmlformats.org/drawingml/2006/main">
              <a:ext uri="{FF2B5EF4-FFF2-40B4-BE49-F238E27FC236}">
                <a16:creationId xmlns:a16="http://schemas.microsoft.com/office/drawing/2014/main" id="{B796AACC-2679-44B4-AE71-C390B0135541}"/>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Inspecting a run</a:t>
            </a:r>
          </a:p>
        </p:txBody>
      </p:sp>
      <p:sp>
        <p:nvSpPr>
          <p:cNvPr id="2" name="23">
            <a:extLst xmlns:a="http://schemas.openxmlformats.org/drawingml/2006/main">
              <a:ext uri="{FF2B5EF4-FFF2-40B4-BE49-F238E27FC236}">
                <a16:creationId xmlns:a16="http://schemas.microsoft.com/office/drawing/2014/main" id="{5590A6F4-A02C-44E3-891E-7F6FA0122436}"/>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23</a:t>
            </a:r>
          </a:p>
        </p:txBody>
      </p:sp>
      <p:sp>
        <p:nvSpPr>
          <p:cNvPr id="3" name="In the target repository">
            <a:extLst xmlns:a="http://schemas.openxmlformats.org/drawingml/2006/main">
              <a:ext uri="{FF2B5EF4-FFF2-40B4-BE49-F238E27FC236}">
                <a16:creationId xmlns:a16="http://schemas.microsoft.com/office/drawing/2014/main" id="{32FE8526-3C1B-43B0-8C3C-637B46BDF0FB}"/>
              </a:ext>
            </a:extLst>
          </p:cNvPr>
          <p:cNvSpPr>
            <a:spLocks xmlns:a="http://schemas.openxmlformats.org/drawingml/2006/main" noGrp="1"/>
          </p:cNvSpPr>
          <p:nvPr/>
        </p:nvSpPr>
        <p:spPr>
          <a:xfrm xmlns:a="http://schemas.openxmlformats.org/drawingml/2006/main">
            <a:off x="609600" y="161925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In the target repository</a:t>
            </a:r>
          </a:p>
        </p:txBody>
      </p:sp>
      <p:sp>
        <p:nvSpPr>
          <p:cNvPr id="4" name=".factory/prompts&#10;.factory/logs&#10;.factory/receipts&#10;.facto">
            <a:extLst xmlns:a="http://schemas.openxmlformats.org/drawingml/2006/main">
              <a:ext uri="{FF2B5EF4-FFF2-40B4-BE49-F238E27FC236}">
                <a16:creationId xmlns:a16="http://schemas.microsoft.com/office/drawing/2014/main" id="{4ACBBD3D-3ED2-48CB-9D54-DBF1A85719C7}"/>
              </a:ext>
            </a:extLst>
          </p:cNvPr>
          <p:cNvSpPr>
            <a:spLocks xmlns:a="http://schemas.openxmlformats.org/drawingml/2006/main" noGrp="1"/>
          </p:cNvSpPr>
          <p:nvPr/>
        </p:nvSpPr>
        <p:spPr>
          <a:xfrm xmlns:a="http://schemas.openxmlformats.org/drawingml/2006/main">
            <a:off x="609600" y="2476500"/>
            <a:ext cx="41148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.factory/prompts</a:t>
            </a:r>
          </a:p>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.factory/logs</a:t>
            </a:r>
          </a:p>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.factory/receipts</a:t>
            </a:r>
          </a:p>
          <a:p xmlns:a="http://schemas.openxmlformats.org/drawingml/2006/main">
            <a:pPr>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.factory/reviews</a:t>
            </a:r>
          </a:p>
        </p:txBody>
      </p:sp>
      <p:sp>
        <p:nvSpPr>
          <p:cNvPr id="5" name="Match the role, attempt,&#10;and candidate revision.">
            <a:extLst xmlns:a="http://schemas.openxmlformats.org/drawingml/2006/main">
              <a:ext uri="{FF2B5EF4-FFF2-40B4-BE49-F238E27FC236}">
                <a16:creationId xmlns:a16="http://schemas.microsoft.com/office/drawing/2014/main" id="{4C4A9A4A-5CB9-4100-B3D5-08251C510B5C}"/>
              </a:ext>
            </a:extLst>
          </p:cNvPr>
          <p:cNvSpPr>
            <a:spLocks xmlns:a="http://schemas.openxmlformats.org/drawingml/2006/main" noGrp="1"/>
          </p:cNvSpPr>
          <p:nvPr/>
        </p:nvSpPr>
        <p:spPr>
          <a:xfrm xmlns:a="http://schemas.openxmlformats.org/drawingml/2006/main">
            <a:off x="609600" y="5267325"/>
            <a:ext cx="42100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Match the role, attempt,</a:t>
            </a:r>
          </a:p>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and candidate revision.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b570c41e4c24e74"/>
          <a:stretch xmlns:a="http://schemas.openxmlformats.org/drawingml/2006/main"/>
        </p:blipFill>
        <p:spPr>
          <a:xfrm xmlns:a="http://schemas.openxmlformats.org/drawingml/2006/main">
            <a:off x="5121729" y="1562100"/>
            <a:ext cx="6368143" cy="4333875"/>
          </a:xfrm>
          <a:prstGeom xmlns:a="http://schemas.openxmlformats.org/drawingml/2006/main" prst="rect">
            <a:avLst/>
          </a:prstGeom>
        </p:spPr>
      </p:pic>
    </p:spTree>
    <p:extLst>
      <p:ext uri="{BB962C8B-B14F-4D97-AF65-F5344CB8AC3E}">
        <p14:creationId xmlns:p14="http://schemas.microsoft.com/office/powerpoint/2010/main" val="189903996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pplying the workflow to your team">
            <a:extLst xmlns:a="http://schemas.openxmlformats.org/drawingml/2006/main">
              <a:ext uri="{FF2B5EF4-FFF2-40B4-BE49-F238E27FC236}">
                <a16:creationId xmlns:a16="http://schemas.microsoft.com/office/drawing/2014/main" id="{C1E1A1C7-F95E-4C38-9D74-91E5374AD52F}"/>
              </a:ext>
            </a:extLst>
          </p:cNvPr>
          <p:cNvSpPr>
            <a:spLocks xmlns:a="http://schemas.openxmlformats.org/drawingml/2006/main" noGrp="1"/>
          </p:cNvSpPr>
          <p:nvPr/>
        </p:nvSpPr>
        <p:spPr>
          <a:xfrm xmlns:a="http://schemas.openxmlformats.org/drawingml/2006/main">
            <a:off x="609600" y="428625"/>
            <a:ext cx="10906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A3A"/>
                </a:solidFill>
                <a:latin typeface="Helvetica Neue"/>
                <a:ea typeface="Helvetica Neue"/>
                <a:cs typeface="Helvetica Neue"/>
              </a:defRPr>
            </a:pPr>
            <a:r>
              <a:rPr sz="3300" b="1">
                <a:solidFill>
                  <a:srgbClr val="152A3A"/>
                </a:solidFill>
                <a:latin typeface="Helvetica Neue"/>
                <a:ea typeface="Helvetica Neue"/>
                <a:cs typeface="Helvetica Neue"/>
              </a:rPr>
              <a:t>Applying the workflow to your team</a:t>
            </a:r>
          </a:p>
        </p:txBody>
      </p:sp>
      <p:sp>
        <p:nvSpPr>
          <p:cNvPr id="2" name="24">
            <a:extLst xmlns:a="http://schemas.openxmlformats.org/drawingml/2006/main">
              <a:ext uri="{FF2B5EF4-FFF2-40B4-BE49-F238E27FC236}">
                <a16:creationId xmlns:a16="http://schemas.microsoft.com/office/drawing/2014/main" id="{D14EEF48-9954-40B4-83CC-99F66889A13A}"/>
              </a:ext>
            </a:extLst>
          </p:cNvPr>
          <p:cNvSpPr>
            <a:spLocks xmlns:a="http://schemas.openxmlformats.org/drawingml/2006/main" noGrp="1"/>
          </p:cNvSpPr>
          <p:nvPr/>
        </p:nvSpPr>
        <p:spPr>
          <a:xfrm xmlns:a="http://schemas.openxmlformats.org/drawingml/2006/main">
            <a:off x="11144250" y="636270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777"/>
                </a:solidFill>
                <a:latin typeface="Helvetica Neue"/>
                <a:ea typeface="Helvetica Neue"/>
                <a:cs typeface="Helvetica Neue"/>
              </a:defRPr>
            </a:pPr>
            <a:r>
              <a:rPr sz="1350" b="0">
                <a:solidFill>
                  <a:srgbClr val="526777"/>
                </a:solidFill>
                <a:latin typeface="Helvetica Neue"/>
                <a:ea typeface="Helvetica Neue"/>
                <a:cs typeface="Helvetica Neue"/>
              </a:rPr>
              <a:t>24</a:t>
            </a:r>
          </a:p>
        </p:txBody>
      </p:sp>
      <p:sp>
        <p:nvSpPr>
          <p:cNvPr id="3" name="Choose one change in your own repository.">
            <a:extLst xmlns:a="http://schemas.openxmlformats.org/drawingml/2006/main">
              <a:ext uri="{FF2B5EF4-FFF2-40B4-BE49-F238E27FC236}">
                <a16:creationId xmlns:a16="http://schemas.microsoft.com/office/drawing/2014/main" id="{AA780D76-3C29-4D7F-A785-1202D02B114D}"/>
              </a:ext>
            </a:extLst>
          </p:cNvPr>
          <p:cNvSpPr>
            <a:spLocks xmlns:a="http://schemas.openxmlformats.org/drawingml/2006/main" noGrp="1"/>
          </p:cNvSpPr>
          <p:nvPr/>
        </p:nvSpPr>
        <p:spPr>
          <a:xfrm xmlns:a="http://schemas.openxmlformats.org/drawingml/2006/main">
            <a:off x="609600" y="1619250"/>
            <a:ext cx="10858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6CA5"/>
                </a:solidFill>
                <a:latin typeface="Helvetica Neue"/>
                <a:ea typeface="Helvetica Neue"/>
                <a:cs typeface="Helvetica Neue"/>
              </a:defRPr>
            </a:pPr>
            <a:r>
              <a:rPr sz="3000" b="1">
                <a:solidFill>
                  <a:srgbClr val="006CA5"/>
                </a:solidFill>
                <a:latin typeface="Helvetica Neue"/>
                <a:ea typeface="Helvetica Neue"/>
                <a:cs typeface="Helvetica Neue"/>
              </a:rPr>
              <a:t>Choose one change in your own repository.</a:t>
            </a:r>
          </a:p>
        </p:txBody>
      </p:sp>
      <p:sp>
        <p:nvSpPr>
          <p:cNvPr id="4" name="What observable behavior should it deliver?">
            <a:extLst xmlns:a="http://schemas.openxmlformats.org/drawingml/2006/main">
              <a:ext uri="{FF2B5EF4-FFF2-40B4-BE49-F238E27FC236}">
                <a16:creationId xmlns:a16="http://schemas.microsoft.com/office/drawing/2014/main" id="{4DFEF5E4-E971-482D-A8AD-1D48CC7E5B6F}"/>
              </a:ext>
            </a:extLst>
          </p:cNvPr>
          <p:cNvSpPr>
            <a:spLocks xmlns:a="http://schemas.openxmlformats.org/drawingml/2006/main" noGrp="1"/>
          </p:cNvSpPr>
          <p:nvPr/>
        </p:nvSpPr>
        <p:spPr>
          <a:xfrm xmlns:a="http://schemas.openxmlformats.org/drawingml/2006/main">
            <a:off x="609600" y="2838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What observable behavior should it deliver?</a:t>
            </a:r>
          </a:p>
        </p:txBody>
      </p:sp>
      <p:sp>
        <p:nvSpPr>
          <p:cNvPr id="5" name="Which evidence would justify merging it?">
            <a:extLst xmlns:a="http://schemas.openxmlformats.org/drawingml/2006/main">
              <a:ext uri="{FF2B5EF4-FFF2-40B4-BE49-F238E27FC236}">
                <a16:creationId xmlns:a16="http://schemas.microsoft.com/office/drawing/2014/main" id="{481853B4-0249-49FC-942B-E87BBB1F19DE}"/>
              </a:ext>
            </a:extLst>
          </p:cNvPr>
          <p:cNvSpPr>
            <a:spLocks xmlns:a="http://schemas.openxmlformats.org/drawingml/2006/main" noGrp="1"/>
          </p:cNvSpPr>
          <p:nvPr/>
        </p:nvSpPr>
        <p:spPr>
          <a:xfrm xmlns:a="http://schemas.openxmlformats.org/drawingml/2006/main">
            <a:off x="609600" y="37814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Which evidence would justify merging it?</a:t>
            </a:r>
          </a:p>
        </p:txBody>
      </p:sp>
      <p:sp>
        <p:nvSpPr>
          <p:cNvPr id="6" name="Who can resolve a block and approve progression?">
            <a:extLst xmlns:a="http://schemas.openxmlformats.org/drawingml/2006/main">
              <a:ext uri="{FF2B5EF4-FFF2-40B4-BE49-F238E27FC236}">
                <a16:creationId xmlns:a16="http://schemas.microsoft.com/office/drawing/2014/main" id="{BF0DB2C5-8810-4632-8141-3BBBEAD79475}"/>
              </a:ext>
            </a:extLst>
          </p:cNvPr>
          <p:cNvSpPr>
            <a:spLocks xmlns:a="http://schemas.openxmlformats.org/drawingml/2006/main" noGrp="1"/>
          </p:cNvSpPr>
          <p:nvPr/>
        </p:nvSpPr>
        <p:spPr>
          <a:xfrm xmlns:a="http://schemas.openxmlformats.org/drawingml/2006/main">
            <a:off x="609600" y="47244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Who can resolve a block and approve progression?</a:t>
            </a:r>
          </a:p>
        </p:txBody>
      </p:sp>
      <p:sp>
        <p:nvSpPr>
          <p:cNvPr id="7" name="Workshop practice: inspect evidence, request a revision">
            <a:extLst xmlns:a="http://schemas.openxmlformats.org/drawingml/2006/main">
              <a:ext uri="{FF2B5EF4-FFF2-40B4-BE49-F238E27FC236}">
                <a16:creationId xmlns:a16="http://schemas.microsoft.com/office/drawing/2014/main" id="{3C4FF143-1CE2-4A06-9B74-10B1847B43CF}"/>
              </a:ext>
            </a:extLst>
          </p:cNvPr>
          <p:cNvSpPr>
            <a:spLocks xmlns:a="http://schemas.openxmlformats.org/drawingml/2006/main" noGrp="1"/>
          </p:cNvSpPr>
          <p:nvPr/>
        </p:nvSpPr>
        <p:spPr>
          <a:xfrm xmlns:a="http://schemas.openxmlformats.org/drawingml/2006/main">
            <a:off x="609600" y="58388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7"/>
                </a:solidFill>
                <a:latin typeface="Helvetica Neue"/>
                <a:ea typeface="Helvetica Neue"/>
                <a:cs typeface="Helvetica Neue"/>
              </a:defRPr>
            </a:pPr>
            <a:r>
              <a:rPr sz="1950" b="0">
                <a:solidFill>
                  <a:srgbClr val="526777"/>
                </a:solidFill>
                <a:latin typeface="Helvetica Neue"/>
                <a:ea typeface="Helvetica Neue"/>
                <a:cs typeface="Helvetica Neue"/>
              </a:rPr>
              <a:t>Workshop practice: inspect evidence, request a revision, recover a failure.</a:t>
            </a:r>
          </a:p>
        </p:txBody>
      </p:sp>
    </p:spTree>
    <p:extLst>
      <p:ext uri="{BB962C8B-B14F-4D97-AF65-F5344CB8AC3E}">
        <p14:creationId xmlns:p14="http://schemas.microsoft.com/office/powerpoint/2010/main" val="14324928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2026-09-07T10:01:49.2010000Z</dcterms:created>
  <dcterms:modified xsi:type="dcterms:W3CDTF">2026-09-07T10:01:49.2010000Z</dcterms:modified>
</coreProperties>
</file>