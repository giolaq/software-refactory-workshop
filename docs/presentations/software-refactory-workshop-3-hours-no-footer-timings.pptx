
<file path=[Content_Types].xml><?xml version="1.0" encoding="utf-8"?>
<Types xmlns="http://schemas.openxmlformats.org/package/2006/content-types">
  <Default Extension="xml" ContentType="application/vnd.openxmlformats-package.core-properties+xml"/>
  <Default Extension="png" ContentType="image/png"/>
  <Default Extension="bin" ContentType="image/webp"/>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6d76cb3a9bc4a3b" /><Relationship Type="http://schemas.openxmlformats.org/officeDocument/2006/relationships/extended-properties" Target="/docProps/app.xml" Id="Rc32ac9d8e0e84e2c" /><Relationship Type="http://schemas.openxmlformats.org/officeDocument/2006/relationships/officeDocument" Target="/ppt/presentation.xml" Id="R6562f0f73d104b07" /></Relationships>
</file>

<file path=ppt/presentation.xml><?xml version="1.0" encoding="utf-8"?>
<p:presentation xmlns:p="http://schemas.openxmlformats.org/presentationml/2006/main">
  <p:sldMasterIdLst>
    <p:sldMasterId xmlns:r="http://schemas.openxmlformats.org/officeDocument/2006/relationships" id="2147483648" r:id="Rf4fff264d7004b75"/>
  </p:sldMasterIdLst>
  <p:notesMasterIdLst>
    <p:notesMasterId xmlns:r="http://schemas.openxmlformats.org/officeDocument/2006/relationships" r:id="R48b242bc1e4b44e8"/>
  </p:notesMasterIdLst>
  <p:sldIdLst>
    <p:sldId xmlns:r="http://schemas.openxmlformats.org/officeDocument/2006/relationships" id="256" r:id="R166503de7f0948f9"/>
    <p:sldId xmlns:r="http://schemas.openxmlformats.org/officeDocument/2006/relationships" id="257" r:id="Rfa8a1faf73a94684"/>
    <p:sldId xmlns:r="http://schemas.openxmlformats.org/officeDocument/2006/relationships" id="258" r:id="R1293f4aa4d714109"/>
    <p:sldId xmlns:r="http://schemas.openxmlformats.org/officeDocument/2006/relationships" id="259" r:id="R0ece71c1929641cd"/>
    <p:sldId xmlns:r="http://schemas.openxmlformats.org/officeDocument/2006/relationships" id="260" r:id="Rcc572111c301430d"/>
    <p:sldId xmlns:r="http://schemas.openxmlformats.org/officeDocument/2006/relationships" id="261" r:id="Rd5474cab269b413c"/>
    <p:sldId xmlns:r="http://schemas.openxmlformats.org/officeDocument/2006/relationships" id="262" r:id="R37f485d420074ddf"/>
    <p:sldId xmlns:r="http://schemas.openxmlformats.org/officeDocument/2006/relationships" id="263" r:id="R4bae6eb0b4f34394"/>
    <p:sldId xmlns:r="http://schemas.openxmlformats.org/officeDocument/2006/relationships" id="264" r:id="R5ec83264688c4669"/>
    <p:sldId xmlns:r="http://schemas.openxmlformats.org/officeDocument/2006/relationships" id="265" r:id="R92b067574491485c"/>
    <p:sldId xmlns:r="http://schemas.openxmlformats.org/officeDocument/2006/relationships" id="266" r:id="R54c90f3b8b864879"/>
    <p:sldId xmlns:r="http://schemas.openxmlformats.org/officeDocument/2006/relationships" id="267" r:id="R09dd1fd4fdfb497a"/>
    <p:sldId xmlns:r="http://schemas.openxmlformats.org/officeDocument/2006/relationships" id="268" r:id="Rb579e055615a4f43"/>
    <p:sldId xmlns:r="http://schemas.openxmlformats.org/officeDocument/2006/relationships" id="269" r:id="R8247e8b599624089"/>
    <p:sldId xmlns:r="http://schemas.openxmlformats.org/officeDocument/2006/relationships" id="270" r:id="Re26f34c7c95f474a"/>
    <p:sldId xmlns:r="http://schemas.openxmlformats.org/officeDocument/2006/relationships" id="271" r:id="R937a53c478f04f1b"/>
    <p:sldId xmlns:r="http://schemas.openxmlformats.org/officeDocument/2006/relationships" id="272" r:id="R0ab81434e3124281"/>
    <p:sldId xmlns:r="http://schemas.openxmlformats.org/officeDocument/2006/relationships" id="273" r:id="Rf4b6c300ec5d4ff6"/>
    <p:sldId xmlns:r="http://schemas.openxmlformats.org/officeDocument/2006/relationships" id="274" r:id="R9d7aa71d34d8423e"/>
    <p:sldId xmlns:r="http://schemas.openxmlformats.org/officeDocument/2006/relationships" id="275" r:id="R797f5e8d671a4c79"/>
    <p:sldId xmlns:r="http://schemas.openxmlformats.org/officeDocument/2006/relationships" id="276" r:id="R6539790d36034a7c"/>
    <p:sldId xmlns:r="http://schemas.openxmlformats.org/officeDocument/2006/relationships" id="277" r:id="Ra767736a3d724c59"/>
    <p:sldId xmlns:r="http://schemas.openxmlformats.org/officeDocument/2006/relationships" id="278" r:id="R38c81782763f429f"/>
    <p:sldId xmlns:r="http://schemas.openxmlformats.org/officeDocument/2006/relationships" id="279" r:id="R72d0de9e429c40bb"/>
    <p:sldId xmlns:r="http://schemas.openxmlformats.org/officeDocument/2006/relationships" id="280" r:id="R5d560cdf18834632"/>
    <p:sldId xmlns:r="http://schemas.openxmlformats.org/officeDocument/2006/relationships" id="281" r:id="R9a588026522b4d11"/>
    <p:sldId xmlns:r="http://schemas.openxmlformats.org/officeDocument/2006/relationships" id="282" r:id="Ra5f18dc2317f417e"/>
    <p:sldId xmlns:r="http://schemas.openxmlformats.org/officeDocument/2006/relationships" id="283" r:id="Ra970ce24e2b940b0"/>
    <p:sldId xmlns:r="http://schemas.openxmlformats.org/officeDocument/2006/relationships" id="284" r:id="R3c0ab40f1c9d427c"/>
    <p:sldId xmlns:r="http://schemas.openxmlformats.org/officeDocument/2006/relationships" id="285" r:id="R57853af2a1704c03"/>
    <p:sldId xmlns:r="http://schemas.openxmlformats.org/officeDocument/2006/relationships" id="286" r:id="R89ebd887eb914e69"/>
    <p:sldId xmlns:r="http://schemas.openxmlformats.org/officeDocument/2006/relationships" id="287" r:id="R8f8a325f3cf94c59"/>
    <p:sldId xmlns:r="http://schemas.openxmlformats.org/officeDocument/2006/relationships" id="288" r:id="R375795b5305c401f"/>
    <p:sldId xmlns:r="http://schemas.openxmlformats.org/officeDocument/2006/relationships" id="289" r:id="R202937f0661c45c9"/>
    <p:sldId xmlns:r="http://schemas.openxmlformats.org/officeDocument/2006/relationships" id="290" r:id="Rae03a81a3f2f4d24"/>
    <p:sldId xmlns:r="http://schemas.openxmlformats.org/officeDocument/2006/relationships" id="291" r:id="Re1b7b25c0de0469e"/>
    <p:sldId xmlns:r="http://schemas.openxmlformats.org/officeDocument/2006/relationships" id="292" r:id="Rdcbb12b9190a406f"/>
    <p:sldId xmlns:r="http://schemas.openxmlformats.org/officeDocument/2006/relationships" id="293" r:id="Rf2102ea7d25f4408"/>
    <p:sldId xmlns:r="http://schemas.openxmlformats.org/officeDocument/2006/relationships" id="294" r:id="R4bd1e6953e4d49bb"/>
    <p:sldId xmlns:r="http://schemas.openxmlformats.org/officeDocument/2006/relationships" id="295" r:id="Re494ced00c8a4f83"/>
    <p:sldId xmlns:r="http://schemas.openxmlformats.org/officeDocument/2006/relationships" id="296" r:id="Rf01f7ae211ac4398"/>
    <p:sldId xmlns:r="http://schemas.openxmlformats.org/officeDocument/2006/relationships" id="297" r:id="R53943d28782b4baf"/>
    <p:sldId xmlns:r="http://schemas.openxmlformats.org/officeDocument/2006/relationships" id="298" r:id="R5d96b6bd629a4114"/>
    <p:sldId xmlns:r="http://schemas.openxmlformats.org/officeDocument/2006/relationships" id="299" r:id="Rd30625b590ac45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589d2219f0f4ea3" /><Relationship Type="http://schemas.openxmlformats.org/officeDocument/2006/relationships/slideMaster" Target="/ppt/slideMasters/slideMaster1.xml" Id="Rf4fff264d7004b75" /><Relationship Type="http://schemas.openxmlformats.org/officeDocument/2006/relationships/notesMaster" Target="/ppt/notesMasters/notesMaster1.xml" Id="R48b242bc1e4b44e8" /><Relationship Type="http://schemas.openxmlformats.org/officeDocument/2006/relationships/presProps" Target="/ppt/presProps.xml" Id="Rc728c50cd6854e51" /><Relationship Type="http://schemas.openxmlformats.org/officeDocument/2006/relationships/tableStyles" Target="/ppt/tableStyles.xml" Id="Rd0b660e1cd094c9f" /><Relationship Type="http://schemas.openxmlformats.org/officeDocument/2006/relationships/slide" Target="/ppt/slides/slide1.xml" Id="R166503de7f0948f9" /><Relationship Type="http://schemas.openxmlformats.org/officeDocument/2006/relationships/slide" Target="/ppt/slides/slide2.xml" Id="Rfa8a1faf73a94684" /><Relationship Type="http://schemas.openxmlformats.org/officeDocument/2006/relationships/slide" Target="/ppt/slides/slide3.xml" Id="R1293f4aa4d714109" /><Relationship Type="http://schemas.openxmlformats.org/officeDocument/2006/relationships/slide" Target="/ppt/slides/slide4.xml" Id="R0ece71c1929641cd" /><Relationship Type="http://schemas.openxmlformats.org/officeDocument/2006/relationships/slide" Target="/ppt/slides/slide5.xml" Id="Rcc572111c301430d" /><Relationship Type="http://schemas.openxmlformats.org/officeDocument/2006/relationships/slide" Target="/ppt/slides/slide6.xml" Id="Rd5474cab269b413c" /><Relationship Type="http://schemas.openxmlformats.org/officeDocument/2006/relationships/slide" Target="/ppt/slides/slide7.xml" Id="R37f485d420074ddf" /><Relationship Type="http://schemas.openxmlformats.org/officeDocument/2006/relationships/slide" Target="/ppt/slides/slide8.xml" Id="R4bae6eb0b4f34394" /><Relationship Type="http://schemas.openxmlformats.org/officeDocument/2006/relationships/slide" Target="/ppt/slides/slide9.xml" Id="R5ec83264688c4669" /><Relationship Type="http://schemas.openxmlformats.org/officeDocument/2006/relationships/slide" Target="/ppt/slides/slide10.xml" Id="R92b067574491485c" /><Relationship Type="http://schemas.openxmlformats.org/officeDocument/2006/relationships/slide" Target="/ppt/slides/slide11.xml" Id="R54c90f3b8b864879" /><Relationship Type="http://schemas.openxmlformats.org/officeDocument/2006/relationships/slide" Target="/ppt/slides/slide12.xml" Id="R09dd1fd4fdfb497a" /><Relationship Type="http://schemas.openxmlformats.org/officeDocument/2006/relationships/slide" Target="/ppt/slides/slide13.xml" Id="Rb579e055615a4f43" /><Relationship Type="http://schemas.openxmlformats.org/officeDocument/2006/relationships/slide" Target="/ppt/slides/slide14.xml" Id="R8247e8b599624089" /><Relationship Type="http://schemas.openxmlformats.org/officeDocument/2006/relationships/slide" Target="/ppt/slides/slide15.xml" Id="Re26f34c7c95f474a" /><Relationship Type="http://schemas.openxmlformats.org/officeDocument/2006/relationships/slide" Target="/ppt/slides/slide16.xml" Id="R937a53c478f04f1b" /><Relationship Type="http://schemas.openxmlformats.org/officeDocument/2006/relationships/slide" Target="/ppt/slides/slide17.xml" Id="R0ab81434e3124281" /><Relationship Type="http://schemas.openxmlformats.org/officeDocument/2006/relationships/slide" Target="/ppt/slides/slide18.xml" Id="Rf4b6c300ec5d4ff6" /><Relationship Type="http://schemas.openxmlformats.org/officeDocument/2006/relationships/slide" Target="/ppt/slides/slide19.xml" Id="R9d7aa71d34d8423e" /><Relationship Type="http://schemas.openxmlformats.org/officeDocument/2006/relationships/slide" Target="/ppt/slides/slide20.xml" Id="R797f5e8d671a4c79" /><Relationship Type="http://schemas.openxmlformats.org/officeDocument/2006/relationships/slide" Target="/ppt/slides/slide21.xml" Id="R6539790d36034a7c" /><Relationship Type="http://schemas.openxmlformats.org/officeDocument/2006/relationships/slide" Target="/ppt/slides/slide22.xml" Id="Ra767736a3d724c59" /><Relationship Type="http://schemas.openxmlformats.org/officeDocument/2006/relationships/slide" Target="/ppt/slides/slide23.xml" Id="R38c81782763f429f" /><Relationship Type="http://schemas.openxmlformats.org/officeDocument/2006/relationships/slide" Target="/ppt/slides/slide24.xml" Id="R72d0de9e429c40bb" /><Relationship Type="http://schemas.openxmlformats.org/officeDocument/2006/relationships/slide" Target="/ppt/slides/slide25.xml" Id="R5d560cdf18834632" /><Relationship Type="http://schemas.openxmlformats.org/officeDocument/2006/relationships/slide" Target="/ppt/slides/slide26.xml" Id="R9a588026522b4d11" /><Relationship Type="http://schemas.openxmlformats.org/officeDocument/2006/relationships/slide" Target="/ppt/slides/slide27.xml" Id="Ra5f18dc2317f417e" /><Relationship Type="http://schemas.openxmlformats.org/officeDocument/2006/relationships/slide" Target="/ppt/slides/slide28.xml" Id="Ra970ce24e2b940b0" /><Relationship Type="http://schemas.openxmlformats.org/officeDocument/2006/relationships/slide" Target="/ppt/slides/slide29.xml" Id="R3c0ab40f1c9d427c" /><Relationship Type="http://schemas.openxmlformats.org/officeDocument/2006/relationships/slide" Target="/ppt/slides/slide30.xml" Id="R57853af2a1704c03" /><Relationship Type="http://schemas.openxmlformats.org/officeDocument/2006/relationships/slide" Target="/ppt/slides/slide31.xml" Id="R89ebd887eb914e69" /><Relationship Type="http://schemas.openxmlformats.org/officeDocument/2006/relationships/slide" Target="/ppt/slides/slide32.xml" Id="R8f8a325f3cf94c59" /><Relationship Type="http://schemas.openxmlformats.org/officeDocument/2006/relationships/slide" Target="/ppt/slides/slide33.xml" Id="R375795b5305c401f" /><Relationship Type="http://schemas.openxmlformats.org/officeDocument/2006/relationships/slide" Target="/ppt/slides/slide34.xml" Id="R202937f0661c45c9" /><Relationship Type="http://schemas.openxmlformats.org/officeDocument/2006/relationships/slide" Target="/ppt/slides/slide35.xml" Id="Rae03a81a3f2f4d24" /><Relationship Type="http://schemas.openxmlformats.org/officeDocument/2006/relationships/slide" Target="/ppt/slides/slide36.xml" Id="Re1b7b25c0de0469e" /><Relationship Type="http://schemas.openxmlformats.org/officeDocument/2006/relationships/slide" Target="/ppt/slides/slide37.xml" Id="Rdcbb12b9190a406f" /><Relationship Type="http://schemas.openxmlformats.org/officeDocument/2006/relationships/slide" Target="/ppt/slides/slide38.xml" Id="Rf2102ea7d25f4408" /><Relationship Type="http://schemas.openxmlformats.org/officeDocument/2006/relationships/slide" Target="/ppt/slides/slide39.xml" Id="R4bd1e6953e4d49bb" /><Relationship Type="http://schemas.openxmlformats.org/officeDocument/2006/relationships/slide" Target="/ppt/slides/slide40.xml" Id="Re494ced00c8a4f83" /><Relationship Type="http://schemas.openxmlformats.org/officeDocument/2006/relationships/slide" Target="/ppt/slides/slide41.xml" Id="Rf01f7ae211ac4398" /><Relationship Type="http://schemas.openxmlformats.org/officeDocument/2006/relationships/slide" Target="/ppt/slides/slide42.xml" Id="R53943d28782b4baf" /><Relationship Type="http://schemas.openxmlformats.org/officeDocument/2006/relationships/slide" Target="/ppt/slides/slide43.xml" Id="R5d96b6bd629a4114" /><Relationship Type="http://schemas.openxmlformats.org/officeDocument/2006/relationships/slide" Target="/ppt/slides/slide44.xml" Id="Rd30625b590ac45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cef73dccc8d4f7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45a78b2482d4515" /><Relationship Type="http://schemas.openxmlformats.org/officeDocument/2006/relationships/notesMaster" Target="/ppt/notesMasters/notesMaster1.xml" Id="Rc4b2923355eb4e4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a58558c894b4ac7" /><Relationship Type="http://schemas.openxmlformats.org/officeDocument/2006/relationships/notesMaster" Target="/ppt/notesMasters/notesMaster1.xml" Id="Rd19963f309984b02" /></Relationships>
</file>

<file path=ppt/notesSlides/_rels/notesSlide3.xml.rels>&#65279;<?xml version="1.0" encoding="utf-8"?><Relationships xmlns="http://schemas.openxmlformats.org/package/2006/relationships"><Relationship Type="http://schemas.openxmlformats.org/officeDocument/2006/relationships/slide" Target="/ppt/slides/slide3.xml" Id="R039ab5893f4d44e8" /><Relationship Type="http://schemas.openxmlformats.org/officeDocument/2006/relationships/notesMaster" Target="/ppt/notesMasters/notesMaster1.xml" Id="Rff625c78f36242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3451c7aefae48a5" /><Relationship Type="http://schemas.openxmlformats.org/officeDocument/2006/relationships/notesMaster" Target="/ppt/notesMasters/notesMaster1.xml" Id="R396ffc26784c49d3" /></Relationships>
</file>

<file path=ppt/notesSlides/_rels/notesSlide5.xml.rels>&#65279;<?xml version="1.0" encoding="utf-8"?><Relationships xmlns="http://schemas.openxmlformats.org/package/2006/relationships"><Relationship Type="http://schemas.openxmlformats.org/officeDocument/2006/relationships/slide" Target="/ppt/slides/slide5.xml" Id="R4ccb6ad78cfd4525" /><Relationship Type="http://schemas.openxmlformats.org/officeDocument/2006/relationships/notesMaster" Target="/ppt/notesMasters/notesMaster1.xml" Id="R36a1eb7503f7461d" /></Relationships>
</file>

<file path=ppt/notesSlides/_rels/notesSlide6.xml.rels>&#65279;<?xml version="1.0" encoding="utf-8"?><Relationships xmlns="http://schemas.openxmlformats.org/package/2006/relationships"><Relationship Type="http://schemas.openxmlformats.org/officeDocument/2006/relationships/slide" Target="/ppt/slides/slide6.xml" Id="R4eaa27f0f6be44e8" /><Relationship Type="http://schemas.openxmlformats.org/officeDocument/2006/relationships/notesMaster" Target="/ppt/notesMasters/notesMaster1.xml" Id="R262895260b4c43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d318d15ad24e1c" /><Relationship Type="http://schemas.openxmlformats.org/officeDocument/2006/relationships/notesMaster" Target="/ppt/notesMasters/notesMaster1.xml" Id="R58d017d7299a4717"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2d248b7add44ca" /><Relationship Type="http://schemas.openxmlformats.org/officeDocument/2006/relationships/notesMaster" Target="/ppt/notesMasters/notesMaster1.xml" Id="R2ccf409286ca453c" /></Relationships>
</file>

<file path=ppt/notesSlides/_rels/notesSlide9.xml.rels>&#65279;<?xml version="1.0" encoding="utf-8"?><Relationships xmlns="http://schemas.openxmlformats.org/package/2006/relationships"><Relationship Type="http://schemas.openxmlformats.org/officeDocument/2006/relationships/slide" Target="/ppt/slides/slide9.xml" Id="R4831bb977f294618" /><Relationship Type="http://schemas.openxmlformats.org/officeDocument/2006/relationships/notesMaster" Target="/ppt/notesMasters/notesMaster1.xml" Id="R2221bc0c068a4a8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8561fb4a3724c36" /><Relationship Type="http://schemas.openxmlformats.org/officeDocument/2006/relationships/notesMaster" Target="/ppt/notesMasters/notesMaster1.xml" Id="R598172450d09454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eec0fe7a8224274" /><Relationship Type="http://schemas.openxmlformats.org/officeDocument/2006/relationships/notesMaster" Target="/ppt/notesMasters/notesMaster1.xml" Id="Rdfe1499aa552408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c297b4d2ac74772" /><Relationship Type="http://schemas.openxmlformats.org/officeDocument/2006/relationships/notesMaster" Target="/ppt/notesMasters/notesMaster1.xml" Id="R48654930c7b749f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4c7821782a443d7" /><Relationship Type="http://schemas.openxmlformats.org/officeDocument/2006/relationships/notesMaster" Target="/ppt/notesMasters/notesMaster1.xml" Id="Rc0004b9e99b14f9f"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5fa9e9729624b9d" /><Relationship Type="http://schemas.openxmlformats.org/officeDocument/2006/relationships/notesMaster" Target="/ppt/notesMasters/notesMaster1.xml" Id="R449feffe585c401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b2b0eab8d244f3e" /><Relationship Type="http://schemas.openxmlformats.org/officeDocument/2006/relationships/notesMaster" Target="/ppt/notesMasters/notesMaster1.xml" Id="Rc3a736614bf847b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cd77267701f4c96" /><Relationship Type="http://schemas.openxmlformats.org/officeDocument/2006/relationships/notesMaster" Target="/ppt/notesMasters/notesMaster1.xml" Id="R64a04647aaff4bb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488838265ac499f" /><Relationship Type="http://schemas.openxmlformats.org/officeDocument/2006/relationships/notesMaster" Target="/ppt/notesMasters/notesMaster1.xml" Id="Rf395ed7766f3477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16dd28e762145e2" /><Relationship Type="http://schemas.openxmlformats.org/officeDocument/2006/relationships/notesMaster" Target="/ppt/notesMasters/notesMaster1.xml" Id="R96a30c258a53480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39d2706da0547d1" /><Relationship Type="http://schemas.openxmlformats.org/officeDocument/2006/relationships/notesMaster" Target="/ppt/notesMasters/notesMaster1.xml" Id="R40adfcc394b44b3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7b44ed1270424c37" /><Relationship Type="http://schemas.openxmlformats.org/officeDocument/2006/relationships/notesMaster" Target="/ppt/notesMasters/notesMaster1.xml" Id="Rdfa318607a764dc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414571f70bf04df8" /><Relationship Type="http://schemas.openxmlformats.org/officeDocument/2006/relationships/notesMaster" Target="/ppt/notesMasters/notesMaster1.xml" Id="R29982163f0524170"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e7adad7ba214044" /><Relationship Type="http://schemas.openxmlformats.org/officeDocument/2006/relationships/notesMaster" Target="/ppt/notesMasters/notesMaster1.xml" Id="R7a091f4da3ea4c1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dc1140dfa76a42aa" /><Relationship Type="http://schemas.openxmlformats.org/officeDocument/2006/relationships/notesMaster" Target="/ppt/notesMasters/notesMaster1.xml" Id="Re46a67752f5c4b1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22c6dd889994ed7" /><Relationship Type="http://schemas.openxmlformats.org/officeDocument/2006/relationships/notesMaster" Target="/ppt/notesMasters/notesMaster1.xml" Id="Rd74376bfd429401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c0c7218d52d74353" /><Relationship Type="http://schemas.openxmlformats.org/officeDocument/2006/relationships/notesMaster" Target="/ppt/notesMasters/notesMaster1.xml" Id="R7427c674661c46d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6e22f566e0a4532" /><Relationship Type="http://schemas.openxmlformats.org/officeDocument/2006/relationships/notesMaster" Target="/ppt/notesMasters/notesMaster1.xml" Id="R2ff5861f8bdd47ea"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992fe91260a54eee" /><Relationship Type="http://schemas.openxmlformats.org/officeDocument/2006/relationships/notesMaster" Target="/ppt/notesMasters/notesMaster1.xml" Id="R73995df6c0ab4ee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3aa3fe80453a4ed4" /><Relationship Type="http://schemas.openxmlformats.org/officeDocument/2006/relationships/notesMaster" Target="/ppt/notesMasters/notesMaster1.xml" Id="Ra137c5f64d204beb"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4a9570485637440f" /><Relationship Type="http://schemas.openxmlformats.org/officeDocument/2006/relationships/notesMaster" Target="/ppt/notesMasters/notesMaster1.xml" Id="R6b903747f7d94ff3"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5961033b46f3470a" /><Relationship Type="http://schemas.openxmlformats.org/officeDocument/2006/relationships/notesMaster" Target="/ppt/notesMasters/notesMaster1.xml" Id="R5e0c2cb9153944c7"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b6373df022cd4ef3" /><Relationship Type="http://schemas.openxmlformats.org/officeDocument/2006/relationships/notesMaster" Target="/ppt/notesMasters/notesMaster1.xml" Id="R46db8a97f2b14796"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a8732e4317da4f0a" /><Relationship Type="http://schemas.openxmlformats.org/officeDocument/2006/relationships/notesMaster" Target="/ppt/notesMasters/notesMaster1.xml" Id="R8e66c39e8ffb4371"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54695d9b30fc4811" /><Relationship Type="http://schemas.openxmlformats.org/officeDocument/2006/relationships/notesMaster" Target="/ppt/notesMasters/notesMaster1.xml" Id="R13fef4a13a574454"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adbb0e8169104b0d" /><Relationship Type="http://schemas.openxmlformats.org/officeDocument/2006/relationships/notesMaster" Target="/ppt/notesMasters/notesMaster1.xml" Id="R17e37e11563e441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d4a2ec9b51924b6c" /><Relationship Type="http://schemas.openxmlformats.org/officeDocument/2006/relationships/notesMaster" Target="/ppt/notesMasters/notesMaster1.xml" Id="R282628b45e554c7d"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f70b5efbdf5f4ca3" /><Relationship Type="http://schemas.openxmlformats.org/officeDocument/2006/relationships/notesMaster" Target="/ppt/notesMasters/notesMaster1.xml" Id="R9ad387539670486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b2b986949d12438a" /><Relationship Type="http://schemas.openxmlformats.org/officeDocument/2006/relationships/notesMaster" Target="/ppt/notesMasters/notesMaster1.xml" Id="Rdda7b56edb304b0a"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ba5f5f9d3fa4061" /><Relationship Type="http://schemas.openxmlformats.org/officeDocument/2006/relationships/notesMaster" Target="/ppt/notesMasters/notesMaster1.xml" Id="Rccffd53286634fb5"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f3bbecd02e7f455e" /><Relationship Type="http://schemas.openxmlformats.org/officeDocument/2006/relationships/notesMaster" Target="/ppt/notesMasters/notesMaster1.xml" Id="R91d6cb54e4e44448"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fb51bb5c96c24147" /><Relationship Type="http://schemas.openxmlformats.org/officeDocument/2006/relationships/notesMaster" Target="/ppt/notesMasters/notesMaster1.xml" Id="R15f92613847043cc"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b13476e4851a4af8" /><Relationship Type="http://schemas.openxmlformats.org/officeDocument/2006/relationships/notesMaster" Target="/ppt/notesMasters/notesMaster1.xml" Id="Rf9b87b8438044d9e"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61797e2d547c4d40" /><Relationship Type="http://schemas.openxmlformats.org/officeDocument/2006/relationships/notesMaster" Target="/ppt/notesMasters/notesMaster1.xml" Id="R77695d449dd04eb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8697d6f23a14ba7" /><Relationship Type="http://schemas.openxmlformats.org/officeDocument/2006/relationships/notesMaster" Target="/ppt/notesMasters/notesMaster1.xml" Id="Rf3db36a32c634ab3"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f1dc51ab1714441b" /><Relationship Type="http://schemas.openxmlformats.org/officeDocument/2006/relationships/notesMaster" Target="/ppt/notesMasters/notesMaster1.xml" Id="R06bf43fdc38742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00:00–00:01. Duration 1 minutes.</a:t>
            </a:r>
          </a:p>
          <a:p xmlns:a="http://schemas.openxmlformats.org/drawingml/2006/main">
            <a:r>
              <a:t/>
            </a:r>
          </a:p>
          <a:p xmlns:a="http://schemas.openxmlformats.org/drawingml/2006/main">
            <a:r>
              <a:t>Welcome. Ask attendees to keep the workshop guide and their Control Center open. Explain that the slides pace decisions and the website supplies commands and clicks. Installation and initial Setup should already be complete. Use elapsed time from the actual session start.</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K14.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00:01–00:03. Duration 2 minutes.</a:t>
            </a:r>
          </a:p>
          <a:p xmlns:a="http://schemas.openxmlformats.org/drawingml/2006/main">
            <a:r>
              <a:t/>
            </a:r>
          </a:p>
          <a:p xmlns:a="http://schemas.openxmlformats.org/drawingml/2006/main">
            <a:r>
              <a:t>Introduce Hearth &amp; Harvest Foods and the TableStory recipe product. Show the prepared Pocket Cinema and TableStory screenshots. These are reference outcomes, not evidence of today’s Live run. Keep the whole transformation: data, APIs, identity, journeys, mobile/TV behavior and removal of the movie domain. Our explanation follows finding a recipe by ingredient, reading its steps and saving it.</a:t>
            </a:r>
          </a:p>
          <a:p xmlns:a="http://schemas.openxmlformats.org/drawingml/2006/main">
            <a:r>
              <a:t/>
            </a:r>
          </a:p>
          <a:p xmlns:a="http://schemas.openxmlformats.org/drawingml/2006/main">
            <a:r>
              <a:t>PROCEDURE</a:t>
            </a:r>
          </a:p>
          <a:p xmlns:a="http://schemas.openxmlformats.org/drawingml/2006/main">
            <a:r>
              <a:t>https://software-refactory-workshop.vercel.app/#baseline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K17.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00:03–00:06. Duration 3 minutes.</a:t>
            </a:r>
          </a:p>
          <a:p xmlns:a="http://schemas.openxmlformats.org/drawingml/2006/main">
            <a:r>
              <a:t/>
            </a:r>
          </a:p>
          <a:p xmlns:a="http://schemas.openxmlformats.org/drawingml/2006/main">
            <a:r>
              <a:t>Give 30 seconds of individual thought, then 60 seconds with a neighbor. Ask two people what evidence they used. Do not reveal the next slide until both explain. A and B are illustrative revisions. No Live branch is modified for this case.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00:06–00:08. Duration 2 minutes.</a:t>
            </a:r>
          </a:p>
          <a:p xmlns:a="http://schemas.openxmlformats.org/drawingml/2006/main">
            <a:r>
              <a:t/>
            </a:r>
          </a:p>
          <a:p xmlns:a="http://schemas.openxmlformats.org/drawingml/2006/main">
            <a:r>
              <a:t>Debrief: waiting for current evidence is appropriate. We do not yet know that B is wrong, so a code-change demand without inspection may also be premature. Ask what changed between A and B. Tell the room they will make this decision on their own tickets later.</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K12, K17.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00:08–00:10. Duration 2 minutes.</a:t>
            </a:r>
          </a:p>
          <a:p xmlns:a="http://schemas.openxmlformats.org/drawingml/2006/main">
            <a:r>
              <a:t/>
            </a:r>
          </a:p>
          <a:p xmlns:a="http://schemas.openxmlformats.org/drawingml/2006/main">
            <a:r>
              <a:t>The local WORKSHOP_PLAN_3_HOURS.md defines this 180-minute session, including a ten-minute break. The supplied knowledge review discusses a different published agenda with 195 instructional minutes and lunch. We follow the explicit three-hour request. Explain that healthy agents can keep working during discussion. If a run is unfinished, record its status and use labeled prepared evidence. Do not time out agents to match the slide clock.</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K03.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00:10–00:12. Duration 2 minutes.</a:t>
            </a:r>
          </a:p>
          <a:p xmlns:a="http://schemas.openxmlformats.org/drawingml/2006/main">
            <a:r>
              <a:t/>
            </a:r>
          </a:p>
          <a:p xmlns:a="http://schemas.openxmlformats.org/drawingml/2006/main">
            <a:r>
              <a:t>Present this as our working definition, a synthesis of the knowledge review and the current implementation. The term covers different systems and does not imply a universal architecture. A person still owns product intent and acceptance. The current workshop is a reference implementation to inspect and evaluate.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K02,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00:12–00:14. Duration 2 minutes.</a:t>
            </a:r>
          </a:p>
          <a:p xmlns:a="http://schemas.openxmlformats.org/drawingml/2006/main">
            <a:r>
              <a:t/>
            </a:r>
          </a:p>
          <a:p xmlns:a="http://schemas.openxmlformats.org/drawingml/2006/main">
            <a:r>
              <a:t>Explain the current opportunity without claiming a speed multiplier. The useful connection is between tool-using coding harnesses and an explicit workflow around them. Review and integration can become the constraint even if code arrives faster. Contemporary source discussion: https://github.com/ai-that-works/ai-that-works/tree/main/2026-08-25-software-factory-design-patterns and https://ai.engineer/talks/Ib5GBkD555M-harness-engineering-is-not-enough-why-software. Reopened 8 September 2026.</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K02, K10,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00:14–00:16. Duration 2 minutes.</a:t>
            </a:r>
          </a:p>
          <a:p xmlns:a="http://schemas.openxmlformats.org/drawingml/2006/main">
            <a:r>
              <a:t/>
            </a:r>
          </a:p>
          <a:p xmlns:a="http://schemas.openxmlformats.org/drawingml/2006/main">
            <a:r>
              <a:t>Use familiar engineering responsibilities. The existing CLI provides the model/tool loop. The factory provides coordination around it. In Standard, scheduling does not invoke a Supervisor model. Worktrees separate Git changes but do not sandbox host access or credentials. Provider adapters have different capabilities.</a:t>
            </a:r>
          </a:p>
          <a:p xmlns:a="http://schemas.openxmlformats.org/drawingml/2006/main">
            <a:r>
              <a:t/>
            </a:r>
          </a:p>
          <a:p xmlns:a="http://schemas.openxmlformats.org/drawingml/2006/main">
            <a:r>
              <a:t>PROCEDURE</a:t>
            </a:r>
          </a:p>
          <a:p xmlns:a="http://schemas.openxmlformats.org/drawingml/2006/main">
            <a:r>
              <a:t>https://software-refactory-workshop.vercel.app/#setup</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K02, K08, K16.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00:16–00:20. Duration 4 minutes.</a:t>
            </a:r>
          </a:p>
          <a:p xmlns:a="http://schemas.openxmlformats.org/drawingml/2006/main">
            <a:r>
              <a:t/>
            </a:r>
          </a:p>
          <a:p xmlns:a="http://schemas.openxmlformats.org/drawingml/2006/main">
            <a:r>
              <a:t>Guide steps 1 and 2. Every attendee has a personal disposable GitHub repository. The facilitator uses a separate one. Use Live and Standard, with human QA and merge gates. If Setup stops, inspect Activity and CLI output and fix the first FAIL using the guide recovery table. A 5050 warning may be this running Control Center. Do not introduce new setup commands here. If help takes longer, preserve the repository, record the failure, and pair the attendee with prepared evidence for the next decision.</a:t>
            </a:r>
          </a:p>
          <a:p xmlns:a="http://schemas.openxmlformats.org/drawingml/2006/main">
            <a:r>
              <a:t/>
            </a:r>
          </a:p>
          <a:p xmlns:a="http://schemas.openxmlformats.org/drawingml/2006/main">
            <a:r>
              <a:t>PROCEDURE</a:t>
            </a:r>
          </a:p>
          <a:p xmlns:a="http://schemas.openxmlformats.org/drawingml/2006/main">
            <a:r>
              <a:t>https://software-refactory-workshop.vercel.app/#setup</a:t>
            </a:r>
          </a:p>
          <a:p xmlns:a="http://schemas.openxmlformats.org/drawingml/2006/main">
            <a:r>
              <a:t>https://software-refactory-workshop.vercel.app/#baseline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K16.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00:20–00:23. Duration 3 minutes.</a:t>
            </a:r>
          </a:p>
          <a:p xmlns:a="http://schemas.openxmlformats.org/drawingml/2006/main">
            <a:r>
              <a:t/>
            </a:r>
          </a:p>
          <a:p xmlns:a="http://schemas.openxmlformats.org/drawingml/2006/main">
            <a:r>
              <a:t>Use recipe-app-prd.md as the authority. A recipe is a domain conversion, not a film record with a new name. Saved items may remain in application memory. Do not add persistence across server restarts by assumption. The journey is the teaching thread while the entire approved PRD remains in the plan.</a:t>
            </a:r>
          </a:p>
          <a:p xmlns:a="http://schemas.openxmlformats.org/drawingml/2006/main">
            <a:r>
              <a:t/>
            </a:r>
          </a:p>
          <a:p xmlns:a="http://schemas.openxmlformats.org/drawingml/2006/main">
            <a:r>
              <a:t>PROCEDURE</a:t>
            </a:r>
          </a:p>
          <a:p xmlns:a="http://schemas.openxmlformats.org/drawingml/2006/main">
            <a:r>
              <a:t>https://software-refactory-workshop.vercel.app/#prd</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K06.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00:23–00:26. Duration 3 minutes.</a:t>
            </a:r>
          </a:p>
          <a:p xmlns:a="http://schemas.openxmlformats.org/drawingml/2006/main">
            <a:r>
              <a:t/>
            </a:r>
          </a:p>
          <a:p xmlns:a="http://schemas.openxmlformats.org/drawingml/2006/main">
            <a:r>
              <a:t>Let attendees write before you provide an answer. Example: save a recipe, reload the page, confirm it is present, remove it, reload and confirm it is absent. Keep the server running and respect the PRD’s in-memory scope. Ask which state, trigger, and expected result the test needs. Do not add accounts or a database.</a:t>
            </a:r>
          </a:p>
          <a:p xmlns:a="http://schemas.openxmlformats.org/drawingml/2006/main">
            <a:r>
              <a:t/>
            </a:r>
          </a:p>
          <a:p xmlns:a="http://schemas.openxmlformats.org/drawingml/2006/main">
            <a:r>
              <a:t>PROCEDURE</a:t>
            </a:r>
          </a:p>
          <a:p xmlns:a="http://schemas.openxmlformats.org/drawingml/2006/main">
            <a:r>
              <a:t>https://software-refactory-workshop.vercel.app/#prd</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K06.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00:26–00:35. Duration 9 minutes.</a:t>
            </a:r>
          </a:p>
          <a:p xmlns:a="http://schemas.openxmlformats.org/drawingml/2006/main">
            <a:r>
              <a:t/>
            </a:r>
          </a:p>
          <a:p xmlns:a="http://schemas.openxmlformats.org/drawingml/2006/main">
            <a:r>
              <a:t>Guide steps 3 and 4. Start Product Review in Plan &gt; Requirements. Read it in Plan &gt; Review plan. Ask why an assumption is justified. If a correct plan needs no change, do not manufacture a revision. If the provider is still working, use the prepared requirement case while it runs. On approval, proceed to the remaining experts when ready; do not wait for a room-wide barrier.</a:t>
            </a:r>
          </a:p>
          <a:p xmlns:a="http://schemas.openxmlformats.org/drawingml/2006/main">
            <a:r>
              <a:t/>
            </a:r>
          </a:p>
          <a:p xmlns:a="http://schemas.openxmlformats.org/drawingml/2006/main">
            <a:r>
              <a:t>PROCEDURE</a:t>
            </a:r>
          </a:p>
          <a:p xmlns:a="http://schemas.openxmlformats.org/drawingml/2006/main">
            <a:r>
              <a:t>https://software-refactory-workshop.vercel.app/#prd</a:t>
            </a:r>
          </a:p>
          <a:p xmlns:a="http://schemas.openxmlformats.org/drawingml/2006/main">
            <a:r>
              <a:t>https://software-refactory-workshop.vercel.app/#plan</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K06, K09.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00:35–00:39. Duration 4 minutes.</a:t>
            </a:r>
          </a:p>
          <a:p xmlns:a="http://schemas.openxmlformats.org/drawingml/2006/main">
            <a:r>
              <a:t/>
            </a:r>
          </a:p>
          <a:p xmlns:a="http://schemas.openxmlformats.org/drawingml/2006/main">
            <a:r>
              <a:t>Trace ingredient search through the four artifacts. Product Review supplies expected behavior. Architecture maps ownership. Program Design makes interfaces explicit. Slices give work ownership and dependencies. The JSON schemas and cross-artifact checks help maintain references; a well-formed artifact can still contain a poor decision. Planning should settle uncertainty that matters. https://ai.engineer/talks/Ib5GBkD555M-harness-engineering-is-not-enough-why-software</a:t>
            </a:r>
          </a:p>
          <a:p xmlns:a="http://schemas.openxmlformats.org/drawingml/2006/main">
            <a:r>
              <a:t/>
            </a:r>
          </a:p>
          <a:p xmlns:a="http://schemas.openxmlformats.org/drawingml/2006/main">
            <a:r>
              <a:t>PROCEDURE</a:t>
            </a:r>
          </a:p>
          <a:p xmlns:a="http://schemas.openxmlformats.org/drawingml/2006/main">
            <a:r>
              <a:t>https://software-refactory-workshop.vercel.app/#publish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K09,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00:39–00:42. Duration 3 minutes.</a:t>
            </a:r>
          </a:p>
          <a:p xmlns:a="http://schemas.openxmlformats.org/drawingml/2006/main">
            <a:r>
              <a:t/>
            </a:r>
          </a:p>
          <a:p xmlns:a="http://schemas.openxmlformats.org/drawingml/2006/main">
            <a:r>
              <a:t>Ask for individual decisions before discussion. Answer: remove or reject this proposed dependency unless someone identifies a concrete requirement or risk that makes it necessary. Do not delete real foundation work merely to make the graph smaller. Compare the prepared case with an actual dependency in the attendee’s plan.</a:t>
            </a:r>
          </a:p>
          <a:p xmlns:a="http://schemas.openxmlformats.org/drawingml/2006/main">
            <a:r>
              <a:t/>
            </a:r>
          </a:p>
          <a:p xmlns:a="http://schemas.openxmlformats.org/drawingml/2006/main">
            <a:r>
              <a:t>PROCEDURE</a:t>
            </a:r>
          </a:p>
          <a:p xmlns:a="http://schemas.openxmlformats.org/drawingml/2006/main">
            <a:r>
              <a:t>https://software-refactory-workshop.vercel.app/#publish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K11,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00:42–00:50. Duration 8 minutes.</a:t>
            </a:r>
          </a:p>
          <a:p xmlns:a="http://schemas.openxmlformats.org/drawingml/2006/main">
            <a:r>
              <a:t/>
            </a:r>
          </a:p>
          <a:p xmlns:a="http://schemas.openxmlformats.org/drawingml/2006/main">
            <a:r>
              <a:t>Guide step 5. In Plan &gt; Review plan, select Run remaining experts. The technical stages run sequentially. Request revision on the selected stage when warranted. Confirm revision and continue regenerates stale downstream artifacts. Resolve any required approvals. Publishing issues remains a separate step. If planning is slow, use the prepared trace; preserve each real run’s state.</a:t>
            </a:r>
          </a:p>
          <a:p xmlns:a="http://schemas.openxmlformats.org/drawingml/2006/main">
            <a:r>
              <a:t/>
            </a:r>
          </a:p>
          <a:p xmlns:a="http://schemas.openxmlformats.org/drawingml/2006/main">
            <a:r>
              <a:t>PROCEDURE</a:t>
            </a:r>
          </a:p>
          <a:p xmlns:a="http://schemas.openxmlformats.org/drawingml/2006/main">
            <a:r>
              <a:t>https://software-refactory-workshop.vercel.app/#publish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K04, K11,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00:50–00:53. Duration 3 minutes.</a:t>
            </a:r>
          </a:p>
          <a:p xmlns:a="http://schemas.openxmlformats.org/drawingml/2006/main">
            <a:r>
              <a:t/>
            </a:r>
          </a:p>
          <a:p xmlns:a="http://schemas.openxmlformats.org/drawingml/2006/main">
            <a:r>
              <a:t>GitHub Projects is the shared backlog and status view. The local Control Center provides the detailed prompt, log, diff, tests and decisions. The supplied GitHub board image is illustrative and the Control Center screenshot is a prepared repository capture. Open your own repository’s Project for actual status. Changes and approvals happen in the appropriate current-run view.</a:t>
            </a:r>
          </a:p>
          <a:p xmlns:a="http://schemas.openxmlformats.org/drawingml/2006/main">
            <a:r>
              <a:t/>
            </a:r>
          </a:p>
          <a:p xmlns:a="http://schemas.openxmlformats.org/drawingml/2006/main">
            <a:r>
              <a:t>PROCEDURE</a:t>
            </a:r>
          </a:p>
          <a:p xmlns:a="http://schemas.openxmlformats.org/drawingml/2006/main">
            <a:r>
              <a:t>https://software-refactory-workshop.vercel.app/#publish</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K14.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00:53–01:05. Duration 12 minutes.</a:t>
            </a:r>
          </a:p>
          <a:p xmlns:a="http://schemas.openxmlformats.org/drawingml/2006/main">
            <a:r>
              <a:t/>
            </a:r>
          </a:p>
          <a:p xmlns:a="http://schemas.openxmlformats.org/drawingml/2006/main">
            <a:r>
              <a:t>Guide steps 5 and 6. The button is Approve and create tickets. Then Deliver &gt; Tickets &gt; Run options &gt; Run one cycle. Live experts determine the reviewed ticket count. Rehearsal has five fixed tickets. Never seed a second backlog or force Live to have five. Publishing does not start implementation. If tests become ready early, attendees may inspect and approve valid evidence, then continue without waiting.</a:t>
            </a:r>
          </a:p>
          <a:p xmlns:a="http://schemas.openxmlformats.org/drawingml/2006/main">
            <a:r>
              <a:t/>
            </a:r>
          </a:p>
          <a:p xmlns:a="http://schemas.openxmlformats.org/drawingml/2006/main">
            <a:r>
              <a:t>PROCEDURE</a:t>
            </a:r>
          </a:p>
          <a:p xmlns:a="http://schemas.openxmlformats.org/drawingml/2006/main">
            <a:r>
              <a:t>https://software-refactory-workshop.vercel.app/#publish</a:t>
            </a:r>
          </a:p>
          <a:p xmlns:a="http://schemas.openxmlformats.org/drawingml/2006/main">
            <a:r>
              <a:t>https://software-refactory-workshop.vercel.app/#qa</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K11, K14.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01:05–01:08. Duration 3 minutes.</a:t>
            </a:r>
          </a:p>
          <a:p xmlns:a="http://schemas.openxmlformats.org/drawingml/2006/main">
            <a:r>
              <a:t/>
            </a:r>
          </a:p>
          <a:p xmlns:a="http://schemas.openxmlformats.org/drawingml/2006/main">
            <a:r>
              <a:t>Do not reveal the next slide for one minute. Then allow a pair discussion. Ask attendees to identify the assertion and its connection to the requirement, rather than vote by error color. A failing process is not sufficient evidence. Cases are prepared discussion material, not claims that we injected them into Live runs.</a:t>
            </a:r>
          </a:p>
          <a:p xmlns:a="http://schemas.openxmlformats.org/drawingml/2006/main">
            <a:r>
              <a:t/>
            </a:r>
          </a:p>
          <a:p xmlns:a="http://schemas.openxmlformats.org/drawingml/2006/main">
            <a:r>
              <a:t>PROCEDURE</a:t>
            </a:r>
          </a:p>
          <a:p xmlns:a="http://schemas.openxmlformats.org/drawingml/2006/main">
            <a:r>
              <a:t>https://software-refactory-workshop.vercel.app/#qa</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K07, K08.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01:08–01:11. Duration 3 minutes.</a:t>
            </a:r>
          </a:p>
          <a:p xmlns:a="http://schemas.openxmlformats.org/drawingml/2006/main">
            <a:r>
              <a:t/>
            </a:r>
          </a:p>
          <a:p xmlns:a="http://schemas.openxmlformats.org/drawingml/2006/main">
            <a:r>
              <a:t>Explain the additional boundary: even B could encode the wrong behavior. Read the criterion, command and baseline revision. The same accepted tests and command later need to pass on the candidate. A second agent role may share the model and the same assumptions. Different evidence sources inspect different properties. https://ai.engineer/talks/Rx8f05JI_WA-swe-marathon-evaluating-coding-agents-at-billion</a:t>
            </a:r>
          </a:p>
          <a:p xmlns:a="http://schemas.openxmlformats.org/drawingml/2006/main">
            <a:r>
              <a:t/>
            </a:r>
          </a:p>
          <a:p xmlns:a="http://schemas.openxmlformats.org/drawingml/2006/main">
            <a:r>
              <a:t>PROCEDURE</a:t>
            </a:r>
          </a:p>
          <a:p xmlns:a="http://schemas.openxmlformats.org/drawingml/2006/main">
            <a:r>
              <a:t>https://software-refactory-workshop.vercel.app/#qa</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K07, K08.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01:11–01:20. Duration 9 minutes.</a:t>
            </a:r>
          </a:p>
          <a:p xmlns:a="http://schemas.openxmlformats.org/drawingml/2006/main">
            <a:r>
              <a:t/>
            </a:r>
          </a:p>
          <a:p xmlns:a="http://schemas.openxmlformats.org/drawingml/2006/main">
            <a:r>
              <a:t>Guide steps 6 and 7. Keep human QA approval. Request test changes if evidence is incorrect. Run factory resumes delivery after approval. This is a target to start eligible implementation, not a provider latency promise. Do not bypass a gate to stay on schedule. Leave a healthy agent running and use a prepared test if the group needs to discuss the next decision.</a:t>
            </a:r>
          </a:p>
          <a:p xmlns:a="http://schemas.openxmlformats.org/drawingml/2006/main">
            <a:r>
              <a:t/>
            </a:r>
          </a:p>
          <a:p xmlns:a="http://schemas.openxmlformats.org/drawingml/2006/main">
            <a:r>
              <a:t>PROCEDURE</a:t>
            </a:r>
          </a:p>
          <a:p xmlns:a="http://schemas.openxmlformats.org/drawingml/2006/main">
            <a:r>
              <a:t>https://software-refactory-workshop.vercel.app/#qa</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K07,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01:20–01:23. Duration 3 minutes.</a:t>
            </a:r>
          </a:p>
          <a:p xmlns:a="http://schemas.openxmlformats.org/drawingml/2006/main">
            <a:r>
              <a:t/>
            </a:r>
          </a:p>
          <a:p xmlns:a="http://schemas.openxmlformats.org/drawingml/2006/main">
            <a:r>
              <a:t>Implementation works in its assigned worktree. The factory runs checks. Code Review may request changes. The failure returns to the relevant role within configured retry rules. Repeating unchanged work does not resolve missing intent or an unavailable dependency. A timer on a lesson does not cancel the real agent. Source synthesis K03 and K08; underlying loop discussion https://www.youtube.com/watch?v=xIt_mTQp6mY&amp;t=283s.</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K03, K08, K13.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01:23–01:26. Duration 3 minutes.</a:t>
            </a:r>
          </a:p>
          <a:p xmlns:a="http://schemas.openxmlformats.org/drawingml/2006/main">
            <a:r>
              <a:t/>
            </a:r>
          </a:p>
          <a:p xmlns:a="http://schemas.openxmlformats.org/drawingml/2006/main">
            <a:r>
              <a:t>Ask where the evidence for the state lives. Use Current run and the ticket detail. A refresh should show recorded state. Do not call a dependency wait a deadlock without inspecting the dependency graph. Worktrees separate Git state, but shared ports and credentials need their own handling.</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K11, K13, K14.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01:26–01:29. Duration 3 minutes.</a:t>
            </a:r>
          </a:p>
          <a:p xmlns:a="http://schemas.openxmlformats.org/drawingml/2006/main">
            <a:r>
              <a:t/>
            </a:r>
          </a:p>
          <a:p xmlns:a="http://schemas.openxmlformats.org/drawingml/2006/main">
            <a:r>
              <a:t>Answer: verify and repair the environment or correct the approved configuration as appropriate, then retry the blocked operation. Do not assume another production edit can make an unavailable service run. This is a prepared case. Preserve real logs and checkpoints. Do not stop or reset a healthy Live run to create the example.</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K03, K16,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01:29–01:35. Duration 6 minutes.</a:t>
            </a:r>
          </a:p>
          <a:p xmlns:a="http://schemas.openxmlformats.org/drawingml/2006/main">
            <a:r>
              <a:t/>
            </a:r>
          </a:p>
          <a:p xmlns:a="http://schemas.openxmlformats.org/drawingml/2006/main">
            <a:r>
              <a:t>Guide step 7. Pair up and explain the ticket to someone who did not run it. If your run is healthy, use the prepared case rather than manufacture a problem. Continue valid QA and merge decisions as they arrive. Do not wait for the later review block to unblock work you have already inspected.</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K03, K12, K14,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01:35–01:45. Duration 10 minutes.</a:t>
            </a:r>
          </a:p>
          <a:p xmlns:a="http://schemas.openxmlformats.org/drawingml/2006/main">
            <a:r>
              <a:t/>
            </a:r>
          </a:p>
          <a:p xmlns:a="http://schemas.openxmlformats.org/drawingml/2006/main">
            <a:r>
              <a:t>Protect the break. Announce the wall-clock return time aloud based on the actual session start. Keep the slide visible. Do not teach new material or reset Live work. If recovering one attendee’s setup, do so without removing the group break.</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01:45–01:49. Duration 4 minutes.</a:t>
            </a:r>
          </a:p>
          <a:p xmlns:a="http://schemas.openxmlformats.org/drawingml/2006/main">
            <a:r>
              <a:t/>
            </a:r>
          </a:p>
          <a:p xmlns:a="http://schemas.openxmlformats.org/drawingml/2006/main">
            <a:r>
              <a:t>Use a fresh pair discussion after the break. Answer: evidence must cover the candidate D. Inspect the new diff, run the applicable checks and obtain the required current review. An old approval alone cannot authorize the changed candidate. Ask a volunteer to name the exact evidence they would open before revealing your explanation.</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K12, K17.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01:49–01:52. Duration 3 minutes.</a:t>
            </a:r>
          </a:p>
          <a:p xmlns:a="http://schemas.openxmlformats.org/drawingml/2006/main">
            <a:r>
              <a:t/>
            </a:r>
          </a:p>
          <a:p xmlns:a="http://schemas.openxmlformats.org/drawingml/2006/main">
            <a:r>
              <a:t>In Standard, the human retains merge authority. The Code Review response refers to base/head revisions and recorded evidence. Its approval must have no findings. It does not perform the merge. A labeled Factory comment on GitHub may not satisfy formal branch-protection approval. The agent reference describes this distinction.</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K07, K12.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01:52–02:10. Duration 18 minutes.</a:t>
            </a:r>
          </a:p>
          <a:p xmlns:a="http://schemas.openxmlformats.org/drawingml/2006/main">
            <a:r>
              <a:t/>
            </a:r>
          </a:p>
          <a:p xmlns:a="http://schemas.openxmlformats.org/drawingml/2006/main">
            <a:r>
              <a:t>Guide step 7. This is rolling review, not a single final barrier. Merge approved prerequisite tickets so dependent work can proceed. If the candidate is wrong or evidence incomplete, request the appropriate correction. Never approve only because the clock is moving. If a run is still implementing, use prepared review evidence while it continues. Record actual Live status independently of the discussion outcome.</a:t>
            </a:r>
          </a:p>
          <a:p xmlns:a="http://schemas.openxmlformats.org/drawingml/2006/main">
            <a:r>
              <a:t/>
            </a:r>
          </a:p>
          <a:p xmlns:a="http://schemas.openxmlformats.org/drawingml/2006/main">
            <a:r>
              <a:t>PROCEDURE</a:t>
            </a:r>
          </a:p>
          <a:p xmlns:a="http://schemas.openxmlformats.org/drawingml/2006/main">
            <a:r>
              <a:t>https://software-refactory-workshop.vercel.app/#factory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K07, K11, K12, K15.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02:10–02:13. Duration 3 minutes.</a:t>
            </a:r>
          </a:p>
          <a:p xmlns:a="http://schemas.openxmlformats.org/drawingml/2006/main">
            <a:r>
              <a:t/>
            </a:r>
          </a:p>
          <a:p xmlns:a="http://schemas.openxmlformats.org/drawingml/2006/main">
            <a:r>
              <a:t>A collection of passing branches does not automatically establish the combined product. Test the actual merged checkout. Preserve earlier requirements as later tickets change interfaces. Physical TV hardware, a real screen reader, or another OS may remain unverified; browser keyboard checks do not certify them. https://ai.engineer/talks/Rx8f05JI_WA-swe-marathon-evaluating-coding-agents-at-billion</a:t>
            </a:r>
          </a:p>
          <a:p xmlns:a="http://schemas.openxmlformats.org/drawingml/2006/main">
            <a:r>
              <a:t/>
            </a:r>
          </a:p>
          <a:p xmlns:a="http://schemas.openxmlformats.org/drawingml/2006/main">
            <a:r>
              <a:t>PROCEDURE</a:t>
            </a:r>
          </a:p>
          <a:p xmlns:a="http://schemas.openxmlformats.org/drawingml/2006/main">
            <a:r>
              <a:t>https://software-refactory-workshop.vercel.app/#finish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K07, K11, K17.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02:13–02:22. Duration 9 minutes.</a:t>
            </a:r>
          </a:p>
          <a:p xmlns:a="http://schemas.openxmlformats.org/drawingml/2006/main">
            <a:r>
              <a:t/>
            </a:r>
          </a:p>
          <a:p xmlns:a="http://schemas.openxmlformats.org/drawingml/2006/main">
            <a:r>
              <a:t>Guide step 8. Run the actual interaction sequence; a screenshot alone is not an interaction test. Keep previous behavior under test while checking later changes. Full completion requires all approved transformation tickets and integrated checks. If Live remains partial, record the exact remaining tickets and use the labeled prepared TableStory result to discuss the remaining checks.</a:t>
            </a:r>
          </a:p>
          <a:p xmlns:a="http://schemas.openxmlformats.org/drawingml/2006/main">
            <a:r>
              <a:t/>
            </a:r>
          </a:p>
          <a:p xmlns:a="http://schemas.openxmlformats.org/drawingml/2006/main">
            <a:r>
              <a:t>PROCEDURE</a:t>
            </a:r>
          </a:p>
          <a:p xmlns:a="http://schemas.openxmlformats.org/drawingml/2006/main">
            <a:r>
              <a:t>https://software-refactory-workshop.vercel.app/#finish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K07, K17.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02:22–02:25. Duration 3 minutes.</a:t>
            </a:r>
          </a:p>
          <a:p xmlns:a="http://schemas.openxmlformats.org/drawingml/2006/main">
            <a:r>
              <a:t/>
            </a:r>
          </a:p>
          <a:p xmlns:a="http://schemas.openxmlformats.org/drawingml/2006/main">
            <a:r>
              <a:t>Guide step 8. Export does not require the optional Canvas. The packet includes structured run evidence and excludes raw provider prompts/logs. Review content before sharing. If a run is unfinished, do not label the prepared reference outcome as its completion. State exactly where that person resumes.</a:t>
            </a:r>
          </a:p>
          <a:p xmlns:a="http://schemas.openxmlformats.org/drawingml/2006/main">
            <a:r>
              <a:t/>
            </a:r>
          </a:p>
          <a:p xmlns:a="http://schemas.openxmlformats.org/drawingml/2006/main">
            <a:r>
              <a:t>PROCEDURE</a:t>
            </a:r>
          </a:p>
          <a:p xmlns:a="http://schemas.openxmlformats.org/drawingml/2006/main">
            <a:r>
              <a:t>https://software-refactory-workshop.vercel.app/#finish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K12, K13, K14.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02:25–02:28. Duration 3 minutes.</a:t>
            </a:r>
          </a:p>
          <a:p xmlns:a="http://schemas.openxmlformats.org/drawingml/2006/main">
            <a:r>
              <a:t/>
            </a:r>
          </a:p>
          <a:p xmlns:a="http://schemas.openxmlformats.org/drawingml/2006/main">
            <a:r>
              <a:t>Historical example reported in docs/research/2026-09-06-codex-live-attendee-report.md, not rerun for this presentation. Final product revision 5e84b3877eb99652b11fea2d13be996ff4f108cb. It reports eight tickets Done, 298 Python and 105 Node tests, and browser checks. It includes debugging and source repairs and does not validate the current release or an unassisted three-hour experience. Partial planning-token records omit delivery and retries. Do not estimate total cost by extrapolation. Open that report if the audience wants provenance.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02:28–02:31. Duration 3 minutes.</a:t>
            </a:r>
          </a:p>
          <a:p xmlns:a="http://schemas.openxmlformats.org/drawingml/2006/main">
            <a:r>
              <a:t/>
            </a:r>
          </a:p>
          <a:p xmlns:a="http://schemas.openxmlformats.org/drawingml/2006/main">
            <a:r>
              <a:t>Assume a stable arrival rate of six and review rate of three over the hour. Ask whether adding workers reduces the queue. It does not under these assumptions. Smaller changes, better evidence or more review capacity may help, but each should be tested. Do not imply that the current factory implements the knowledge document’s proposed pending-review limit. https://ai.engineer/talks/Ib5GBkD555M-harness-engineering-is-not-enough-why-software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K15,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02:31–02:35. Duration 4 minutes.</a:t>
            </a:r>
          </a:p>
          <a:p xmlns:a="http://schemas.openxmlformats.org/drawingml/2006/main">
            <a:r>
              <a:t/>
            </a:r>
          </a:p>
          <a:p xmlns:a="http://schemas.openxmlformats.org/drawingml/2006/main">
            <a:r>
              <a:t>Guide step 8 effort reference. Count invocations by role where records permit, including unsuccessful attempts. Implementation attempts are not total provider calls. Subscription usage is not automatically a per-run charge. A missing usage field means unknown. No accepted changes means cost per accepted change is undefined, not zero. Compare against the same scope and starting revision before claiming a gain.</a:t>
            </a:r>
          </a:p>
          <a:p xmlns:a="http://schemas.openxmlformats.org/drawingml/2006/main">
            <a:r>
              <a:t/>
            </a:r>
          </a:p>
          <a:p xmlns:a="http://schemas.openxmlformats.org/drawingml/2006/main">
            <a:r>
              <a:t>PROCEDURE</a:t>
            </a:r>
          </a:p>
          <a:p xmlns:a="http://schemas.openxmlformats.org/drawingml/2006/main">
            <a:r>
              <a:t>https://software-refactory-workshop.vercel.app/#finish</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02:35–02:37. Duration 2 minutes.</a:t>
            </a:r>
          </a:p>
          <a:p xmlns:a="http://schemas.openxmlformats.org/drawingml/2006/main">
            <a:r>
              <a:t/>
            </a:r>
          </a:p>
          <a:p xmlns:a="http://schemas.openxmlformats.org/drawingml/2006/main">
            <a:r>
              <a:t>Introduce WORKSHOP_PILOT.md. A justified decision to keep an existing workflow is a successful outcome. Suitable examples to discuss include a bounded maintenance change, recurring migration or product feature with stable acceptance. Ask what failure mode justifies a new role. Avoid making the optional Supervisor a prerequisite.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K02, K18,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02:37–02:46. Duration 9 minutes.</a:t>
            </a:r>
          </a:p>
          <a:p xmlns:a="http://schemas.openxmlformats.org/drawingml/2006/main">
            <a:r>
              <a:t/>
            </a:r>
          </a:p>
          <a:p xmlns:a="http://schemas.openxmlformats.org/drawingml/2006/main">
            <a:r>
              <a:t>Use factory/WORKSHOP_PILOT.md. Spend about one minute each on request/result, evidence, access, ownership, cost/capacity and stop/go. Write short answers. Keep scope and mandatory permissions explicit. A control that cannot be measured or observed needs justification. The worksheet is separate from exporting run evidence.</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K06, K16,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02:46–02:53. Duration 7 minutes.</a:t>
            </a:r>
          </a:p>
          <a:p xmlns:a="http://schemas.openxmlformats.org/drawingml/2006/main">
            <a:r>
              <a:t/>
            </a:r>
          </a:p>
          <a:p xmlns:a="http://schemas.openxmlformats.org/drawingml/2006/main">
            <a:r>
              <a:t>Give each person roughly three minutes, leaving one minute to write the change. Prompts: could the existing CLI plus CI handle this? Which recurring failure needs an additional agent? Is review capacity available? What must a person still decide? Preserve necessary access and acceptance controls while comparing simpler approaches.</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K02, K15, K18,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02:53–02:55. Duration 2 minutes.</a:t>
            </a:r>
          </a:p>
          <a:p xmlns:a="http://schemas.openxmlformats.org/drawingml/2006/main">
            <a:r>
              <a:t/>
            </a:r>
          </a:p>
          <a:p xmlns:a="http://schemas.openxmlformats.org/drawingml/2006/main">
            <a:r>
              <a:t>Ask attendees to complete the three statements in their pilot worksheet. Invite two concise examples. Keep team adoption distinct from completion of the TableStory exercise. If they choose no factory, record which existing controls suffice and what evidence would change that decision.</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K18, K19.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02:55–02:58. Duration 3 minutes.</a:t>
            </a:r>
          </a:p>
          <a:p xmlns:a="http://schemas.openxmlformats.org/drawingml/2006/main">
            <a:r>
              <a:t/>
            </a:r>
          </a:p>
          <a:p xmlns:a="http://schemas.openxmlformats.org/drawingml/2006/main">
            <a:r>
              <a:t>Ask each person to answer silently first, then compare with a partner. Do not advance to the answers immediately. These are transfer checks: answers should refer to evidence, authority and capacity. Ask them to name the next action rather than repeat a slogan.</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K06, K12, K15.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ELAPSED 02:58–03:00. Duration 2 minutes.</a:t>
            </a:r>
          </a:p>
          <a:p xmlns:a="http://schemas.openxmlformats.org/drawingml/2006/main">
            <a:r>
              <a:t/>
            </a:r>
          </a:p>
          <a:p xmlns:a="http://schemas.openxmlformats.org/drawingml/2006/main">
            <a:r>
              <a:t>Answer key: fresh evidence and required review for the current candidate; a missing runner is not valid RED; measure arrival/review rates, queue, active effort and rework before changing concurrency. Thank attendees. Point back to the guide and saved pilot. Do not claim every Live run completed. Slides after this are optional reference material outside the 180-minute flow.</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K01, K06, K12, K15.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a:t>
            </a:r>
          </a:p>
          <a:p xmlns:a="http://schemas.openxmlformats.org/drawingml/2006/main">
            <a:r>
              <a:t/>
            </a:r>
          </a:p>
          <a:p xmlns:a="http://schemas.openxmlformats.org/drawingml/2006/main">
            <a:r>
              <a:t>Optional reference, no time added. The four-layer model is a useful diagnostic from https://github.com/ai-that-works/ai-that-works/tree/main/2026-08-25-software-factory-design-patterns. The current factory has more detailed internal interfaces. This slide does not require four services, cloud deployment or identical provider features. A provider dropdown alone does not prove portability. Treat native resume and a new attempt with a handoff separately.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K02, K10, K16.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a:t>
            </a:r>
          </a:p>
          <a:p xmlns:a="http://schemas.openxmlformats.org/drawingml/2006/main">
            <a:r>
              <a:t/>
            </a:r>
          </a:p>
          <a:p xmlns:a="http://schemas.openxmlformats.org/drawingml/2006/main">
            <a:r>
              <a:t>Optional reference. Source factory/AGENT_REFERENCE.md and factory/factory_contracts.py. Standard is today’s path. The Supervisor selects safe dispatch waves and recommends merge readiness in optional profiles. Cleanup, Architecture Conformance, Hardening and Final Verifier belong to Assured. Do not introduce these as requirements for the first workshop delivery.</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K02, K08, K15.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a:t>
            </a:r>
          </a:p>
          <a:p xmlns:a="http://schemas.openxmlformats.org/drawingml/2006/main">
            <a:r>
              <a:t/>
            </a:r>
          </a:p>
          <a:p xmlns:a="http://schemas.openxmlformats.org/drawingml/2006/main">
            <a:r>
              <a:t>Optional reference. The supplied knowledge document proposes these tests and does not audit the implementation. Keep mandatory rules identical in comparisons. Distinguish an adapter contract test from two actual providers, and a successful agent run from evidence that controls reject bad output. Sources: K10, K13, K17–K20 and https://ai.engineer/talks/0vphxNt4wyk-dont-ship-skills-without-evals.</a:t>
            </a:r>
          </a:p>
          <a:p xmlns:a="http://schemas.openxmlformats.org/drawingml/2006/main">
            <a:r>
              <a:t/>
            </a:r>
          </a:p>
          <a:p xmlns:a="http://schemas.openxmlformats.org/drawingml/2006/main">
            <a:r>
              <a:t>RESEARCH CONNECTION</a:t>
            </a:r>
          </a:p>
          <a:p xmlns:a="http://schemas.openxmlformats.org/drawingml/2006/main">
            <a:r>
              <a:t>User-supplied AI Software Factories — Knowledge and Workshop Review (2026-09-08): K10, K13, K17, K18, K20. These are synthesis/teaching connections, not claims that all proposed fixtures were implemented.</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OPTIONAL REFERENCE</a:t>
            </a:r>
          </a:p>
          <a:p xmlns:a="http://schemas.openxmlformats.org/drawingml/2006/main">
            <a:r>
              <a:t/>
            </a:r>
          </a:p>
          <a:p xmlns:a="http://schemas.openxmlformats.org/drawingml/2006/main">
            <a:r>
              <a:t>Local sources: factory/WORKSHOP_PLAN_3_HOURS.md; factory/WORKSHOP_NARRATIVE.md; factory/FACILITATOR.md; factory/WORKSHOP_PILOT.md; factory/AGENT_REFERENCE.md; recipe-app-prd.md; workshop-guide/app/page.tsx; docs/research/2026-09-06-codex-live-attendee-report.md. The supplied knowledge review is a secondary synthesis with mixed transcript-selected and organizer-note coverage. No claim of twenty complete video reviews, proven productivity multipliers, full autonomy or universal architecture is made. Primary pages reopened 8 September 2026: https://github.com/ai-that-works/ai-that-works/tree/main/2026-08-25-software-factory-design-patterns</a:t>
            </a:r>
          </a:p>
          <a:p xmlns:a="http://schemas.openxmlformats.org/drawingml/2006/main">
            <a:r>
              <a:t>https://ai.engineer/talks/Ib5GBkD555M-harness-engineering-is-not-enough-why-software</a:t>
            </a:r>
          </a:p>
          <a:p xmlns:a="http://schemas.openxmlformats.org/drawingml/2006/main">
            <a:r>
              <a:t>https://ai.engineer/talks/Rx8f05JI_WA-swe-marathon-evaluating-coding-agents-at-billion</a:t>
            </a:r>
          </a:p>
          <a:p xmlns:a="http://schemas.openxmlformats.org/drawingml/2006/main">
            <a:r>
              <a:t>https://ai.engineer/talks/0vphxNt4wyk-dont-ship-skills-without-evals. Guide: https://software-refactory-workshop.vercel.app/</a:t>
            </a:r>
          </a:p>
          <a:p xmlns:a="http://schemas.openxmlformats.org/drawingml/2006/main">
            <a:r>
              <a:t/>
            </a:r>
          </a:p>
          <a:p xmlns:a="http://schemas.openxmlformats.org/drawingml/2006/main">
            <a:r>
              <a:t>FACILITATION</a:t>
            </a:r>
          </a:p>
          <a:p xmlns:a="http://schemas.openxmlformats.org/drawingml/2006/main">
            <a:r>
              <a:t>Follow the current 180-minute plan. Preserve the break and final pilot. Healthy agents can keep running. Use labeled prepared evidence for the next decision when latency requires it. Preserve actual run status and approvals.</a:t>
            </a:r>
          </a:p>
          <a:p xmlns:a="http://schemas.openxmlformats.org/drawingml/2006/main">
            <a:r>
              <a:t/>
            </a:r>
          </a:p>
          <a:p xmlns:a="http://schemas.openxmlformats.org/drawingml/2006/main">
            <a:r>
              <a:t>SOURCE</a:t>
            </a:r>
          </a:p>
          <a:p xmlns:a="http://schemas.openxmlformats.org/drawingml/2006/main">
            <a:r>
              <a:t>factory/WORKSHOP_PLAN_3_HOURS.md; factory/WORKSHOP_NARRATIVE.md; factory/AGENT_REFERENCE.md; workshop-guide/app/page.tsx.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749a3bd0a349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4937b8877f4c3a" /><Relationship Type="http://schemas.openxmlformats.org/officeDocument/2006/relationships/slideLayout" Target="/ppt/slideLayouts/slideLayout1.xml" Id="R4dcf4a19a46a4e1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cf4a19a46a4e1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2808de7dde04558" /><Relationship Type="http://schemas.openxmlformats.org/officeDocument/2006/relationships/image" Target="/ppt/media/image.png" Id="R1f18731fd813421f" /><Relationship Type="http://schemas.openxmlformats.org/officeDocument/2006/relationships/notesSlide" Target="/ppt/notesSlides/notesSlide1.xml" Id="Rcae332e771cc4b6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541e1748fc24738" /><Relationship Type="http://schemas.openxmlformats.org/officeDocument/2006/relationships/image" Target="/ppt/media/image.bin" Id="Rb8ba8b416a374b6d" /><Relationship Type="http://schemas.openxmlformats.org/officeDocument/2006/relationships/image" Target="/ppt/media/image2.bin" Id="R50ec465730934aa1" /><Relationship Type="http://schemas.openxmlformats.org/officeDocument/2006/relationships/notesSlide" Target="/ppt/notesSlides/notesSlide2.xml" Id="Re47bfb4f53d948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fc4fd9278d746e8" /><Relationship Type="http://schemas.openxmlformats.org/officeDocument/2006/relationships/notesSlide" Target="/ppt/notesSlides/notesSlide3.xml" Id="R06d94ac7dc5b4e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90a12e49f5c4661" /><Relationship Type="http://schemas.openxmlformats.org/officeDocument/2006/relationships/notesSlide" Target="/ppt/notesSlides/notesSlide4.xml" Id="R06b5b764942a4dd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ad5f0aeed164cb0" /><Relationship Type="http://schemas.openxmlformats.org/officeDocument/2006/relationships/notesSlide" Target="/ppt/notesSlides/notesSlide5.xml" Id="R369e2fe7de36435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d561664bb794554" /><Relationship Type="http://schemas.openxmlformats.org/officeDocument/2006/relationships/notesSlide" Target="/ppt/notesSlides/notesSlide6.xml" Id="R411b2c9e04e24d95"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8c125886bd364b72" /><Relationship Type="http://schemas.openxmlformats.org/officeDocument/2006/relationships/notesSlide" Target="/ppt/notesSlides/notesSlide7.xml" Id="R7534c7c495bd4a1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db59f3725dee49f3" /><Relationship Type="http://schemas.openxmlformats.org/officeDocument/2006/relationships/notesSlide" Target="/ppt/notesSlides/notesSlide8.xml" Id="R31b5f9cea42c42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937dbd0856549c1" /><Relationship Type="http://schemas.openxmlformats.org/officeDocument/2006/relationships/notesSlide" Target="/ppt/notesSlides/notesSlide9.xml" Id="R24e7494b625147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fa1a6c84f4104eb0" /><Relationship Type="http://schemas.openxmlformats.org/officeDocument/2006/relationships/notesSlide" Target="/ppt/notesSlides/notesSlide10.xml" Id="R9df345f67040451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ec436514aae4b01" /><Relationship Type="http://schemas.openxmlformats.org/officeDocument/2006/relationships/notesSlide" Target="/ppt/notesSlides/notesSlide11.xml" Id="R08571a1d79b6499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6d8c017eddf54f32" /><Relationship Type="http://schemas.openxmlformats.org/officeDocument/2006/relationships/notesSlide" Target="/ppt/notesSlides/notesSlide12.xml" Id="R7357e3e8437847a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fbb5d0e87f446ca" /><Relationship Type="http://schemas.openxmlformats.org/officeDocument/2006/relationships/notesSlide" Target="/ppt/notesSlides/notesSlide13.xml" Id="Rd91e61f25380428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0fe789c910d4e25" /><Relationship Type="http://schemas.openxmlformats.org/officeDocument/2006/relationships/notesSlide" Target="/ppt/notesSlides/notesSlide14.xml" Id="R55f17ef9d71949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6d78bff6f5049d1" /><Relationship Type="http://schemas.openxmlformats.org/officeDocument/2006/relationships/notesSlide" Target="/ppt/notesSlides/notesSlide15.xml" Id="R023c470d43ec404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00469342d4542e2" /><Relationship Type="http://schemas.openxmlformats.org/officeDocument/2006/relationships/image" Target="/ppt/media/image.jpeg" Id="R4ec642f7472b411c" /><Relationship Type="http://schemas.openxmlformats.org/officeDocument/2006/relationships/image" Target="/ppt/media/image2.jpeg" Id="Rcce3afbdce6c408d" /><Relationship Type="http://schemas.openxmlformats.org/officeDocument/2006/relationships/notesSlide" Target="/ppt/notesSlides/notesSlide16.xml" Id="R9a5bc0b3948f41a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98582206dd4f47a9" /><Relationship Type="http://schemas.openxmlformats.org/officeDocument/2006/relationships/notesSlide" Target="/ppt/notesSlides/notesSlide17.xml" Id="R075a6e5a31fb4a0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82ddf71fc9a84f4e" /><Relationship Type="http://schemas.openxmlformats.org/officeDocument/2006/relationships/notesSlide" Target="/ppt/notesSlides/notesSlide18.xml" Id="Rbcb38dbe1e7345e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fd3cac4d4f7b41d1" /><Relationship Type="http://schemas.openxmlformats.org/officeDocument/2006/relationships/notesSlide" Target="/ppt/notesSlides/notesSlide19.xml" Id="R78a4a512baf44539"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0f661718daf8440c" /><Relationship Type="http://schemas.openxmlformats.org/officeDocument/2006/relationships/notesSlide" Target="/ppt/notesSlides/notesSlide20.xml" Id="R815501305cfc456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a41ffd386bd74e9c" /><Relationship Type="http://schemas.openxmlformats.org/officeDocument/2006/relationships/notesSlide" Target="/ppt/notesSlides/notesSlide21.xml" Id="R4d727903f3084376"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688287151e44142" /><Relationship Type="http://schemas.openxmlformats.org/officeDocument/2006/relationships/notesSlide" Target="/ppt/notesSlides/notesSlide22.xml" Id="R719b162b92e1456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28c2be8e343940e6" /><Relationship Type="http://schemas.openxmlformats.org/officeDocument/2006/relationships/notesSlide" Target="/ppt/notesSlides/notesSlide23.xml" Id="Ra61e3f171077475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514e42a1de744a70" /><Relationship Type="http://schemas.openxmlformats.org/officeDocument/2006/relationships/notesSlide" Target="/ppt/notesSlides/notesSlide24.xml" Id="R6ee6604e3f12404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3674690387c4eed" /><Relationship Type="http://schemas.openxmlformats.org/officeDocument/2006/relationships/notesSlide" Target="/ppt/notesSlides/notesSlide25.xml" Id="R400d2acb89fc4ab9"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18410a2ee72a4759" /><Relationship Type="http://schemas.openxmlformats.org/officeDocument/2006/relationships/notesSlide" Target="/ppt/notesSlides/notesSlide26.xml" Id="Rccaa107186584bc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56f39f02a9f4e58" /><Relationship Type="http://schemas.openxmlformats.org/officeDocument/2006/relationships/notesSlide" Target="/ppt/notesSlides/notesSlide27.xml" Id="Ref20e743bc354e1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005c50b286624787" /><Relationship Type="http://schemas.openxmlformats.org/officeDocument/2006/relationships/notesSlide" Target="/ppt/notesSlides/notesSlide28.xml" Id="Rd83864e351a0469d"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290889d36e244ca" /><Relationship Type="http://schemas.openxmlformats.org/officeDocument/2006/relationships/notesSlide" Target="/ppt/notesSlides/notesSlide29.xml" Id="Re1aa25a65a4f4b4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2ad30a53325c4bd0" /><Relationship Type="http://schemas.openxmlformats.org/officeDocument/2006/relationships/notesSlide" Target="/ppt/notesSlides/notesSlide30.xml" Id="R8938c3467e654df5"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01736ece36eb4cf3" /><Relationship Type="http://schemas.openxmlformats.org/officeDocument/2006/relationships/notesSlide" Target="/ppt/notesSlides/notesSlide31.xml" Id="R552a7a3c16814c5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65fcd4884e214edc" /><Relationship Type="http://schemas.openxmlformats.org/officeDocument/2006/relationships/notesSlide" Target="/ppt/notesSlides/notesSlide32.xml" Id="R572c481bf5b54f24"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c884ff62094a4b77" /><Relationship Type="http://schemas.openxmlformats.org/officeDocument/2006/relationships/notesSlide" Target="/ppt/notesSlides/notesSlide33.xml" Id="Rf4fb6570f57d44d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97b8af1db38641df" /><Relationship Type="http://schemas.openxmlformats.org/officeDocument/2006/relationships/notesSlide" Target="/ppt/notesSlides/notesSlide34.xml" Id="R25ffdc562d5541dc"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024afa89428b4da3" /><Relationship Type="http://schemas.openxmlformats.org/officeDocument/2006/relationships/notesSlide" Target="/ppt/notesSlides/notesSlide35.xml" Id="Rd55c63c3c6454795"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3514b4d8fd4e496b" /><Relationship Type="http://schemas.openxmlformats.org/officeDocument/2006/relationships/notesSlide" Target="/ppt/notesSlides/notesSlide36.xml" Id="R708271a566fa4d48"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08c17633360f4acb" /><Relationship Type="http://schemas.openxmlformats.org/officeDocument/2006/relationships/notesSlide" Target="/ppt/notesSlides/notesSlide37.xml" Id="R2ead23757664488d"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4f92f7e162a94c53" /><Relationship Type="http://schemas.openxmlformats.org/officeDocument/2006/relationships/notesSlide" Target="/ppt/notesSlides/notesSlide38.xml" Id="R91fa324eb35f458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98510e6932b04240" /><Relationship Type="http://schemas.openxmlformats.org/officeDocument/2006/relationships/notesSlide" Target="/ppt/notesSlides/notesSlide39.xml" Id="R3240ada4cf5e4229"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a6d35d16c5684a34" /><Relationship Type="http://schemas.openxmlformats.org/officeDocument/2006/relationships/notesSlide" Target="/ppt/notesSlides/notesSlide40.xml" Id="R4efff04114c64b3d"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d8e8a6942d034d85" /><Relationship Type="http://schemas.openxmlformats.org/officeDocument/2006/relationships/notesSlide" Target="/ppt/notesSlides/notesSlide41.xml" Id="R22692ff20c3f4d74"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77a0113f1cd34792" /><Relationship Type="http://schemas.openxmlformats.org/officeDocument/2006/relationships/notesSlide" Target="/ppt/notesSlides/notesSlide42.xml" Id="R2aa3451a0a014843"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80958f717b264328" /><Relationship Type="http://schemas.openxmlformats.org/officeDocument/2006/relationships/notesSlide" Target="/ppt/notesSlides/notesSlide43.xml" Id="R440e9ce0d8ee4d73"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7e911c235e1a474b" /><Relationship Type="http://schemas.openxmlformats.org/officeDocument/2006/relationships/notesSlide" Target="/ppt/notesSlides/notesSlide44.xml" Id="Rd38bb17bcde348e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00:00–00:01 elapsed">
            <a:extLst xmlns:a="http://schemas.openxmlformats.org/drawingml/2006/main">
              <a:ext uri="{FF2B5EF4-FFF2-40B4-BE49-F238E27FC236}">
                <a16:creationId xmlns:a16="http://schemas.microsoft.com/office/drawing/2014/main" id="{91B705E8-DEC1-4C98-B1D6-C08F66956755}"/>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2" name="01">
            <a:extLst xmlns:a="http://schemas.openxmlformats.org/drawingml/2006/main">
              <a:ext uri="{FF2B5EF4-FFF2-40B4-BE49-F238E27FC236}">
                <a16:creationId xmlns:a16="http://schemas.microsoft.com/office/drawing/2014/main" id="{7C0779C0-207E-4403-B53C-69E61FC0B97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01</a:t>
            </a:r>
          </a:p>
        </p:txBody>
      </p:sp>
      <p:sp>
        <p:nvSpPr>
          <p:cNvPr id="3" name="Build your own&#10;Software (re)-Factory">
            <a:extLst xmlns:a="http://schemas.openxmlformats.org/drawingml/2006/main">
              <a:ext uri="{FF2B5EF4-FFF2-40B4-BE49-F238E27FC236}">
                <a16:creationId xmlns:a16="http://schemas.microsoft.com/office/drawing/2014/main" id="{11DE05FA-E95F-41C1-AEEC-8D3E39F2B638}"/>
              </a:ext>
            </a:extLst>
          </p:cNvPr>
          <p:cNvSpPr>
            <a:spLocks xmlns:a="http://schemas.openxmlformats.org/drawingml/2006/main" noGrp="1"/>
          </p:cNvSpPr>
          <p:nvPr/>
        </p:nvSpPr>
        <p:spPr>
          <a:xfrm xmlns:a="http://schemas.openxmlformats.org/drawingml/2006/main">
            <a:off x="609600" y="800100"/>
            <a:ext cx="1057275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725" b="1">
                <a:solidFill>
                  <a:srgbClr val="152A3A"/>
                </a:solidFill>
                <a:latin typeface="Helvetica Neue"/>
                <a:ea typeface="Helvetica Neue"/>
                <a:cs typeface="Helvetica Neue"/>
              </a:defRPr>
            </a:pPr>
            <a:r>
              <a:rPr sz="4725" b="1">
                <a:solidFill>
                  <a:srgbClr val="152A3A"/>
                </a:solidFill>
                <a:latin typeface="Helvetica Neue"/>
                <a:ea typeface="Helvetica Neue"/>
                <a:cs typeface="Helvetica Neue"/>
              </a:rPr>
              <a:t>Build your own</a:t>
            </a:r>
          </a:p>
          <a:p xmlns:a="http://schemas.openxmlformats.org/drawingml/2006/main">
            <a:pPr>
              <a:buNone/>
              <a:defRPr sz="4725" b="1">
                <a:solidFill>
                  <a:srgbClr val="152A3A"/>
                </a:solidFill>
                <a:latin typeface="Helvetica Neue"/>
                <a:ea typeface="Helvetica Neue"/>
                <a:cs typeface="Helvetica Neue"/>
              </a:defRPr>
            </a:pPr>
            <a:r>
              <a:rPr sz="4725" b="1">
                <a:solidFill>
                  <a:srgbClr val="152A3A"/>
                </a:solidFill>
                <a:latin typeface="Helvetica Neue"/>
                <a:ea typeface="Helvetica Neue"/>
                <a:cs typeface="Helvetica Neue"/>
              </a:rPr>
              <a:t>Software (re)-Factory</a:t>
            </a:r>
          </a:p>
        </p:txBody>
      </p:sp>
      <p:sp>
        <p:nvSpPr>
          <p:cNvPr id="4" name="A three-hour workshop on controlling AI-assisted delive">
            <a:extLst xmlns:a="http://schemas.openxmlformats.org/drawingml/2006/main">
              <a:ext uri="{FF2B5EF4-FFF2-40B4-BE49-F238E27FC236}">
                <a16:creationId xmlns:a16="http://schemas.microsoft.com/office/drawing/2014/main" id="{3177AAE2-7463-49B4-8B99-28B4863536F8}"/>
              </a:ext>
            </a:extLst>
          </p:cNvPr>
          <p:cNvSpPr>
            <a:spLocks xmlns:a="http://schemas.openxmlformats.org/drawingml/2006/main" noGrp="1"/>
          </p:cNvSpPr>
          <p:nvPr/>
        </p:nvSpPr>
        <p:spPr>
          <a:xfrm xmlns:a="http://schemas.openxmlformats.org/drawingml/2006/main">
            <a:off x="609600" y="2705100"/>
            <a:ext cx="1038225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006CA5"/>
                </a:solidFill>
                <a:latin typeface="Helvetica Neue"/>
                <a:ea typeface="Helvetica Neue"/>
                <a:cs typeface="Helvetica Neue"/>
              </a:defRPr>
            </a:pPr>
            <a:r>
              <a:rPr sz="2550" b="0">
                <a:solidFill>
                  <a:srgbClr val="006CA5"/>
                </a:solidFill>
                <a:latin typeface="Helvetica Neue"/>
                <a:ea typeface="Helvetica Neue"/>
                <a:cs typeface="Helvetica Neue"/>
              </a:rPr>
              <a:t>A three-hour workshop on controlling AI-assisted delivery</a:t>
            </a:r>
          </a:p>
        </p:txBody>
      </p:sp>
      <p:sp>
        <p:nvSpPr>
          <p:cNvPr id="5" name="Giovanni Laquidara&#10;September 2026">
            <a:extLst xmlns:a="http://schemas.openxmlformats.org/drawingml/2006/main">
              <a:ext uri="{FF2B5EF4-FFF2-40B4-BE49-F238E27FC236}">
                <a16:creationId xmlns:a16="http://schemas.microsoft.com/office/drawing/2014/main" id="{4B6A302E-4E06-4533-8EDE-3C03268335D1}"/>
              </a:ext>
            </a:extLst>
          </p:cNvPr>
          <p:cNvSpPr>
            <a:spLocks xmlns:a="http://schemas.openxmlformats.org/drawingml/2006/main" noGrp="1"/>
          </p:cNvSpPr>
          <p:nvPr/>
        </p:nvSpPr>
        <p:spPr>
          <a:xfrm xmlns:a="http://schemas.openxmlformats.org/drawingml/2006/main">
            <a:off x="609600" y="4762500"/>
            <a:ext cx="42862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Giovanni Laquidara</a:t>
            </a:r>
          </a:p>
          <a:p xmlns:a="http://schemas.openxmlformats.org/drawingml/2006/main">
            <a:pPr>
              <a:buNone/>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September 2026</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1f18731fd813421f"/>
          <a:stretch xmlns:a="http://schemas.openxmlformats.org/drawingml/2006/main"/>
        </p:blipFill>
        <p:spPr>
          <a:xfrm xmlns:a="http://schemas.openxmlformats.org/drawingml/2006/main">
            <a:off x="6414769" y="3381375"/>
            <a:ext cx="4772663" cy="2686050"/>
          </a:xfrm>
          <a:prstGeom xmlns:a="http://schemas.openxmlformats.org/drawingml/2006/main" prst="rect">
            <a:avLst/>
          </a:prstGeom>
        </p:spPr>
      </p:pic>
    </p:spTree>
    <p:extLst>
      <p:ext uri="{BB962C8B-B14F-4D97-AF65-F5344CB8AC3E}">
        <p14:creationId xmlns:p14="http://schemas.microsoft.com/office/powerpoint/2010/main" val="16587881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A new product for a new customer">
            <a:extLst xmlns:a="http://schemas.openxmlformats.org/drawingml/2006/main">
              <a:ext uri="{FF2B5EF4-FFF2-40B4-BE49-F238E27FC236}">
                <a16:creationId xmlns:a16="http://schemas.microsoft.com/office/drawing/2014/main" id="{B08AF003-1AC9-4894-8C09-A0D0A71903FA}"/>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 new product for a new customer</a:t>
            </a:r>
          </a:p>
        </p:txBody>
      </p:sp>
      <p:sp>
        <p:nvSpPr>
          <p:cNvPr id="2" name="00:01–00:03 elapsed">
            <a:extLst xmlns:a="http://schemas.openxmlformats.org/drawingml/2006/main">
              <a:ext uri="{FF2B5EF4-FFF2-40B4-BE49-F238E27FC236}">
                <a16:creationId xmlns:a16="http://schemas.microsoft.com/office/drawing/2014/main" id="{F61D2902-5EB0-4275-A2A9-B1927F4650BA}"/>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baseline">
            <a:extLst xmlns:a="http://schemas.openxmlformats.org/drawingml/2006/main">
              <a:ext uri="{FF2B5EF4-FFF2-40B4-BE49-F238E27FC236}">
                <a16:creationId xmlns:a16="http://schemas.microsoft.com/office/drawing/2014/main" id="{45FC3A8E-2942-46D7-9D44-0858FA7436AC}"/>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#baseline</a:t>
            </a:r>
          </a:p>
        </p:txBody>
      </p:sp>
      <p:sp>
        <p:nvSpPr>
          <p:cNvPr id="4" name="02">
            <a:extLst xmlns:a="http://schemas.openxmlformats.org/drawingml/2006/main">
              <a:ext uri="{FF2B5EF4-FFF2-40B4-BE49-F238E27FC236}">
                <a16:creationId xmlns:a16="http://schemas.microsoft.com/office/drawing/2014/main" id="{FB4BDA4E-3AC1-45A1-91CF-8F76D32F5C51}"/>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02</a:t>
            </a:r>
          </a:p>
        </p:txBody>
      </p:sp>
      <p:sp>
        <p:nvSpPr>
          <p:cNvPr id="5" name="Pocket Cinema">
            <a:extLst xmlns:a="http://schemas.openxmlformats.org/drawingml/2006/main">
              <a:ext uri="{FF2B5EF4-FFF2-40B4-BE49-F238E27FC236}">
                <a16:creationId xmlns:a16="http://schemas.microsoft.com/office/drawing/2014/main" id="{ABB945E2-37C1-4207-8D95-D3DDD556910E}"/>
              </a:ext>
            </a:extLst>
          </p:cNvPr>
          <p:cNvSpPr>
            <a:spLocks xmlns:a="http://schemas.openxmlformats.org/drawingml/2006/main" noGrp="1"/>
          </p:cNvSpPr>
          <p:nvPr/>
        </p:nvSpPr>
        <p:spPr>
          <a:xfrm xmlns:a="http://schemas.openxmlformats.org/drawingml/2006/main">
            <a:off x="609600" y="15621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52A3A"/>
                </a:solidFill>
                <a:latin typeface="Helvetica Neue"/>
                <a:ea typeface="Helvetica Neue"/>
                <a:cs typeface="Helvetica Neue"/>
              </a:defRPr>
            </a:pPr>
            <a:r>
              <a:rPr sz="2250" b="1">
                <a:solidFill>
                  <a:srgbClr val="152A3A"/>
                </a:solidFill>
                <a:latin typeface="Helvetica Neue"/>
                <a:ea typeface="Helvetica Neue"/>
                <a:cs typeface="Helvetica Neue"/>
              </a:rPr>
              <a:t>Pocket Cinema</a:t>
            </a:r>
          </a:p>
        </p:txBody>
      </p:sp>
      <p:sp>
        <p:nvSpPr>
          <p:cNvPr id="6" name="TableStory">
            <a:extLst xmlns:a="http://schemas.openxmlformats.org/drawingml/2006/main">
              <a:ext uri="{FF2B5EF4-FFF2-40B4-BE49-F238E27FC236}">
                <a16:creationId xmlns:a16="http://schemas.microsoft.com/office/drawing/2014/main" id="{3849AFB6-7D52-472F-9B22-15227F45705A}"/>
              </a:ext>
            </a:extLst>
          </p:cNvPr>
          <p:cNvSpPr>
            <a:spLocks xmlns:a="http://schemas.openxmlformats.org/drawingml/2006/main" noGrp="1"/>
          </p:cNvSpPr>
          <p:nvPr/>
        </p:nvSpPr>
        <p:spPr>
          <a:xfrm xmlns:a="http://schemas.openxmlformats.org/drawingml/2006/main">
            <a:off x="6343650" y="1562100"/>
            <a:ext cx="5143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152A3A"/>
                </a:solidFill>
                <a:latin typeface="Helvetica Neue"/>
                <a:ea typeface="Helvetica Neue"/>
                <a:cs typeface="Helvetica Neue"/>
              </a:defRPr>
            </a:pPr>
            <a:r>
              <a:rPr sz="2250" b="1">
                <a:solidFill>
                  <a:srgbClr val="152A3A"/>
                </a:solidFill>
                <a:latin typeface="Helvetica Neue"/>
                <a:ea typeface="Helvetica Neue"/>
                <a:cs typeface="Helvetica Neue"/>
              </a:rPr>
              <a:t>TableStory</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b8ba8b416a374b6d"/>
          <a:stretch xmlns:a="http://schemas.openxmlformats.org/drawingml/2006/main"/>
        </p:blipFill>
        <p:spPr>
          <a:xfrm xmlns:a="http://schemas.openxmlformats.org/drawingml/2006/main">
            <a:off x="884659" y="2076450"/>
            <a:ext cx="4688633" cy="319087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50ec465730934aa1"/>
          <a:stretch xmlns:a="http://schemas.openxmlformats.org/drawingml/2006/main"/>
        </p:blipFill>
        <p:spPr>
          <a:xfrm xmlns:a="http://schemas.openxmlformats.org/drawingml/2006/main">
            <a:off x="6609184" y="2076450"/>
            <a:ext cx="4688633" cy="3190875"/>
          </a:xfrm>
          <a:prstGeom xmlns:a="http://schemas.openxmlformats.org/drawingml/2006/main" prst="rect">
            <a:avLst/>
          </a:prstGeom>
        </p:spPr>
      </p:pic>
      <p:sp>
        <p:nvSpPr>
          <p:cNvPr id="9" name="Prepared reference: transform the product’s purpose, be">
            <a:extLst xmlns:a="http://schemas.openxmlformats.org/drawingml/2006/main">
              <a:ext uri="{FF2B5EF4-FFF2-40B4-BE49-F238E27FC236}">
                <a16:creationId xmlns:a16="http://schemas.microsoft.com/office/drawing/2014/main" id="{A1614F1B-F587-4CF1-925B-4245CBA1DA89}"/>
              </a:ext>
            </a:extLst>
          </p:cNvPr>
          <p:cNvSpPr>
            <a:spLocks xmlns:a="http://schemas.openxmlformats.org/drawingml/2006/main" noGrp="1"/>
          </p:cNvSpPr>
          <p:nvPr/>
        </p:nvSpPr>
        <p:spPr>
          <a:xfrm xmlns:a="http://schemas.openxmlformats.org/drawingml/2006/main">
            <a:off x="609600" y="5676900"/>
            <a:ext cx="10858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006CA5"/>
                </a:solidFill>
                <a:latin typeface="Helvetica Neue"/>
                <a:ea typeface="Helvetica Neue"/>
                <a:cs typeface="Helvetica Neue"/>
              </a:defRPr>
            </a:pPr>
            <a:r>
              <a:rPr sz="2100" b="0">
                <a:solidFill>
                  <a:srgbClr val="006CA5"/>
                </a:solidFill>
                <a:latin typeface="Helvetica Neue"/>
                <a:ea typeface="Helvetica Neue"/>
                <a:cs typeface="Helvetica Neue"/>
              </a:rPr>
              <a:t>Prepared reference: transform the product’s purpose, behavior and interfaces.</a:t>
            </a:r>
          </a:p>
        </p:txBody>
      </p:sp>
    </p:spTree>
    <p:extLst>
      <p:ext uri="{BB962C8B-B14F-4D97-AF65-F5344CB8AC3E}">
        <p14:creationId xmlns:p14="http://schemas.microsoft.com/office/powerpoint/2010/main" val="58165001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Would you merge this?">
            <a:extLst xmlns:a="http://schemas.openxmlformats.org/drawingml/2006/main">
              <a:ext uri="{FF2B5EF4-FFF2-40B4-BE49-F238E27FC236}">
                <a16:creationId xmlns:a16="http://schemas.microsoft.com/office/drawing/2014/main" id="{E40CB18A-7C4B-49B4-A6C1-3D6D2367F62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Would you merge this?</a:t>
            </a:r>
          </a:p>
        </p:txBody>
      </p:sp>
      <p:sp>
        <p:nvSpPr>
          <p:cNvPr id="2" name="00:03–00:06 elapsed">
            <a:extLst xmlns:a="http://schemas.openxmlformats.org/drawingml/2006/main">
              <a:ext uri="{FF2B5EF4-FFF2-40B4-BE49-F238E27FC236}">
                <a16:creationId xmlns:a16="http://schemas.microsoft.com/office/drawing/2014/main" id="{3A7D8804-8B00-4FC3-8C67-8B6DB5735889}"/>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03">
            <a:extLst xmlns:a="http://schemas.openxmlformats.org/drawingml/2006/main">
              <a:ext uri="{FF2B5EF4-FFF2-40B4-BE49-F238E27FC236}">
                <a16:creationId xmlns:a16="http://schemas.microsoft.com/office/drawing/2014/main" id="{1593E929-2605-4FD7-BF37-0E1582A5BAD6}"/>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03</a:t>
            </a:r>
          </a:p>
        </p:txBody>
      </p:sp>
      <p:sp>
        <p:nvSpPr>
          <p:cNvPr id="4" name="Prepared decision case">
            <a:extLst xmlns:a="http://schemas.openxmlformats.org/drawingml/2006/main">
              <a:ext uri="{FF2B5EF4-FFF2-40B4-BE49-F238E27FC236}">
                <a16:creationId xmlns:a16="http://schemas.microsoft.com/office/drawing/2014/main" id="{F7653798-4A6E-4BC5-A056-F2464F92952C}"/>
              </a:ext>
            </a:extLst>
          </p:cNvPr>
          <p:cNvSpPr>
            <a:spLocks xmlns:a="http://schemas.openxmlformats.org/drawingml/2006/main" noGrp="1"/>
          </p:cNvSpPr>
          <p:nvPr/>
        </p:nvSpPr>
        <p:spPr>
          <a:xfrm xmlns:a="http://schemas.openxmlformats.org/drawingml/2006/main">
            <a:off x="609600" y="15906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C44C0D"/>
                </a:solidFill>
                <a:latin typeface="Helvetica Neue"/>
                <a:ea typeface="Helvetica Neue"/>
                <a:cs typeface="Helvetica Neue"/>
              </a:defRPr>
            </a:pPr>
            <a:r>
              <a:rPr sz="1575" b="1">
                <a:solidFill>
                  <a:srgbClr val="C44C0D"/>
                </a:solidFill>
                <a:latin typeface="Helvetica Neue"/>
                <a:ea typeface="Helvetica Neue"/>
                <a:cs typeface="Helvetica Neue"/>
              </a:rPr>
              <a:t>Prepared decision case</a:t>
            </a:r>
          </a:p>
        </p:txBody>
      </p:sp>
      <p:sp>
        <p:nvSpPr>
          <p:cNvPr id="5" name="The recipe app looks right.&#10;The pull request shows an a">
            <a:extLst xmlns:a="http://schemas.openxmlformats.org/drawingml/2006/main">
              <a:ext uri="{FF2B5EF4-FFF2-40B4-BE49-F238E27FC236}">
                <a16:creationId xmlns:a16="http://schemas.microsoft.com/office/drawing/2014/main" id="{BE367C85-DBEB-4664-9941-7E5EF4319E0E}"/>
              </a:ext>
            </a:extLst>
          </p:cNvPr>
          <p:cNvSpPr>
            <a:spLocks xmlns:a="http://schemas.openxmlformats.org/drawingml/2006/main" noGrp="1"/>
          </p:cNvSpPr>
          <p:nvPr/>
        </p:nvSpPr>
        <p:spPr>
          <a:xfrm xmlns:a="http://schemas.openxmlformats.org/drawingml/2006/main">
            <a:off x="609600" y="2124075"/>
            <a:ext cx="10858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The recipe app looks right.</a:t>
            </a:r>
          </a:p>
          <a:p xmlns:a="http://schemas.openxmlformats.org/drawingml/2006/main">
            <a:pPr>
              <a:buNone/>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The pull request shows an approval.</a:t>
            </a:r>
          </a:p>
        </p:txBody>
      </p:sp>
      <p:sp>
        <p:nvSpPr>
          <p:cNvPr id="6" name="Checks and review">
            <a:extLst xmlns:a="http://schemas.openxmlformats.org/drawingml/2006/main">
              <a:ext uri="{FF2B5EF4-FFF2-40B4-BE49-F238E27FC236}">
                <a16:creationId xmlns:a16="http://schemas.microsoft.com/office/drawing/2014/main" id="{7C8DA1BB-8B63-4A88-94DB-A0C86E0972B2}"/>
              </a:ext>
            </a:extLst>
          </p:cNvPr>
          <p:cNvSpPr>
            <a:spLocks xmlns:a="http://schemas.openxmlformats.org/drawingml/2006/main" noGrp="1"/>
          </p:cNvSpPr>
          <p:nvPr/>
        </p:nvSpPr>
        <p:spPr>
          <a:xfrm xmlns:a="http://schemas.openxmlformats.org/drawingml/2006/main">
            <a:off x="609600" y="3571875"/>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Checks and review</a:t>
            </a:r>
          </a:p>
        </p:txBody>
      </p:sp>
      <p:sp>
        <p:nvSpPr>
          <p:cNvPr id="7" name="Commit A">
            <a:extLst xmlns:a="http://schemas.openxmlformats.org/drawingml/2006/main">
              <a:ext uri="{FF2B5EF4-FFF2-40B4-BE49-F238E27FC236}">
                <a16:creationId xmlns:a16="http://schemas.microsoft.com/office/drawing/2014/main" id="{C42B227D-E6E9-40E0-8DC7-3879CC763D63}"/>
              </a:ext>
            </a:extLst>
          </p:cNvPr>
          <p:cNvSpPr>
            <a:spLocks xmlns:a="http://schemas.openxmlformats.org/drawingml/2006/main" noGrp="1"/>
          </p:cNvSpPr>
          <p:nvPr/>
        </p:nvSpPr>
        <p:spPr>
          <a:xfrm xmlns:a="http://schemas.openxmlformats.org/drawingml/2006/main">
            <a:off x="6991350" y="3571875"/>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Commit A</a:t>
            </a:r>
          </a:p>
        </p:txBody>
      </p:sp>
      <p:sp>
        <p:nvSpPr>
          <p:cNvPr id="8" name="Current PR candidate">
            <a:extLst xmlns:a="http://schemas.openxmlformats.org/drawingml/2006/main">
              <a:ext uri="{FF2B5EF4-FFF2-40B4-BE49-F238E27FC236}">
                <a16:creationId xmlns:a16="http://schemas.microsoft.com/office/drawing/2014/main" id="{748A7DD6-AEAB-4437-88CF-9B78E0624AEB}"/>
              </a:ext>
            </a:extLst>
          </p:cNvPr>
          <p:cNvSpPr>
            <a:spLocks xmlns:a="http://schemas.openxmlformats.org/drawingml/2006/main" noGrp="1"/>
          </p:cNvSpPr>
          <p:nvPr/>
        </p:nvSpPr>
        <p:spPr>
          <a:xfrm xmlns:a="http://schemas.openxmlformats.org/drawingml/2006/main">
            <a:off x="609600" y="415290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Current PR candidate</a:t>
            </a:r>
          </a:p>
        </p:txBody>
      </p:sp>
      <p:sp>
        <p:nvSpPr>
          <p:cNvPr id="9" name="Commit B">
            <a:extLst xmlns:a="http://schemas.openxmlformats.org/drawingml/2006/main">
              <a:ext uri="{FF2B5EF4-FFF2-40B4-BE49-F238E27FC236}">
                <a16:creationId xmlns:a16="http://schemas.microsoft.com/office/drawing/2014/main" id="{C6542A32-02D1-4CFF-8FA9-1E239F4BD602}"/>
              </a:ext>
            </a:extLst>
          </p:cNvPr>
          <p:cNvSpPr>
            <a:spLocks xmlns:a="http://schemas.openxmlformats.org/drawingml/2006/main" noGrp="1"/>
          </p:cNvSpPr>
          <p:nvPr/>
        </p:nvSpPr>
        <p:spPr>
          <a:xfrm xmlns:a="http://schemas.openxmlformats.org/drawingml/2006/main">
            <a:off x="6991350" y="4152900"/>
            <a:ext cx="4286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Commit B</a:t>
            </a:r>
          </a:p>
        </p:txBody>
      </p:sp>
      <p:sp>
        <p:nvSpPr>
          <p:cNvPr id="10" name="Merge, request changes, or wait?">
            <a:extLst xmlns:a="http://schemas.openxmlformats.org/drawingml/2006/main">
              <a:ext uri="{FF2B5EF4-FFF2-40B4-BE49-F238E27FC236}">
                <a16:creationId xmlns:a16="http://schemas.microsoft.com/office/drawing/2014/main" id="{0EC5AEC1-53C6-4FCA-8745-86052BA61409}"/>
              </a:ext>
            </a:extLst>
          </p:cNvPr>
          <p:cNvSpPr>
            <a:spLocks xmlns:a="http://schemas.openxmlformats.org/drawingml/2006/main" noGrp="1"/>
          </p:cNvSpPr>
          <p:nvPr/>
        </p:nvSpPr>
        <p:spPr>
          <a:xfrm xmlns:a="http://schemas.openxmlformats.org/drawingml/2006/main">
            <a:off x="609600" y="510540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Merge, request changes, or wait?</a:t>
            </a:r>
          </a:p>
        </p:txBody>
      </p:sp>
    </p:spTree>
    <p:extLst>
      <p:ext uri="{BB962C8B-B14F-4D97-AF65-F5344CB8AC3E}">
        <p14:creationId xmlns:p14="http://schemas.microsoft.com/office/powerpoint/2010/main" val="123171048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pproval must cover the candidate">
            <a:extLst xmlns:a="http://schemas.openxmlformats.org/drawingml/2006/main">
              <a:ext uri="{FF2B5EF4-FFF2-40B4-BE49-F238E27FC236}">
                <a16:creationId xmlns:a16="http://schemas.microsoft.com/office/drawing/2014/main" id="{9039C4A0-0DFA-4B34-8E0C-575216FDDE5A}"/>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Approval must cover the candidate</a:t>
            </a:r>
          </a:p>
        </p:txBody>
      </p:sp>
      <p:sp>
        <p:nvSpPr>
          <p:cNvPr id="2" name="00:06–00:08 elapsed">
            <a:extLst xmlns:a="http://schemas.openxmlformats.org/drawingml/2006/main">
              <a:ext uri="{FF2B5EF4-FFF2-40B4-BE49-F238E27FC236}">
                <a16:creationId xmlns:a16="http://schemas.microsoft.com/office/drawing/2014/main" id="{68030193-0EB4-48CC-8912-5DD4E72315E4}"/>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04">
            <a:extLst xmlns:a="http://schemas.openxmlformats.org/drawingml/2006/main">
              <a:ext uri="{FF2B5EF4-FFF2-40B4-BE49-F238E27FC236}">
                <a16:creationId xmlns:a16="http://schemas.microsoft.com/office/drawing/2014/main" id="{52110378-D7FA-4EFD-9BB6-49EB978B271E}"/>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04</a:t>
            </a:r>
          </a:p>
        </p:txBody>
      </p:sp>
      <p:sp>
        <p:nvSpPr>
          <p:cNvPr id="4" name="Inspect and verify commit B.">
            <a:extLst xmlns:a="http://schemas.openxmlformats.org/drawingml/2006/main">
              <a:ext uri="{FF2B5EF4-FFF2-40B4-BE49-F238E27FC236}">
                <a16:creationId xmlns:a16="http://schemas.microsoft.com/office/drawing/2014/main" id="{97D9EF90-6849-45DE-8B7A-54CC8119A3E1}"/>
              </a:ext>
            </a:extLst>
          </p:cNvPr>
          <p:cNvSpPr>
            <a:spLocks xmlns:a="http://schemas.openxmlformats.org/drawingml/2006/main" noGrp="1"/>
          </p:cNvSpPr>
          <p:nvPr/>
        </p:nvSpPr>
        <p:spPr>
          <a:xfrm xmlns:a="http://schemas.openxmlformats.org/drawingml/2006/main">
            <a:off x="609600" y="1724025"/>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Inspect and verify commit B.</a:t>
            </a:r>
          </a:p>
        </p:txBody>
      </p:sp>
      <p:sp>
        <p:nvSpPr>
          <p:cNvPr id="5" name="The recorded approval covers A.&#10;Changed code needs curr">
            <a:extLst xmlns:a="http://schemas.openxmlformats.org/drawingml/2006/main">
              <a:ext uri="{FF2B5EF4-FFF2-40B4-BE49-F238E27FC236}">
                <a16:creationId xmlns:a16="http://schemas.microsoft.com/office/drawing/2014/main" id="{DBF08F3A-1AD0-4D3F-AB54-2A6622CDDD22}"/>
              </a:ext>
            </a:extLst>
          </p:cNvPr>
          <p:cNvSpPr>
            <a:spLocks xmlns:a="http://schemas.openxmlformats.org/drawingml/2006/main" noGrp="1"/>
          </p:cNvSpPr>
          <p:nvPr/>
        </p:nvSpPr>
        <p:spPr>
          <a:xfrm xmlns:a="http://schemas.openxmlformats.org/drawingml/2006/main">
            <a:off x="609600" y="3648075"/>
            <a:ext cx="109728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The recorded approval covers A.</a:t>
            </a:r>
          </a:p>
          <a:p xmlns:a="http://schemas.openxmlformats.org/drawingml/2006/main">
            <a:pPr>
              <a:buNone/>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Changed code needs current evidence and review.</a:t>
            </a:r>
          </a:p>
        </p:txBody>
      </p:sp>
      <p:sp>
        <p:nvSpPr>
          <p:cNvPr id="6" name="A passing check establishes a result for a particular r">
            <a:extLst xmlns:a="http://schemas.openxmlformats.org/drawingml/2006/main">
              <a:ext uri="{FF2B5EF4-FFF2-40B4-BE49-F238E27FC236}">
                <a16:creationId xmlns:a16="http://schemas.microsoft.com/office/drawing/2014/main" id="{65D7B613-3D31-46F8-B9AC-6677DB3C92DB}"/>
              </a:ext>
            </a:extLst>
          </p:cNvPr>
          <p:cNvSpPr>
            <a:spLocks xmlns:a="http://schemas.openxmlformats.org/drawingml/2006/main" noGrp="1"/>
          </p:cNvSpPr>
          <p:nvPr/>
        </p:nvSpPr>
        <p:spPr>
          <a:xfrm xmlns:a="http://schemas.openxmlformats.org/drawingml/2006/main">
            <a:off x="609600" y="55530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777"/>
                </a:solidFill>
                <a:latin typeface="Helvetica Neue"/>
                <a:ea typeface="Helvetica Neue"/>
                <a:cs typeface="Helvetica Neue"/>
              </a:defRPr>
            </a:pPr>
            <a:r>
              <a:rPr sz="2100" b="0">
                <a:solidFill>
                  <a:srgbClr val="526777"/>
                </a:solidFill>
                <a:latin typeface="Helvetica Neue"/>
                <a:ea typeface="Helvetica Neue"/>
                <a:cs typeface="Helvetica Neue"/>
              </a:rPr>
              <a:t>A passing check establishes a result for a particular revision.</a:t>
            </a:r>
          </a:p>
        </p:txBody>
      </p:sp>
    </p:spTree>
    <p:extLst>
      <p:ext uri="{BB962C8B-B14F-4D97-AF65-F5344CB8AC3E}">
        <p14:creationId xmlns:p14="http://schemas.microsoft.com/office/powerpoint/2010/main" val="9535205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Our three-hour session">
            <a:extLst xmlns:a="http://schemas.openxmlformats.org/drawingml/2006/main">
              <a:ext uri="{FF2B5EF4-FFF2-40B4-BE49-F238E27FC236}">
                <a16:creationId xmlns:a16="http://schemas.microsoft.com/office/drawing/2014/main" id="{310D51EF-52C9-4AB7-A1EE-FB9285B727EA}"/>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Our three-hour session</a:t>
            </a:r>
          </a:p>
        </p:txBody>
      </p:sp>
      <p:sp>
        <p:nvSpPr>
          <p:cNvPr id="2" name="00:08–00:10 elapsed">
            <a:extLst xmlns:a="http://schemas.openxmlformats.org/drawingml/2006/main">
              <a:ext uri="{FF2B5EF4-FFF2-40B4-BE49-F238E27FC236}">
                <a16:creationId xmlns:a16="http://schemas.microsoft.com/office/drawing/2014/main" id="{B43F4B50-FA32-471D-B76C-FA4DF785D0CD}"/>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05">
            <a:extLst xmlns:a="http://schemas.openxmlformats.org/drawingml/2006/main">
              <a:ext uri="{FF2B5EF4-FFF2-40B4-BE49-F238E27FC236}">
                <a16:creationId xmlns:a16="http://schemas.microsoft.com/office/drawing/2014/main" id="{27F214D4-1AB7-466B-9876-C8E6C03C9100}"/>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05</a:t>
            </a:r>
          </a:p>
        </p:txBody>
      </p:sp>
      <p:sp>
        <p:nvSpPr>
          <p:cNvPr id="4" name="00:00–00:20">
            <a:extLst xmlns:a="http://schemas.openxmlformats.org/drawingml/2006/main">
              <a:ext uri="{FF2B5EF4-FFF2-40B4-BE49-F238E27FC236}">
                <a16:creationId xmlns:a16="http://schemas.microsoft.com/office/drawing/2014/main" id="{B9E92ADC-72E9-4307-9EE9-9D6DA67EAC42}"/>
              </a:ext>
            </a:extLst>
          </p:cNvPr>
          <p:cNvSpPr>
            <a:spLocks xmlns:a="http://schemas.openxmlformats.org/drawingml/2006/main" noGrp="1"/>
          </p:cNvSpPr>
          <p:nvPr/>
        </p:nvSpPr>
        <p:spPr>
          <a:xfrm xmlns:a="http://schemas.openxmlformats.org/drawingml/2006/main">
            <a:off x="609600" y="161925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00:00–00:20</a:t>
            </a:r>
          </a:p>
        </p:txBody>
      </p:sp>
      <p:sp>
        <p:nvSpPr>
          <p:cNvPr id="5" name="Opening decision and readiness">
            <a:extLst xmlns:a="http://schemas.openxmlformats.org/drawingml/2006/main">
              <a:ext uri="{FF2B5EF4-FFF2-40B4-BE49-F238E27FC236}">
                <a16:creationId xmlns:a16="http://schemas.microsoft.com/office/drawing/2014/main" id="{2483689E-EEE4-449C-8153-23E09280AB06}"/>
              </a:ext>
            </a:extLst>
          </p:cNvPr>
          <p:cNvSpPr>
            <a:spLocks xmlns:a="http://schemas.openxmlformats.org/drawingml/2006/main" noGrp="1"/>
          </p:cNvSpPr>
          <p:nvPr/>
        </p:nvSpPr>
        <p:spPr>
          <a:xfrm xmlns:a="http://schemas.openxmlformats.org/drawingml/2006/main">
            <a:off x="3810000" y="161925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Opening decision and readiness</a:t>
            </a:r>
          </a:p>
        </p:txBody>
      </p:sp>
      <p:sp>
        <p:nvSpPr>
          <p:cNvPr id="6" name="00:20–01:05">
            <a:extLst xmlns:a="http://schemas.openxmlformats.org/drawingml/2006/main">
              <a:ext uri="{FF2B5EF4-FFF2-40B4-BE49-F238E27FC236}">
                <a16:creationId xmlns:a16="http://schemas.microsoft.com/office/drawing/2014/main" id="{B98EF04F-02DB-4284-8949-43B01911443F}"/>
              </a:ext>
            </a:extLst>
          </p:cNvPr>
          <p:cNvSpPr>
            <a:spLocks xmlns:a="http://schemas.openxmlformats.org/drawingml/2006/main" noGrp="1"/>
          </p:cNvSpPr>
          <p:nvPr/>
        </p:nvSpPr>
        <p:spPr>
          <a:xfrm xmlns:a="http://schemas.openxmlformats.org/drawingml/2006/main">
            <a:off x="609600" y="233362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00:20–01:05</a:t>
            </a:r>
          </a:p>
        </p:txBody>
      </p:sp>
      <p:sp>
        <p:nvSpPr>
          <p:cNvPr id="7" name="Agree on the transformation and publish tickets">
            <a:extLst xmlns:a="http://schemas.openxmlformats.org/drawingml/2006/main">
              <a:ext uri="{FF2B5EF4-FFF2-40B4-BE49-F238E27FC236}">
                <a16:creationId xmlns:a16="http://schemas.microsoft.com/office/drawing/2014/main" id="{DA46AF6B-902C-495D-AA26-B6A196A8E12F}"/>
              </a:ext>
            </a:extLst>
          </p:cNvPr>
          <p:cNvSpPr>
            <a:spLocks xmlns:a="http://schemas.openxmlformats.org/drawingml/2006/main" noGrp="1"/>
          </p:cNvSpPr>
          <p:nvPr/>
        </p:nvSpPr>
        <p:spPr>
          <a:xfrm xmlns:a="http://schemas.openxmlformats.org/drawingml/2006/main">
            <a:off x="3810000" y="233362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Agree on the transformation and publish tickets</a:t>
            </a:r>
          </a:p>
        </p:txBody>
      </p:sp>
      <p:sp>
        <p:nvSpPr>
          <p:cNvPr id="8" name="01:05–01:35">
            <a:extLst xmlns:a="http://schemas.openxmlformats.org/drawingml/2006/main">
              <a:ext uri="{FF2B5EF4-FFF2-40B4-BE49-F238E27FC236}">
                <a16:creationId xmlns:a16="http://schemas.microsoft.com/office/drawing/2014/main" id="{5B6DC95A-D6F0-4EF7-806E-04ECA5715FFF}"/>
              </a:ext>
            </a:extLst>
          </p:cNvPr>
          <p:cNvSpPr>
            <a:spLocks xmlns:a="http://schemas.openxmlformats.org/drawingml/2006/main" noGrp="1"/>
          </p:cNvSpPr>
          <p:nvPr/>
        </p:nvSpPr>
        <p:spPr>
          <a:xfrm xmlns:a="http://schemas.openxmlformats.org/drawingml/2006/main">
            <a:off x="609600" y="304800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01:05–01:35</a:t>
            </a:r>
          </a:p>
        </p:txBody>
      </p:sp>
      <p:sp>
        <p:nvSpPr>
          <p:cNvPr id="9" name="Test, build and investigate failures">
            <a:extLst xmlns:a="http://schemas.openxmlformats.org/drawingml/2006/main">
              <a:ext uri="{FF2B5EF4-FFF2-40B4-BE49-F238E27FC236}">
                <a16:creationId xmlns:a16="http://schemas.microsoft.com/office/drawing/2014/main" id="{E9065866-F03F-45C9-BDCE-E15C203688D1}"/>
              </a:ext>
            </a:extLst>
          </p:cNvPr>
          <p:cNvSpPr>
            <a:spLocks xmlns:a="http://schemas.openxmlformats.org/drawingml/2006/main" noGrp="1"/>
          </p:cNvSpPr>
          <p:nvPr/>
        </p:nvSpPr>
        <p:spPr>
          <a:xfrm xmlns:a="http://schemas.openxmlformats.org/drawingml/2006/main">
            <a:off x="3810000" y="304800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Test, build and investigate failures</a:t>
            </a:r>
          </a:p>
        </p:txBody>
      </p:sp>
      <p:sp>
        <p:nvSpPr>
          <p:cNvPr id="10" name="01:35–01:45">
            <a:extLst xmlns:a="http://schemas.openxmlformats.org/drawingml/2006/main">
              <a:ext uri="{FF2B5EF4-FFF2-40B4-BE49-F238E27FC236}">
                <a16:creationId xmlns:a16="http://schemas.microsoft.com/office/drawing/2014/main" id="{1BDCE42B-9EF9-4F17-84ED-A4907D5CCC58}"/>
              </a:ext>
            </a:extLst>
          </p:cNvPr>
          <p:cNvSpPr>
            <a:spLocks xmlns:a="http://schemas.openxmlformats.org/drawingml/2006/main" noGrp="1"/>
          </p:cNvSpPr>
          <p:nvPr/>
        </p:nvSpPr>
        <p:spPr>
          <a:xfrm xmlns:a="http://schemas.openxmlformats.org/drawingml/2006/main">
            <a:off x="609600" y="376237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01:35–01:45</a:t>
            </a:r>
          </a:p>
        </p:txBody>
      </p:sp>
      <p:sp>
        <p:nvSpPr>
          <p:cNvPr id="11" name="Break">
            <a:extLst xmlns:a="http://schemas.openxmlformats.org/drawingml/2006/main">
              <a:ext uri="{FF2B5EF4-FFF2-40B4-BE49-F238E27FC236}">
                <a16:creationId xmlns:a16="http://schemas.microsoft.com/office/drawing/2014/main" id="{39D3A2D7-24D6-493B-A640-02150891B9EB}"/>
              </a:ext>
            </a:extLst>
          </p:cNvPr>
          <p:cNvSpPr>
            <a:spLocks xmlns:a="http://schemas.openxmlformats.org/drawingml/2006/main" noGrp="1"/>
          </p:cNvSpPr>
          <p:nvPr/>
        </p:nvSpPr>
        <p:spPr>
          <a:xfrm xmlns:a="http://schemas.openxmlformats.org/drawingml/2006/main">
            <a:off x="3810000" y="376237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Break</a:t>
            </a:r>
          </a:p>
        </p:txBody>
      </p:sp>
      <p:sp>
        <p:nvSpPr>
          <p:cNvPr id="12" name="01:45–02:35">
            <a:extLst xmlns:a="http://schemas.openxmlformats.org/drawingml/2006/main">
              <a:ext uri="{FF2B5EF4-FFF2-40B4-BE49-F238E27FC236}">
                <a16:creationId xmlns:a16="http://schemas.microsoft.com/office/drawing/2014/main" id="{3DFD0F08-92C6-4FAF-BDFB-965E92E84D9F}"/>
              </a:ext>
            </a:extLst>
          </p:cNvPr>
          <p:cNvSpPr>
            <a:spLocks xmlns:a="http://schemas.openxmlformats.org/drawingml/2006/main" noGrp="1"/>
          </p:cNvSpPr>
          <p:nvPr/>
        </p:nvSpPr>
        <p:spPr>
          <a:xfrm xmlns:a="http://schemas.openxmlformats.org/drawingml/2006/main">
            <a:off x="609600" y="4476750"/>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01:45–02:35</a:t>
            </a:r>
          </a:p>
        </p:txBody>
      </p:sp>
      <p:sp>
        <p:nvSpPr>
          <p:cNvPr id="13" name="Review, verify the product and inspect cost">
            <a:extLst xmlns:a="http://schemas.openxmlformats.org/drawingml/2006/main">
              <a:ext uri="{FF2B5EF4-FFF2-40B4-BE49-F238E27FC236}">
                <a16:creationId xmlns:a16="http://schemas.microsoft.com/office/drawing/2014/main" id="{93B2E361-585B-470F-8A51-FEBF4AE8A1FE}"/>
              </a:ext>
            </a:extLst>
          </p:cNvPr>
          <p:cNvSpPr>
            <a:spLocks xmlns:a="http://schemas.openxmlformats.org/drawingml/2006/main" noGrp="1"/>
          </p:cNvSpPr>
          <p:nvPr/>
        </p:nvSpPr>
        <p:spPr>
          <a:xfrm xmlns:a="http://schemas.openxmlformats.org/drawingml/2006/main">
            <a:off x="3810000" y="4476750"/>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Review, verify the product and inspect cost</a:t>
            </a:r>
          </a:p>
        </p:txBody>
      </p:sp>
      <p:sp>
        <p:nvSpPr>
          <p:cNvPr id="14" name="02:35–03:00">
            <a:extLst xmlns:a="http://schemas.openxmlformats.org/drawingml/2006/main">
              <a:ext uri="{FF2B5EF4-FFF2-40B4-BE49-F238E27FC236}">
                <a16:creationId xmlns:a16="http://schemas.microsoft.com/office/drawing/2014/main" id="{4536FD0B-EB01-40CD-A959-173041503FB3}"/>
              </a:ext>
            </a:extLst>
          </p:cNvPr>
          <p:cNvSpPr>
            <a:spLocks xmlns:a="http://schemas.openxmlformats.org/drawingml/2006/main" noGrp="1"/>
          </p:cNvSpPr>
          <p:nvPr/>
        </p:nvSpPr>
        <p:spPr>
          <a:xfrm xmlns:a="http://schemas.openxmlformats.org/drawingml/2006/main">
            <a:off x="609600" y="5191125"/>
            <a:ext cx="3000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1">
                <a:solidFill>
                  <a:srgbClr val="006CA5"/>
                </a:solidFill>
                <a:latin typeface="Helvetica Neue"/>
                <a:ea typeface="Helvetica Neue"/>
                <a:cs typeface="Helvetica Neue"/>
              </a:defRPr>
            </a:pPr>
            <a:r>
              <a:rPr sz="2100" b="1">
                <a:solidFill>
                  <a:srgbClr val="006CA5"/>
                </a:solidFill>
                <a:latin typeface="Helvetica Neue"/>
                <a:ea typeface="Helvetica Neue"/>
                <a:cs typeface="Helvetica Neue"/>
              </a:rPr>
              <a:t>02:35–03:00</a:t>
            </a:r>
          </a:p>
        </p:txBody>
      </p:sp>
      <p:sp>
        <p:nvSpPr>
          <p:cNvPr id="15" name="Design a team pilot and compare decisions">
            <a:extLst xmlns:a="http://schemas.openxmlformats.org/drawingml/2006/main">
              <a:ext uri="{FF2B5EF4-FFF2-40B4-BE49-F238E27FC236}">
                <a16:creationId xmlns:a16="http://schemas.microsoft.com/office/drawing/2014/main" id="{E614DF47-302C-4305-BCE7-62A651652F1D}"/>
              </a:ext>
            </a:extLst>
          </p:cNvPr>
          <p:cNvSpPr>
            <a:spLocks xmlns:a="http://schemas.openxmlformats.org/drawingml/2006/main" noGrp="1"/>
          </p:cNvSpPr>
          <p:nvPr/>
        </p:nvSpPr>
        <p:spPr>
          <a:xfrm xmlns:a="http://schemas.openxmlformats.org/drawingml/2006/main">
            <a:off x="3810000" y="5191125"/>
            <a:ext cx="7620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Design a team pilot and compare decisions</a:t>
            </a:r>
          </a:p>
        </p:txBody>
      </p:sp>
    </p:spTree>
    <p:extLst>
      <p:ext uri="{BB962C8B-B14F-4D97-AF65-F5344CB8AC3E}">
        <p14:creationId xmlns:p14="http://schemas.microsoft.com/office/powerpoint/2010/main" val="161777821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n AI software factory today">
            <a:extLst xmlns:a="http://schemas.openxmlformats.org/drawingml/2006/main">
              <a:ext uri="{FF2B5EF4-FFF2-40B4-BE49-F238E27FC236}">
                <a16:creationId xmlns:a16="http://schemas.microsoft.com/office/drawing/2014/main" id="{B6F45245-49CB-4D46-B58A-81BC88CFC8D7}"/>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An AI software factory today</a:t>
            </a:r>
          </a:p>
        </p:txBody>
      </p:sp>
      <p:sp>
        <p:nvSpPr>
          <p:cNvPr id="2" name="00:10–00:12 elapsed">
            <a:extLst xmlns:a="http://schemas.openxmlformats.org/drawingml/2006/main">
              <a:ext uri="{FF2B5EF4-FFF2-40B4-BE49-F238E27FC236}">
                <a16:creationId xmlns:a16="http://schemas.microsoft.com/office/drawing/2014/main" id="{17695A71-31A5-46FB-A7E0-61154E89F6C8}"/>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06">
            <a:extLst xmlns:a="http://schemas.openxmlformats.org/drawingml/2006/main">
              <a:ext uri="{FF2B5EF4-FFF2-40B4-BE49-F238E27FC236}">
                <a16:creationId xmlns:a16="http://schemas.microsoft.com/office/drawing/2014/main" id="{AB9BBEB1-97A0-4823-A8A0-78716903239E}"/>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06</a:t>
            </a:r>
          </a:p>
        </p:txBody>
      </p:sp>
      <p:sp>
        <p:nvSpPr>
          <p:cNvPr id="4" name="A repeatable delivery workflow&#10;that uses coding agents.">
            <a:extLst xmlns:a="http://schemas.openxmlformats.org/drawingml/2006/main">
              <a:ext uri="{FF2B5EF4-FFF2-40B4-BE49-F238E27FC236}">
                <a16:creationId xmlns:a16="http://schemas.microsoft.com/office/drawing/2014/main" id="{E26C5840-A863-449A-92CC-21678D2D23A8}"/>
              </a:ext>
            </a:extLst>
          </p:cNvPr>
          <p:cNvSpPr>
            <a:spLocks xmlns:a="http://schemas.openxmlformats.org/drawingml/2006/main" noGrp="1"/>
          </p:cNvSpPr>
          <p:nvPr/>
        </p:nvSpPr>
        <p:spPr>
          <a:xfrm xmlns:a="http://schemas.openxmlformats.org/drawingml/2006/main">
            <a:off x="609600" y="1724025"/>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A repeatable delivery workflow</a:t>
            </a:r>
          </a:p>
          <a:p xmlns:a="http://schemas.openxmlformats.org/drawingml/2006/main">
            <a:pPr>
              <a:buNone/>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that uses coding agents.</a:t>
            </a:r>
          </a:p>
        </p:txBody>
      </p:sp>
      <p:sp>
        <p:nvSpPr>
          <p:cNvPr id="5" name="It connects a request to scoped work, executable checks">
            <a:extLst xmlns:a="http://schemas.openxmlformats.org/drawingml/2006/main">
              <a:ext uri="{FF2B5EF4-FFF2-40B4-BE49-F238E27FC236}">
                <a16:creationId xmlns:a16="http://schemas.microsoft.com/office/drawing/2014/main" id="{2A006B04-85A7-44BD-ABC3-A316C327C576}"/>
              </a:ext>
            </a:extLst>
          </p:cNvPr>
          <p:cNvSpPr>
            <a:spLocks xmlns:a="http://schemas.openxmlformats.org/drawingml/2006/main" noGrp="1"/>
          </p:cNvSpPr>
          <p:nvPr/>
        </p:nvSpPr>
        <p:spPr>
          <a:xfrm xmlns:a="http://schemas.openxmlformats.org/drawingml/2006/main">
            <a:off x="609600" y="3648075"/>
            <a:ext cx="109728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It connects a request to scoped work, executable checks,</a:t>
            </a:r>
          </a:p>
          <a:p xmlns:a="http://schemas.openxmlformats.org/drawingml/2006/main">
            <a:pPr>
              <a:buNone/>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review, and a decision about the resulting change.</a:t>
            </a:r>
          </a:p>
        </p:txBody>
      </p:sp>
      <p:sp>
        <p:nvSpPr>
          <p:cNvPr id="6" name="For this workshop, success means inspectable, accepted ">
            <a:extLst xmlns:a="http://schemas.openxmlformats.org/drawingml/2006/main">
              <a:ext uri="{FF2B5EF4-FFF2-40B4-BE49-F238E27FC236}">
                <a16:creationId xmlns:a16="http://schemas.microsoft.com/office/drawing/2014/main" id="{62A56045-60DC-482A-A4C1-8B42299AEAE5}"/>
              </a:ext>
            </a:extLst>
          </p:cNvPr>
          <p:cNvSpPr>
            <a:spLocks xmlns:a="http://schemas.openxmlformats.org/drawingml/2006/main" noGrp="1"/>
          </p:cNvSpPr>
          <p:nvPr/>
        </p:nvSpPr>
        <p:spPr>
          <a:xfrm xmlns:a="http://schemas.openxmlformats.org/drawingml/2006/main">
            <a:off x="609600" y="55530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777"/>
                </a:solidFill>
                <a:latin typeface="Helvetica Neue"/>
                <a:ea typeface="Helvetica Neue"/>
                <a:cs typeface="Helvetica Neue"/>
              </a:defRPr>
            </a:pPr>
            <a:r>
              <a:rPr sz="2100" b="0">
                <a:solidFill>
                  <a:srgbClr val="526777"/>
                </a:solidFill>
                <a:latin typeface="Helvetica Neue"/>
                <a:ea typeface="Helvetica Neue"/>
                <a:cs typeface="Helvetica Neue"/>
              </a:rPr>
              <a:t>For this workshop, success means inspectable, accepted behavior.</a:t>
            </a:r>
          </a:p>
        </p:txBody>
      </p:sp>
    </p:spTree>
    <p:extLst>
      <p:ext uri="{BB962C8B-B14F-4D97-AF65-F5344CB8AC3E}">
        <p14:creationId xmlns:p14="http://schemas.microsoft.com/office/powerpoint/2010/main" val="14700984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Why this is practical now">
            <a:extLst xmlns:a="http://schemas.openxmlformats.org/drawingml/2006/main">
              <a:ext uri="{FF2B5EF4-FFF2-40B4-BE49-F238E27FC236}">
                <a16:creationId xmlns:a16="http://schemas.microsoft.com/office/drawing/2014/main" id="{BEB4A71E-B4F3-416C-BF09-3918633B494A}"/>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Why this is practical now</a:t>
            </a:r>
          </a:p>
        </p:txBody>
      </p:sp>
      <p:sp>
        <p:nvSpPr>
          <p:cNvPr id="2" name="00:12–00:14 elapsed">
            <a:extLst xmlns:a="http://schemas.openxmlformats.org/drawingml/2006/main">
              <a:ext uri="{FF2B5EF4-FFF2-40B4-BE49-F238E27FC236}">
                <a16:creationId xmlns:a16="http://schemas.microsoft.com/office/drawing/2014/main" id="{64999E3A-34EA-440D-A426-56F1D536C5F4}"/>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07">
            <a:extLst xmlns:a="http://schemas.openxmlformats.org/drawingml/2006/main">
              <a:ext uri="{FF2B5EF4-FFF2-40B4-BE49-F238E27FC236}">
                <a16:creationId xmlns:a16="http://schemas.microsoft.com/office/drawing/2014/main" id="{D76100A4-A0D8-4A58-991B-F89FE409C062}"/>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07</a:t>
            </a:r>
          </a:p>
        </p:txBody>
      </p:sp>
      <p:sp>
        <p:nvSpPr>
          <p:cNvPr id="4" name="Repository work">
            <a:extLst xmlns:a="http://schemas.openxmlformats.org/drawingml/2006/main">
              <a:ext uri="{FF2B5EF4-FFF2-40B4-BE49-F238E27FC236}">
                <a16:creationId xmlns:a16="http://schemas.microsoft.com/office/drawing/2014/main" id="{74FA049F-BD15-4F59-8DAE-E85D896930A0}"/>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Repository work</a:t>
            </a:r>
          </a:p>
        </p:txBody>
      </p:sp>
      <p:sp>
        <p:nvSpPr>
          <p:cNvPr id="5" name="Coding tools can inspect code, make changes and run com">
            <a:extLst xmlns:a="http://schemas.openxmlformats.org/drawingml/2006/main">
              <a:ext uri="{FF2B5EF4-FFF2-40B4-BE49-F238E27FC236}">
                <a16:creationId xmlns:a16="http://schemas.microsoft.com/office/drawing/2014/main" id="{740D82FC-5570-4F50-BEEE-76ECCF99C711}"/>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Coding tools can inspect code, make changes and run commands.</a:t>
            </a:r>
          </a:p>
        </p:txBody>
      </p:sp>
      <p:sp>
        <p:nvSpPr>
          <p:cNvPr id="6" name="Existing engineering controls">
            <a:extLst xmlns:a="http://schemas.openxmlformats.org/drawingml/2006/main">
              <a:ext uri="{FF2B5EF4-FFF2-40B4-BE49-F238E27FC236}">
                <a16:creationId xmlns:a16="http://schemas.microsoft.com/office/drawing/2014/main" id="{D7B54F22-34C3-4811-B5DE-48894D24CDE1}"/>
              </a:ext>
            </a:extLst>
          </p:cNvPr>
          <p:cNvSpPr>
            <a:spLocks xmlns:a="http://schemas.openxmlformats.org/drawingml/2006/main" noGrp="1"/>
          </p:cNvSpPr>
          <p:nvPr/>
        </p:nvSpPr>
        <p:spPr>
          <a:xfrm xmlns:a="http://schemas.openxmlformats.org/drawingml/2006/main">
            <a:off x="609600" y="30765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Existing engineering controls</a:t>
            </a:r>
          </a:p>
        </p:txBody>
      </p:sp>
      <p:sp>
        <p:nvSpPr>
          <p:cNvPr id="7" name="Git, tests and review already give teams ways to evalua">
            <a:extLst xmlns:a="http://schemas.openxmlformats.org/drawingml/2006/main">
              <a:ext uri="{FF2B5EF4-FFF2-40B4-BE49-F238E27FC236}">
                <a16:creationId xmlns:a16="http://schemas.microsoft.com/office/drawing/2014/main" id="{9A86975A-165A-467D-B0D2-B3B1976F2523}"/>
              </a:ext>
            </a:extLst>
          </p:cNvPr>
          <p:cNvSpPr>
            <a:spLocks xmlns:a="http://schemas.openxmlformats.org/drawingml/2006/main" noGrp="1"/>
          </p:cNvSpPr>
          <p:nvPr/>
        </p:nvSpPr>
        <p:spPr>
          <a:xfrm xmlns:a="http://schemas.openxmlformats.org/drawingml/2006/main">
            <a:off x="4572000" y="30765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Git, tests and review already give teams ways to evaluate changes.</a:t>
            </a:r>
          </a:p>
        </p:txBody>
      </p:sp>
      <p:sp>
        <p:nvSpPr>
          <p:cNvPr id="8" name="The remaining question">
            <a:extLst xmlns:a="http://schemas.openxmlformats.org/drawingml/2006/main">
              <a:ext uri="{FF2B5EF4-FFF2-40B4-BE49-F238E27FC236}">
                <a16:creationId xmlns:a16="http://schemas.microsoft.com/office/drawing/2014/main" id="{65B52ECD-77BA-41D7-AE30-615F89014AAB}"/>
              </a:ext>
            </a:extLst>
          </p:cNvPr>
          <p:cNvSpPr>
            <a:spLocks xmlns:a="http://schemas.openxmlformats.org/drawingml/2006/main" noGrp="1"/>
          </p:cNvSpPr>
          <p:nvPr/>
        </p:nvSpPr>
        <p:spPr>
          <a:xfrm xmlns:a="http://schemas.openxmlformats.org/drawingml/2006/main">
            <a:off x="609600" y="44386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The remaining question</a:t>
            </a:r>
          </a:p>
        </p:txBody>
      </p:sp>
      <p:sp>
        <p:nvSpPr>
          <p:cNvPr id="9" name="Does added coordination improve accepted outcomes for y">
            <a:extLst xmlns:a="http://schemas.openxmlformats.org/drawingml/2006/main">
              <a:ext uri="{FF2B5EF4-FFF2-40B4-BE49-F238E27FC236}">
                <a16:creationId xmlns:a16="http://schemas.microsoft.com/office/drawing/2014/main" id="{CD7A1990-191B-4AB8-9703-6D3ED82D2C43}"/>
              </a:ext>
            </a:extLst>
          </p:cNvPr>
          <p:cNvSpPr>
            <a:spLocks xmlns:a="http://schemas.openxmlformats.org/drawingml/2006/main" noGrp="1"/>
          </p:cNvSpPr>
          <p:nvPr/>
        </p:nvSpPr>
        <p:spPr>
          <a:xfrm xmlns:a="http://schemas.openxmlformats.org/drawingml/2006/main">
            <a:off x="4572000" y="44386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Does added coordination improve accepted outcomes for your team?</a:t>
            </a:r>
          </a:p>
        </p:txBody>
      </p:sp>
    </p:spTree>
    <p:extLst>
      <p:ext uri="{BB962C8B-B14F-4D97-AF65-F5344CB8AC3E}">
        <p14:creationId xmlns:p14="http://schemas.microsoft.com/office/powerpoint/2010/main" val="204437749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ho does what?">
            <a:extLst xmlns:a="http://schemas.openxmlformats.org/drawingml/2006/main">
              <a:ext uri="{FF2B5EF4-FFF2-40B4-BE49-F238E27FC236}">
                <a16:creationId xmlns:a16="http://schemas.microsoft.com/office/drawing/2014/main" id="{B2563963-B331-40F5-AAF9-6A927921AF44}"/>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Who does what?</a:t>
            </a:r>
          </a:p>
        </p:txBody>
      </p:sp>
      <p:sp>
        <p:nvSpPr>
          <p:cNvPr id="2" name="00:14–00:16 elapsed">
            <a:extLst xmlns:a="http://schemas.openxmlformats.org/drawingml/2006/main">
              <a:ext uri="{FF2B5EF4-FFF2-40B4-BE49-F238E27FC236}">
                <a16:creationId xmlns:a16="http://schemas.microsoft.com/office/drawing/2014/main" id="{97ADADFB-0EC6-402A-BC29-1882910331B0}"/>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setup">
            <a:extLst xmlns:a="http://schemas.openxmlformats.org/drawingml/2006/main">
              <a:ext uri="{FF2B5EF4-FFF2-40B4-BE49-F238E27FC236}">
                <a16:creationId xmlns:a16="http://schemas.microsoft.com/office/drawing/2014/main" id="{64AD113B-9DBF-4F27-9F42-20B32F4C0FC1}"/>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#setup</a:t>
            </a:r>
          </a:p>
        </p:txBody>
      </p:sp>
      <p:sp>
        <p:nvSpPr>
          <p:cNvPr id="4" name="08">
            <a:extLst xmlns:a="http://schemas.openxmlformats.org/drawingml/2006/main">
              <a:ext uri="{FF2B5EF4-FFF2-40B4-BE49-F238E27FC236}">
                <a16:creationId xmlns:a16="http://schemas.microsoft.com/office/drawing/2014/main" id="{0EF7418D-0784-4C1A-923D-C07520D169C9}"/>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08</a:t>
            </a:r>
          </a:p>
        </p:txBody>
      </p:sp>
      <p:graphicFrame>
        <p:nvGraphicFramePr>
          <p:cNvPr id="13" name=""/>
          <p:cNvGraphicFramePr/>
          <p:nvPr/>
        </p:nvGraphicFramePr>
        <p:xfrm>
          <a:off xmlns:a="http://schemas.openxmlformats.org/drawingml/2006/main" x="609600" y="1685925"/>
          <a:ext xmlns:a="http://schemas.openxmlformats.org/drawingml/2006/main" cx="10972800" cy="3333750"/>
        </p:xfrm>
        <a:graphic xmlns:a="http://schemas.openxmlformats.org/drawingml/2006/main">
          <a:graphicData uri="http://schemas.openxmlformats.org/drawingml/2006/table">
            <a:tbl>
              <a:tblPr/>
              <a:tblGrid>
                <a:gridCol w="2952750"/>
                <a:gridCol w="8020050"/>
              </a:tblGrid>
              <a:tr h="833438">
                <a:tc>
                  <a:txBody>
                    <a:bodyPr>
                      <a:noAutofit/>
                    </a:bodyPr>
                    <a:lstStyle/>
                    <a:p>
                      <a:r>
                        <a:rPr sz="1950" b="1">
                          <a:solidFill>
                            <a:srgbClr val="006CA5"/>
                          </a:solidFill>
                          <a:latin typeface="Helvetica Neue"/>
                          <a:ea typeface="Helvetica Neue"/>
                          <a:cs typeface="Helvetica Neue"/>
                        </a:rPr>
                        <a:t>Actor</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Responsibility</a:t>
                      </a:r>
                    </a:p>
                  </a:txBody>
                  <a:tcPr marL="142875" marR="114300" marT="95250" marB="76200" anchor="ctr">
                    <a:solidFill>
                      <a:srgbClr val="EAF3F8"/>
                    </a:solidFill>
                  </a:tcPr>
                </a:tc>
              </a:tr>
              <a:tr h="833438">
                <a:tc>
                  <a:txBody>
                    <a:bodyPr>
                      <a:noAutofit/>
                    </a:bodyPr>
                    <a:lstStyle/>
                    <a:p>
                      <a:r>
                        <a:rPr sz="1950" b="0">
                          <a:solidFill>
                            <a:srgbClr val="152A3A"/>
                          </a:solidFill>
                          <a:latin typeface="Helvetica Neue"/>
                          <a:ea typeface="Helvetica Neue"/>
                          <a:cs typeface="Helvetica Neue"/>
                        </a:rPr>
                        <a:t>Coding agent</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Interpret the task and propose plans, tests or code</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Factory engine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Track dependencies, run checks and record state</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Human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Resolve ambiguity and accept the current change</a:t>
                      </a:r>
                    </a:p>
                  </a:txBody>
                  <a:tcPr marL="142875" marR="114300" marT="95250" marB="76200" anchor="ctr">
                    <a:solidFill>
                      <a:srgbClr val="FFFFFF"/>
                    </a:solidFill>
                  </a:tcPr>
                </a:tc>
              </a:tr>
            </a:tbl>
          </a:graphicData>
        </a:graphic>
      </p:graphicFrame>
      <p:sp>
        <p:nvSpPr>
          <p:cNvPr id="6" name="Standard uses code to schedule ready tickets.">
            <a:extLst xmlns:a="http://schemas.openxmlformats.org/drawingml/2006/main">
              <a:ext uri="{FF2B5EF4-FFF2-40B4-BE49-F238E27FC236}">
                <a16:creationId xmlns:a16="http://schemas.microsoft.com/office/drawing/2014/main" id="{F36608FF-AE15-4503-A580-D062F7E2BE30}"/>
              </a:ext>
            </a:extLst>
          </p:cNvPr>
          <p:cNvSpPr>
            <a:spLocks xmlns:a="http://schemas.openxmlformats.org/drawingml/2006/main" noGrp="1"/>
          </p:cNvSpPr>
          <p:nvPr/>
        </p:nvSpPr>
        <p:spPr>
          <a:xfrm xmlns:a="http://schemas.openxmlformats.org/drawingml/2006/main">
            <a:off x="609600" y="55054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Standard uses code to schedule ready tickets.</a:t>
            </a:r>
          </a:p>
        </p:txBody>
      </p:sp>
    </p:spTree>
    <p:extLst>
      <p:ext uri="{BB962C8B-B14F-4D97-AF65-F5344CB8AC3E}">
        <p14:creationId xmlns:p14="http://schemas.microsoft.com/office/powerpoint/2010/main" val="202251614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1: confirm readiness">
            <a:extLst xmlns:a="http://schemas.openxmlformats.org/drawingml/2006/main">
              <a:ext uri="{FF2B5EF4-FFF2-40B4-BE49-F238E27FC236}">
                <a16:creationId xmlns:a16="http://schemas.microsoft.com/office/drawing/2014/main" id="{B2B8CE84-6E26-474B-8231-DB0C52283564}"/>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1: confirm readiness</a:t>
            </a:r>
          </a:p>
        </p:txBody>
      </p:sp>
      <p:sp>
        <p:nvSpPr>
          <p:cNvPr id="2" name="00:16–00:20 elapsed">
            <a:extLst xmlns:a="http://schemas.openxmlformats.org/drawingml/2006/main">
              <a:ext uri="{FF2B5EF4-FFF2-40B4-BE49-F238E27FC236}">
                <a16:creationId xmlns:a16="http://schemas.microsoft.com/office/drawing/2014/main" id="{052F839B-55BD-4603-A2D6-FB18C0F08FC3}"/>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setup, #baseline">
            <a:extLst xmlns:a="http://schemas.openxmlformats.org/drawingml/2006/main">
              <a:ext uri="{FF2B5EF4-FFF2-40B4-BE49-F238E27FC236}">
                <a16:creationId xmlns:a16="http://schemas.microsoft.com/office/drawing/2014/main" id="{A90BCD51-0E49-4E88-99F7-1FE453D0270F}"/>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#setup, #baseline</a:t>
            </a:r>
          </a:p>
        </p:txBody>
      </p:sp>
      <p:sp>
        <p:nvSpPr>
          <p:cNvPr id="4" name="09">
            <a:extLst xmlns:a="http://schemas.openxmlformats.org/drawingml/2006/main">
              <a:ext uri="{FF2B5EF4-FFF2-40B4-BE49-F238E27FC236}">
                <a16:creationId xmlns:a16="http://schemas.microsoft.com/office/drawing/2014/main" id="{622FBE1D-8AF9-4922-92AC-45FBECFAEC19}"/>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09</a:t>
            </a:r>
          </a:p>
        </p:txBody>
      </p:sp>
      <p:sp>
        <p:nvSpPr>
          <p:cNvPr id="5" name="4 minutes">
            <a:extLst xmlns:a="http://schemas.openxmlformats.org/drawingml/2006/main">
              <a:ext uri="{FF2B5EF4-FFF2-40B4-BE49-F238E27FC236}">
                <a16:creationId xmlns:a16="http://schemas.microsoft.com/office/drawing/2014/main" id="{47123A23-6A2C-469E-844D-B4E7F07DBCD8}"/>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4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6F3ECEB4-4467-4012-A44D-B09438B068DF}"/>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F5BA86A6-D590-4780-82D8-A6E21CEB7245}"/>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Confirm your own repository and selected agent.">
            <a:extLst xmlns:a="http://schemas.openxmlformats.org/drawingml/2006/main">
              <a:ext uri="{FF2B5EF4-FFF2-40B4-BE49-F238E27FC236}">
                <a16:creationId xmlns:a16="http://schemas.microsoft.com/office/drawing/2014/main" id="{080ED79F-3F95-4ACA-ABCE-08419EB67BF0}"/>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Confirm your own repository and selected agent.</a:t>
            </a:r>
          </a:p>
        </p:txBody>
      </p:sp>
      <p:sp>
        <p:nvSpPr>
          <p:cNvPr id="9" name="2">
            <a:extLst xmlns:a="http://schemas.openxmlformats.org/drawingml/2006/main">
              <a:ext uri="{FF2B5EF4-FFF2-40B4-BE49-F238E27FC236}">
                <a16:creationId xmlns:a16="http://schemas.microsoft.com/office/drawing/2014/main" id="{C675CEE6-62AF-40FF-83BD-BB518F61AFE5}"/>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Check that Setup says Approved and ready.">
            <a:extLst xmlns:a="http://schemas.openxmlformats.org/drawingml/2006/main">
              <a:ext uri="{FF2B5EF4-FFF2-40B4-BE49-F238E27FC236}">
                <a16:creationId xmlns:a16="http://schemas.microsoft.com/office/drawing/2014/main" id="{C543CF5D-11B7-44C3-91C0-E9636892C4D3}"/>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Check that Setup says Approved and ready.</a:t>
            </a:r>
          </a:p>
        </p:txBody>
      </p:sp>
      <p:sp>
        <p:nvSpPr>
          <p:cNvPr id="11" name="3">
            <a:extLst xmlns:a="http://schemas.openxmlformats.org/drawingml/2006/main">
              <a:ext uri="{FF2B5EF4-FFF2-40B4-BE49-F238E27FC236}">
                <a16:creationId xmlns:a16="http://schemas.microsoft.com/office/drawing/2014/main" id="{44988B8C-CADD-4F72-9ECC-B596F94EB1B5}"/>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Open the Pocket Cinema starting app.">
            <a:extLst xmlns:a="http://schemas.openxmlformats.org/drawingml/2006/main">
              <a:ext uri="{FF2B5EF4-FFF2-40B4-BE49-F238E27FC236}">
                <a16:creationId xmlns:a16="http://schemas.microsoft.com/office/drawing/2014/main" id="{01A04347-AAE2-414D-B9A5-992829C804B1}"/>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the Pocket Cinema starting app.</a:t>
            </a:r>
          </a:p>
        </p:txBody>
      </p:sp>
      <p:sp>
        <p:nvSpPr>
          <p:cNvPr id="13" name="Show: the correct target, no required FAIL, and the bas">
            <a:extLst xmlns:a="http://schemas.openxmlformats.org/drawingml/2006/main">
              <a:ext uri="{FF2B5EF4-FFF2-40B4-BE49-F238E27FC236}">
                <a16:creationId xmlns:a16="http://schemas.microsoft.com/office/drawing/2014/main" id="{B78847B7-A4AE-4C6D-AC73-26F9979C43BB}"/>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the correct target, no required FAIL, and the baseline.</a:t>
            </a:r>
          </a:p>
        </p:txBody>
      </p:sp>
    </p:spTree>
    <p:extLst>
      <p:ext uri="{BB962C8B-B14F-4D97-AF65-F5344CB8AC3E}">
        <p14:creationId xmlns:p14="http://schemas.microsoft.com/office/powerpoint/2010/main" val="85644246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he transformation we will deliver">
            <a:extLst xmlns:a="http://schemas.openxmlformats.org/drawingml/2006/main">
              <a:ext uri="{FF2B5EF4-FFF2-40B4-BE49-F238E27FC236}">
                <a16:creationId xmlns:a16="http://schemas.microsoft.com/office/drawing/2014/main" id="{28796DF4-7981-4365-91F8-B789EADACD99}"/>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The transformation we will deliver</a:t>
            </a:r>
          </a:p>
        </p:txBody>
      </p:sp>
      <p:sp>
        <p:nvSpPr>
          <p:cNvPr id="2" name="00:20–00:23 elapsed">
            <a:extLst xmlns:a="http://schemas.openxmlformats.org/drawingml/2006/main">
              <a:ext uri="{FF2B5EF4-FFF2-40B4-BE49-F238E27FC236}">
                <a16:creationId xmlns:a16="http://schemas.microsoft.com/office/drawing/2014/main" id="{E611FFA0-AA85-4B33-A16C-53CC8DEAEFB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prd">
            <a:extLst xmlns:a="http://schemas.openxmlformats.org/drawingml/2006/main">
              <a:ext uri="{FF2B5EF4-FFF2-40B4-BE49-F238E27FC236}">
                <a16:creationId xmlns:a16="http://schemas.microsoft.com/office/drawing/2014/main" id="{DB3944DE-2619-43CE-B7B2-801AF9B91101}"/>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#prd</a:t>
            </a:r>
          </a:p>
        </p:txBody>
      </p:sp>
      <p:sp>
        <p:nvSpPr>
          <p:cNvPr id="4" name="10">
            <a:extLst xmlns:a="http://schemas.openxmlformats.org/drawingml/2006/main">
              <a:ext uri="{FF2B5EF4-FFF2-40B4-BE49-F238E27FC236}">
                <a16:creationId xmlns:a16="http://schemas.microsoft.com/office/drawing/2014/main" id="{F8A436B6-ED78-4610-B56C-2EDE5A0D0A4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10</a:t>
            </a:r>
          </a:p>
        </p:txBody>
      </p:sp>
      <p:sp>
        <p:nvSpPr>
          <p:cNvPr id="5" name="Cooking journey">
            <a:extLst xmlns:a="http://schemas.openxmlformats.org/drawingml/2006/main">
              <a:ext uri="{FF2B5EF4-FFF2-40B4-BE49-F238E27FC236}">
                <a16:creationId xmlns:a16="http://schemas.microsoft.com/office/drawing/2014/main" id="{9BE1E007-AB7D-4CF2-9F1E-29A58F88A4EF}"/>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Cooking journey</a:t>
            </a:r>
          </a:p>
        </p:txBody>
      </p:sp>
      <p:sp>
        <p:nvSpPr>
          <p:cNvPr id="6" name="Find a recipe by ingredient, read its steps, save it to">
            <a:extLst xmlns:a="http://schemas.openxmlformats.org/drawingml/2006/main">
              <a:ext uri="{FF2B5EF4-FFF2-40B4-BE49-F238E27FC236}">
                <a16:creationId xmlns:a16="http://schemas.microsoft.com/office/drawing/2014/main" id="{31225138-AC28-447E-A6AF-AB572A3E1C91}"/>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Find a recipe by ingredient, read its steps, save it to My Cookbook.</a:t>
            </a:r>
          </a:p>
        </p:txBody>
      </p:sp>
      <p:sp>
        <p:nvSpPr>
          <p:cNvPr id="7" name="Complete product scope">
            <a:extLst xmlns:a="http://schemas.openxmlformats.org/drawingml/2006/main">
              <a:ext uri="{FF2B5EF4-FFF2-40B4-BE49-F238E27FC236}">
                <a16:creationId xmlns:a16="http://schemas.microsoft.com/office/drawing/2014/main" id="{F64A75EB-0505-455F-A0AB-11CAB83A0399}"/>
              </a:ext>
            </a:extLst>
          </p:cNvPr>
          <p:cNvSpPr>
            <a:spLocks xmlns:a="http://schemas.openxmlformats.org/drawingml/2006/main" noGrp="1"/>
          </p:cNvSpPr>
          <p:nvPr/>
        </p:nvSpPr>
        <p:spPr>
          <a:xfrm xmlns:a="http://schemas.openxmlformats.org/drawingml/2006/main">
            <a:off x="609600" y="30765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Complete product scope</a:t>
            </a:r>
          </a:p>
        </p:txBody>
      </p:sp>
      <p:sp>
        <p:nvSpPr>
          <p:cNvPr id="8" name="Recipe data and APIs, identity, mobile/TV behavior and ">
            <a:extLst xmlns:a="http://schemas.openxmlformats.org/drawingml/2006/main">
              <a:ext uri="{FF2B5EF4-FFF2-40B4-BE49-F238E27FC236}">
                <a16:creationId xmlns:a16="http://schemas.microsoft.com/office/drawing/2014/main" id="{1C4D1269-336B-475A-A5B8-83194218ABDE}"/>
              </a:ext>
            </a:extLst>
          </p:cNvPr>
          <p:cNvSpPr>
            <a:spLocks xmlns:a="http://schemas.openxmlformats.org/drawingml/2006/main" noGrp="1"/>
          </p:cNvSpPr>
          <p:nvPr/>
        </p:nvSpPr>
        <p:spPr>
          <a:xfrm xmlns:a="http://schemas.openxmlformats.org/drawingml/2006/main">
            <a:off x="4572000" y="30765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Recipe data and APIs, identity, mobile/TV behavior and domain cleanup.</a:t>
            </a:r>
          </a:p>
        </p:txBody>
      </p:sp>
      <p:sp>
        <p:nvSpPr>
          <p:cNvPr id="9" name="Scope boundary">
            <a:extLst xmlns:a="http://schemas.openxmlformats.org/drawingml/2006/main">
              <a:ext uri="{FF2B5EF4-FFF2-40B4-BE49-F238E27FC236}">
                <a16:creationId xmlns:a16="http://schemas.microsoft.com/office/drawing/2014/main" id="{50BE94CB-B0EF-4926-84A0-169665F6084B}"/>
              </a:ext>
            </a:extLst>
          </p:cNvPr>
          <p:cNvSpPr>
            <a:spLocks xmlns:a="http://schemas.openxmlformats.org/drawingml/2006/main" noGrp="1"/>
          </p:cNvSpPr>
          <p:nvPr/>
        </p:nvSpPr>
        <p:spPr>
          <a:xfrm xmlns:a="http://schemas.openxmlformats.org/drawingml/2006/main">
            <a:off x="609600" y="44386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Scope boundary</a:t>
            </a:r>
          </a:p>
        </p:txBody>
      </p:sp>
      <p:sp>
        <p:nvSpPr>
          <p:cNvPr id="10" name="No accounts or cross-device sync. Server restarts may c">
            <a:extLst xmlns:a="http://schemas.openxmlformats.org/drawingml/2006/main">
              <a:ext uri="{FF2B5EF4-FFF2-40B4-BE49-F238E27FC236}">
                <a16:creationId xmlns:a16="http://schemas.microsoft.com/office/drawing/2014/main" id="{36221167-1016-450F-BD3E-5E025EC3B81F}"/>
              </a:ext>
            </a:extLst>
          </p:cNvPr>
          <p:cNvSpPr>
            <a:spLocks xmlns:a="http://schemas.openxmlformats.org/drawingml/2006/main" noGrp="1"/>
          </p:cNvSpPr>
          <p:nvPr/>
        </p:nvSpPr>
        <p:spPr>
          <a:xfrm xmlns:a="http://schemas.openxmlformats.org/drawingml/2006/main">
            <a:off x="4572000" y="44386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No accounts or cross-device sync. Server restarts may clear saved items.</a:t>
            </a:r>
          </a:p>
        </p:txBody>
      </p:sp>
    </p:spTree>
    <p:extLst>
      <p:ext uri="{BB962C8B-B14F-4D97-AF65-F5344CB8AC3E}">
        <p14:creationId xmlns:p14="http://schemas.microsoft.com/office/powerpoint/2010/main" val="2120561258"/>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What does “works well” mean?">
            <a:extLst xmlns:a="http://schemas.openxmlformats.org/drawingml/2006/main">
              <a:ext uri="{FF2B5EF4-FFF2-40B4-BE49-F238E27FC236}">
                <a16:creationId xmlns:a16="http://schemas.microsoft.com/office/drawing/2014/main" id="{1FD2B4AA-448F-4361-AFD5-DBA9EAF1253D}"/>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What does “works well” mean?</a:t>
            </a:r>
          </a:p>
        </p:txBody>
      </p:sp>
      <p:sp>
        <p:nvSpPr>
          <p:cNvPr id="2" name="00:23–00:26 elapsed">
            <a:extLst xmlns:a="http://schemas.openxmlformats.org/drawingml/2006/main">
              <a:ext uri="{FF2B5EF4-FFF2-40B4-BE49-F238E27FC236}">
                <a16:creationId xmlns:a16="http://schemas.microsoft.com/office/drawing/2014/main" id="{417FE1D3-21DF-4D0D-BF2D-4E23A67EA762}"/>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prd">
            <a:extLst xmlns:a="http://schemas.openxmlformats.org/drawingml/2006/main">
              <a:ext uri="{FF2B5EF4-FFF2-40B4-BE49-F238E27FC236}">
                <a16:creationId xmlns:a16="http://schemas.microsoft.com/office/drawing/2014/main" id="{37056E5B-50B1-4ECD-A764-2B8057CF9698}"/>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#prd</a:t>
            </a:r>
          </a:p>
        </p:txBody>
      </p:sp>
      <p:sp>
        <p:nvSpPr>
          <p:cNvPr id="4" name="11">
            <a:extLst xmlns:a="http://schemas.openxmlformats.org/drawingml/2006/main">
              <a:ext uri="{FF2B5EF4-FFF2-40B4-BE49-F238E27FC236}">
                <a16:creationId xmlns:a16="http://schemas.microsoft.com/office/drawing/2014/main" id="{E618EFAB-CDA1-4337-92D8-3B0945051A19}"/>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11</a:t>
            </a:r>
          </a:p>
        </p:txBody>
      </p:sp>
      <p:sp>
        <p:nvSpPr>
          <p:cNvPr id="5" name="Prepared requirement exercise">
            <a:extLst xmlns:a="http://schemas.openxmlformats.org/drawingml/2006/main">
              <a:ext uri="{FF2B5EF4-FFF2-40B4-BE49-F238E27FC236}">
                <a16:creationId xmlns:a16="http://schemas.microsoft.com/office/drawing/2014/main" id="{395DD95A-0414-407F-A6B8-C4FF377CC82B}"/>
              </a:ext>
            </a:extLst>
          </p:cNvPr>
          <p:cNvSpPr>
            <a:spLocks xmlns:a="http://schemas.openxmlformats.org/drawingml/2006/main" noGrp="1"/>
          </p:cNvSpPr>
          <p:nvPr/>
        </p:nvSpPr>
        <p:spPr>
          <a:xfrm xmlns:a="http://schemas.openxmlformats.org/drawingml/2006/main">
            <a:off x="609600" y="15906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C44C0D"/>
                </a:solidFill>
                <a:latin typeface="Helvetica Neue"/>
                <a:ea typeface="Helvetica Neue"/>
                <a:cs typeface="Helvetica Neue"/>
              </a:defRPr>
            </a:pPr>
            <a:r>
              <a:rPr sz="1575" b="1">
                <a:solidFill>
                  <a:srgbClr val="C44C0D"/>
                </a:solidFill>
                <a:latin typeface="Helvetica Neue"/>
                <a:ea typeface="Helvetica Neue"/>
                <a:cs typeface="Helvetica Neue"/>
              </a:rPr>
              <a:t>Prepared requirement exercise</a:t>
            </a:r>
          </a:p>
        </p:txBody>
      </p:sp>
      <p:sp>
        <p:nvSpPr>
          <p:cNvPr id="6" name="“My Cookbook should work well.”">
            <a:extLst xmlns:a="http://schemas.openxmlformats.org/drawingml/2006/main">
              <a:ext uri="{FF2B5EF4-FFF2-40B4-BE49-F238E27FC236}">
                <a16:creationId xmlns:a16="http://schemas.microsoft.com/office/drawing/2014/main" id="{F740EB4A-2A04-4E2F-BF87-57D884B61032}"/>
              </a:ext>
            </a:extLst>
          </p:cNvPr>
          <p:cNvSpPr>
            <a:spLocks xmlns:a="http://schemas.openxmlformats.org/drawingml/2006/main" noGrp="1"/>
          </p:cNvSpPr>
          <p:nvPr/>
        </p:nvSpPr>
        <p:spPr>
          <a:xfrm xmlns:a="http://schemas.openxmlformats.org/drawingml/2006/main">
            <a:off x="609600" y="2124075"/>
            <a:ext cx="10858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“My Cookbook should work well.”</a:t>
            </a:r>
          </a:p>
        </p:txBody>
      </p:sp>
      <p:sp>
        <p:nvSpPr>
          <p:cNvPr id="7" name="Write one behavior you could observe and test.">
            <a:extLst xmlns:a="http://schemas.openxmlformats.org/drawingml/2006/main">
              <a:ext uri="{FF2B5EF4-FFF2-40B4-BE49-F238E27FC236}">
                <a16:creationId xmlns:a16="http://schemas.microsoft.com/office/drawing/2014/main" id="{E6C374FF-F924-42F3-9644-5D7EA6BC436C}"/>
              </a:ext>
            </a:extLst>
          </p:cNvPr>
          <p:cNvSpPr>
            <a:spLocks xmlns:a="http://schemas.openxmlformats.org/drawingml/2006/main" noGrp="1"/>
          </p:cNvSpPr>
          <p:nvPr/>
        </p:nvSpPr>
        <p:spPr>
          <a:xfrm xmlns:a="http://schemas.openxmlformats.org/drawingml/2006/main">
            <a:off x="609600" y="45148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Write one behavior you could observe and test.</a:t>
            </a:r>
          </a:p>
        </p:txBody>
      </p:sp>
      <p:sp>
        <p:nvSpPr>
          <p:cNvPr id="8" name="One minute alone, then compare with a neighbor.">
            <a:extLst xmlns:a="http://schemas.openxmlformats.org/drawingml/2006/main">
              <a:ext uri="{FF2B5EF4-FFF2-40B4-BE49-F238E27FC236}">
                <a16:creationId xmlns:a16="http://schemas.microsoft.com/office/drawing/2014/main" id="{87F87EC9-F988-4BD6-869F-6AE19B183377}"/>
              </a:ext>
            </a:extLst>
          </p:cNvPr>
          <p:cNvSpPr>
            <a:spLocks xmlns:a="http://schemas.openxmlformats.org/drawingml/2006/main" noGrp="1"/>
          </p:cNvSpPr>
          <p:nvPr/>
        </p:nvSpPr>
        <p:spPr>
          <a:xfrm xmlns:a="http://schemas.openxmlformats.org/drawingml/2006/main">
            <a:off x="609600" y="5619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One minute alone, then compare with a neighbor.</a:t>
            </a:r>
          </a:p>
        </p:txBody>
      </p:sp>
    </p:spTree>
    <p:extLst>
      <p:ext uri="{BB962C8B-B14F-4D97-AF65-F5344CB8AC3E}">
        <p14:creationId xmlns:p14="http://schemas.microsoft.com/office/powerpoint/2010/main" val="1997599604"/>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2: approve product intent">
            <a:extLst xmlns:a="http://schemas.openxmlformats.org/drawingml/2006/main">
              <a:ext uri="{FF2B5EF4-FFF2-40B4-BE49-F238E27FC236}">
                <a16:creationId xmlns:a16="http://schemas.microsoft.com/office/drawing/2014/main" id="{5843DA20-E32C-44B7-85E9-33A93C082882}"/>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2: approve product intent</a:t>
            </a:r>
          </a:p>
        </p:txBody>
      </p:sp>
      <p:sp>
        <p:nvSpPr>
          <p:cNvPr id="2" name="00:26–00:35 elapsed">
            <a:extLst xmlns:a="http://schemas.openxmlformats.org/drawingml/2006/main">
              <a:ext uri="{FF2B5EF4-FFF2-40B4-BE49-F238E27FC236}">
                <a16:creationId xmlns:a16="http://schemas.microsoft.com/office/drawing/2014/main" id="{100A6739-C6E3-4F54-B7CC-F53A196ECAF1}"/>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prd, #plan">
            <a:extLst xmlns:a="http://schemas.openxmlformats.org/drawingml/2006/main">
              <a:ext uri="{FF2B5EF4-FFF2-40B4-BE49-F238E27FC236}">
                <a16:creationId xmlns:a16="http://schemas.microsoft.com/office/drawing/2014/main" id="{5AC8031B-5336-4BCB-9CC7-277FC0FE9D03}"/>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#prd, #plan</a:t>
            </a:r>
          </a:p>
        </p:txBody>
      </p:sp>
      <p:sp>
        <p:nvSpPr>
          <p:cNvPr id="4" name="12">
            <a:extLst xmlns:a="http://schemas.openxmlformats.org/drawingml/2006/main">
              <a:ext uri="{FF2B5EF4-FFF2-40B4-BE49-F238E27FC236}">
                <a16:creationId xmlns:a16="http://schemas.microsoft.com/office/drawing/2014/main" id="{F629E5BA-1CC9-4C00-BC12-9CEC1E7D2B6C}"/>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12</a:t>
            </a:r>
          </a:p>
        </p:txBody>
      </p:sp>
      <p:sp>
        <p:nvSpPr>
          <p:cNvPr id="5" name="9 minutes">
            <a:extLst xmlns:a="http://schemas.openxmlformats.org/drawingml/2006/main">
              <a:ext uri="{FF2B5EF4-FFF2-40B4-BE49-F238E27FC236}">
                <a16:creationId xmlns:a16="http://schemas.microsoft.com/office/drawing/2014/main" id="{F5F74A38-EBD5-49E5-B4FB-DD6CF0B09B6D}"/>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9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CB0AF079-6A3C-4270-94CE-90F49D8CCE50}"/>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CA729FC4-D5A0-4E68-9592-7D4A6653E782}"/>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Paste the complete recipe PRD and start Product Review.">
            <a:extLst xmlns:a="http://schemas.openxmlformats.org/drawingml/2006/main">
              <a:ext uri="{FF2B5EF4-FFF2-40B4-BE49-F238E27FC236}">
                <a16:creationId xmlns:a16="http://schemas.microsoft.com/office/drawing/2014/main" id="{410D73D5-A7C2-415B-8726-7486F8982D57}"/>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Paste the complete recipe PRD and start Product Review.</a:t>
            </a:r>
          </a:p>
        </p:txBody>
      </p:sp>
      <p:sp>
        <p:nvSpPr>
          <p:cNvPr id="9" name="2">
            <a:extLst xmlns:a="http://schemas.openxmlformats.org/drawingml/2006/main">
              <a:ext uri="{FF2B5EF4-FFF2-40B4-BE49-F238E27FC236}">
                <a16:creationId xmlns:a16="http://schemas.microsoft.com/office/drawing/2014/main" id="{6BF9CF38-D19A-4A96-8942-7656A15A867C}"/>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Compare one cooking journey with the generated requirem">
            <a:extLst xmlns:a="http://schemas.openxmlformats.org/drawingml/2006/main">
              <a:ext uri="{FF2B5EF4-FFF2-40B4-BE49-F238E27FC236}">
                <a16:creationId xmlns:a16="http://schemas.microsoft.com/office/drawing/2014/main" id="{CB48EBE0-0411-4E9F-8794-F167506473F8}"/>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Compare one cooking journey with the generated requirements.</a:t>
            </a:r>
          </a:p>
        </p:txBody>
      </p:sp>
      <p:sp>
        <p:nvSpPr>
          <p:cNvPr id="11" name="3">
            <a:extLst xmlns:a="http://schemas.openxmlformats.org/drawingml/2006/main">
              <a:ext uri="{FF2B5EF4-FFF2-40B4-BE49-F238E27FC236}">
                <a16:creationId xmlns:a16="http://schemas.microsoft.com/office/drawing/2014/main" id="{3B7E070F-BC29-4566-8086-EB74E0176F32}"/>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Request a justified correction, read it, then approve p">
            <a:extLst xmlns:a="http://schemas.openxmlformats.org/drawingml/2006/main">
              <a:ext uri="{FF2B5EF4-FFF2-40B4-BE49-F238E27FC236}">
                <a16:creationId xmlns:a16="http://schemas.microsoft.com/office/drawing/2014/main" id="{EC0BD0C9-2EF3-4835-93C4-5CF703E5E79A}"/>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Request a justified correction, read it, then approve product intent.</a:t>
            </a:r>
          </a:p>
        </p:txBody>
      </p:sp>
      <p:sp>
        <p:nvSpPr>
          <p:cNvPr id="13" name="Show: a testable outcome that preserves the complete tr">
            <a:extLst xmlns:a="http://schemas.openxmlformats.org/drawingml/2006/main">
              <a:ext uri="{FF2B5EF4-FFF2-40B4-BE49-F238E27FC236}">
                <a16:creationId xmlns:a16="http://schemas.microsoft.com/office/drawing/2014/main" id="{82C98FB9-B62B-4A1A-B0C2-9F577718B23E}"/>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a testable outcome that preserves the complete transformation.</a:t>
            </a:r>
          </a:p>
        </p:txBody>
      </p:sp>
    </p:spTree>
    <p:extLst>
      <p:ext uri="{BB962C8B-B14F-4D97-AF65-F5344CB8AC3E}">
        <p14:creationId xmlns:p14="http://schemas.microsoft.com/office/powerpoint/2010/main" val="104889559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Four planning questions">
            <a:extLst xmlns:a="http://schemas.openxmlformats.org/drawingml/2006/main">
              <a:ext uri="{FF2B5EF4-FFF2-40B4-BE49-F238E27FC236}">
                <a16:creationId xmlns:a16="http://schemas.microsoft.com/office/drawing/2014/main" id="{564812C2-3E9E-4BD1-B62A-6AD971D07E4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Four planning questions</a:t>
            </a:r>
          </a:p>
        </p:txBody>
      </p:sp>
      <p:sp>
        <p:nvSpPr>
          <p:cNvPr id="2" name="00:35–00:39 elapsed">
            <a:extLst xmlns:a="http://schemas.openxmlformats.org/drawingml/2006/main">
              <a:ext uri="{FF2B5EF4-FFF2-40B4-BE49-F238E27FC236}">
                <a16:creationId xmlns:a16="http://schemas.microsoft.com/office/drawing/2014/main" id="{20BBACE7-FA4C-4B24-A5B2-A73118B0FB41}"/>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publish">
            <a:extLst xmlns:a="http://schemas.openxmlformats.org/drawingml/2006/main">
              <a:ext uri="{FF2B5EF4-FFF2-40B4-BE49-F238E27FC236}">
                <a16:creationId xmlns:a16="http://schemas.microsoft.com/office/drawing/2014/main" id="{C0C43A60-AB4A-488A-BC3E-7C035F9BB3CA}"/>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#publish</a:t>
            </a:r>
          </a:p>
        </p:txBody>
      </p:sp>
      <p:sp>
        <p:nvSpPr>
          <p:cNvPr id="4" name="13">
            <a:extLst xmlns:a="http://schemas.openxmlformats.org/drawingml/2006/main">
              <a:ext uri="{FF2B5EF4-FFF2-40B4-BE49-F238E27FC236}">
                <a16:creationId xmlns:a16="http://schemas.microsoft.com/office/drawing/2014/main" id="{26790827-406C-490F-A8E7-055835768B49}"/>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13</a:t>
            </a:r>
          </a:p>
        </p:txBody>
      </p:sp>
      <p:graphicFrame>
        <p:nvGraphicFramePr>
          <p:cNvPr id="13" name=""/>
          <p:cNvGraphicFramePr/>
          <p:nvPr/>
        </p:nvGraphicFramePr>
        <p:xfrm>
          <a:off xmlns:a="http://schemas.openxmlformats.org/drawingml/2006/main" x="609600" y="1685925"/>
          <a:ext xmlns:a="http://schemas.openxmlformats.org/drawingml/2006/main" cx="10972800" cy="3952875"/>
        </p:xfrm>
        <a:graphic xmlns:a="http://schemas.openxmlformats.org/drawingml/2006/main">
          <a:graphicData uri="http://schemas.openxmlformats.org/drawingml/2006/table">
            <a:tbl>
              <a:tblPr/>
              <a:tblGrid>
                <a:gridCol w="3476625"/>
                <a:gridCol w="7496175"/>
              </a:tblGrid>
              <a:tr h="790575">
                <a:tc>
                  <a:txBody>
                    <a:bodyPr>
                      <a:noAutofit/>
                    </a:bodyPr>
                    <a:lstStyle/>
                    <a:p>
                      <a:r>
                        <a:rPr sz="1950" b="1">
                          <a:solidFill>
                            <a:srgbClr val="006CA5"/>
                          </a:solidFill>
                          <a:latin typeface="Helvetica Neue"/>
                          <a:ea typeface="Helvetica Neue"/>
                          <a:cs typeface="Helvetica Neue"/>
                        </a:rPr>
                        <a:t>Expert</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Decision it prepares</a:t>
                      </a:r>
                    </a:p>
                  </a:txBody>
                  <a:tcPr marL="142875" marR="114300" marT="95250" marB="76200" anchor="ctr">
                    <a:solidFill>
                      <a:srgbClr val="EAF3F8"/>
                    </a:solidFill>
                  </a:tcPr>
                </a:tc>
              </a:tr>
              <a:tr h="790575">
                <a:tc>
                  <a:txBody>
                    <a:bodyPr>
                      <a:noAutofit/>
                    </a:bodyPr>
                    <a:lstStyle/>
                    <a:p>
                      <a:r>
                        <a:rPr sz="1950" b="0">
                          <a:solidFill>
                            <a:srgbClr val="152A3A"/>
                          </a:solidFill>
                          <a:latin typeface="Helvetica Neue"/>
                          <a:ea typeface="Helvetica Neue"/>
                          <a:cs typeface="Helvetica Neue"/>
                        </a:rPr>
                        <a:t>Product Review</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What changes for the user?</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System Architecture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Which components and contracts own that behavior?</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Program Design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Which types, interfaces and code paths implement it?</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Vertical Slices</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Which bounded tickets deliver and verify it?</a:t>
                      </a:r>
                    </a:p>
                  </a:txBody>
                  <a:tcPr marL="142875" marR="114300" marT="95250" marB="76200" anchor="ctr">
                    <a:solidFill>
                      <a:srgbClr val="FFFFFF"/>
                    </a:solidFill>
                  </a:tcPr>
                </a:tc>
              </a:tr>
            </a:tbl>
          </a:graphicData>
        </a:graphic>
      </p:graphicFrame>
      <p:sp>
        <p:nvSpPr>
          <p:cNvPr id="6" name="The artifacts carry requirement and contract IDs into d">
            <a:extLst xmlns:a="http://schemas.openxmlformats.org/drawingml/2006/main">
              <a:ext uri="{FF2B5EF4-FFF2-40B4-BE49-F238E27FC236}">
                <a16:creationId xmlns:a16="http://schemas.microsoft.com/office/drawing/2014/main" id="{71D70F02-0FE3-4CD7-840D-E4A846087600}"/>
              </a:ext>
            </a:extLst>
          </p:cNvPr>
          <p:cNvSpPr>
            <a:spLocks xmlns:a="http://schemas.openxmlformats.org/drawingml/2006/main" noGrp="1"/>
          </p:cNvSpPr>
          <p:nvPr/>
        </p:nvSpPr>
        <p:spPr>
          <a:xfrm xmlns:a="http://schemas.openxmlformats.org/drawingml/2006/main">
            <a:off x="609600" y="5829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The artifacts carry requirement and contract IDs into delivery.</a:t>
            </a:r>
          </a:p>
        </p:txBody>
      </p:sp>
    </p:spTree>
    <p:extLst>
      <p:ext uri="{BB962C8B-B14F-4D97-AF65-F5344CB8AC3E}">
        <p14:creationId xmlns:p14="http://schemas.microsoft.com/office/powerpoint/2010/main" val="199475826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Does recipe search need this dependency?">
            <a:extLst xmlns:a="http://schemas.openxmlformats.org/drawingml/2006/main">
              <a:ext uri="{FF2B5EF4-FFF2-40B4-BE49-F238E27FC236}">
                <a16:creationId xmlns:a16="http://schemas.microsoft.com/office/drawing/2014/main" id="{8C845636-4374-456D-9F77-09FFE570867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Does recipe search need this dependency?</a:t>
            </a:r>
          </a:p>
        </p:txBody>
      </p:sp>
      <p:sp>
        <p:nvSpPr>
          <p:cNvPr id="2" name="00:39–00:42 elapsed">
            <a:extLst xmlns:a="http://schemas.openxmlformats.org/drawingml/2006/main">
              <a:ext uri="{FF2B5EF4-FFF2-40B4-BE49-F238E27FC236}">
                <a16:creationId xmlns:a16="http://schemas.microsoft.com/office/drawing/2014/main" id="{876D203E-C1B4-4E96-B481-70274D76BB7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publish">
            <a:extLst xmlns:a="http://schemas.openxmlformats.org/drawingml/2006/main">
              <a:ext uri="{FF2B5EF4-FFF2-40B4-BE49-F238E27FC236}">
                <a16:creationId xmlns:a16="http://schemas.microsoft.com/office/drawing/2014/main" id="{D6B09658-9EED-40E2-A1FF-6312B3A1A38B}"/>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#publish</a:t>
            </a:r>
          </a:p>
        </p:txBody>
      </p:sp>
      <p:sp>
        <p:nvSpPr>
          <p:cNvPr id="4" name="14">
            <a:extLst xmlns:a="http://schemas.openxmlformats.org/drawingml/2006/main">
              <a:ext uri="{FF2B5EF4-FFF2-40B4-BE49-F238E27FC236}">
                <a16:creationId xmlns:a16="http://schemas.microsoft.com/office/drawing/2014/main" id="{3A5BD16F-5198-4BBC-B44A-297FC134729B}"/>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14</a:t>
            </a:r>
          </a:p>
        </p:txBody>
      </p:sp>
      <p:sp>
        <p:nvSpPr>
          <p:cNvPr id="5" name="Prepared planning case">
            <a:extLst xmlns:a="http://schemas.openxmlformats.org/drawingml/2006/main">
              <a:ext uri="{FF2B5EF4-FFF2-40B4-BE49-F238E27FC236}">
                <a16:creationId xmlns:a16="http://schemas.microsoft.com/office/drawing/2014/main" id="{F997629F-3555-4AF2-A584-AB01C61FACEC}"/>
              </a:ext>
            </a:extLst>
          </p:cNvPr>
          <p:cNvSpPr>
            <a:spLocks xmlns:a="http://schemas.openxmlformats.org/drawingml/2006/main" noGrp="1"/>
          </p:cNvSpPr>
          <p:nvPr/>
        </p:nvSpPr>
        <p:spPr>
          <a:xfrm xmlns:a="http://schemas.openxmlformats.org/drawingml/2006/main">
            <a:off x="609600" y="15906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C44C0D"/>
                </a:solidFill>
                <a:latin typeface="Helvetica Neue"/>
                <a:ea typeface="Helvetica Neue"/>
                <a:cs typeface="Helvetica Neue"/>
              </a:defRPr>
            </a:pPr>
            <a:r>
              <a:rPr sz="1575" b="1">
                <a:solidFill>
                  <a:srgbClr val="C44C0D"/>
                </a:solidFill>
                <a:latin typeface="Helvetica Neue"/>
                <a:ea typeface="Helvetica Neue"/>
                <a:cs typeface="Helvetica Neue"/>
              </a:rPr>
              <a:t>Prepared planning case</a:t>
            </a:r>
          </a:p>
        </p:txBody>
      </p:sp>
      <p:sp>
        <p:nvSpPr>
          <p:cNvPr id="6" name="“Build a generic event bus”&#10;blocks “Search recipes by i">
            <a:extLst xmlns:a="http://schemas.openxmlformats.org/drawingml/2006/main">
              <a:ext uri="{FF2B5EF4-FFF2-40B4-BE49-F238E27FC236}">
                <a16:creationId xmlns:a16="http://schemas.microsoft.com/office/drawing/2014/main" id="{DE5B843B-4112-4AA7-AF7C-68EF058B6E7E}"/>
              </a:ext>
            </a:extLst>
          </p:cNvPr>
          <p:cNvSpPr>
            <a:spLocks xmlns:a="http://schemas.openxmlformats.org/drawingml/2006/main" noGrp="1"/>
          </p:cNvSpPr>
          <p:nvPr/>
        </p:nvSpPr>
        <p:spPr>
          <a:xfrm xmlns:a="http://schemas.openxmlformats.org/drawingml/2006/main">
            <a:off x="609600" y="2124075"/>
            <a:ext cx="10858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“Build a generic event bus”</a:t>
            </a:r>
          </a:p>
          <a:p xmlns:a="http://schemas.openxmlformats.org/drawingml/2006/main">
            <a:pPr>
              <a:buNone/>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blocks “Search recipes by ingredient.”</a:t>
            </a:r>
          </a:p>
        </p:txBody>
      </p:sp>
      <p:sp>
        <p:nvSpPr>
          <p:cNvPr id="7" name="Which requirement or contract makes the event bus neces">
            <a:extLst xmlns:a="http://schemas.openxmlformats.org/drawingml/2006/main">
              <a:ext uri="{FF2B5EF4-FFF2-40B4-BE49-F238E27FC236}">
                <a16:creationId xmlns:a16="http://schemas.microsoft.com/office/drawing/2014/main" id="{95838272-4DBA-415F-8B61-ACEA8757FDDB}"/>
              </a:ext>
            </a:extLst>
          </p:cNvPr>
          <p:cNvSpPr>
            <a:spLocks xmlns:a="http://schemas.openxmlformats.org/drawingml/2006/main" noGrp="1"/>
          </p:cNvSpPr>
          <p:nvPr/>
        </p:nvSpPr>
        <p:spPr>
          <a:xfrm xmlns:a="http://schemas.openxmlformats.org/drawingml/2006/main">
            <a:off x="609600" y="45148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Which requirement or contract makes the event bus necessary?</a:t>
            </a:r>
          </a:p>
        </p:txBody>
      </p:sp>
      <p:sp>
        <p:nvSpPr>
          <p:cNvPr id="8" name="In this case, no approved requirement needs messaging.">
            <a:extLst xmlns:a="http://schemas.openxmlformats.org/drawingml/2006/main">
              <a:ext uri="{FF2B5EF4-FFF2-40B4-BE49-F238E27FC236}">
                <a16:creationId xmlns:a16="http://schemas.microsoft.com/office/drawing/2014/main" id="{6524EAF0-88D6-46D6-AA0A-D40E1118FDF7}"/>
              </a:ext>
            </a:extLst>
          </p:cNvPr>
          <p:cNvSpPr>
            <a:spLocks xmlns:a="http://schemas.openxmlformats.org/drawingml/2006/main" noGrp="1"/>
          </p:cNvSpPr>
          <p:nvPr/>
        </p:nvSpPr>
        <p:spPr>
          <a:xfrm xmlns:a="http://schemas.openxmlformats.org/drawingml/2006/main">
            <a:off x="609600" y="5619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In this case, no approved requirement needs messaging.</a:t>
            </a:r>
          </a:p>
        </p:txBody>
      </p:sp>
    </p:spTree>
    <p:extLst>
      <p:ext uri="{BB962C8B-B14F-4D97-AF65-F5344CB8AC3E}">
        <p14:creationId xmlns:p14="http://schemas.microsoft.com/office/powerpoint/2010/main" val="175440134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3: review the plan">
            <a:extLst xmlns:a="http://schemas.openxmlformats.org/drawingml/2006/main">
              <a:ext uri="{FF2B5EF4-FFF2-40B4-BE49-F238E27FC236}">
                <a16:creationId xmlns:a16="http://schemas.microsoft.com/office/drawing/2014/main" id="{C99D1990-5B19-4709-B9A8-9D3FDC676D16}"/>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3: review the plan</a:t>
            </a:r>
          </a:p>
        </p:txBody>
      </p:sp>
      <p:sp>
        <p:nvSpPr>
          <p:cNvPr id="2" name="00:42–00:50 elapsed">
            <a:extLst xmlns:a="http://schemas.openxmlformats.org/drawingml/2006/main">
              <a:ext uri="{FF2B5EF4-FFF2-40B4-BE49-F238E27FC236}">
                <a16:creationId xmlns:a16="http://schemas.microsoft.com/office/drawing/2014/main" id="{341D40B2-1E1B-4EA3-A412-301A6B712EFF}"/>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publish">
            <a:extLst xmlns:a="http://schemas.openxmlformats.org/drawingml/2006/main">
              <a:ext uri="{FF2B5EF4-FFF2-40B4-BE49-F238E27FC236}">
                <a16:creationId xmlns:a16="http://schemas.microsoft.com/office/drawing/2014/main" id="{FC0AB82A-5A2D-4D2C-9439-29B22006FA07}"/>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#publish</a:t>
            </a:r>
          </a:p>
        </p:txBody>
      </p:sp>
      <p:sp>
        <p:nvSpPr>
          <p:cNvPr id="4" name="15">
            <a:extLst xmlns:a="http://schemas.openxmlformats.org/drawingml/2006/main">
              <a:ext uri="{FF2B5EF4-FFF2-40B4-BE49-F238E27FC236}">
                <a16:creationId xmlns:a16="http://schemas.microsoft.com/office/drawing/2014/main" id="{C59D34EB-4847-4142-AC39-C2CD9C52839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15</a:t>
            </a:r>
          </a:p>
        </p:txBody>
      </p:sp>
      <p:sp>
        <p:nvSpPr>
          <p:cNvPr id="5" name="8 minutes">
            <a:extLst xmlns:a="http://schemas.openxmlformats.org/drawingml/2006/main">
              <a:ext uri="{FF2B5EF4-FFF2-40B4-BE49-F238E27FC236}">
                <a16:creationId xmlns:a16="http://schemas.microsoft.com/office/drawing/2014/main" id="{A97619AD-CBA8-4C09-865A-EE1ED2B2D01A}"/>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8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2CDEAA7A-BF75-48DF-8C92-48FB2DC6F774}"/>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EE794603-CCDC-41D4-AB17-9CA3006ADC26}"/>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Run remaining experts and trace your cooking journey.">
            <a:extLst xmlns:a="http://schemas.openxmlformats.org/drawingml/2006/main">
              <a:ext uri="{FF2B5EF4-FFF2-40B4-BE49-F238E27FC236}">
                <a16:creationId xmlns:a16="http://schemas.microsoft.com/office/drawing/2014/main" id="{1D1E37AD-B3E6-429A-ABC7-5F95400482C9}"/>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Run remaining experts and trace your cooking journey.</a:t>
            </a:r>
          </a:p>
        </p:txBody>
      </p:sp>
      <p:sp>
        <p:nvSpPr>
          <p:cNvPr id="9" name="2">
            <a:extLst xmlns:a="http://schemas.openxmlformats.org/drawingml/2006/main">
              <a:ext uri="{FF2B5EF4-FFF2-40B4-BE49-F238E27FC236}">
                <a16:creationId xmlns:a16="http://schemas.microsoft.com/office/drawing/2014/main" id="{3038FCDD-E5DE-4443-A082-A43258DF9F0C}"/>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Check ownership, dependencies and full PRD coverage.">
            <a:extLst xmlns:a="http://schemas.openxmlformats.org/drawingml/2006/main">
              <a:ext uri="{FF2B5EF4-FFF2-40B4-BE49-F238E27FC236}">
                <a16:creationId xmlns:a16="http://schemas.microsoft.com/office/drawing/2014/main" id="{ADA97888-810B-4380-839A-6875B4A2AB08}"/>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Check ownership, dependencies and full PRD coverage.</a:t>
            </a:r>
          </a:p>
        </p:txBody>
      </p:sp>
      <p:sp>
        <p:nvSpPr>
          <p:cNvPr id="11" name="3">
            <a:extLst xmlns:a="http://schemas.openxmlformats.org/drawingml/2006/main">
              <a:ext uri="{FF2B5EF4-FFF2-40B4-BE49-F238E27FC236}">
                <a16:creationId xmlns:a16="http://schemas.microsoft.com/office/drawing/2014/main" id="{2EC95DDF-6D27-4203-B47E-293DDD635FDB}"/>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Request a change when needed, then review and confirm t">
            <a:extLst xmlns:a="http://schemas.openxmlformats.org/drawingml/2006/main">
              <a:ext uri="{FF2B5EF4-FFF2-40B4-BE49-F238E27FC236}">
                <a16:creationId xmlns:a16="http://schemas.microsoft.com/office/drawing/2014/main" id="{44D3323A-5F67-494B-9191-7E4800AF6210}"/>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Request a change when needed, then review and confirm the revision.</a:t>
            </a:r>
          </a:p>
        </p:txBody>
      </p:sp>
      <p:sp>
        <p:nvSpPr>
          <p:cNvPr id="13" name="Show: one justified dependency and one end-to-end ticke">
            <a:extLst xmlns:a="http://schemas.openxmlformats.org/drawingml/2006/main">
              <a:ext uri="{FF2B5EF4-FFF2-40B4-BE49-F238E27FC236}">
                <a16:creationId xmlns:a16="http://schemas.microsoft.com/office/drawing/2014/main" id="{B3810ABE-E60B-4C45-B060-3769CEF72E30}"/>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one justified dependency and one end-to-end ticket.</a:t>
            </a:r>
          </a:p>
        </p:txBody>
      </p:sp>
    </p:spTree>
    <p:extLst>
      <p:ext uri="{BB962C8B-B14F-4D97-AF65-F5344CB8AC3E}">
        <p14:creationId xmlns:p14="http://schemas.microsoft.com/office/powerpoint/2010/main" val="10471889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wo views of the same work">
            <a:extLst xmlns:a="http://schemas.openxmlformats.org/drawingml/2006/main">
              <a:ext uri="{FF2B5EF4-FFF2-40B4-BE49-F238E27FC236}">
                <a16:creationId xmlns:a16="http://schemas.microsoft.com/office/drawing/2014/main" id="{806BA43F-BEC6-469B-9969-02226FB44616}"/>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Two views of the same work</a:t>
            </a:r>
          </a:p>
        </p:txBody>
      </p:sp>
      <p:sp>
        <p:nvSpPr>
          <p:cNvPr id="2" name="00:50–00:53 elapsed">
            <a:extLst xmlns:a="http://schemas.openxmlformats.org/drawingml/2006/main">
              <a:ext uri="{FF2B5EF4-FFF2-40B4-BE49-F238E27FC236}">
                <a16:creationId xmlns:a16="http://schemas.microsoft.com/office/drawing/2014/main" id="{FFE97758-0E96-4475-B672-504A0937036F}"/>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publish, #factory">
            <a:extLst xmlns:a="http://schemas.openxmlformats.org/drawingml/2006/main">
              <a:ext uri="{FF2B5EF4-FFF2-40B4-BE49-F238E27FC236}">
                <a16:creationId xmlns:a16="http://schemas.microsoft.com/office/drawing/2014/main" id="{B0F21649-CBD0-475A-B8FB-50A29D97BD3F}"/>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#publish, #factory</a:t>
            </a:r>
          </a:p>
        </p:txBody>
      </p:sp>
      <p:sp>
        <p:nvSpPr>
          <p:cNvPr id="4" name="16">
            <a:extLst xmlns:a="http://schemas.openxmlformats.org/drawingml/2006/main">
              <a:ext uri="{FF2B5EF4-FFF2-40B4-BE49-F238E27FC236}">
                <a16:creationId xmlns:a16="http://schemas.microsoft.com/office/drawing/2014/main" id="{6704C54C-2D72-4739-8DE2-CA0337163146}"/>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16</a:t>
            </a:r>
          </a:p>
        </p:txBody>
      </p:sp>
      <p:sp>
        <p:nvSpPr>
          <p:cNvPr id="5" name="GitHub Projects">
            <a:extLst xmlns:a="http://schemas.openxmlformats.org/drawingml/2006/main">
              <a:ext uri="{FF2B5EF4-FFF2-40B4-BE49-F238E27FC236}">
                <a16:creationId xmlns:a16="http://schemas.microsoft.com/office/drawing/2014/main" id="{E73A8EDF-F0BA-4834-8BD5-5230B90A6FC7}"/>
              </a:ext>
            </a:extLst>
          </p:cNvPr>
          <p:cNvSpPr>
            <a:spLocks xmlns:a="http://schemas.openxmlformats.org/drawingml/2006/main" noGrp="1"/>
          </p:cNvSpPr>
          <p:nvPr/>
        </p:nvSpPr>
        <p:spPr>
          <a:xfrm xmlns:a="http://schemas.openxmlformats.org/drawingml/2006/main">
            <a:off x="609600" y="1562100"/>
            <a:ext cx="51339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006CA5"/>
                </a:solidFill>
                <a:latin typeface="Helvetica Neue"/>
                <a:ea typeface="Helvetica Neue"/>
                <a:cs typeface="Helvetica Neue"/>
              </a:defRPr>
            </a:pPr>
            <a:r>
              <a:rPr sz="2250" b="1">
                <a:solidFill>
                  <a:srgbClr val="006CA5"/>
                </a:solidFill>
                <a:latin typeface="Helvetica Neue"/>
                <a:ea typeface="Helvetica Neue"/>
                <a:cs typeface="Helvetica Neue"/>
              </a:rPr>
              <a:t>GitHub Projects</a:t>
            </a:r>
          </a:p>
        </p:txBody>
      </p:sp>
      <p:sp>
        <p:nvSpPr>
          <p:cNvPr id="6" name="Control Center">
            <a:extLst xmlns:a="http://schemas.openxmlformats.org/drawingml/2006/main">
              <a:ext uri="{FF2B5EF4-FFF2-40B4-BE49-F238E27FC236}">
                <a16:creationId xmlns:a16="http://schemas.microsoft.com/office/drawing/2014/main" id="{0170D1E6-160B-40B9-8BA2-383647112D5C}"/>
              </a:ext>
            </a:extLst>
          </p:cNvPr>
          <p:cNvSpPr>
            <a:spLocks xmlns:a="http://schemas.openxmlformats.org/drawingml/2006/main" noGrp="1"/>
          </p:cNvSpPr>
          <p:nvPr/>
        </p:nvSpPr>
        <p:spPr>
          <a:xfrm xmlns:a="http://schemas.openxmlformats.org/drawingml/2006/main">
            <a:off x="6334125" y="1562100"/>
            <a:ext cx="5191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006CA5"/>
                </a:solidFill>
                <a:latin typeface="Helvetica Neue"/>
                <a:ea typeface="Helvetica Neue"/>
                <a:cs typeface="Helvetica Neue"/>
              </a:defRPr>
            </a:pPr>
            <a:r>
              <a:rPr sz="2250" b="1">
                <a:solidFill>
                  <a:srgbClr val="006CA5"/>
                </a:solidFill>
                <a:latin typeface="Helvetica Neue"/>
                <a:ea typeface="Helvetica Neue"/>
                <a:cs typeface="Helvetica Neue"/>
              </a:rPr>
              <a:t>Control Center</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ec642f7472b411c"/>
          <a:stretch xmlns:a="http://schemas.openxmlformats.org/drawingml/2006/main"/>
        </p:blipFill>
        <p:spPr>
          <a:xfrm xmlns:a="http://schemas.openxmlformats.org/drawingml/2006/main">
            <a:off x="1255217" y="2152650"/>
            <a:ext cx="3947516" cy="2905125"/>
          </a:xfrm>
          <a:prstGeom xmlns:a="http://schemas.openxmlformats.org/drawingml/2006/main" prst="rect">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cce3afbdce6c408d"/>
          <a:stretch xmlns:a="http://schemas.openxmlformats.org/drawingml/2006/main"/>
        </p:blipFill>
        <p:spPr>
          <a:xfrm xmlns:a="http://schemas.openxmlformats.org/drawingml/2006/main">
            <a:off x="6819122" y="2152650"/>
            <a:ext cx="4268755" cy="2905125"/>
          </a:xfrm>
          <a:prstGeom xmlns:a="http://schemas.openxmlformats.org/drawingml/2006/main" prst="rect">
            <a:avLst/>
          </a:prstGeom>
        </p:spPr>
      </p:pic>
      <p:sp>
        <p:nvSpPr>
          <p:cNvPr id="9" name="Shared issues and status&#10;Illustrative board">
            <a:extLst xmlns:a="http://schemas.openxmlformats.org/drawingml/2006/main">
              <a:ext uri="{FF2B5EF4-FFF2-40B4-BE49-F238E27FC236}">
                <a16:creationId xmlns:a16="http://schemas.microsoft.com/office/drawing/2014/main" id="{74E915BA-5B0E-44AC-AC58-3424062C1AA7}"/>
              </a:ext>
            </a:extLst>
          </p:cNvPr>
          <p:cNvSpPr>
            <a:spLocks xmlns:a="http://schemas.openxmlformats.org/drawingml/2006/main" noGrp="1"/>
          </p:cNvSpPr>
          <p:nvPr/>
        </p:nvSpPr>
        <p:spPr>
          <a:xfrm xmlns:a="http://schemas.openxmlformats.org/drawingml/2006/main">
            <a:off x="609600" y="539115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Shared issues and status</a:t>
            </a:r>
          </a:p>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Illustrative board</a:t>
            </a:r>
          </a:p>
        </p:txBody>
      </p:sp>
      <p:sp>
        <p:nvSpPr>
          <p:cNvPr id="10" name="Logs, tests, diffs and decisions&#10;Prepared screen">
            <a:extLst xmlns:a="http://schemas.openxmlformats.org/drawingml/2006/main">
              <a:ext uri="{FF2B5EF4-FFF2-40B4-BE49-F238E27FC236}">
                <a16:creationId xmlns:a16="http://schemas.microsoft.com/office/drawing/2014/main" id="{3BF643D2-9C45-4A39-B692-DCB29336A84A}"/>
              </a:ext>
            </a:extLst>
          </p:cNvPr>
          <p:cNvSpPr>
            <a:spLocks xmlns:a="http://schemas.openxmlformats.org/drawingml/2006/main" noGrp="1"/>
          </p:cNvSpPr>
          <p:nvPr/>
        </p:nvSpPr>
        <p:spPr>
          <a:xfrm xmlns:a="http://schemas.openxmlformats.org/drawingml/2006/main">
            <a:off x="6334125" y="5391150"/>
            <a:ext cx="5238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Logs, tests, diffs and decisions</a:t>
            </a:r>
          </a:p>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Prepared screen</a:t>
            </a:r>
          </a:p>
        </p:txBody>
      </p:sp>
    </p:spTree>
    <p:extLst>
      <p:ext uri="{BB962C8B-B14F-4D97-AF65-F5344CB8AC3E}">
        <p14:creationId xmlns:p14="http://schemas.microsoft.com/office/powerpoint/2010/main" val="38959684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4: publish and begin QA">
            <a:extLst xmlns:a="http://schemas.openxmlformats.org/drawingml/2006/main">
              <a:ext uri="{FF2B5EF4-FFF2-40B4-BE49-F238E27FC236}">
                <a16:creationId xmlns:a16="http://schemas.microsoft.com/office/drawing/2014/main" id="{ADD72248-353C-4C4F-8B77-4216013FA3A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4: publish and begin QA</a:t>
            </a:r>
          </a:p>
        </p:txBody>
      </p:sp>
      <p:sp>
        <p:nvSpPr>
          <p:cNvPr id="2" name="00:53–01:05 elapsed">
            <a:extLst xmlns:a="http://schemas.openxmlformats.org/drawingml/2006/main">
              <a:ext uri="{FF2B5EF4-FFF2-40B4-BE49-F238E27FC236}">
                <a16:creationId xmlns:a16="http://schemas.microsoft.com/office/drawing/2014/main" id="{291CE927-CE70-4093-98EB-051219F2FCCC}"/>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publish, #qa">
            <a:extLst xmlns:a="http://schemas.openxmlformats.org/drawingml/2006/main">
              <a:ext uri="{FF2B5EF4-FFF2-40B4-BE49-F238E27FC236}">
                <a16:creationId xmlns:a16="http://schemas.microsoft.com/office/drawing/2014/main" id="{F464FF26-81AC-4841-B7CC-58D9448B2409}"/>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#publish, #qa</a:t>
            </a:r>
          </a:p>
        </p:txBody>
      </p:sp>
      <p:sp>
        <p:nvSpPr>
          <p:cNvPr id="4" name="17">
            <a:extLst xmlns:a="http://schemas.openxmlformats.org/drawingml/2006/main">
              <a:ext uri="{FF2B5EF4-FFF2-40B4-BE49-F238E27FC236}">
                <a16:creationId xmlns:a16="http://schemas.microsoft.com/office/drawing/2014/main" id="{F9D259AB-CC3A-4B80-928A-E20FFC8D58C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17</a:t>
            </a:r>
          </a:p>
        </p:txBody>
      </p:sp>
      <p:sp>
        <p:nvSpPr>
          <p:cNvPr id="5" name="12 minutes">
            <a:extLst xmlns:a="http://schemas.openxmlformats.org/drawingml/2006/main">
              <a:ext uri="{FF2B5EF4-FFF2-40B4-BE49-F238E27FC236}">
                <a16:creationId xmlns:a16="http://schemas.microsoft.com/office/drawing/2014/main" id="{0D66F429-0355-4815-ADE8-5349F02D1C49}"/>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12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AC561558-1B88-4EEB-B161-8689A1BB6ACE}"/>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A8FA7898-E509-496C-B476-92DC30B55E70}"/>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Approve alignment and create the planned tickets.">
            <a:extLst xmlns:a="http://schemas.openxmlformats.org/drawingml/2006/main">
              <a:ext uri="{FF2B5EF4-FFF2-40B4-BE49-F238E27FC236}">
                <a16:creationId xmlns:a16="http://schemas.microsoft.com/office/drawing/2014/main" id="{3A540247-A70B-449B-96A5-D0BD58D9BB09}"/>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Approve alignment and create the planned tickets.</a:t>
            </a:r>
          </a:p>
        </p:txBody>
      </p:sp>
      <p:sp>
        <p:nvSpPr>
          <p:cNvPr id="9" name="2">
            <a:extLst xmlns:a="http://schemas.openxmlformats.org/drawingml/2006/main">
              <a:ext uri="{FF2B5EF4-FFF2-40B4-BE49-F238E27FC236}">
                <a16:creationId xmlns:a16="http://schemas.microsoft.com/office/drawing/2014/main" id="{B62C0BAF-3190-4220-BF95-C404BA4F76FC}"/>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Open your GitHub Project and identify one issue.">
            <a:extLst xmlns:a="http://schemas.openxmlformats.org/drawingml/2006/main">
              <a:ext uri="{FF2B5EF4-FFF2-40B4-BE49-F238E27FC236}">
                <a16:creationId xmlns:a16="http://schemas.microsoft.com/office/drawing/2014/main" id="{D067B07A-3B15-4353-9E9C-2027D6EECD8D}"/>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your GitHub Project and identify one issue.</a:t>
            </a:r>
          </a:p>
        </p:txBody>
      </p:sp>
      <p:sp>
        <p:nvSpPr>
          <p:cNvPr id="11" name="3">
            <a:extLst xmlns:a="http://schemas.openxmlformats.org/drawingml/2006/main">
              <a:ext uri="{FF2B5EF4-FFF2-40B4-BE49-F238E27FC236}">
                <a16:creationId xmlns:a16="http://schemas.microsoft.com/office/drawing/2014/main" id="{03F2D3A8-0A25-466E-ACDC-B01E81DCD0E4}"/>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In Deliver &gt; Tickets, run one cycle and inspect its QA ">
            <a:extLst xmlns:a="http://schemas.openxmlformats.org/drawingml/2006/main">
              <a:ext uri="{FF2B5EF4-FFF2-40B4-BE49-F238E27FC236}">
                <a16:creationId xmlns:a16="http://schemas.microsoft.com/office/drawing/2014/main" id="{1D81CA7B-37C1-40AA-8D30-6D0616B79EE5}"/>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In Deliver &gt; Tickets, run one cycle and inspect its QA state.</a:t>
            </a:r>
          </a:p>
        </p:txBody>
      </p:sp>
      <p:sp>
        <p:nvSpPr>
          <p:cNvPr id="13" name="Show: the issue, its dependency, and proposed tests or ">
            <a:extLst xmlns:a="http://schemas.openxmlformats.org/drawingml/2006/main">
              <a:ext uri="{FF2B5EF4-FFF2-40B4-BE49-F238E27FC236}">
                <a16:creationId xmlns:a16="http://schemas.microsoft.com/office/drawing/2014/main" id="{E8B29F7B-10DD-44AD-A67A-2FF41E1EDCDA}"/>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the issue, its dependency, and proposed tests or its real waiting state.</a:t>
            </a:r>
          </a:p>
        </p:txBody>
      </p:sp>
    </p:spTree>
    <p:extLst>
      <p:ext uri="{BB962C8B-B14F-4D97-AF65-F5344CB8AC3E}">
        <p14:creationId xmlns:p14="http://schemas.microsoft.com/office/powerpoint/2010/main" val="15525750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Which failures prove missing behavior?">
            <a:extLst xmlns:a="http://schemas.openxmlformats.org/drawingml/2006/main">
              <a:ext uri="{FF2B5EF4-FFF2-40B4-BE49-F238E27FC236}">
                <a16:creationId xmlns:a16="http://schemas.microsoft.com/office/drawing/2014/main" id="{62583A68-D083-41B5-8487-6D40535DFD4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Which failures prove missing behavior?</a:t>
            </a:r>
          </a:p>
        </p:txBody>
      </p:sp>
      <p:sp>
        <p:nvSpPr>
          <p:cNvPr id="2" name="01:05–01:08 elapsed">
            <a:extLst xmlns:a="http://schemas.openxmlformats.org/drawingml/2006/main">
              <a:ext uri="{FF2B5EF4-FFF2-40B4-BE49-F238E27FC236}">
                <a16:creationId xmlns:a16="http://schemas.microsoft.com/office/drawing/2014/main" id="{F2313672-A3C4-400C-9A36-811A13B29B04}"/>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qa">
            <a:extLst xmlns:a="http://schemas.openxmlformats.org/drawingml/2006/main">
              <a:ext uri="{FF2B5EF4-FFF2-40B4-BE49-F238E27FC236}">
                <a16:creationId xmlns:a16="http://schemas.microsoft.com/office/drawing/2014/main" id="{97BE4EC3-4B44-4EC8-A28E-AA46B5CA65BB}"/>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#qa</a:t>
            </a:r>
          </a:p>
        </p:txBody>
      </p:sp>
      <p:sp>
        <p:nvSpPr>
          <p:cNvPr id="4" name="18">
            <a:extLst xmlns:a="http://schemas.openxmlformats.org/drawingml/2006/main">
              <a:ext uri="{FF2B5EF4-FFF2-40B4-BE49-F238E27FC236}">
                <a16:creationId xmlns:a16="http://schemas.microsoft.com/office/drawing/2014/main" id="{625C77BD-DF03-4AE2-B56A-48FEF44F1B92}"/>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18</a:t>
            </a:r>
          </a:p>
        </p:txBody>
      </p:sp>
      <p:graphicFrame>
        <p:nvGraphicFramePr>
          <p:cNvPr id="13" name=""/>
          <p:cNvGraphicFramePr/>
          <p:nvPr/>
        </p:nvGraphicFramePr>
        <p:xfrm>
          <a:off xmlns:a="http://schemas.openxmlformats.org/drawingml/2006/main" x="609600" y="1685925"/>
          <a:ext xmlns:a="http://schemas.openxmlformats.org/drawingml/2006/main" cx="10972800" cy="3333750"/>
        </p:xfrm>
        <a:graphic xmlns:a="http://schemas.openxmlformats.org/drawingml/2006/main">
          <a:graphicData uri="http://schemas.openxmlformats.org/drawingml/2006/table">
            <a:tbl>
              <a:tblPr/>
              <a:tblGrid>
                <a:gridCol w="1476375"/>
                <a:gridCol w="9496425"/>
              </a:tblGrid>
              <a:tr h="833438">
                <a:tc>
                  <a:txBody>
                    <a:bodyPr>
                      <a:noAutofit/>
                    </a:bodyPr>
                    <a:lstStyle/>
                    <a:p>
                      <a:r>
                        <a:rPr sz="1950" b="1">
                          <a:solidFill>
                            <a:srgbClr val="006CA5"/>
                          </a:solidFill>
                          <a:latin typeface="Helvetica Neue"/>
                          <a:ea typeface="Helvetica Neue"/>
                          <a:cs typeface="Helvetica Neue"/>
                        </a:rPr>
                        <a:t>Case</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Observed failure</a:t>
                      </a:r>
                    </a:p>
                  </a:txBody>
                  <a:tcPr marL="142875" marR="114300" marT="95250" marB="76200" anchor="ctr">
                    <a:solidFill>
                      <a:srgbClr val="EAF3F8"/>
                    </a:solidFill>
                  </a:tcPr>
                </a:tc>
              </a:tr>
              <a:tr h="833438">
                <a:tc>
                  <a:txBody>
                    <a:bodyPr>
                      <a:noAutofit/>
                    </a:bodyPr>
                    <a:lstStyle/>
                    <a:p>
                      <a:r>
                        <a:rPr sz="1950" b="0">
                          <a:solidFill>
                            <a:srgbClr val="152A3A"/>
                          </a:solidFill>
                          <a:latin typeface="Helvetica Neue"/>
                          <a:ea typeface="Helvetica Neue"/>
                          <a:cs typeface="Helvetica Neue"/>
                        </a:rPr>
                        <a:t>A</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No module named pytest</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B</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The recipe behavior assertion fails on the baseline</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C</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An unrelated or impossible assertion fails</a:t>
                      </a:r>
                    </a:p>
                  </a:txBody>
                  <a:tcPr marL="142875" marR="114300" marT="95250" marB="76200" anchor="ctr">
                    <a:solidFill>
                      <a:srgbClr val="FFFFFF"/>
                    </a:solidFill>
                  </a:tcPr>
                </a:tc>
              </a:tr>
            </a:tbl>
          </a:graphicData>
        </a:graphic>
      </p:graphicFrame>
      <p:sp>
        <p:nvSpPr>
          <p:cNvPr id="6" name="Decide alone: approve, repair the environment, or revis">
            <a:extLst xmlns:a="http://schemas.openxmlformats.org/drawingml/2006/main">
              <a:ext uri="{FF2B5EF4-FFF2-40B4-BE49-F238E27FC236}">
                <a16:creationId xmlns:a16="http://schemas.microsoft.com/office/drawing/2014/main" id="{55752A52-0AFC-418B-B51B-9F98BD6C2768}"/>
              </a:ext>
            </a:extLst>
          </p:cNvPr>
          <p:cNvSpPr>
            <a:spLocks xmlns:a="http://schemas.openxmlformats.org/drawingml/2006/main" noGrp="1"/>
          </p:cNvSpPr>
          <p:nvPr/>
        </p:nvSpPr>
        <p:spPr>
          <a:xfrm xmlns:a="http://schemas.openxmlformats.org/drawingml/2006/main">
            <a:off x="609600" y="55054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Decide alone: approve, repair the environment, or revise the test.</a:t>
            </a:r>
          </a:p>
        </p:txBody>
      </p:sp>
    </p:spTree>
    <p:extLst>
      <p:ext uri="{BB962C8B-B14F-4D97-AF65-F5344CB8AC3E}">
        <p14:creationId xmlns:p14="http://schemas.microsoft.com/office/powerpoint/2010/main" val="172562865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RED decision">
            <a:extLst xmlns:a="http://schemas.openxmlformats.org/drawingml/2006/main">
              <a:ext uri="{FF2B5EF4-FFF2-40B4-BE49-F238E27FC236}">
                <a16:creationId xmlns:a16="http://schemas.microsoft.com/office/drawing/2014/main" id="{51899630-3026-4079-9A15-E1FF535E9D3E}"/>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The RED decision</a:t>
            </a:r>
          </a:p>
        </p:txBody>
      </p:sp>
      <p:sp>
        <p:nvSpPr>
          <p:cNvPr id="2" name="01:08–01:11 elapsed">
            <a:extLst xmlns:a="http://schemas.openxmlformats.org/drawingml/2006/main">
              <a:ext uri="{FF2B5EF4-FFF2-40B4-BE49-F238E27FC236}">
                <a16:creationId xmlns:a16="http://schemas.microsoft.com/office/drawing/2014/main" id="{2E5E509E-A304-47EB-91F2-28653342B5E7}"/>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qa">
            <a:extLst xmlns:a="http://schemas.openxmlformats.org/drawingml/2006/main">
              <a:ext uri="{FF2B5EF4-FFF2-40B4-BE49-F238E27FC236}">
                <a16:creationId xmlns:a16="http://schemas.microsoft.com/office/drawing/2014/main" id="{D447E1F2-B152-4051-9969-DD18D84E510A}"/>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#qa</a:t>
            </a:r>
          </a:p>
        </p:txBody>
      </p:sp>
      <p:sp>
        <p:nvSpPr>
          <p:cNvPr id="4" name="19">
            <a:extLst xmlns:a="http://schemas.openxmlformats.org/drawingml/2006/main">
              <a:ext uri="{FF2B5EF4-FFF2-40B4-BE49-F238E27FC236}">
                <a16:creationId xmlns:a16="http://schemas.microsoft.com/office/drawing/2014/main" id="{BC0C0706-66A9-466A-B1AB-B9CED2D8586D}"/>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19</a:t>
            </a:r>
          </a:p>
        </p:txBody>
      </p:sp>
      <p:graphicFrame>
        <p:nvGraphicFramePr>
          <p:cNvPr id="13" name=""/>
          <p:cNvGraphicFramePr/>
          <p:nvPr/>
        </p:nvGraphicFramePr>
        <p:xfrm>
          <a:off xmlns:a="http://schemas.openxmlformats.org/drawingml/2006/main" x="609600" y="1685925"/>
          <a:ext xmlns:a="http://schemas.openxmlformats.org/drawingml/2006/main" cx="10972800" cy="3333750"/>
        </p:xfrm>
        <a:graphic xmlns:a="http://schemas.openxmlformats.org/drawingml/2006/main">
          <a:graphicData uri="http://schemas.openxmlformats.org/drawingml/2006/table">
            <a:tbl>
              <a:tblPr/>
              <a:tblGrid>
                <a:gridCol w="1476375"/>
                <a:gridCol w="9496425"/>
              </a:tblGrid>
              <a:tr h="833438">
                <a:tc>
                  <a:txBody>
                    <a:bodyPr>
                      <a:noAutofit/>
                    </a:bodyPr>
                    <a:lstStyle/>
                    <a:p>
                      <a:r>
                        <a:rPr sz="1950" b="1">
                          <a:solidFill>
                            <a:srgbClr val="006CA5"/>
                          </a:solidFill>
                          <a:latin typeface="Helvetica Neue"/>
                          <a:ea typeface="Helvetica Neue"/>
                          <a:cs typeface="Helvetica Neue"/>
                        </a:rPr>
                        <a:t>Case</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Decision and reason</a:t>
                      </a:r>
                    </a:p>
                  </a:txBody>
                  <a:tcPr marL="142875" marR="114300" marT="95250" marB="76200" anchor="ctr">
                    <a:solidFill>
                      <a:srgbClr val="EAF3F8"/>
                    </a:solidFill>
                  </a:tcPr>
                </a:tc>
              </a:tr>
              <a:tr h="833438">
                <a:tc>
                  <a:txBody>
                    <a:bodyPr>
                      <a:noAutofit/>
                    </a:bodyPr>
                    <a:lstStyle/>
                    <a:p>
                      <a:r>
                        <a:rPr sz="1950" b="0">
                          <a:solidFill>
                            <a:srgbClr val="152A3A"/>
                          </a:solidFill>
                          <a:latin typeface="Helvetica Neue"/>
                          <a:ea typeface="Helvetica Neue"/>
                          <a:cs typeface="Helvetica Neue"/>
                        </a:rPr>
                        <a:t>A</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Repair the environment. The test did not run properly.</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B</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Inspect its meaning. It can be valid RED for the requirement.</a:t>
                      </a:r>
                    </a:p>
                  </a:txBody>
                  <a:tcPr marL="142875" marR="114300" marT="95250" marB="76200" anchor="ctr">
                    <a:solidFill>
                      <a:srgbClr val="FFFFFF"/>
                    </a:solidFill>
                  </a:tcPr>
                </a:tc>
              </a:tr>
              <a:tr h="833438">
                <a:tc>
                  <a:txBody>
                    <a:bodyPr>
                      <a:noAutofit/>
                    </a:bodyPr>
                    <a:lstStyle/>
                    <a:p>
                      <a:r>
                        <a:rPr sz="1950" b="0">
                          <a:solidFill>
                            <a:srgbClr val="152A3A"/>
                          </a:solidFill>
                          <a:latin typeface="Helvetica Neue"/>
                          <a:ea typeface="Helvetica Neue"/>
                          <a:cs typeface="Helvetica Neue"/>
                        </a:rPr>
                        <a:t>C</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Revise the test. A failure alone does not establish relevance.</a:t>
                      </a:r>
                    </a:p>
                  </a:txBody>
                  <a:tcPr marL="142875" marR="114300" marT="95250" marB="76200" anchor="ctr">
                    <a:solidFill>
                      <a:srgbClr val="FFFFFF"/>
                    </a:solidFill>
                  </a:tcPr>
                </a:tc>
              </a:tr>
            </a:tbl>
          </a:graphicData>
        </a:graphic>
      </p:graphicFrame>
      <p:sp>
        <p:nvSpPr>
          <p:cNvPr id="6" name="RED PROVED classifies the runner result. You still judg">
            <a:extLst xmlns:a="http://schemas.openxmlformats.org/drawingml/2006/main">
              <a:ext uri="{FF2B5EF4-FFF2-40B4-BE49-F238E27FC236}">
                <a16:creationId xmlns:a16="http://schemas.microsoft.com/office/drawing/2014/main" id="{977F8860-8B4E-4698-A280-144CF99FB75E}"/>
              </a:ext>
            </a:extLst>
          </p:cNvPr>
          <p:cNvSpPr>
            <a:spLocks xmlns:a="http://schemas.openxmlformats.org/drawingml/2006/main" noGrp="1"/>
          </p:cNvSpPr>
          <p:nvPr/>
        </p:nvSpPr>
        <p:spPr>
          <a:xfrm xmlns:a="http://schemas.openxmlformats.org/drawingml/2006/main">
            <a:off x="609600" y="550545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RED PROVED classifies the runner result. You still judge the assertion.</a:t>
            </a:r>
          </a:p>
        </p:txBody>
      </p:sp>
    </p:spTree>
    <p:extLst>
      <p:ext uri="{BB962C8B-B14F-4D97-AF65-F5344CB8AC3E}">
        <p14:creationId xmlns:p14="http://schemas.microsoft.com/office/powerpoint/2010/main" val="7609823"/>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5: approve tests and start delivery">
            <a:extLst xmlns:a="http://schemas.openxmlformats.org/drawingml/2006/main">
              <a:ext uri="{FF2B5EF4-FFF2-40B4-BE49-F238E27FC236}">
                <a16:creationId xmlns:a16="http://schemas.microsoft.com/office/drawing/2014/main" id="{C3530648-D00E-419D-B2F7-B2D536A52D8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5: approve tests and start delivery</a:t>
            </a:r>
          </a:p>
        </p:txBody>
      </p:sp>
      <p:sp>
        <p:nvSpPr>
          <p:cNvPr id="2" name="01:11–01:20 elapsed">
            <a:extLst xmlns:a="http://schemas.openxmlformats.org/drawingml/2006/main">
              <a:ext uri="{FF2B5EF4-FFF2-40B4-BE49-F238E27FC236}">
                <a16:creationId xmlns:a16="http://schemas.microsoft.com/office/drawing/2014/main" id="{C9149738-4A26-4CED-8F8E-02EA3B4E905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qa, #factory">
            <a:extLst xmlns:a="http://schemas.openxmlformats.org/drawingml/2006/main">
              <a:ext uri="{FF2B5EF4-FFF2-40B4-BE49-F238E27FC236}">
                <a16:creationId xmlns:a16="http://schemas.microsoft.com/office/drawing/2014/main" id="{A0501B99-ACCD-4B5B-828E-9E84C64BC44B}"/>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#qa, #factory</a:t>
            </a:r>
          </a:p>
        </p:txBody>
      </p:sp>
      <p:sp>
        <p:nvSpPr>
          <p:cNvPr id="4" name="20">
            <a:extLst xmlns:a="http://schemas.openxmlformats.org/drawingml/2006/main">
              <a:ext uri="{FF2B5EF4-FFF2-40B4-BE49-F238E27FC236}">
                <a16:creationId xmlns:a16="http://schemas.microsoft.com/office/drawing/2014/main" id="{9028851B-D00A-40AE-8C4B-63B0374F866D}"/>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20</a:t>
            </a:r>
          </a:p>
        </p:txBody>
      </p:sp>
      <p:sp>
        <p:nvSpPr>
          <p:cNvPr id="5" name="9 minutes">
            <a:extLst xmlns:a="http://schemas.openxmlformats.org/drawingml/2006/main">
              <a:ext uri="{FF2B5EF4-FFF2-40B4-BE49-F238E27FC236}">
                <a16:creationId xmlns:a16="http://schemas.microsoft.com/office/drawing/2014/main" id="{1E8EC58F-2D4C-4684-BD74-BB0F48EC3C6B}"/>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9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A0308E01-EB2B-4AB2-9939-CCBEE5C108EF}"/>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5D0C004D-985E-4D72-AB99-375756875D38}"/>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Open the QA Review ticket and read Tests.">
            <a:extLst xmlns:a="http://schemas.openxmlformats.org/drawingml/2006/main">
              <a:ext uri="{FF2B5EF4-FFF2-40B4-BE49-F238E27FC236}">
                <a16:creationId xmlns:a16="http://schemas.microsoft.com/office/drawing/2014/main" id="{E27E9B3D-811D-4846-9D70-0ED7C3B7A2C3}"/>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the QA Review ticket and read Tests.</a:t>
            </a:r>
          </a:p>
        </p:txBody>
      </p:sp>
      <p:sp>
        <p:nvSpPr>
          <p:cNvPr id="9" name="2">
            <a:extLst xmlns:a="http://schemas.openxmlformats.org/drawingml/2006/main">
              <a:ext uri="{FF2B5EF4-FFF2-40B4-BE49-F238E27FC236}">
                <a16:creationId xmlns:a16="http://schemas.microsoft.com/office/drawing/2014/main" id="{44349C59-2F5E-487A-9E67-EC6A78F1CBB8}"/>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Check the assertion, baseline failure and exact command">
            <a:extLst xmlns:a="http://schemas.openxmlformats.org/drawingml/2006/main">
              <a:ext uri="{FF2B5EF4-FFF2-40B4-BE49-F238E27FC236}">
                <a16:creationId xmlns:a16="http://schemas.microsoft.com/office/drawing/2014/main" id="{945D03FF-0277-4D34-A5E9-1788827F1BE4}"/>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Check the assertion, baseline failure and exact command.</a:t>
            </a:r>
          </a:p>
        </p:txBody>
      </p:sp>
      <p:sp>
        <p:nvSpPr>
          <p:cNvPr id="11" name="3">
            <a:extLst xmlns:a="http://schemas.openxmlformats.org/drawingml/2006/main">
              <a:ext uri="{FF2B5EF4-FFF2-40B4-BE49-F238E27FC236}">
                <a16:creationId xmlns:a16="http://schemas.microsoft.com/office/drawing/2014/main" id="{3D4FEDDE-8E8C-4A1E-8221-32B84B8C5DB3}"/>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Approve valid tests, then select Run factory in Deliver">
            <a:extLst xmlns:a="http://schemas.openxmlformats.org/drawingml/2006/main">
              <a:ext uri="{FF2B5EF4-FFF2-40B4-BE49-F238E27FC236}">
                <a16:creationId xmlns:a16="http://schemas.microsoft.com/office/drawing/2014/main" id="{1310098D-EBDE-4593-8A0D-951889DB31EA}"/>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Approve valid tests, then select Run factory in Deliver &gt; Tickets.</a:t>
            </a:r>
          </a:p>
        </p:txBody>
      </p:sp>
      <p:sp>
        <p:nvSpPr>
          <p:cNvPr id="13" name="Show: the reason for your approval and the first eligib">
            <a:extLst xmlns:a="http://schemas.openxmlformats.org/drawingml/2006/main">
              <a:ext uri="{FF2B5EF4-FFF2-40B4-BE49-F238E27FC236}">
                <a16:creationId xmlns:a16="http://schemas.microsoft.com/office/drawing/2014/main" id="{4F0B0595-CE63-4850-8614-82EB62C885E2}"/>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the reason for your approval and the first eligible implementation.</a:t>
            </a:r>
          </a:p>
        </p:txBody>
      </p:sp>
    </p:spTree>
    <p:extLst>
      <p:ext uri="{BB962C8B-B14F-4D97-AF65-F5344CB8AC3E}">
        <p14:creationId xmlns:p14="http://schemas.microsoft.com/office/powerpoint/2010/main" val="177930652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A useful repair loop">
            <a:extLst xmlns:a="http://schemas.openxmlformats.org/drawingml/2006/main">
              <a:ext uri="{FF2B5EF4-FFF2-40B4-BE49-F238E27FC236}">
                <a16:creationId xmlns:a16="http://schemas.microsoft.com/office/drawing/2014/main" id="{FF7A35A9-DA70-47EA-9ACE-1DCFEC1FD572}"/>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 useful repair loop</a:t>
            </a:r>
          </a:p>
        </p:txBody>
      </p:sp>
      <p:sp>
        <p:nvSpPr>
          <p:cNvPr id="2" name="01:20–01:23 elapsed">
            <a:extLst xmlns:a="http://schemas.openxmlformats.org/drawingml/2006/main">
              <a:ext uri="{FF2B5EF4-FFF2-40B4-BE49-F238E27FC236}">
                <a16:creationId xmlns:a16="http://schemas.microsoft.com/office/drawing/2014/main" id="{C89FFADC-2A6F-4F7C-B319-9910C61DE1BC}"/>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factory">
            <a:extLst xmlns:a="http://schemas.openxmlformats.org/drawingml/2006/main">
              <a:ext uri="{FF2B5EF4-FFF2-40B4-BE49-F238E27FC236}">
                <a16:creationId xmlns:a16="http://schemas.microsoft.com/office/drawing/2014/main" id="{4FDD5267-643F-49FF-8304-F1988A723A63}"/>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1">
            <a:extLst xmlns:a="http://schemas.openxmlformats.org/drawingml/2006/main">
              <a:ext uri="{FF2B5EF4-FFF2-40B4-BE49-F238E27FC236}">
                <a16:creationId xmlns:a16="http://schemas.microsoft.com/office/drawing/2014/main" id="{B891985E-09C0-4CF6-95D7-ECA56E6852ED}"/>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21</a:t>
            </a:r>
          </a:p>
        </p:txBody>
      </p:sp>
      <p:sp>
        <p:nvSpPr>
          <p:cNvPr id="5" name="Target">
            <a:extLst xmlns:a="http://schemas.openxmlformats.org/drawingml/2006/main">
              <a:ext uri="{FF2B5EF4-FFF2-40B4-BE49-F238E27FC236}">
                <a16:creationId xmlns:a16="http://schemas.microsoft.com/office/drawing/2014/main" id="{FFBADDB8-14C7-4298-A881-94B667C27C75}"/>
              </a:ext>
            </a:extLst>
          </p:cNvPr>
          <p:cNvSpPr>
            <a:spLocks xmlns:a="http://schemas.openxmlformats.org/drawingml/2006/main" noGrp="1"/>
          </p:cNvSpPr>
          <p:nvPr/>
        </p:nvSpPr>
        <p:spPr>
          <a:xfrm xmlns:a="http://schemas.openxmlformats.org/drawingml/2006/main">
            <a:off x="609600" y="1733550"/>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Target</a:t>
            </a:r>
          </a:p>
        </p:txBody>
      </p:sp>
      <p:sp>
        <p:nvSpPr>
          <p:cNvPr id="6" name="The ticket’s accepted behavior">
            <a:extLst xmlns:a="http://schemas.openxmlformats.org/drawingml/2006/main">
              <a:ext uri="{FF2B5EF4-FFF2-40B4-BE49-F238E27FC236}">
                <a16:creationId xmlns:a16="http://schemas.microsoft.com/office/drawing/2014/main" id="{6E47D266-4273-48CE-84F3-4953FDFB11DE}"/>
              </a:ext>
            </a:extLst>
          </p:cNvPr>
          <p:cNvSpPr>
            <a:spLocks xmlns:a="http://schemas.openxmlformats.org/drawingml/2006/main" noGrp="1"/>
          </p:cNvSpPr>
          <p:nvPr/>
        </p:nvSpPr>
        <p:spPr>
          <a:xfrm xmlns:a="http://schemas.openxmlformats.org/drawingml/2006/main">
            <a:off x="4572000" y="1733550"/>
            <a:ext cx="685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The ticket’s accepted behavior</a:t>
            </a:r>
          </a:p>
        </p:txBody>
      </p:sp>
      <p:sp>
        <p:nvSpPr>
          <p:cNvPr id="7" name="Feedback">
            <a:extLst xmlns:a="http://schemas.openxmlformats.org/drawingml/2006/main">
              <a:ext uri="{FF2B5EF4-FFF2-40B4-BE49-F238E27FC236}">
                <a16:creationId xmlns:a16="http://schemas.microsoft.com/office/drawing/2014/main" id="{327579E9-ACF9-4D28-A512-7FBA0F702590}"/>
              </a:ext>
            </a:extLst>
          </p:cNvPr>
          <p:cNvSpPr>
            <a:spLocks xmlns:a="http://schemas.openxmlformats.org/drawingml/2006/main" noGrp="1"/>
          </p:cNvSpPr>
          <p:nvPr/>
        </p:nvSpPr>
        <p:spPr>
          <a:xfrm xmlns:a="http://schemas.openxmlformats.org/drawingml/2006/main">
            <a:off x="609600" y="2743200"/>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Feedback</a:t>
            </a:r>
          </a:p>
        </p:txBody>
      </p:sp>
      <p:sp>
        <p:nvSpPr>
          <p:cNvPr id="8" name="An actual failed check or review finding">
            <a:extLst xmlns:a="http://schemas.openxmlformats.org/drawingml/2006/main">
              <a:ext uri="{FF2B5EF4-FFF2-40B4-BE49-F238E27FC236}">
                <a16:creationId xmlns:a16="http://schemas.microsoft.com/office/drawing/2014/main" id="{DE8999E8-F326-41D8-BEBF-CA7281ED7839}"/>
              </a:ext>
            </a:extLst>
          </p:cNvPr>
          <p:cNvSpPr>
            <a:spLocks xmlns:a="http://schemas.openxmlformats.org/drawingml/2006/main" noGrp="1"/>
          </p:cNvSpPr>
          <p:nvPr/>
        </p:nvSpPr>
        <p:spPr>
          <a:xfrm xmlns:a="http://schemas.openxmlformats.org/drawingml/2006/main">
            <a:off x="4572000" y="2743200"/>
            <a:ext cx="685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An actual failed check or review finding</a:t>
            </a:r>
          </a:p>
        </p:txBody>
      </p:sp>
      <p:sp>
        <p:nvSpPr>
          <p:cNvPr id="9" name="Correction">
            <a:extLst xmlns:a="http://schemas.openxmlformats.org/drawingml/2006/main">
              <a:ext uri="{FF2B5EF4-FFF2-40B4-BE49-F238E27FC236}">
                <a16:creationId xmlns:a16="http://schemas.microsoft.com/office/drawing/2014/main" id="{000E4B3D-80B1-47B9-ADFD-2F60BA4F5022}"/>
              </a:ext>
            </a:extLst>
          </p:cNvPr>
          <p:cNvSpPr>
            <a:spLocks xmlns:a="http://schemas.openxmlformats.org/drawingml/2006/main" noGrp="1"/>
          </p:cNvSpPr>
          <p:nvPr/>
        </p:nvSpPr>
        <p:spPr>
          <a:xfrm xmlns:a="http://schemas.openxmlformats.org/drawingml/2006/main">
            <a:off x="609600" y="3752850"/>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Correction</a:t>
            </a:r>
          </a:p>
        </p:txBody>
      </p:sp>
      <p:sp>
        <p:nvSpPr>
          <p:cNvPr id="10" name="Implementation addresses the reported cause">
            <a:extLst xmlns:a="http://schemas.openxmlformats.org/drawingml/2006/main">
              <a:ext uri="{FF2B5EF4-FFF2-40B4-BE49-F238E27FC236}">
                <a16:creationId xmlns:a16="http://schemas.microsoft.com/office/drawing/2014/main" id="{04DCF55C-36CD-42F8-A246-8DF0F206FDF2}"/>
              </a:ext>
            </a:extLst>
          </p:cNvPr>
          <p:cNvSpPr>
            <a:spLocks xmlns:a="http://schemas.openxmlformats.org/drawingml/2006/main" noGrp="1"/>
          </p:cNvSpPr>
          <p:nvPr/>
        </p:nvSpPr>
        <p:spPr>
          <a:xfrm xmlns:a="http://schemas.openxmlformats.org/drawingml/2006/main">
            <a:off x="4572000" y="3752850"/>
            <a:ext cx="685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Implementation addresses the reported cause</a:t>
            </a:r>
          </a:p>
        </p:txBody>
      </p:sp>
      <p:sp>
        <p:nvSpPr>
          <p:cNvPr id="11" name="Stop condition">
            <a:extLst xmlns:a="http://schemas.openxmlformats.org/drawingml/2006/main">
              <a:ext uri="{FF2B5EF4-FFF2-40B4-BE49-F238E27FC236}">
                <a16:creationId xmlns:a16="http://schemas.microsoft.com/office/drawing/2014/main" id="{95AA62D0-E18E-482D-ACD0-6356B62727F8}"/>
              </a:ext>
            </a:extLst>
          </p:cNvPr>
          <p:cNvSpPr>
            <a:spLocks xmlns:a="http://schemas.openxmlformats.org/drawingml/2006/main" noGrp="1"/>
          </p:cNvSpPr>
          <p:nvPr/>
        </p:nvSpPr>
        <p:spPr>
          <a:xfrm xmlns:a="http://schemas.openxmlformats.org/drawingml/2006/main">
            <a:off x="609600" y="4762500"/>
            <a:ext cx="32385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Stop condition</a:t>
            </a:r>
          </a:p>
        </p:txBody>
      </p:sp>
      <p:sp>
        <p:nvSpPr>
          <p:cNvPr id="12" name="Accepted evidence, a retry limit, or a decision needed">
            <a:extLst xmlns:a="http://schemas.openxmlformats.org/drawingml/2006/main">
              <a:ext uri="{FF2B5EF4-FFF2-40B4-BE49-F238E27FC236}">
                <a16:creationId xmlns:a16="http://schemas.microsoft.com/office/drawing/2014/main" id="{73F7B434-5600-4733-8726-D298C3C3FF66}"/>
              </a:ext>
            </a:extLst>
          </p:cNvPr>
          <p:cNvSpPr>
            <a:spLocks xmlns:a="http://schemas.openxmlformats.org/drawingml/2006/main" noGrp="1"/>
          </p:cNvSpPr>
          <p:nvPr/>
        </p:nvSpPr>
        <p:spPr>
          <a:xfrm xmlns:a="http://schemas.openxmlformats.org/drawingml/2006/main">
            <a:off x="4572000" y="4762500"/>
            <a:ext cx="6858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Accepted evidence, a retry limit, or a decision needed</a:t>
            </a:r>
          </a:p>
        </p:txBody>
      </p:sp>
    </p:spTree>
    <p:extLst>
      <p:ext uri="{BB962C8B-B14F-4D97-AF65-F5344CB8AC3E}">
        <p14:creationId xmlns:p14="http://schemas.microsoft.com/office/powerpoint/2010/main" val="96966979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Working, waiting, or blocked?">
            <a:extLst xmlns:a="http://schemas.openxmlformats.org/drawingml/2006/main">
              <a:ext uri="{FF2B5EF4-FFF2-40B4-BE49-F238E27FC236}">
                <a16:creationId xmlns:a16="http://schemas.microsoft.com/office/drawing/2014/main" id="{0B6EC24D-A580-409D-8C81-53C5E0DA13CC}"/>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Working, waiting, or blocked?</a:t>
            </a:r>
          </a:p>
        </p:txBody>
      </p:sp>
      <p:sp>
        <p:nvSpPr>
          <p:cNvPr id="2" name="01:23–01:26 elapsed">
            <a:extLst xmlns:a="http://schemas.openxmlformats.org/drawingml/2006/main">
              <a:ext uri="{FF2B5EF4-FFF2-40B4-BE49-F238E27FC236}">
                <a16:creationId xmlns:a16="http://schemas.microsoft.com/office/drawing/2014/main" id="{6509F5C5-65F6-4176-AE81-9C6745168078}"/>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factory">
            <a:extLst xmlns:a="http://schemas.openxmlformats.org/drawingml/2006/main">
              <a:ext uri="{FF2B5EF4-FFF2-40B4-BE49-F238E27FC236}">
                <a16:creationId xmlns:a16="http://schemas.microsoft.com/office/drawing/2014/main" id="{49933B4D-E5E6-45CB-93E2-24A4BCF29A37}"/>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2">
            <a:extLst xmlns:a="http://schemas.openxmlformats.org/drawingml/2006/main">
              <a:ext uri="{FF2B5EF4-FFF2-40B4-BE49-F238E27FC236}">
                <a16:creationId xmlns:a16="http://schemas.microsoft.com/office/drawing/2014/main" id="{6E071C95-B981-4855-870B-BED7B6C36010}"/>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22</a:t>
            </a:r>
          </a:p>
        </p:txBody>
      </p:sp>
      <p:graphicFrame>
        <p:nvGraphicFramePr>
          <p:cNvPr id="12" name=""/>
          <p:cNvGraphicFramePr/>
          <p:nvPr/>
        </p:nvGraphicFramePr>
        <p:xfrm>
          <a:off xmlns:a="http://schemas.openxmlformats.org/drawingml/2006/main" x="609600" y="1685925"/>
          <a:ext xmlns:a="http://schemas.openxmlformats.org/drawingml/2006/main" cx="10972800" cy="3952875"/>
        </p:xfrm>
        <a:graphic xmlns:a="http://schemas.openxmlformats.org/drawingml/2006/main">
          <a:graphicData uri="http://schemas.openxmlformats.org/drawingml/2006/table">
            <a:tbl>
              <a:tblPr/>
              <a:tblGrid>
                <a:gridCol w="2333625"/>
                <a:gridCol w="4048125"/>
                <a:gridCol w="4591050"/>
              </a:tblGrid>
              <a:tr h="790575">
                <a:tc>
                  <a:txBody>
                    <a:bodyPr>
                      <a:noAutofit/>
                    </a:bodyPr>
                    <a:lstStyle/>
                    <a:p>
                      <a:r>
                        <a:rPr sz="1950" b="1">
                          <a:solidFill>
                            <a:srgbClr val="006CA5"/>
                          </a:solidFill>
                          <a:latin typeface="Helvetica Neue"/>
                          <a:ea typeface="Helvetica Neue"/>
                          <a:cs typeface="Helvetica Neue"/>
                        </a:rPr>
                        <a:t>Observation</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What it means</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Your next move</a:t>
                      </a:r>
                    </a:p>
                  </a:txBody>
                  <a:tcPr marL="142875" marR="114300" marT="95250" marB="76200" anchor="ctr">
                    <a:solidFill>
                      <a:srgbClr val="EAF3F8"/>
                    </a:solidFill>
                  </a:tcPr>
                </a:tc>
              </a:tr>
              <a:tr h="790575">
                <a:tc>
                  <a:txBody>
                    <a:bodyPr>
                      <a:noAutofit/>
                    </a:bodyPr>
                    <a:lstStyle/>
                    <a:p>
                      <a:r>
                        <a:rPr sz="1950" b="0">
                          <a:solidFill>
                            <a:srgbClr val="152A3A"/>
                          </a:solidFill>
                          <a:latin typeface="Helvetica Neue"/>
                          <a:ea typeface="Helvetica Neue"/>
                          <a:cs typeface="Helvetica Neue"/>
                        </a:rPr>
                        <a:t>Agent working</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An invocation is active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Inspect progress and leave it running</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Dependency wait</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Required upstream work is incomplete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Inspect the prerequisite ticket</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Human wait</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Tests or merge need a decision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Review the linked evidence</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Blocked</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A check or operation failed</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Identify and address its cause</a:t>
                      </a:r>
                    </a:p>
                  </a:txBody>
                  <a:tcPr marL="142875" marR="114300" marT="95250" marB="76200" anchor="ctr">
                    <a:solidFill>
                      <a:srgbClr val="FFFFFF"/>
                    </a:solidFill>
                  </a:tcPr>
                </a:tc>
              </a:tr>
            </a:tbl>
          </a:graphicData>
        </a:graphic>
      </p:graphicFrame>
    </p:spTree>
    <p:extLst>
      <p:ext uri="{BB962C8B-B14F-4D97-AF65-F5344CB8AC3E}">
        <p14:creationId xmlns:p14="http://schemas.microsoft.com/office/powerpoint/2010/main" val="1975948363"/>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Should this retry?">
            <a:extLst xmlns:a="http://schemas.openxmlformats.org/drawingml/2006/main">
              <a:ext uri="{FF2B5EF4-FFF2-40B4-BE49-F238E27FC236}">
                <a16:creationId xmlns:a16="http://schemas.microsoft.com/office/drawing/2014/main" id="{CE2FDB8C-6FA5-4A64-B1E8-0CC6F9A18C1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Should this retry?</a:t>
            </a:r>
          </a:p>
        </p:txBody>
      </p:sp>
      <p:sp>
        <p:nvSpPr>
          <p:cNvPr id="2" name="01:26–01:29 elapsed">
            <a:extLst xmlns:a="http://schemas.openxmlformats.org/drawingml/2006/main">
              <a:ext uri="{FF2B5EF4-FFF2-40B4-BE49-F238E27FC236}">
                <a16:creationId xmlns:a16="http://schemas.microsoft.com/office/drawing/2014/main" id="{26706976-B518-4D86-B237-EB61EB1D7556}"/>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factory">
            <a:extLst xmlns:a="http://schemas.openxmlformats.org/drawingml/2006/main">
              <a:ext uri="{FF2B5EF4-FFF2-40B4-BE49-F238E27FC236}">
                <a16:creationId xmlns:a16="http://schemas.microsoft.com/office/drawing/2014/main" id="{2E16BCF8-3C0A-42F4-9A2F-C693DCE3B439}"/>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3">
            <a:extLst xmlns:a="http://schemas.openxmlformats.org/drawingml/2006/main">
              <a:ext uri="{FF2B5EF4-FFF2-40B4-BE49-F238E27FC236}">
                <a16:creationId xmlns:a16="http://schemas.microsoft.com/office/drawing/2014/main" id="{4DAA3AEA-7148-452A-A275-54C8476147B1}"/>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23</a:t>
            </a:r>
          </a:p>
        </p:txBody>
      </p:sp>
      <p:sp>
        <p:nvSpPr>
          <p:cNvPr id="5" name="Prepared recovery case">
            <a:extLst xmlns:a="http://schemas.openxmlformats.org/drawingml/2006/main">
              <a:ext uri="{FF2B5EF4-FFF2-40B4-BE49-F238E27FC236}">
                <a16:creationId xmlns:a16="http://schemas.microsoft.com/office/drawing/2014/main" id="{3CD0D84D-57D8-488D-8B14-EF0065039899}"/>
              </a:ext>
            </a:extLst>
          </p:cNvPr>
          <p:cNvSpPr>
            <a:spLocks xmlns:a="http://schemas.openxmlformats.org/drawingml/2006/main" noGrp="1"/>
          </p:cNvSpPr>
          <p:nvPr/>
        </p:nvSpPr>
        <p:spPr>
          <a:xfrm xmlns:a="http://schemas.openxmlformats.org/drawingml/2006/main">
            <a:off x="609600" y="15906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C44C0D"/>
                </a:solidFill>
                <a:latin typeface="Helvetica Neue"/>
                <a:ea typeface="Helvetica Neue"/>
                <a:cs typeface="Helvetica Neue"/>
              </a:defRPr>
            </a:pPr>
            <a:r>
              <a:rPr sz="1575" b="1">
                <a:solidFill>
                  <a:srgbClr val="C44C0D"/>
                </a:solidFill>
                <a:latin typeface="Helvetica Neue"/>
                <a:ea typeface="Helvetica Neue"/>
                <a:cs typeface="Helvetica Neue"/>
              </a:rPr>
              <a:t>Prepared recovery case</a:t>
            </a:r>
          </a:p>
        </p:txBody>
      </p:sp>
      <p:sp>
        <p:nvSpPr>
          <p:cNvPr id="6" name="The gate cannot reach a required local service.&#10;The nex">
            <a:extLst xmlns:a="http://schemas.openxmlformats.org/drawingml/2006/main">
              <a:ext uri="{FF2B5EF4-FFF2-40B4-BE49-F238E27FC236}">
                <a16:creationId xmlns:a16="http://schemas.microsoft.com/office/drawing/2014/main" id="{EF0E7528-8A20-4BCB-B30D-76FFB55C8888}"/>
              </a:ext>
            </a:extLst>
          </p:cNvPr>
          <p:cNvSpPr>
            <a:spLocks xmlns:a="http://schemas.openxmlformats.org/drawingml/2006/main" noGrp="1"/>
          </p:cNvSpPr>
          <p:nvPr/>
        </p:nvSpPr>
        <p:spPr>
          <a:xfrm xmlns:a="http://schemas.openxmlformats.org/drawingml/2006/main">
            <a:off x="609600" y="2124075"/>
            <a:ext cx="10858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The gate cannot reach a required local service.</a:t>
            </a:r>
          </a:p>
          <a:p xmlns:a="http://schemas.openxmlformats.org/drawingml/2006/main">
            <a:pPr>
              <a:buNone/>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The next attempt reports the same failure.</a:t>
            </a:r>
          </a:p>
        </p:txBody>
      </p:sp>
      <p:sp>
        <p:nvSpPr>
          <p:cNvPr id="7" name="What needs to change before another attempt can help?">
            <a:extLst xmlns:a="http://schemas.openxmlformats.org/drawingml/2006/main">
              <a:ext uri="{FF2B5EF4-FFF2-40B4-BE49-F238E27FC236}">
                <a16:creationId xmlns:a16="http://schemas.microsoft.com/office/drawing/2014/main" id="{3AC97B98-69AC-4EA3-AED1-4361676CB60D}"/>
              </a:ext>
            </a:extLst>
          </p:cNvPr>
          <p:cNvSpPr>
            <a:spLocks xmlns:a="http://schemas.openxmlformats.org/drawingml/2006/main" noGrp="1"/>
          </p:cNvSpPr>
          <p:nvPr/>
        </p:nvSpPr>
        <p:spPr>
          <a:xfrm xmlns:a="http://schemas.openxmlformats.org/drawingml/2006/main">
            <a:off x="609600" y="45148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What needs to change before another attempt can help?</a:t>
            </a:r>
          </a:p>
        </p:txBody>
      </p:sp>
      <p:sp>
        <p:nvSpPr>
          <p:cNvPr id="8" name="Name the failing layer and the person who can act.">
            <a:extLst xmlns:a="http://schemas.openxmlformats.org/drawingml/2006/main">
              <a:ext uri="{FF2B5EF4-FFF2-40B4-BE49-F238E27FC236}">
                <a16:creationId xmlns:a16="http://schemas.microsoft.com/office/drawing/2014/main" id="{8C78153F-6FFC-4AA5-BE1A-D80C22C8286E}"/>
              </a:ext>
            </a:extLst>
          </p:cNvPr>
          <p:cNvSpPr>
            <a:spLocks xmlns:a="http://schemas.openxmlformats.org/drawingml/2006/main" noGrp="1"/>
          </p:cNvSpPr>
          <p:nvPr/>
        </p:nvSpPr>
        <p:spPr>
          <a:xfrm xmlns:a="http://schemas.openxmlformats.org/drawingml/2006/main">
            <a:off x="609600" y="56197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7"/>
                </a:solidFill>
                <a:latin typeface="Helvetica Neue"/>
                <a:ea typeface="Helvetica Neue"/>
                <a:cs typeface="Helvetica Neue"/>
              </a:defRPr>
            </a:pPr>
            <a:r>
              <a:rPr sz="1875" b="0">
                <a:solidFill>
                  <a:srgbClr val="526777"/>
                </a:solidFill>
                <a:latin typeface="Helvetica Neue"/>
                <a:ea typeface="Helvetica Neue"/>
                <a:cs typeface="Helvetica Neue"/>
              </a:rPr>
              <a:t>Name the failing layer and the person who can act.</a:t>
            </a:r>
          </a:p>
        </p:txBody>
      </p:sp>
    </p:spTree>
    <p:extLst>
      <p:ext uri="{BB962C8B-B14F-4D97-AF65-F5344CB8AC3E}">
        <p14:creationId xmlns:p14="http://schemas.microsoft.com/office/powerpoint/2010/main" val="124994074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6: explain one ticket’s state">
            <a:extLst xmlns:a="http://schemas.openxmlformats.org/drawingml/2006/main">
              <a:ext uri="{FF2B5EF4-FFF2-40B4-BE49-F238E27FC236}">
                <a16:creationId xmlns:a16="http://schemas.microsoft.com/office/drawing/2014/main" id="{A116C76B-D5B0-4F60-9C89-FF0B3438BC4D}"/>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6: explain one ticket’s state</a:t>
            </a:r>
          </a:p>
        </p:txBody>
      </p:sp>
      <p:sp>
        <p:nvSpPr>
          <p:cNvPr id="2" name="01:29–01:35 elapsed">
            <a:extLst xmlns:a="http://schemas.openxmlformats.org/drawingml/2006/main">
              <a:ext uri="{FF2B5EF4-FFF2-40B4-BE49-F238E27FC236}">
                <a16:creationId xmlns:a16="http://schemas.microsoft.com/office/drawing/2014/main" id="{1338E981-8BCD-4378-8C97-D0A25A2093E3}"/>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factory">
            <a:extLst xmlns:a="http://schemas.openxmlformats.org/drawingml/2006/main">
              <a:ext uri="{FF2B5EF4-FFF2-40B4-BE49-F238E27FC236}">
                <a16:creationId xmlns:a16="http://schemas.microsoft.com/office/drawing/2014/main" id="{12010ED7-6D8C-49BB-9626-9684D9E9C741}"/>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4">
            <a:extLst xmlns:a="http://schemas.openxmlformats.org/drawingml/2006/main">
              <a:ext uri="{FF2B5EF4-FFF2-40B4-BE49-F238E27FC236}">
                <a16:creationId xmlns:a16="http://schemas.microsoft.com/office/drawing/2014/main" id="{C25102D3-4B6E-448D-AC57-B4BDCD490C4E}"/>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24</a:t>
            </a:r>
          </a:p>
        </p:txBody>
      </p:sp>
      <p:sp>
        <p:nvSpPr>
          <p:cNvPr id="5" name="6 minutes">
            <a:extLst xmlns:a="http://schemas.openxmlformats.org/drawingml/2006/main">
              <a:ext uri="{FF2B5EF4-FFF2-40B4-BE49-F238E27FC236}">
                <a16:creationId xmlns:a16="http://schemas.microsoft.com/office/drawing/2014/main" id="{63EE039F-88B6-48B6-81D9-B20B144C1335}"/>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6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96BFB393-406E-427C-A8F2-59196974E8AF}"/>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1E588339-AC42-4FD8-A0C8-F8D45CED899A}"/>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Inspect the current phase, attempt, log and check resul">
            <a:extLst xmlns:a="http://schemas.openxmlformats.org/drawingml/2006/main">
              <a:ext uri="{FF2B5EF4-FFF2-40B4-BE49-F238E27FC236}">
                <a16:creationId xmlns:a16="http://schemas.microsoft.com/office/drawing/2014/main" id="{735DAEB7-B475-4C4F-95D0-AB016CB1EE76}"/>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Inspect the current phase, attempt, log and check result.</a:t>
            </a:r>
          </a:p>
        </p:txBody>
      </p:sp>
      <p:sp>
        <p:nvSpPr>
          <p:cNvPr id="9" name="2">
            <a:extLst xmlns:a="http://schemas.openxmlformats.org/drawingml/2006/main">
              <a:ext uri="{FF2B5EF4-FFF2-40B4-BE49-F238E27FC236}">
                <a16:creationId xmlns:a16="http://schemas.microsoft.com/office/drawing/2014/main" id="{73DC0AFB-949D-413B-80C0-3AD946180091}"/>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Identify whether the next actor is an agent, dependency">
            <a:extLst xmlns:a="http://schemas.openxmlformats.org/drawingml/2006/main">
              <a:ext uri="{FF2B5EF4-FFF2-40B4-BE49-F238E27FC236}">
                <a16:creationId xmlns:a16="http://schemas.microsoft.com/office/drawing/2014/main" id="{FBCFF46A-D115-4602-8CE3-8BAF3A205F49}"/>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Identify whether the next actor is an agent, dependency owner, or you.</a:t>
            </a:r>
          </a:p>
        </p:txBody>
      </p:sp>
      <p:sp>
        <p:nvSpPr>
          <p:cNvPr id="11" name="3">
            <a:extLst xmlns:a="http://schemas.openxmlformats.org/drawingml/2006/main">
              <a:ext uri="{FF2B5EF4-FFF2-40B4-BE49-F238E27FC236}">
                <a16:creationId xmlns:a16="http://schemas.microsoft.com/office/drawing/2014/main" id="{3067FC90-64FB-44A2-B922-927B9C0744B8}"/>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Explain a real or prepared failure and the change requi">
            <a:extLst xmlns:a="http://schemas.openxmlformats.org/drawingml/2006/main">
              <a:ext uri="{FF2B5EF4-FFF2-40B4-BE49-F238E27FC236}">
                <a16:creationId xmlns:a16="http://schemas.microsoft.com/office/drawing/2014/main" id="{AB5C88C5-6238-465F-9502-16544E1A99F6}"/>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Explain a real or prepared failure and the change required to retry.</a:t>
            </a:r>
          </a:p>
        </p:txBody>
      </p:sp>
      <p:sp>
        <p:nvSpPr>
          <p:cNvPr id="13" name="Show: cause, evidence, next action, and what a successf">
            <a:extLst xmlns:a="http://schemas.openxmlformats.org/drawingml/2006/main">
              <a:ext uri="{FF2B5EF4-FFF2-40B4-BE49-F238E27FC236}">
                <a16:creationId xmlns:a16="http://schemas.microsoft.com/office/drawing/2014/main" id="{2CD08266-D882-4B0D-91D8-BAD1F76AD0A9}"/>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cause, evidence, next action, and what a successful retry would prove.</a:t>
            </a:r>
          </a:p>
        </p:txBody>
      </p:sp>
    </p:spTree>
    <p:extLst>
      <p:ext uri="{BB962C8B-B14F-4D97-AF65-F5344CB8AC3E}">
        <p14:creationId xmlns:p14="http://schemas.microsoft.com/office/powerpoint/2010/main" val="1879587485"/>
      </p:ext>
    </p:extLst>
  </p:cSld>
</p:sld>
</file>

<file path=ppt/slides/slide25.xml><?xml version="1.0" encoding="utf-8"?>
<p:sld xmlns:p="http://schemas.openxmlformats.org/presentationml/2006/main">
  <p:cSld>
    <p:bg>
      <p:bgPr>
        <a:solidFill xmlns:a="http://schemas.openxmlformats.org/drawingml/2006/main">
          <a:srgbClr val="152A3A"/>
        </a:solidFill>
      </p:bgPr>
    </p:bg>
    <p:spTree>
      <p:nvGrpSpPr>
        <p:cNvPr id="1" name=""/>
        <p:cNvGrpSpPr/>
        <p:nvPr/>
      </p:nvGrpSpPr>
      <p:grpSpPr>
        <a:xfrm xmlns:a="http://schemas.openxmlformats.org/drawingml/2006/main"/>
      </p:grpSpPr>
      <p:sp>
        <p:nvSpPr>
          <p:cNvPr id="6" name="Break">
            <a:extLst xmlns:a="http://schemas.openxmlformats.org/drawingml/2006/main">
              <a:ext uri="{FF2B5EF4-FFF2-40B4-BE49-F238E27FC236}">
                <a16:creationId xmlns:a16="http://schemas.microsoft.com/office/drawing/2014/main" id="{806CA34D-79E3-49B0-8516-E91CF58B187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Break</a:t>
            </a:r>
          </a:p>
        </p:txBody>
      </p:sp>
      <p:sp>
        <p:nvSpPr>
          <p:cNvPr id="2" name="01:35–01:45 elapsed">
            <a:extLst xmlns:a="http://schemas.openxmlformats.org/drawingml/2006/main">
              <a:ext uri="{FF2B5EF4-FFF2-40B4-BE49-F238E27FC236}">
                <a16:creationId xmlns:a16="http://schemas.microsoft.com/office/drawing/2014/main" id="{A83BFE43-2B22-4E7F-8835-1325E79748B0}"/>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BD4E3"/>
                </a:solidFill>
                <a:latin typeface="Helvetica Neue"/>
                <a:ea typeface="Helvetica Neue"/>
                <a:cs typeface="Helvetica Neue"/>
              </a:defRPr>
            </a:pPr>
            <a:r>
              <a:rPr sz="1425" b="0">
                <a:solidFill>
                  <a:srgbClr val="BBD4E3"/>
                </a:solidFill>
                <a:latin typeface="Helvetica Neue"/>
                <a:ea typeface="Helvetica Neue"/>
                <a:cs typeface="Helvetica Neue"/>
              </a:rPr>
              <a:t/>
            </a:r>
          </a:p>
        </p:txBody>
      </p:sp>
      <p:sp>
        <p:nvSpPr>
          <p:cNvPr id="3" name="25">
            <a:extLst xmlns:a="http://schemas.openxmlformats.org/drawingml/2006/main">
              <a:ext uri="{FF2B5EF4-FFF2-40B4-BE49-F238E27FC236}">
                <a16:creationId xmlns:a16="http://schemas.microsoft.com/office/drawing/2014/main" id="{1CF402FD-11D4-437D-9A09-54B3D31AEFA2}"/>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BBD4E3"/>
                </a:solidFill>
                <a:latin typeface="Helvetica Neue"/>
                <a:ea typeface="Helvetica Neue"/>
                <a:cs typeface="Helvetica Neue"/>
              </a:defRPr>
            </a:pPr>
            <a:r>
              <a:rPr sz="1425" b="0">
                <a:solidFill>
                  <a:srgbClr val="BBD4E3"/>
                </a:solidFill>
                <a:latin typeface="Helvetica Neue"/>
                <a:ea typeface="Helvetica Neue"/>
                <a:cs typeface="Helvetica Neue"/>
              </a:rPr>
              <a:t>25</a:t>
            </a:r>
          </a:p>
        </p:txBody>
      </p:sp>
      <p:sp>
        <p:nvSpPr>
          <p:cNvPr id="4" name="10 minutes">
            <a:extLst xmlns:a="http://schemas.openxmlformats.org/drawingml/2006/main">
              <a:ext uri="{FF2B5EF4-FFF2-40B4-BE49-F238E27FC236}">
                <a16:creationId xmlns:a16="http://schemas.microsoft.com/office/drawing/2014/main" id="{F7794556-9A17-44FC-897F-BF2974309FF3}"/>
              </a:ext>
            </a:extLst>
          </p:cNvPr>
          <p:cNvSpPr>
            <a:spLocks xmlns:a="http://schemas.openxmlformats.org/drawingml/2006/main" noGrp="1"/>
          </p:cNvSpPr>
          <p:nvPr/>
        </p:nvSpPr>
        <p:spPr>
          <a:xfrm xmlns:a="http://schemas.openxmlformats.org/drawingml/2006/main">
            <a:off x="609600" y="1943100"/>
            <a:ext cx="104775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300" b="1">
                <a:solidFill>
                  <a:srgbClr val="FFFFFF"/>
                </a:solidFill>
                <a:latin typeface="Helvetica Neue"/>
                <a:ea typeface="Helvetica Neue"/>
                <a:cs typeface="Helvetica Neue"/>
              </a:defRPr>
            </a:pPr>
            <a:r>
              <a:rPr sz="6300" b="1">
                <a:solidFill>
                  <a:srgbClr val="FFFFFF"/>
                </a:solidFill>
                <a:latin typeface="Helvetica Neue"/>
                <a:ea typeface="Helvetica Neue"/>
                <a:cs typeface="Helvetica Neue"/>
              </a:rPr>
              <a:t>10 minutes</a:t>
            </a:r>
          </a:p>
        </p:txBody>
      </p:sp>
      <p:sp>
        <p:nvSpPr>
          <p:cNvPr id="5" name="Return at elapsed 01:45.&#10;Healthy agents can keep workin">
            <a:extLst xmlns:a="http://schemas.openxmlformats.org/drawingml/2006/main">
              <a:ext uri="{FF2B5EF4-FFF2-40B4-BE49-F238E27FC236}">
                <a16:creationId xmlns:a16="http://schemas.microsoft.com/office/drawing/2014/main" id="{8FF4D57B-53BD-4418-A60F-6616FEE09451}"/>
              </a:ext>
            </a:extLst>
          </p:cNvPr>
          <p:cNvSpPr>
            <a:spLocks xmlns:a="http://schemas.openxmlformats.org/drawingml/2006/main" noGrp="1"/>
          </p:cNvSpPr>
          <p:nvPr/>
        </p:nvSpPr>
        <p:spPr>
          <a:xfrm xmlns:a="http://schemas.openxmlformats.org/drawingml/2006/main">
            <a:off x="609600" y="3933825"/>
            <a:ext cx="10477500" cy="1343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0">
                <a:solidFill>
                  <a:srgbClr val="DAE8F0"/>
                </a:solidFill>
                <a:latin typeface="Helvetica Neue"/>
                <a:ea typeface="Helvetica Neue"/>
                <a:cs typeface="Helvetica Neue"/>
              </a:defRPr>
            </a:pPr>
            <a:r>
              <a:rPr sz="2850" b="0">
                <a:solidFill>
                  <a:srgbClr val="DAE8F0"/>
                </a:solidFill>
                <a:latin typeface="Helvetica Neue"/>
                <a:ea typeface="Helvetica Neue"/>
                <a:cs typeface="Helvetica Neue"/>
              </a:rPr>
              <a:t>Return at elapsed 01:45.</a:t>
            </a:r>
          </a:p>
          <a:p xmlns:a="http://schemas.openxmlformats.org/drawingml/2006/main">
            <a:pPr>
              <a:buNone/>
              <a:defRPr sz="2850" b="0">
                <a:solidFill>
                  <a:srgbClr val="DAE8F0"/>
                </a:solidFill>
                <a:latin typeface="Helvetica Neue"/>
                <a:ea typeface="Helvetica Neue"/>
                <a:cs typeface="Helvetica Neue"/>
              </a:defRPr>
            </a:pPr>
            <a:r>
              <a:rPr sz="2850" b="0">
                <a:solidFill>
                  <a:srgbClr val="DAE8F0"/>
                </a:solidFill>
                <a:latin typeface="Helvetica Neue"/>
                <a:ea typeface="Helvetica Neue"/>
                <a:cs typeface="Helvetica Neue"/>
              </a:rPr>
              <a:t>Healthy agents can keep working.</a:t>
            </a:r>
          </a:p>
        </p:txBody>
      </p:sp>
    </p:spTree>
    <p:extLst>
      <p:ext uri="{BB962C8B-B14F-4D97-AF65-F5344CB8AC3E}">
        <p14:creationId xmlns:p14="http://schemas.microsoft.com/office/powerpoint/2010/main" val="1155438844"/>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he code changed after the tests passed">
            <a:extLst xmlns:a="http://schemas.openxmlformats.org/drawingml/2006/main">
              <a:ext uri="{FF2B5EF4-FFF2-40B4-BE49-F238E27FC236}">
                <a16:creationId xmlns:a16="http://schemas.microsoft.com/office/drawing/2014/main" id="{ADA8F069-641E-4C1C-A6FB-4E42DC6D069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The code changed after the tests passed</a:t>
            </a:r>
          </a:p>
        </p:txBody>
      </p:sp>
      <p:sp>
        <p:nvSpPr>
          <p:cNvPr id="2" name="01:45–01:49 elapsed">
            <a:extLst xmlns:a="http://schemas.openxmlformats.org/drawingml/2006/main">
              <a:ext uri="{FF2B5EF4-FFF2-40B4-BE49-F238E27FC236}">
                <a16:creationId xmlns:a16="http://schemas.microsoft.com/office/drawing/2014/main" id="{D3AD386F-06B3-40AC-B692-86FEAB38300C}"/>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factory">
            <a:extLst xmlns:a="http://schemas.openxmlformats.org/drawingml/2006/main">
              <a:ext uri="{FF2B5EF4-FFF2-40B4-BE49-F238E27FC236}">
                <a16:creationId xmlns:a16="http://schemas.microsoft.com/office/drawing/2014/main" id="{51EFCF4F-91C4-4127-B7C8-BB5F8C34E87B}"/>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6">
            <a:extLst xmlns:a="http://schemas.openxmlformats.org/drawingml/2006/main">
              <a:ext uri="{FF2B5EF4-FFF2-40B4-BE49-F238E27FC236}">
                <a16:creationId xmlns:a16="http://schemas.microsoft.com/office/drawing/2014/main" id="{0466D989-DA8C-4196-91B2-878243EFA32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26</a:t>
            </a:r>
          </a:p>
        </p:txBody>
      </p:sp>
      <p:sp>
        <p:nvSpPr>
          <p:cNvPr id="5" name="Prepared review case">
            <a:extLst xmlns:a="http://schemas.openxmlformats.org/drawingml/2006/main">
              <a:ext uri="{FF2B5EF4-FFF2-40B4-BE49-F238E27FC236}">
                <a16:creationId xmlns:a16="http://schemas.microsoft.com/office/drawing/2014/main" id="{494F1450-D404-4B3E-8579-0326F5021DD9}"/>
              </a:ext>
            </a:extLst>
          </p:cNvPr>
          <p:cNvSpPr>
            <a:spLocks xmlns:a="http://schemas.openxmlformats.org/drawingml/2006/main" noGrp="1"/>
          </p:cNvSpPr>
          <p:nvPr/>
        </p:nvSpPr>
        <p:spPr>
          <a:xfrm xmlns:a="http://schemas.openxmlformats.org/drawingml/2006/main">
            <a:off x="609600" y="1590675"/>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1">
                <a:solidFill>
                  <a:srgbClr val="C44C0D"/>
                </a:solidFill>
                <a:latin typeface="Helvetica Neue"/>
                <a:ea typeface="Helvetica Neue"/>
                <a:cs typeface="Helvetica Neue"/>
              </a:defRPr>
            </a:pPr>
            <a:r>
              <a:rPr sz="1575" b="1">
                <a:solidFill>
                  <a:srgbClr val="C44C0D"/>
                </a:solidFill>
                <a:latin typeface="Helvetica Neue"/>
                <a:ea typeface="Helvetica Neue"/>
                <a:cs typeface="Helvetica Neue"/>
              </a:rPr>
              <a:t>Prepared review case</a:t>
            </a:r>
          </a:p>
        </p:txBody>
      </p:sp>
      <p:sp>
        <p:nvSpPr>
          <p:cNvPr id="6" name="Tests passed on commit C.&#10;A repair created commit D.&#10;Th">
            <a:extLst xmlns:a="http://schemas.openxmlformats.org/drawingml/2006/main">
              <a:ext uri="{FF2B5EF4-FFF2-40B4-BE49-F238E27FC236}">
                <a16:creationId xmlns:a16="http://schemas.microsoft.com/office/drawing/2014/main" id="{81902DA3-3EA9-479E-97FD-953BF526203A}"/>
              </a:ext>
            </a:extLst>
          </p:cNvPr>
          <p:cNvSpPr>
            <a:spLocks xmlns:a="http://schemas.openxmlformats.org/drawingml/2006/main" noGrp="1"/>
          </p:cNvSpPr>
          <p:nvPr/>
        </p:nvSpPr>
        <p:spPr>
          <a:xfrm xmlns:a="http://schemas.openxmlformats.org/drawingml/2006/main">
            <a:off x="609600" y="2124075"/>
            <a:ext cx="10858500" cy="1866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Tests passed on commit C.</a:t>
            </a:r>
          </a:p>
          <a:p xmlns:a="http://schemas.openxmlformats.org/drawingml/2006/main">
            <a:pPr>
              <a:buNone/>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A repair created commit D.</a:t>
            </a:r>
          </a:p>
          <a:p xmlns:a="http://schemas.openxmlformats.org/drawingml/2006/main">
            <a:pPr>
              <a:buNone/>
              <a:defRPr sz="2850" b="1">
                <a:solidFill>
                  <a:srgbClr val="152A3A"/>
                </a:solidFill>
                <a:latin typeface="Helvetica Neue"/>
                <a:ea typeface="Helvetica Neue"/>
                <a:cs typeface="Helvetica Neue"/>
              </a:defRPr>
            </a:pPr>
            <a:r>
              <a:rPr sz="2850" b="1">
                <a:solidFill>
                  <a:srgbClr val="152A3A"/>
                </a:solidFill>
                <a:latin typeface="Helvetica Neue"/>
                <a:ea typeface="Helvetica Neue"/>
                <a:cs typeface="Helvetica Neue"/>
              </a:rPr>
              <a:t>The old review still says APPROVE.</a:t>
            </a:r>
          </a:p>
        </p:txBody>
      </p:sp>
      <p:sp>
        <p:nvSpPr>
          <p:cNvPr id="7" name="Which evidence can you rely on for merging D?">
            <a:extLst xmlns:a="http://schemas.openxmlformats.org/drawingml/2006/main">
              <a:ext uri="{FF2B5EF4-FFF2-40B4-BE49-F238E27FC236}">
                <a16:creationId xmlns:a16="http://schemas.microsoft.com/office/drawing/2014/main" id="{7A97BD03-9FE1-426B-ABD4-265DA6467F0D}"/>
              </a:ext>
            </a:extLst>
          </p:cNvPr>
          <p:cNvSpPr>
            <a:spLocks xmlns:a="http://schemas.openxmlformats.org/drawingml/2006/main" noGrp="1"/>
          </p:cNvSpPr>
          <p:nvPr/>
        </p:nvSpPr>
        <p:spPr>
          <a:xfrm xmlns:a="http://schemas.openxmlformats.org/drawingml/2006/main">
            <a:off x="609600" y="4514850"/>
            <a:ext cx="106680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006CA5"/>
                </a:solidFill>
                <a:latin typeface="Helvetica Neue"/>
                <a:ea typeface="Helvetica Neue"/>
                <a:cs typeface="Helvetica Neue"/>
              </a:defRPr>
            </a:pPr>
            <a:r>
              <a:rPr sz="2550" b="1">
                <a:solidFill>
                  <a:srgbClr val="006CA5"/>
                </a:solidFill>
                <a:latin typeface="Helvetica Neue"/>
                <a:ea typeface="Helvetica Neue"/>
                <a:cs typeface="Helvetica Neue"/>
              </a:rPr>
              <a:t>Which evidence can you rely on for merging D?</a:t>
            </a:r>
          </a:p>
        </p:txBody>
      </p:sp>
    </p:spTree>
    <p:extLst>
      <p:ext uri="{BB962C8B-B14F-4D97-AF65-F5344CB8AC3E}">
        <p14:creationId xmlns:p14="http://schemas.microsoft.com/office/powerpoint/2010/main" val="283640648"/>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Code review and the merge decision">
            <a:extLst xmlns:a="http://schemas.openxmlformats.org/drawingml/2006/main">
              <a:ext uri="{FF2B5EF4-FFF2-40B4-BE49-F238E27FC236}">
                <a16:creationId xmlns:a16="http://schemas.microsoft.com/office/drawing/2014/main" id="{A8466BC4-BF8B-4987-97C1-6F0D5FCBF86E}"/>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Code review and the merge decision</a:t>
            </a:r>
          </a:p>
        </p:txBody>
      </p:sp>
      <p:sp>
        <p:nvSpPr>
          <p:cNvPr id="2" name="01:49–01:52 elapsed">
            <a:extLst xmlns:a="http://schemas.openxmlformats.org/drawingml/2006/main">
              <a:ext uri="{FF2B5EF4-FFF2-40B4-BE49-F238E27FC236}">
                <a16:creationId xmlns:a16="http://schemas.microsoft.com/office/drawing/2014/main" id="{628EC346-7F92-4FD1-87BF-B83DDEA08C07}"/>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factory">
            <a:extLst xmlns:a="http://schemas.openxmlformats.org/drawingml/2006/main">
              <a:ext uri="{FF2B5EF4-FFF2-40B4-BE49-F238E27FC236}">
                <a16:creationId xmlns:a16="http://schemas.microsoft.com/office/drawing/2014/main" id="{D8A77807-8886-4C03-B848-5FCCB7FA11FB}"/>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7">
            <a:extLst xmlns:a="http://schemas.openxmlformats.org/drawingml/2006/main">
              <a:ext uri="{FF2B5EF4-FFF2-40B4-BE49-F238E27FC236}">
                <a16:creationId xmlns:a16="http://schemas.microsoft.com/office/drawing/2014/main" id="{D26BE693-24EC-431B-9A13-2F7BD2599626}"/>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27</a:t>
            </a:r>
          </a:p>
        </p:txBody>
      </p:sp>
      <p:sp>
        <p:nvSpPr>
          <p:cNvPr id="5" name="Code Review agent">
            <a:extLst xmlns:a="http://schemas.openxmlformats.org/drawingml/2006/main">
              <a:ext uri="{FF2B5EF4-FFF2-40B4-BE49-F238E27FC236}">
                <a16:creationId xmlns:a16="http://schemas.microsoft.com/office/drawing/2014/main" id="{9571845F-1E8B-491B-84DB-9A59ED5CE91E}"/>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Code Review agent</a:t>
            </a:r>
          </a:p>
        </p:txBody>
      </p:sp>
      <p:sp>
        <p:nvSpPr>
          <p:cNvPr id="6" name="Assesses the current candidate and returns APPROVE or R">
            <a:extLst xmlns:a="http://schemas.openxmlformats.org/drawingml/2006/main">
              <a:ext uri="{FF2B5EF4-FFF2-40B4-BE49-F238E27FC236}">
                <a16:creationId xmlns:a16="http://schemas.microsoft.com/office/drawing/2014/main" id="{69ED7633-3A93-40B6-BC82-08AF7CA50527}"/>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Assesses the current candidate and returns APPROVE or REQUEST_CHANGES.</a:t>
            </a:r>
          </a:p>
        </p:txBody>
      </p:sp>
      <p:sp>
        <p:nvSpPr>
          <p:cNvPr id="7" name="Implementation agent">
            <a:extLst xmlns:a="http://schemas.openxmlformats.org/drawingml/2006/main">
              <a:ext uri="{FF2B5EF4-FFF2-40B4-BE49-F238E27FC236}">
                <a16:creationId xmlns:a16="http://schemas.microsoft.com/office/drawing/2014/main" id="{BC09D9DC-840E-4111-9805-F35A003A8786}"/>
              </a:ext>
            </a:extLst>
          </p:cNvPr>
          <p:cNvSpPr>
            <a:spLocks xmlns:a="http://schemas.openxmlformats.org/drawingml/2006/main" noGrp="1"/>
          </p:cNvSpPr>
          <p:nvPr/>
        </p:nvSpPr>
        <p:spPr>
          <a:xfrm xmlns:a="http://schemas.openxmlformats.org/drawingml/2006/main">
            <a:off x="609600" y="30765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Implementation agent</a:t>
            </a:r>
          </a:p>
        </p:txBody>
      </p:sp>
      <p:sp>
        <p:nvSpPr>
          <p:cNvPr id="8" name="Addresses comments, then checks and review run again.">
            <a:extLst xmlns:a="http://schemas.openxmlformats.org/drawingml/2006/main">
              <a:ext uri="{FF2B5EF4-FFF2-40B4-BE49-F238E27FC236}">
                <a16:creationId xmlns:a16="http://schemas.microsoft.com/office/drawing/2014/main" id="{F0281E20-DAA2-407E-8D2A-C4E3D8B9165A}"/>
              </a:ext>
            </a:extLst>
          </p:cNvPr>
          <p:cNvSpPr>
            <a:spLocks xmlns:a="http://schemas.openxmlformats.org/drawingml/2006/main" noGrp="1"/>
          </p:cNvSpPr>
          <p:nvPr/>
        </p:nvSpPr>
        <p:spPr>
          <a:xfrm xmlns:a="http://schemas.openxmlformats.org/drawingml/2006/main">
            <a:off x="4572000" y="30765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Addresses comments, then checks and review run again.</a:t>
            </a:r>
          </a:p>
        </p:txBody>
      </p:sp>
      <p:sp>
        <p:nvSpPr>
          <p:cNvPr id="9" name="Human reviewer">
            <a:extLst xmlns:a="http://schemas.openxmlformats.org/drawingml/2006/main">
              <a:ext uri="{FF2B5EF4-FFF2-40B4-BE49-F238E27FC236}">
                <a16:creationId xmlns:a16="http://schemas.microsoft.com/office/drawing/2014/main" id="{5F57AEBB-83C7-4F0C-8294-E2B1E54ECD8C}"/>
              </a:ext>
            </a:extLst>
          </p:cNvPr>
          <p:cNvSpPr>
            <a:spLocks xmlns:a="http://schemas.openxmlformats.org/drawingml/2006/main" noGrp="1"/>
          </p:cNvSpPr>
          <p:nvPr/>
        </p:nvSpPr>
        <p:spPr>
          <a:xfrm xmlns:a="http://schemas.openxmlformats.org/drawingml/2006/main">
            <a:off x="609600" y="44386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Human reviewer</a:t>
            </a:r>
          </a:p>
        </p:txBody>
      </p:sp>
      <p:sp>
        <p:nvSpPr>
          <p:cNvPr id="10" name="Inspects the current evidence and decides whether to me">
            <a:extLst xmlns:a="http://schemas.openxmlformats.org/drawingml/2006/main">
              <a:ext uri="{FF2B5EF4-FFF2-40B4-BE49-F238E27FC236}">
                <a16:creationId xmlns:a16="http://schemas.microsoft.com/office/drawing/2014/main" id="{BEABC674-8899-4594-8DB7-D766BD2F1649}"/>
              </a:ext>
            </a:extLst>
          </p:cNvPr>
          <p:cNvSpPr>
            <a:spLocks xmlns:a="http://schemas.openxmlformats.org/drawingml/2006/main" noGrp="1"/>
          </p:cNvSpPr>
          <p:nvPr/>
        </p:nvSpPr>
        <p:spPr>
          <a:xfrm xmlns:a="http://schemas.openxmlformats.org/drawingml/2006/main">
            <a:off x="4572000" y="44386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Inspects the current evidence and decides whether to merge.</a:t>
            </a:r>
          </a:p>
        </p:txBody>
      </p:sp>
    </p:spTree>
    <p:extLst>
      <p:ext uri="{BB962C8B-B14F-4D97-AF65-F5344CB8AC3E}">
        <p14:creationId xmlns:p14="http://schemas.microsoft.com/office/powerpoint/2010/main" val="1891461704"/>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7: review and accept changes">
            <a:extLst xmlns:a="http://schemas.openxmlformats.org/drawingml/2006/main">
              <a:ext uri="{FF2B5EF4-FFF2-40B4-BE49-F238E27FC236}">
                <a16:creationId xmlns:a16="http://schemas.microsoft.com/office/drawing/2014/main" id="{28A855A8-F99F-422B-A29C-47EC8E63F0CC}"/>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7: review and accept changes</a:t>
            </a:r>
          </a:p>
        </p:txBody>
      </p:sp>
      <p:sp>
        <p:nvSpPr>
          <p:cNvPr id="2" name="01:52–02:10 elapsed">
            <a:extLst xmlns:a="http://schemas.openxmlformats.org/drawingml/2006/main">
              <a:ext uri="{FF2B5EF4-FFF2-40B4-BE49-F238E27FC236}">
                <a16:creationId xmlns:a16="http://schemas.microsoft.com/office/drawing/2014/main" id="{546E4F86-E833-42E4-8022-09EED4965546}"/>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factory">
            <a:extLst xmlns:a="http://schemas.openxmlformats.org/drawingml/2006/main">
              <a:ext uri="{FF2B5EF4-FFF2-40B4-BE49-F238E27FC236}">
                <a16:creationId xmlns:a16="http://schemas.microsoft.com/office/drawing/2014/main" id="{B1B31453-4BE9-4A59-AEDA-DF73E78C5DD7}"/>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#factory</a:t>
            </a:r>
          </a:p>
        </p:txBody>
      </p:sp>
      <p:sp>
        <p:nvSpPr>
          <p:cNvPr id="4" name="28">
            <a:extLst xmlns:a="http://schemas.openxmlformats.org/drawingml/2006/main">
              <a:ext uri="{FF2B5EF4-FFF2-40B4-BE49-F238E27FC236}">
                <a16:creationId xmlns:a16="http://schemas.microsoft.com/office/drawing/2014/main" id="{7F25BB79-7EED-45E6-A6C3-C961C68C68FF}"/>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28</a:t>
            </a:r>
          </a:p>
        </p:txBody>
      </p:sp>
      <p:sp>
        <p:nvSpPr>
          <p:cNvPr id="5" name="18 minutes">
            <a:extLst xmlns:a="http://schemas.openxmlformats.org/drawingml/2006/main">
              <a:ext uri="{FF2B5EF4-FFF2-40B4-BE49-F238E27FC236}">
                <a16:creationId xmlns:a16="http://schemas.microsoft.com/office/drawing/2014/main" id="{82704C7C-69D3-4281-ABB1-529C560DAC9C}"/>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18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444D62D2-09D0-4919-80A8-FA9A0888CBED}"/>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1AE09FE0-E1EE-46EE-8DBA-BFCBE8388C6D}"/>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Open Summary &gt; Candidate evidence, Diff, Tests and Code">
            <a:extLst xmlns:a="http://schemas.openxmlformats.org/drawingml/2006/main">
              <a:ext uri="{FF2B5EF4-FFF2-40B4-BE49-F238E27FC236}">
                <a16:creationId xmlns:a16="http://schemas.microsoft.com/office/drawing/2014/main" id="{5B193DEE-24BD-4279-97E0-321D4FEFD66C}"/>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Summary &gt; Candidate evidence, Diff, Tests and Code review.</a:t>
            </a:r>
          </a:p>
        </p:txBody>
      </p:sp>
      <p:sp>
        <p:nvSpPr>
          <p:cNvPr id="9" name="2">
            <a:extLst xmlns:a="http://schemas.openxmlformats.org/drawingml/2006/main">
              <a:ext uri="{FF2B5EF4-FFF2-40B4-BE49-F238E27FC236}">
                <a16:creationId xmlns:a16="http://schemas.microsoft.com/office/drawing/2014/main" id="{DD7C3A26-CB10-4A87-81A1-7CD5F918BAC6}"/>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Compare the reviewed commit with the current candidate.">
            <a:extLst xmlns:a="http://schemas.openxmlformats.org/drawingml/2006/main">
              <a:ext uri="{FF2B5EF4-FFF2-40B4-BE49-F238E27FC236}">
                <a16:creationId xmlns:a16="http://schemas.microsoft.com/office/drawing/2014/main" id="{08677C1A-C348-4721-B841-1FA17EDE96AA}"/>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Compare the reviewed commit with the current candidate.</a:t>
            </a:r>
          </a:p>
        </p:txBody>
      </p:sp>
      <p:sp>
        <p:nvSpPr>
          <p:cNvPr id="11" name="3">
            <a:extLst xmlns:a="http://schemas.openxmlformats.org/drawingml/2006/main">
              <a:ext uri="{FF2B5EF4-FFF2-40B4-BE49-F238E27FC236}">
                <a16:creationId xmlns:a16="http://schemas.microsoft.com/office/drawing/2014/main" id="{C585BF16-3012-4C15-B751-A473BA78319B}"/>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Request rework or choose Merge exact revision when just">
            <a:extLst xmlns:a="http://schemas.openxmlformats.org/drawingml/2006/main">
              <a:ext uri="{FF2B5EF4-FFF2-40B4-BE49-F238E27FC236}">
                <a16:creationId xmlns:a16="http://schemas.microsoft.com/office/drawing/2014/main" id="{421857A2-EBD6-419B-977D-8D47E7ECDF9A}"/>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Request rework or choose Merge exact revision when justified.</a:t>
            </a:r>
          </a:p>
        </p:txBody>
      </p:sp>
      <p:sp>
        <p:nvSpPr>
          <p:cNvPr id="13" name="Show: your decision and its evidence. Keep serving late">
            <a:extLst xmlns:a="http://schemas.openxmlformats.org/drawingml/2006/main">
              <a:ext uri="{FF2B5EF4-FFF2-40B4-BE49-F238E27FC236}">
                <a16:creationId xmlns:a16="http://schemas.microsoft.com/office/drawing/2014/main" id="{66EFF606-885D-41A7-BC5C-0CC89E1A4737}"/>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your decision and its evidence. Keep serving later QA and merge gates.</a:t>
            </a:r>
          </a:p>
        </p:txBody>
      </p:sp>
    </p:spTree>
    <p:extLst>
      <p:ext uri="{BB962C8B-B14F-4D97-AF65-F5344CB8AC3E}">
        <p14:creationId xmlns:p14="http://schemas.microsoft.com/office/powerpoint/2010/main" val="2068969781"/>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cceptance covers the integrated product">
            <a:extLst xmlns:a="http://schemas.openxmlformats.org/drawingml/2006/main">
              <a:ext uri="{FF2B5EF4-FFF2-40B4-BE49-F238E27FC236}">
                <a16:creationId xmlns:a16="http://schemas.microsoft.com/office/drawing/2014/main" id="{DA361ED9-3AF2-4ED3-A280-C6F3A5CFEDB7}"/>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Acceptance covers the integrated product</a:t>
            </a:r>
          </a:p>
        </p:txBody>
      </p:sp>
      <p:sp>
        <p:nvSpPr>
          <p:cNvPr id="2" name="02:10–02:13 elapsed">
            <a:extLst xmlns:a="http://schemas.openxmlformats.org/drawingml/2006/main">
              <a:ext uri="{FF2B5EF4-FFF2-40B4-BE49-F238E27FC236}">
                <a16:creationId xmlns:a16="http://schemas.microsoft.com/office/drawing/2014/main" id="{1114D9BD-660C-4FC3-B747-B06CA95F4DF7}"/>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finish">
            <a:extLst xmlns:a="http://schemas.openxmlformats.org/drawingml/2006/main">
              <a:ext uri="{FF2B5EF4-FFF2-40B4-BE49-F238E27FC236}">
                <a16:creationId xmlns:a16="http://schemas.microsoft.com/office/drawing/2014/main" id="{BBBF050A-BC20-4518-8D1D-3C44AE8156B1}"/>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#finish</a:t>
            </a:r>
          </a:p>
        </p:txBody>
      </p:sp>
      <p:sp>
        <p:nvSpPr>
          <p:cNvPr id="4" name="29">
            <a:extLst xmlns:a="http://schemas.openxmlformats.org/drawingml/2006/main">
              <a:ext uri="{FF2B5EF4-FFF2-40B4-BE49-F238E27FC236}">
                <a16:creationId xmlns:a16="http://schemas.microsoft.com/office/drawing/2014/main" id="{8C7AEB32-B11F-4808-8EB0-73E220473879}"/>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29</a:t>
            </a:r>
          </a:p>
        </p:txBody>
      </p:sp>
      <p:sp>
        <p:nvSpPr>
          <p:cNvPr id="5" name="The cooking journey">
            <a:extLst xmlns:a="http://schemas.openxmlformats.org/drawingml/2006/main">
              <a:ext uri="{FF2B5EF4-FFF2-40B4-BE49-F238E27FC236}">
                <a16:creationId xmlns:a16="http://schemas.microsoft.com/office/drawing/2014/main" id="{0D7D7975-66F3-4975-89A2-42E326BBA574}"/>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The cooking journey</a:t>
            </a:r>
          </a:p>
        </p:txBody>
      </p:sp>
      <p:sp>
        <p:nvSpPr>
          <p:cNvPr id="6" name="Ingredient search, recipe details, save and remove in M">
            <a:extLst xmlns:a="http://schemas.openxmlformats.org/drawingml/2006/main">
              <a:ext uri="{FF2B5EF4-FFF2-40B4-BE49-F238E27FC236}">
                <a16:creationId xmlns:a16="http://schemas.microsoft.com/office/drawing/2014/main" id="{3F988846-B2B7-4154-9DEA-C8D1E31964F9}"/>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Ingredient search, recipe details, save and remove in My Cookbook.</a:t>
            </a:r>
          </a:p>
        </p:txBody>
      </p:sp>
      <p:sp>
        <p:nvSpPr>
          <p:cNvPr id="7" name="The rest of the transformation">
            <a:extLst xmlns:a="http://schemas.openxmlformats.org/drawingml/2006/main">
              <a:ext uri="{FF2B5EF4-FFF2-40B4-BE49-F238E27FC236}">
                <a16:creationId xmlns:a16="http://schemas.microsoft.com/office/drawing/2014/main" id="{3D51D99B-6A2B-404E-AACE-C1ECFDD956E5}"/>
              </a:ext>
            </a:extLst>
          </p:cNvPr>
          <p:cNvSpPr>
            <a:spLocks xmlns:a="http://schemas.openxmlformats.org/drawingml/2006/main" noGrp="1"/>
          </p:cNvSpPr>
          <p:nvPr/>
        </p:nvSpPr>
        <p:spPr>
          <a:xfrm xmlns:a="http://schemas.openxmlformats.org/drawingml/2006/main">
            <a:off x="609600" y="30765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The rest of the transformation</a:t>
            </a:r>
          </a:p>
        </p:txBody>
      </p:sp>
      <p:sp>
        <p:nvSpPr>
          <p:cNvPr id="8" name="Recipe APIs, product identity, mobile/TV behavior and m">
            <a:extLst xmlns:a="http://schemas.openxmlformats.org/drawingml/2006/main">
              <a:ext uri="{FF2B5EF4-FFF2-40B4-BE49-F238E27FC236}">
                <a16:creationId xmlns:a16="http://schemas.microsoft.com/office/drawing/2014/main" id="{957172CC-9C3E-4211-A995-AA1BF6913EC4}"/>
              </a:ext>
            </a:extLst>
          </p:cNvPr>
          <p:cNvSpPr>
            <a:spLocks xmlns:a="http://schemas.openxmlformats.org/drawingml/2006/main" noGrp="1"/>
          </p:cNvSpPr>
          <p:nvPr/>
        </p:nvSpPr>
        <p:spPr>
          <a:xfrm xmlns:a="http://schemas.openxmlformats.org/drawingml/2006/main">
            <a:off x="4572000" y="30765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Recipe APIs, product identity, mobile/TV behavior and movie-domain cleanup.</a:t>
            </a:r>
          </a:p>
        </p:txBody>
      </p:sp>
      <p:sp>
        <p:nvSpPr>
          <p:cNvPr id="9" name="Evidence boundary">
            <a:extLst xmlns:a="http://schemas.openxmlformats.org/drawingml/2006/main">
              <a:ext uri="{FF2B5EF4-FFF2-40B4-BE49-F238E27FC236}">
                <a16:creationId xmlns:a16="http://schemas.microsoft.com/office/drawing/2014/main" id="{83D16BB2-ED76-4CB8-AD7D-1F66549344A5}"/>
              </a:ext>
            </a:extLst>
          </p:cNvPr>
          <p:cNvSpPr>
            <a:spLocks xmlns:a="http://schemas.openxmlformats.org/drawingml/2006/main" noGrp="1"/>
          </p:cNvSpPr>
          <p:nvPr/>
        </p:nvSpPr>
        <p:spPr>
          <a:xfrm xmlns:a="http://schemas.openxmlformats.org/drawingml/2006/main">
            <a:off x="609600" y="44386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Evidence boundary</a:t>
            </a:r>
          </a:p>
        </p:txBody>
      </p:sp>
      <p:sp>
        <p:nvSpPr>
          <p:cNvPr id="10" name="Test the merged revision and record anything you did no">
            <a:extLst xmlns:a="http://schemas.openxmlformats.org/drawingml/2006/main">
              <a:ext uri="{FF2B5EF4-FFF2-40B4-BE49-F238E27FC236}">
                <a16:creationId xmlns:a16="http://schemas.microsoft.com/office/drawing/2014/main" id="{A9A27123-4F84-4F15-9601-A3E4B2CCF417}"/>
              </a:ext>
            </a:extLst>
          </p:cNvPr>
          <p:cNvSpPr>
            <a:spLocks xmlns:a="http://schemas.openxmlformats.org/drawingml/2006/main" noGrp="1"/>
          </p:cNvSpPr>
          <p:nvPr/>
        </p:nvSpPr>
        <p:spPr>
          <a:xfrm xmlns:a="http://schemas.openxmlformats.org/drawingml/2006/main">
            <a:off x="4572000" y="44386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Test the merged revision and record anything you did not verify.</a:t>
            </a:r>
          </a:p>
        </p:txBody>
      </p:sp>
    </p:spTree>
    <p:extLst>
      <p:ext uri="{BB962C8B-B14F-4D97-AF65-F5344CB8AC3E}">
        <p14:creationId xmlns:p14="http://schemas.microsoft.com/office/powerpoint/2010/main" val="138980344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8: use the resulting product">
            <a:extLst xmlns:a="http://schemas.openxmlformats.org/drawingml/2006/main">
              <a:ext uri="{FF2B5EF4-FFF2-40B4-BE49-F238E27FC236}">
                <a16:creationId xmlns:a16="http://schemas.microsoft.com/office/drawing/2014/main" id="{738F0460-E240-4E61-8C89-2D0FA3F7AD22}"/>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8: use the resulting product</a:t>
            </a:r>
          </a:p>
        </p:txBody>
      </p:sp>
      <p:sp>
        <p:nvSpPr>
          <p:cNvPr id="2" name="02:13–02:22 elapsed">
            <a:extLst xmlns:a="http://schemas.openxmlformats.org/drawingml/2006/main">
              <a:ext uri="{FF2B5EF4-FFF2-40B4-BE49-F238E27FC236}">
                <a16:creationId xmlns:a16="http://schemas.microsoft.com/office/drawing/2014/main" id="{FD902E97-259E-4FE8-B2E8-C34F3004E110}"/>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finish">
            <a:extLst xmlns:a="http://schemas.openxmlformats.org/drawingml/2006/main">
              <a:ext uri="{FF2B5EF4-FFF2-40B4-BE49-F238E27FC236}">
                <a16:creationId xmlns:a16="http://schemas.microsoft.com/office/drawing/2014/main" id="{0B63C62D-B451-4390-AE56-0A159F23FD64}"/>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#finish</a:t>
            </a:r>
          </a:p>
        </p:txBody>
      </p:sp>
      <p:sp>
        <p:nvSpPr>
          <p:cNvPr id="4" name="30">
            <a:extLst xmlns:a="http://schemas.openxmlformats.org/drawingml/2006/main">
              <a:ext uri="{FF2B5EF4-FFF2-40B4-BE49-F238E27FC236}">
                <a16:creationId xmlns:a16="http://schemas.microsoft.com/office/drawing/2014/main" id="{0851F047-40E2-4E5A-AC4A-57E9856E44A8}"/>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30</a:t>
            </a:r>
          </a:p>
        </p:txBody>
      </p:sp>
      <p:sp>
        <p:nvSpPr>
          <p:cNvPr id="5" name="9 minutes">
            <a:extLst xmlns:a="http://schemas.openxmlformats.org/drawingml/2006/main">
              <a:ext uri="{FF2B5EF4-FFF2-40B4-BE49-F238E27FC236}">
                <a16:creationId xmlns:a16="http://schemas.microsoft.com/office/drawing/2014/main" id="{B65B7D0C-FE72-4329-8632-F25899DDF964}"/>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9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A848F1AC-AA28-4873-A774-8BC13B52B739}"/>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EDBEA1C3-F460-463A-B6BD-20B199AAB9C0}"/>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Open Review &gt; Run app and start the merged application.">
            <a:extLst xmlns:a="http://schemas.openxmlformats.org/drawingml/2006/main">
              <a:ext uri="{FF2B5EF4-FFF2-40B4-BE49-F238E27FC236}">
                <a16:creationId xmlns:a16="http://schemas.microsoft.com/office/drawing/2014/main" id="{DAB5A253-2D13-4529-A62D-5E7DC2209587}"/>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Review &gt; Run app and start the merged application.</a:t>
            </a:r>
          </a:p>
        </p:txBody>
      </p:sp>
      <p:sp>
        <p:nvSpPr>
          <p:cNvPr id="9" name="2">
            <a:extLst xmlns:a="http://schemas.openxmlformats.org/drawingml/2006/main">
              <a:ext uri="{FF2B5EF4-FFF2-40B4-BE49-F238E27FC236}">
                <a16:creationId xmlns:a16="http://schemas.microsoft.com/office/drawing/2014/main" id="{3481CD75-C031-4827-A4BB-CC2A8C2BEC2C}"/>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Follow the cooking journey, then check mobile and TV na">
            <a:extLst xmlns:a="http://schemas.openxmlformats.org/drawingml/2006/main">
              <a:ext uri="{FF2B5EF4-FFF2-40B4-BE49-F238E27FC236}">
                <a16:creationId xmlns:a16="http://schemas.microsoft.com/office/drawing/2014/main" id="{92261FD8-3C2A-42FD-AE22-4600C72170AB}"/>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Follow the cooking journey, then check mobile and TV navigation.</a:t>
            </a:r>
          </a:p>
        </p:txBody>
      </p:sp>
      <p:sp>
        <p:nvSpPr>
          <p:cNvPr id="11" name="3">
            <a:extLst xmlns:a="http://schemas.openxmlformats.org/drawingml/2006/main">
              <a:ext uri="{FF2B5EF4-FFF2-40B4-BE49-F238E27FC236}">
                <a16:creationId xmlns:a16="http://schemas.microsoft.com/office/drawing/2014/main" id="{92EE443E-8B3F-4093-8D67-C5C9929653B0}"/>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Check the approved remaining scope, including APIs and ">
            <a:extLst xmlns:a="http://schemas.openxmlformats.org/drawingml/2006/main">
              <a:ext uri="{FF2B5EF4-FFF2-40B4-BE49-F238E27FC236}">
                <a16:creationId xmlns:a16="http://schemas.microsoft.com/office/drawing/2014/main" id="{DA379707-1127-4134-8120-AA7C9EDF3C02}"/>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Check the approved remaining scope, including APIs and removed movie behavior.</a:t>
            </a:r>
          </a:p>
        </p:txBody>
      </p:sp>
      <p:sp>
        <p:nvSpPr>
          <p:cNvPr id="13" name="Show: the tested revision, working behavior, and any re">
            <a:extLst xmlns:a="http://schemas.openxmlformats.org/drawingml/2006/main">
              <a:ext uri="{FF2B5EF4-FFF2-40B4-BE49-F238E27FC236}">
                <a16:creationId xmlns:a16="http://schemas.microsoft.com/office/drawing/2014/main" id="{D8C3A2E3-6D3B-4BBB-97B3-C0E1883E3184}"/>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the tested revision, working behavior, and any remaining failure or gap.</a:t>
            </a:r>
          </a:p>
        </p:txBody>
      </p:sp>
    </p:spTree>
    <p:extLst>
      <p:ext uri="{BB962C8B-B14F-4D97-AF65-F5344CB8AC3E}">
        <p14:creationId xmlns:p14="http://schemas.microsoft.com/office/powerpoint/2010/main" val="94959960"/>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9: save the evidence">
            <a:extLst xmlns:a="http://schemas.openxmlformats.org/drawingml/2006/main">
              <a:ext uri="{FF2B5EF4-FFF2-40B4-BE49-F238E27FC236}">
                <a16:creationId xmlns:a16="http://schemas.microsoft.com/office/drawing/2014/main" id="{EDED5FF5-E074-4A93-B739-89247053163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9: save the evidence</a:t>
            </a:r>
          </a:p>
        </p:txBody>
      </p:sp>
      <p:sp>
        <p:nvSpPr>
          <p:cNvPr id="2" name="02:22–02:25 elapsed">
            <a:extLst xmlns:a="http://schemas.openxmlformats.org/drawingml/2006/main">
              <a:ext uri="{FF2B5EF4-FFF2-40B4-BE49-F238E27FC236}">
                <a16:creationId xmlns:a16="http://schemas.microsoft.com/office/drawing/2014/main" id="{9C1CFF48-C5EF-4956-84FD-9282896A1CA5}"/>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finish">
            <a:extLst xmlns:a="http://schemas.openxmlformats.org/drawingml/2006/main">
              <a:ext uri="{FF2B5EF4-FFF2-40B4-BE49-F238E27FC236}">
                <a16:creationId xmlns:a16="http://schemas.microsoft.com/office/drawing/2014/main" id="{626E3F53-BA9C-471B-83B5-E8021EFF1A6E}"/>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#finish</a:t>
            </a:r>
          </a:p>
        </p:txBody>
      </p:sp>
      <p:sp>
        <p:nvSpPr>
          <p:cNvPr id="4" name="31">
            <a:extLst xmlns:a="http://schemas.openxmlformats.org/drawingml/2006/main">
              <a:ext uri="{FF2B5EF4-FFF2-40B4-BE49-F238E27FC236}">
                <a16:creationId xmlns:a16="http://schemas.microsoft.com/office/drawing/2014/main" id="{09772CBF-38E0-42C9-AF1C-2D09B1CE484C}"/>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31</a:t>
            </a:r>
          </a:p>
        </p:txBody>
      </p:sp>
      <p:sp>
        <p:nvSpPr>
          <p:cNvPr id="5" name="3 minutes">
            <a:extLst xmlns:a="http://schemas.openxmlformats.org/drawingml/2006/main">
              <a:ext uri="{FF2B5EF4-FFF2-40B4-BE49-F238E27FC236}">
                <a16:creationId xmlns:a16="http://schemas.microsoft.com/office/drawing/2014/main" id="{BEAC3BCE-A411-4251-A168-5FD5D7DB35F3}"/>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3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666F67F0-E0BF-4EDB-A396-D96E63233853}"/>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A1E07FEF-57E8-476E-80D3-9D3764C4FCF3}"/>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Stop the preview and select Export run evidence.">
            <a:extLst xmlns:a="http://schemas.openxmlformats.org/drawingml/2006/main">
              <a:ext uri="{FF2B5EF4-FFF2-40B4-BE49-F238E27FC236}">
                <a16:creationId xmlns:a16="http://schemas.microsoft.com/office/drawing/2014/main" id="{A277A6E4-98BC-48C6-8777-2398AE744A6C}"/>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Stop the preview and select Export run evidence.</a:t>
            </a:r>
          </a:p>
        </p:txBody>
      </p:sp>
      <p:sp>
        <p:nvSpPr>
          <p:cNvPr id="9" name="2">
            <a:extLst xmlns:a="http://schemas.openxmlformats.org/drawingml/2006/main">
              <a:ext uri="{FF2B5EF4-FFF2-40B4-BE49-F238E27FC236}">
                <a16:creationId xmlns:a16="http://schemas.microsoft.com/office/drawing/2014/main" id="{DB826CB9-F038-4F32-8E11-7228E41BA734}"/>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Open the packet and download it.">
            <a:extLst xmlns:a="http://schemas.openxmlformats.org/drawingml/2006/main">
              <a:ext uri="{FF2B5EF4-FFF2-40B4-BE49-F238E27FC236}">
                <a16:creationId xmlns:a16="http://schemas.microsoft.com/office/drawing/2014/main" id="{BEFDB89B-88A6-4BF8-8636-A7997F196485}"/>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Open the packet and download it.</a:t>
            </a:r>
          </a:p>
        </p:txBody>
      </p:sp>
      <p:sp>
        <p:nvSpPr>
          <p:cNvPr id="11" name="3">
            <a:extLst xmlns:a="http://schemas.openxmlformats.org/drawingml/2006/main">
              <a:ext uri="{FF2B5EF4-FFF2-40B4-BE49-F238E27FC236}">
                <a16:creationId xmlns:a16="http://schemas.microsoft.com/office/drawing/2014/main" id="{B800FEB6-4699-4D93-817D-F5BCE035B1A5}"/>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Record unfinished tickets, the next action and its owne">
            <a:extLst xmlns:a="http://schemas.openxmlformats.org/drawingml/2006/main">
              <a:ext uri="{FF2B5EF4-FFF2-40B4-BE49-F238E27FC236}">
                <a16:creationId xmlns:a16="http://schemas.microsoft.com/office/drawing/2014/main" id="{F33F2C1A-280F-49C7-8E36-66F9048697E8}"/>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Record unfinished tickets, the next action and its owner.</a:t>
            </a:r>
          </a:p>
        </p:txBody>
      </p:sp>
      <p:sp>
        <p:nvSpPr>
          <p:cNvPr id="13" name="Show: saved run evidence and a clear completion or resu">
            <a:extLst xmlns:a="http://schemas.openxmlformats.org/drawingml/2006/main">
              <a:ext uri="{FF2B5EF4-FFF2-40B4-BE49-F238E27FC236}">
                <a16:creationId xmlns:a16="http://schemas.microsoft.com/office/drawing/2014/main" id="{30BD445D-9415-4193-9E11-C143E968CE0B}"/>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saved run evidence and a clear completion or resume statement.</a:t>
            </a:r>
          </a:p>
        </p:txBody>
      </p:sp>
    </p:spTree>
    <p:extLst>
      <p:ext uri="{BB962C8B-B14F-4D97-AF65-F5344CB8AC3E}">
        <p14:creationId xmlns:p14="http://schemas.microsoft.com/office/powerpoint/2010/main" val="1909976396"/>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One recorded Codex transformation">
            <a:extLst xmlns:a="http://schemas.openxmlformats.org/drawingml/2006/main">
              <a:ext uri="{FF2B5EF4-FFF2-40B4-BE49-F238E27FC236}">
                <a16:creationId xmlns:a16="http://schemas.microsoft.com/office/drawing/2014/main" id="{0D78F264-77B6-40BC-B7EA-8FE812BDB0A4}"/>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One recorded Codex transformation</a:t>
            </a:r>
          </a:p>
        </p:txBody>
      </p:sp>
      <p:sp>
        <p:nvSpPr>
          <p:cNvPr id="2" name="02:25–02:28 elapsed">
            <a:extLst xmlns:a="http://schemas.openxmlformats.org/drawingml/2006/main">
              <a:ext uri="{FF2B5EF4-FFF2-40B4-BE49-F238E27FC236}">
                <a16:creationId xmlns:a16="http://schemas.microsoft.com/office/drawing/2014/main" id="{BC7CEB7A-3C75-44C8-9AA3-38E1E9BA68A3}"/>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32">
            <a:extLst xmlns:a="http://schemas.openxmlformats.org/drawingml/2006/main">
              <a:ext uri="{FF2B5EF4-FFF2-40B4-BE49-F238E27FC236}">
                <a16:creationId xmlns:a16="http://schemas.microsoft.com/office/drawing/2014/main" id="{4903E25B-A4FB-4C7D-9D6D-3BE9145DBA75}"/>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32</a:t>
            </a:r>
          </a:p>
        </p:txBody>
      </p:sp>
      <p:sp>
        <p:nvSpPr>
          <p:cNvPr id="4" name="8">
            <a:extLst xmlns:a="http://schemas.openxmlformats.org/drawingml/2006/main">
              <a:ext uri="{FF2B5EF4-FFF2-40B4-BE49-F238E27FC236}">
                <a16:creationId xmlns:a16="http://schemas.microsoft.com/office/drawing/2014/main" id="{A0234A53-C76C-4B9B-8257-DE579B63A2DC}"/>
              </a:ext>
            </a:extLst>
          </p:cNvPr>
          <p:cNvSpPr>
            <a:spLocks xmlns:a="http://schemas.openxmlformats.org/drawingml/2006/main" noGrp="1"/>
          </p:cNvSpPr>
          <p:nvPr/>
        </p:nvSpPr>
        <p:spPr>
          <a:xfrm xmlns:a="http://schemas.openxmlformats.org/drawingml/2006/main">
            <a:off x="609600" y="1885950"/>
            <a:ext cx="33623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6CA5"/>
                </a:solidFill>
                <a:latin typeface="Helvetica Neue"/>
                <a:ea typeface="Helvetica Neue"/>
                <a:cs typeface="Helvetica Neue"/>
              </a:defRPr>
            </a:pPr>
            <a:r>
              <a:rPr sz="6000" b="1">
                <a:solidFill>
                  <a:srgbClr val="006CA5"/>
                </a:solidFill>
                <a:latin typeface="Helvetica Neue"/>
                <a:ea typeface="Helvetica Neue"/>
                <a:cs typeface="Helvetica Neue"/>
              </a:rPr>
              <a:t>8</a:t>
            </a:r>
          </a:p>
        </p:txBody>
      </p:sp>
      <p:sp>
        <p:nvSpPr>
          <p:cNvPr id="5" name="tickets merged">
            <a:extLst xmlns:a="http://schemas.openxmlformats.org/drawingml/2006/main">
              <a:ext uri="{FF2B5EF4-FFF2-40B4-BE49-F238E27FC236}">
                <a16:creationId xmlns:a16="http://schemas.microsoft.com/office/drawing/2014/main" id="{DFFDD618-390C-42AC-A5CA-E7706B82142D}"/>
              </a:ext>
            </a:extLst>
          </p:cNvPr>
          <p:cNvSpPr>
            <a:spLocks xmlns:a="http://schemas.openxmlformats.org/drawingml/2006/main" noGrp="1"/>
          </p:cNvSpPr>
          <p:nvPr/>
        </p:nvSpPr>
        <p:spPr>
          <a:xfrm xmlns:a="http://schemas.openxmlformats.org/drawingml/2006/main">
            <a:off x="609600" y="3086100"/>
            <a:ext cx="3362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tickets merged</a:t>
            </a:r>
          </a:p>
        </p:txBody>
      </p:sp>
      <p:sp>
        <p:nvSpPr>
          <p:cNvPr id="6" name="298">
            <a:extLst xmlns:a="http://schemas.openxmlformats.org/drawingml/2006/main">
              <a:ext uri="{FF2B5EF4-FFF2-40B4-BE49-F238E27FC236}">
                <a16:creationId xmlns:a16="http://schemas.microsoft.com/office/drawing/2014/main" id="{FEE9B9CF-A160-4716-BC34-35367B66B59D}"/>
              </a:ext>
            </a:extLst>
          </p:cNvPr>
          <p:cNvSpPr>
            <a:spLocks xmlns:a="http://schemas.openxmlformats.org/drawingml/2006/main" noGrp="1"/>
          </p:cNvSpPr>
          <p:nvPr/>
        </p:nvSpPr>
        <p:spPr>
          <a:xfrm xmlns:a="http://schemas.openxmlformats.org/drawingml/2006/main">
            <a:off x="4333875" y="1885950"/>
            <a:ext cx="33623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6CA5"/>
                </a:solidFill>
                <a:latin typeface="Helvetica Neue"/>
                <a:ea typeface="Helvetica Neue"/>
                <a:cs typeface="Helvetica Neue"/>
              </a:defRPr>
            </a:pPr>
            <a:r>
              <a:rPr sz="6000" b="1">
                <a:solidFill>
                  <a:srgbClr val="006CA5"/>
                </a:solidFill>
                <a:latin typeface="Helvetica Neue"/>
                <a:ea typeface="Helvetica Neue"/>
                <a:cs typeface="Helvetica Neue"/>
              </a:rPr>
              <a:t>298</a:t>
            </a:r>
          </a:p>
        </p:txBody>
      </p:sp>
      <p:sp>
        <p:nvSpPr>
          <p:cNvPr id="7" name="Python tests passed">
            <a:extLst xmlns:a="http://schemas.openxmlformats.org/drawingml/2006/main">
              <a:ext uri="{FF2B5EF4-FFF2-40B4-BE49-F238E27FC236}">
                <a16:creationId xmlns:a16="http://schemas.microsoft.com/office/drawing/2014/main" id="{1E698D15-D355-485D-A0B3-37A61639E3EA}"/>
              </a:ext>
            </a:extLst>
          </p:cNvPr>
          <p:cNvSpPr>
            <a:spLocks xmlns:a="http://schemas.openxmlformats.org/drawingml/2006/main" noGrp="1"/>
          </p:cNvSpPr>
          <p:nvPr/>
        </p:nvSpPr>
        <p:spPr>
          <a:xfrm xmlns:a="http://schemas.openxmlformats.org/drawingml/2006/main">
            <a:off x="4333875" y="3086100"/>
            <a:ext cx="3362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Python tests passed</a:t>
            </a:r>
          </a:p>
        </p:txBody>
      </p:sp>
      <p:sp>
        <p:nvSpPr>
          <p:cNvPr id="8" name="105">
            <a:extLst xmlns:a="http://schemas.openxmlformats.org/drawingml/2006/main">
              <a:ext uri="{FF2B5EF4-FFF2-40B4-BE49-F238E27FC236}">
                <a16:creationId xmlns:a16="http://schemas.microsoft.com/office/drawing/2014/main" id="{AE95DB9F-9BA7-491B-BE34-514FFBBD80B9}"/>
              </a:ext>
            </a:extLst>
          </p:cNvPr>
          <p:cNvSpPr>
            <a:spLocks xmlns:a="http://schemas.openxmlformats.org/drawingml/2006/main" noGrp="1"/>
          </p:cNvSpPr>
          <p:nvPr/>
        </p:nvSpPr>
        <p:spPr>
          <a:xfrm xmlns:a="http://schemas.openxmlformats.org/drawingml/2006/main">
            <a:off x="8058150" y="1885950"/>
            <a:ext cx="3362325"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6000" b="1">
                <a:solidFill>
                  <a:srgbClr val="006CA5"/>
                </a:solidFill>
                <a:latin typeface="Helvetica Neue"/>
                <a:ea typeface="Helvetica Neue"/>
                <a:cs typeface="Helvetica Neue"/>
              </a:defRPr>
            </a:pPr>
            <a:r>
              <a:rPr sz="6000" b="1">
                <a:solidFill>
                  <a:srgbClr val="006CA5"/>
                </a:solidFill>
                <a:latin typeface="Helvetica Neue"/>
                <a:ea typeface="Helvetica Neue"/>
                <a:cs typeface="Helvetica Neue"/>
              </a:rPr>
              <a:t>105</a:t>
            </a:r>
          </a:p>
        </p:txBody>
      </p:sp>
      <p:sp>
        <p:nvSpPr>
          <p:cNvPr id="9" name="JavaScript tests passed">
            <a:extLst xmlns:a="http://schemas.openxmlformats.org/drawingml/2006/main">
              <a:ext uri="{FF2B5EF4-FFF2-40B4-BE49-F238E27FC236}">
                <a16:creationId xmlns:a16="http://schemas.microsoft.com/office/drawing/2014/main" id="{FC3286B2-D463-4DD1-BD95-2EA6AB07AFF6}"/>
              </a:ext>
            </a:extLst>
          </p:cNvPr>
          <p:cNvSpPr>
            <a:spLocks xmlns:a="http://schemas.openxmlformats.org/drawingml/2006/main" noGrp="1"/>
          </p:cNvSpPr>
          <p:nvPr/>
        </p:nvSpPr>
        <p:spPr>
          <a:xfrm xmlns:a="http://schemas.openxmlformats.org/drawingml/2006/main">
            <a:off x="8058150" y="3086100"/>
            <a:ext cx="336232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152A3A"/>
                </a:solidFill>
                <a:latin typeface="Helvetica Neue"/>
                <a:ea typeface="Helvetica Neue"/>
                <a:cs typeface="Helvetica Neue"/>
              </a:defRPr>
            </a:pPr>
            <a:r>
              <a:rPr sz="2175" b="0">
                <a:solidFill>
                  <a:srgbClr val="152A3A"/>
                </a:solidFill>
                <a:latin typeface="Helvetica Neue"/>
                <a:ea typeface="Helvetica Neue"/>
                <a:cs typeface="Helvetica Neue"/>
              </a:rPr>
              <a:t>JavaScript tests passed</a:t>
            </a:r>
          </a:p>
        </p:txBody>
      </p:sp>
      <p:sp>
        <p:nvSpPr>
          <p:cNvPr id="10" name="Reported 6 September 2026">
            <a:extLst xmlns:a="http://schemas.openxmlformats.org/drawingml/2006/main">
              <a:ext uri="{FF2B5EF4-FFF2-40B4-BE49-F238E27FC236}">
                <a16:creationId xmlns:a16="http://schemas.microsoft.com/office/drawing/2014/main" id="{C689C51B-6F4D-46F1-85FC-C533718F934A}"/>
              </a:ext>
            </a:extLst>
          </p:cNvPr>
          <p:cNvSpPr>
            <a:spLocks xmlns:a="http://schemas.openxmlformats.org/drawingml/2006/main" noGrp="1"/>
          </p:cNvSpPr>
          <p:nvPr/>
        </p:nvSpPr>
        <p:spPr>
          <a:xfrm xmlns:a="http://schemas.openxmlformats.org/drawingml/2006/main">
            <a:off x="609600" y="1504950"/>
            <a:ext cx="1076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26777"/>
                </a:solidFill>
                <a:latin typeface="Helvetica Neue"/>
                <a:ea typeface="Helvetica Neue"/>
                <a:cs typeface="Helvetica Neue"/>
              </a:defRPr>
            </a:pPr>
            <a:r>
              <a:rPr sz="1650" b="0">
                <a:solidFill>
                  <a:srgbClr val="526777"/>
                </a:solidFill>
                <a:latin typeface="Helvetica Neue"/>
                <a:ea typeface="Helvetica Neue"/>
                <a:cs typeface="Helvetica Neue"/>
              </a:rPr>
              <a:t>Reported 6 September 2026</a:t>
            </a:r>
          </a:p>
        </p:txBody>
      </p:sp>
      <p:sp>
        <p:nvSpPr>
          <p:cNvPr id="11" name="The recorded run included source repairs, retries and o">
            <a:extLst xmlns:a="http://schemas.openxmlformats.org/drawingml/2006/main">
              <a:ext uri="{FF2B5EF4-FFF2-40B4-BE49-F238E27FC236}">
                <a16:creationId xmlns:a16="http://schemas.microsoft.com/office/drawing/2014/main" id="{7ACFBE1A-B8F9-401B-86D0-EBD4AA1C54AC}"/>
              </a:ext>
            </a:extLst>
          </p:cNvPr>
          <p:cNvSpPr>
            <a:spLocks xmlns:a="http://schemas.openxmlformats.org/drawingml/2006/main" noGrp="1"/>
          </p:cNvSpPr>
          <p:nvPr/>
        </p:nvSpPr>
        <p:spPr>
          <a:xfrm xmlns:a="http://schemas.openxmlformats.org/drawingml/2006/main">
            <a:off x="609600" y="4438650"/>
            <a:ext cx="10572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The recorded run included source repairs, retries and operator intervention.</a:t>
            </a:r>
          </a:p>
        </p:txBody>
      </p:sp>
      <p:sp>
        <p:nvSpPr>
          <p:cNvPr id="12" name="Total run cost and active review minutes: not establish">
            <a:extLst xmlns:a="http://schemas.openxmlformats.org/drawingml/2006/main">
              <a:ext uri="{FF2B5EF4-FFF2-40B4-BE49-F238E27FC236}">
                <a16:creationId xmlns:a16="http://schemas.microsoft.com/office/drawing/2014/main" id="{A733C48B-5B97-4ED4-8C36-AB785A719792}"/>
              </a:ext>
            </a:extLst>
          </p:cNvPr>
          <p:cNvSpPr>
            <a:spLocks xmlns:a="http://schemas.openxmlformats.org/drawingml/2006/main" noGrp="1"/>
          </p:cNvSpPr>
          <p:nvPr/>
        </p:nvSpPr>
        <p:spPr>
          <a:xfrm xmlns:a="http://schemas.openxmlformats.org/drawingml/2006/main">
            <a:off x="609600" y="5600700"/>
            <a:ext cx="10477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C44C0D"/>
                </a:solidFill>
                <a:latin typeface="Helvetica Neue"/>
                <a:ea typeface="Helvetica Neue"/>
                <a:cs typeface="Helvetica Neue"/>
              </a:defRPr>
            </a:pPr>
            <a:r>
              <a:rPr sz="2175" b="0">
                <a:solidFill>
                  <a:srgbClr val="C44C0D"/>
                </a:solidFill>
                <a:latin typeface="Helvetica Neue"/>
                <a:ea typeface="Helvetica Neue"/>
                <a:cs typeface="Helvetica Neue"/>
              </a:rPr>
              <a:t>Total run cost and active review minutes: not established.</a:t>
            </a:r>
          </a:p>
        </p:txBody>
      </p:sp>
    </p:spTree>
    <p:extLst>
      <p:ext uri="{BB962C8B-B14F-4D97-AF65-F5344CB8AC3E}">
        <p14:creationId xmlns:p14="http://schemas.microsoft.com/office/powerpoint/2010/main" val="1862710582"/>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view capacity changes the outcome">
            <a:extLst xmlns:a="http://schemas.openxmlformats.org/drawingml/2006/main">
              <a:ext uri="{FF2B5EF4-FFF2-40B4-BE49-F238E27FC236}">
                <a16:creationId xmlns:a16="http://schemas.microsoft.com/office/drawing/2014/main" id="{8F2194DA-12A7-4349-8AC9-0EA28C5B486D}"/>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Review capacity changes the outcome</a:t>
            </a:r>
          </a:p>
        </p:txBody>
      </p:sp>
      <p:sp>
        <p:nvSpPr>
          <p:cNvPr id="2" name="02:28–02:31 elapsed">
            <a:extLst xmlns:a="http://schemas.openxmlformats.org/drawingml/2006/main">
              <a:ext uri="{FF2B5EF4-FFF2-40B4-BE49-F238E27FC236}">
                <a16:creationId xmlns:a16="http://schemas.microsoft.com/office/drawing/2014/main" id="{37BF2A6A-7BCD-4D9D-9F31-B32F8E78E29F}"/>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33">
            <a:extLst xmlns:a="http://schemas.openxmlformats.org/drawingml/2006/main">
              <a:ext uri="{FF2B5EF4-FFF2-40B4-BE49-F238E27FC236}">
                <a16:creationId xmlns:a16="http://schemas.microsoft.com/office/drawing/2014/main" id="{ACDDC5C4-6AF0-4E33-B439-56D3AF98DD01}"/>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33</a:t>
            </a:r>
          </a:p>
        </p:txBody>
      </p:sp>
      <p:sp>
        <p:nvSpPr>
          <p:cNvPr id="4" name="Hypothetical example, not a measured factory result">
            <a:extLst xmlns:a="http://schemas.openxmlformats.org/drawingml/2006/main">
              <a:ext uri="{FF2B5EF4-FFF2-40B4-BE49-F238E27FC236}">
                <a16:creationId xmlns:a16="http://schemas.microsoft.com/office/drawing/2014/main" id="{EC86B36E-DE15-4706-B738-F9F619BACD19}"/>
              </a:ext>
            </a:extLst>
          </p:cNvPr>
          <p:cNvSpPr>
            <a:spLocks xmlns:a="http://schemas.openxmlformats.org/drawingml/2006/main" noGrp="1"/>
          </p:cNvSpPr>
          <p:nvPr/>
        </p:nvSpPr>
        <p:spPr>
          <a:xfrm xmlns:a="http://schemas.openxmlformats.org/drawingml/2006/main">
            <a:off x="609600" y="1581150"/>
            <a:ext cx="108108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26777"/>
                </a:solidFill>
                <a:latin typeface="Helvetica Neue"/>
                <a:ea typeface="Helvetica Neue"/>
                <a:cs typeface="Helvetica Neue"/>
              </a:defRPr>
            </a:pPr>
            <a:r>
              <a:rPr sz="1725" b="0">
                <a:solidFill>
                  <a:srgbClr val="526777"/>
                </a:solidFill>
                <a:latin typeface="Helvetica Neue"/>
                <a:ea typeface="Helvetica Neue"/>
                <a:cs typeface="Helvetica Neue"/>
              </a:rPr>
              <a:t>Hypothetical example, not a measured factory result</a:t>
            </a:r>
          </a:p>
        </p:txBody>
      </p:sp>
      <p:sp>
        <p:nvSpPr>
          <p:cNvPr id="5" name="6">
            <a:extLst xmlns:a="http://schemas.openxmlformats.org/drawingml/2006/main">
              <a:ext uri="{FF2B5EF4-FFF2-40B4-BE49-F238E27FC236}">
                <a16:creationId xmlns:a16="http://schemas.microsoft.com/office/drawing/2014/main" id="{36554812-48F8-4ACB-956D-BFC036E367DB}"/>
              </a:ext>
            </a:extLst>
          </p:cNvPr>
          <p:cNvSpPr>
            <a:spLocks xmlns:a="http://schemas.openxmlformats.org/drawingml/2006/main" noGrp="1"/>
          </p:cNvSpPr>
          <p:nvPr/>
        </p:nvSpPr>
        <p:spPr>
          <a:xfrm xmlns:a="http://schemas.openxmlformats.org/drawingml/2006/main">
            <a:off x="609600" y="2190750"/>
            <a:ext cx="5143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0" b="1">
                <a:solidFill>
                  <a:srgbClr val="006CA5"/>
                </a:solidFill>
                <a:latin typeface="Helvetica Neue"/>
                <a:ea typeface="Helvetica Neue"/>
                <a:cs typeface="Helvetica Neue"/>
              </a:defRPr>
            </a:pPr>
            <a:r>
              <a:rPr sz="7500" b="1">
                <a:solidFill>
                  <a:srgbClr val="006CA5"/>
                </a:solidFill>
                <a:latin typeface="Helvetica Neue"/>
                <a:ea typeface="Helvetica Neue"/>
                <a:cs typeface="Helvetica Neue"/>
              </a:rPr>
              <a:t>6</a:t>
            </a:r>
          </a:p>
        </p:txBody>
      </p:sp>
      <p:sp>
        <p:nvSpPr>
          <p:cNvPr id="6" name="candidates arrive per hour">
            <a:extLst xmlns:a="http://schemas.openxmlformats.org/drawingml/2006/main">
              <a:ext uri="{FF2B5EF4-FFF2-40B4-BE49-F238E27FC236}">
                <a16:creationId xmlns:a16="http://schemas.microsoft.com/office/drawing/2014/main" id="{B9FE0FA6-3BA9-4C39-B5D4-95F00C5A393C}"/>
              </a:ext>
            </a:extLst>
          </p:cNvPr>
          <p:cNvSpPr>
            <a:spLocks xmlns:a="http://schemas.openxmlformats.org/drawingml/2006/main" noGrp="1"/>
          </p:cNvSpPr>
          <p:nvPr/>
        </p:nvSpPr>
        <p:spPr>
          <a:xfrm xmlns:a="http://schemas.openxmlformats.org/drawingml/2006/main">
            <a:off x="609600" y="3857625"/>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candidates arrive per hour</a:t>
            </a:r>
          </a:p>
        </p:txBody>
      </p:sp>
      <p:sp>
        <p:nvSpPr>
          <p:cNvPr id="7" name="3">
            <a:extLst xmlns:a="http://schemas.openxmlformats.org/drawingml/2006/main">
              <a:ext uri="{FF2B5EF4-FFF2-40B4-BE49-F238E27FC236}">
                <a16:creationId xmlns:a16="http://schemas.microsoft.com/office/drawing/2014/main" id="{6ADA089D-5189-48C4-B3D0-C8C4CC032B36}"/>
              </a:ext>
            </a:extLst>
          </p:cNvPr>
          <p:cNvSpPr>
            <a:spLocks xmlns:a="http://schemas.openxmlformats.org/drawingml/2006/main" noGrp="1"/>
          </p:cNvSpPr>
          <p:nvPr/>
        </p:nvSpPr>
        <p:spPr>
          <a:xfrm xmlns:a="http://schemas.openxmlformats.org/drawingml/2006/main">
            <a:off x="6324600" y="2190750"/>
            <a:ext cx="514350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7500" b="1">
                <a:solidFill>
                  <a:srgbClr val="006CA5"/>
                </a:solidFill>
                <a:latin typeface="Helvetica Neue"/>
                <a:ea typeface="Helvetica Neue"/>
                <a:cs typeface="Helvetica Neue"/>
              </a:defRPr>
            </a:pPr>
            <a:r>
              <a:rPr sz="7500" b="1">
                <a:solidFill>
                  <a:srgbClr val="006CA5"/>
                </a:solidFill>
                <a:latin typeface="Helvetica Neue"/>
                <a:ea typeface="Helvetica Neue"/>
                <a:cs typeface="Helvetica Neue"/>
              </a:rPr>
              <a:t>3</a:t>
            </a:r>
          </a:p>
        </p:txBody>
      </p:sp>
      <p:sp>
        <p:nvSpPr>
          <p:cNvPr id="8" name="candidates reviewed per hour">
            <a:extLst xmlns:a="http://schemas.openxmlformats.org/drawingml/2006/main">
              <a:ext uri="{FF2B5EF4-FFF2-40B4-BE49-F238E27FC236}">
                <a16:creationId xmlns:a16="http://schemas.microsoft.com/office/drawing/2014/main" id="{F25480E5-A36C-4B26-81F6-E196530EECAC}"/>
              </a:ext>
            </a:extLst>
          </p:cNvPr>
          <p:cNvSpPr>
            <a:spLocks xmlns:a="http://schemas.openxmlformats.org/drawingml/2006/main" noGrp="1"/>
          </p:cNvSpPr>
          <p:nvPr/>
        </p:nvSpPr>
        <p:spPr>
          <a:xfrm xmlns:a="http://schemas.openxmlformats.org/drawingml/2006/main">
            <a:off x="6324600" y="3857625"/>
            <a:ext cx="5143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0">
                <a:solidFill>
                  <a:srgbClr val="152A3A"/>
                </a:solidFill>
                <a:latin typeface="Helvetica Neue"/>
                <a:ea typeface="Helvetica Neue"/>
                <a:cs typeface="Helvetica Neue"/>
              </a:defRPr>
            </a:pPr>
            <a:r>
              <a:rPr sz="2550" b="0">
                <a:solidFill>
                  <a:srgbClr val="152A3A"/>
                </a:solidFill>
                <a:latin typeface="Helvetica Neue"/>
                <a:ea typeface="Helvetica Neue"/>
                <a:cs typeface="Helvetica Neue"/>
              </a:rPr>
              <a:t>candidates reviewed per hour</a:t>
            </a:r>
          </a:p>
        </p:txBody>
      </p:sp>
      <p:sp>
        <p:nvSpPr>
          <p:cNvPr id="9" name="At those rates, the queue grows by 3 candidates each ho">
            <a:extLst xmlns:a="http://schemas.openxmlformats.org/drawingml/2006/main">
              <a:ext uri="{FF2B5EF4-FFF2-40B4-BE49-F238E27FC236}">
                <a16:creationId xmlns:a16="http://schemas.microsoft.com/office/drawing/2014/main" id="{DC2C9FA4-3594-4E3E-B720-1AE986AD5B6B}"/>
              </a:ext>
            </a:extLst>
          </p:cNvPr>
          <p:cNvSpPr>
            <a:spLocks xmlns:a="http://schemas.openxmlformats.org/drawingml/2006/main" noGrp="1"/>
          </p:cNvSpPr>
          <p:nvPr/>
        </p:nvSpPr>
        <p:spPr>
          <a:xfrm xmlns:a="http://schemas.openxmlformats.org/drawingml/2006/main">
            <a:off x="609600" y="5543550"/>
            <a:ext cx="108585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0">
                <a:solidFill>
                  <a:srgbClr val="C44C0D"/>
                </a:solidFill>
                <a:latin typeface="Helvetica Neue"/>
                <a:ea typeface="Helvetica Neue"/>
                <a:cs typeface="Helvetica Neue"/>
              </a:defRPr>
            </a:pPr>
            <a:r>
              <a:rPr sz="2400" b="0">
                <a:solidFill>
                  <a:srgbClr val="C44C0D"/>
                </a:solidFill>
                <a:latin typeface="Helvetica Neue"/>
                <a:ea typeface="Helvetica Neue"/>
                <a:cs typeface="Helvetica Neue"/>
              </a:rPr>
              <a:t>At those rates, the queue grows by 3 candidates each hour.</a:t>
            </a:r>
          </a:p>
        </p:txBody>
      </p:sp>
    </p:spTree>
    <p:extLst>
      <p:ext uri="{BB962C8B-B14F-4D97-AF65-F5344CB8AC3E}">
        <p14:creationId xmlns:p14="http://schemas.microsoft.com/office/powerpoint/2010/main" val="154377024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Exercise 10: assess effort and cost">
            <a:extLst xmlns:a="http://schemas.openxmlformats.org/drawingml/2006/main">
              <a:ext uri="{FF2B5EF4-FFF2-40B4-BE49-F238E27FC236}">
                <a16:creationId xmlns:a16="http://schemas.microsoft.com/office/drawing/2014/main" id="{B51C1BEC-DE59-4E72-852F-68CD9F729180}"/>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10: assess effort and cost</a:t>
            </a:r>
          </a:p>
        </p:txBody>
      </p:sp>
      <p:sp>
        <p:nvSpPr>
          <p:cNvPr id="2" name="02:31–02:35 elapsed">
            <a:extLst xmlns:a="http://schemas.openxmlformats.org/drawingml/2006/main">
              <a:ext uri="{FF2B5EF4-FFF2-40B4-BE49-F238E27FC236}">
                <a16:creationId xmlns:a16="http://schemas.microsoft.com/office/drawing/2014/main" id="{C1CA3475-4CC6-4B87-B478-53C11E281A5D}"/>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Guide: #finish">
            <a:extLst xmlns:a="http://schemas.openxmlformats.org/drawingml/2006/main">
              <a:ext uri="{FF2B5EF4-FFF2-40B4-BE49-F238E27FC236}">
                <a16:creationId xmlns:a16="http://schemas.microsoft.com/office/drawing/2014/main" id="{FFCB731E-DC35-4B54-81AE-3205C0373C49}"/>
              </a:ext>
            </a:extLst>
          </p:cNvPr>
          <p:cNvSpPr>
            <a:spLocks xmlns:a="http://schemas.openxmlformats.org/drawingml/2006/main" noGrp="1"/>
          </p:cNvSpPr>
          <p:nvPr/>
        </p:nvSpPr>
        <p:spPr>
          <a:xfrm xmlns:a="http://schemas.openxmlformats.org/drawingml/2006/main">
            <a:off x="4095750" y="6419850"/>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Guide: #finish</a:t>
            </a:r>
          </a:p>
        </p:txBody>
      </p:sp>
      <p:sp>
        <p:nvSpPr>
          <p:cNvPr id="4" name="34">
            <a:extLst xmlns:a="http://schemas.openxmlformats.org/drawingml/2006/main">
              <a:ext uri="{FF2B5EF4-FFF2-40B4-BE49-F238E27FC236}">
                <a16:creationId xmlns:a16="http://schemas.microsoft.com/office/drawing/2014/main" id="{5DC135AB-9C1D-4D19-9360-9162ADBC47BF}"/>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34</a:t>
            </a:r>
          </a:p>
        </p:txBody>
      </p:sp>
      <p:sp>
        <p:nvSpPr>
          <p:cNvPr id="5" name="4 minutes">
            <a:extLst xmlns:a="http://schemas.openxmlformats.org/drawingml/2006/main">
              <a:ext uri="{FF2B5EF4-FFF2-40B4-BE49-F238E27FC236}">
                <a16:creationId xmlns:a16="http://schemas.microsoft.com/office/drawing/2014/main" id="{B5EEF282-EAE0-45F6-9F20-5A3FA44846D4}"/>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4 minutes</a:t>
            </a:r>
          </a:p>
        </p:txBody>
      </p:sp>
      <p:sp>
        <p:nvSpPr>
          <p:cNvPr id="6" name="Work in your own run.&#10;Compare decisions with a partner.">
            <a:extLst xmlns:a="http://schemas.openxmlformats.org/drawingml/2006/main">
              <a:ext uri="{FF2B5EF4-FFF2-40B4-BE49-F238E27FC236}">
                <a16:creationId xmlns:a16="http://schemas.microsoft.com/office/drawing/2014/main" id="{3034DC8A-FE95-49E4-BCB0-B2A054924707}"/>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7" name="1">
            <a:extLst xmlns:a="http://schemas.openxmlformats.org/drawingml/2006/main">
              <a:ext uri="{FF2B5EF4-FFF2-40B4-BE49-F238E27FC236}">
                <a16:creationId xmlns:a16="http://schemas.microsoft.com/office/drawing/2014/main" id="{55357C5D-ED30-4CC0-8BE4-441E013A54C6}"/>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8" name="Record accepted work, retries and elapsed time.">
            <a:extLst xmlns:a="http://schemas.openxmlformats.org/drawingml/2006/main">
              <a:ext uri="{FF2B5EF4-FFF2-40B4-BE49-F238E27FC236}">
                <a16:creationId xmlns:a16="http://schemas.microsoft.com/office/drawing/2014/main" id="{00721A6A-4575-4411-B501-FC77F21A83ED}"/>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Record accepted work, retries and elapsed time.</a:t>
            </a:r>
          </a:p>
        </p:txBody>
      </p:sp>
      <p:sp>
        <p:nvSpPr>
          <p:cNvPr id="9" name="2">
            <a:extLst xmlns:a="http://schemas.openxmlformats.org/drawingml/2006/main">
              <a:ext uri="{FF2B5EF4-FFF2-40B4-BE49-F238E27FC236}">
                <a16:creationId xmlns:a16="http://schemas.microsoft.com/office/drawing/2014/main" id="{DF1FBDFC-6139-44DB-8DD5-EED82C86057E}"/>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10" name="Separate active review or recovery effort from waiting.">
            <a:extLst xmlns:a="http://schemas.openxmlformats.org/drawingml/2006/main">
              <a:ext uri="{FF2B5EF4-FFF2-40B4-BE49-F238E27FC236}">
                <a16:creationId xmlns:a16="http://schemas.microsoft.com/office/drawing/2014/main" id="{F9A8DC4C-D709-4A6C-B0B9-D92EA1DFDFFC}"/>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Separate active review or recovery effort from waiting.</a:t>
            </a:r>
          </a:p>
        </p:txBody>
      </p:sp>
      <p:sp>
        <p:nvSpPr>
          <p:cNvPr id="11" name="3">
            <a:extLst xmlns:a="http://schemas.openxmlformats.org/drawingml/2006/main">
              <a:ext uri="{FF2B5EF4-FFF2-40B4-BE49-F238E27FC236}">
                <a16:creationId xmlns:a16="http://schemas.microsoft.com/office/drawing/2014/main" id="{A2F682A1-9A55-43BD-9F70-5F81631B7FF0}"/>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2" name="Record available usage and charges, with coverage or Un">
            <a:extLst xmlns:a="http://schemas.openxmlformats.org/drawingml/2006/main">
              <a:ext uri="{FF2B5EF4-FFF2-40B4-BE49-F238E27FC236}">
                <a16:creationId xmlns:a16="http://schemas.microsoft.com/office/drawing/2014/main" id="{AA9ABE21-439F-469C-AB12-2AF8CB3E734E}"/>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Record available usage and charges, with coverage or Unknown.</a:t>
            </a:r>
          </a:p>
        </p:txBody>
      </p:sp>
      <p:sp>
        <p:nvSpPr>
          <p:cNvPr id="13" name="Show: one cost or capacity question you would measure i">
            <a:extLst xmlns:a="http://schemas.openxmlformats.org/drawingml/2006/main">
              <a:ext uri="{FF2B5EF4-FFF2-40B4-BE49-F238E27FC236}">
                <a16:creationId xmlns:a16="http://schemas.microsoft.com/office/drawing/2014/main" id="{3EEF6D0B-52D3-4917-B591-A43217FBD651}"/>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one cost or capacity question you would measure in a team pilot.</a:t>
            </a:r>
          </a:p>
        </p:txBody>
      </p:sp>
    </p:spTree>
    <p:extLst>
      <p:ext uri="{BB962C8B-B14F-4D97-AF65-F5344CB8AC3E}">
        <p14:creationId xmlns:p14="http://schemas.microsoft.com/office/powerpoint/2010/main" val="1336945656"/>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 small pilot for your team">
            <a:extLst xmlns:a="http://schemas.openxmlformats.org/drawingml/2006/main">
              <a:ext uri="{FF2B5EF4-FFF2-40B4-BE49-F238E27FC236}">
                <a16:creationId xmlns:a16="http://schemas.microsoft.com/office/drawing/2014/main" id="{BE9FE885-A8F2-49A7-AAF9-39C45CF742A1}"/>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A small pilot for your team</a:t>
            </a:r>
          </a:p>
        </p:txBody>
      </p:sp>
      <p:sp>
        <p:nvSpPr>
          <p:cNvPr id="2" name="02:35–02:37 elapsed">
            <a:extLst xmlns:a="http://schemas.openxmlformats.org/drawingml/2006/main">
              <a:ext uri="{FF2B5EF4-FFF2-40B4-BE49-F238E27FC236}">
                <a16:creationId xmlns:a16="http://schemas.microsoft.com/office/drawing/2014/main" id="{9BF90889-4B8A-4400-9E28-4E89FB2EB0B8}"/>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35">
            <a:extLst xmlns:a="http://schemas.openxmlformats.org/drawingml/2006/main">
              <a:ext uri="{FF2B5EF4-FFF2-40B4-BE49-F238E27FC236}">
                <a16:creationId xmlns:a16="http://schemas.microsoft.com/office/drawing/2014/main" id="{32E2AFCD-2012-4F38-A794-B17A1FA421FC}"/>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35</a:t>
            </a:r>
          </a:p>
        </p:txBody>
      </p:sp>
      <p:sp>
        <p:nvSpPr>
          <p:cNvPr id="4" name="Choose a recurring change&#10;with a clear acceptance decis">
            <a:extLst xmlns:a="http://schemas.openxmlformats.org/drawingml/2006/main">
              <a:ext uri="{FF2B5EF4-FFF2-40B4-BE49-F238E27FC236}">
                <a16:creationId xmlns:a16="http://schemas.microsoft.com/office/drawing/2014/main" id="{47BB5D6B-39E7-41B7-B991-C328CAC9E983}"/>
              </a:ext>
            </a:extLst>
          </p:cNvPr>
          <p:cNvSpPr>
            <a:spLocks xmlns:a="http://schemas.openxmlformats.org/drawingml/2006/main" noGrp="1"/>
          </p:cNvSpPr>
          <p:nvPr/>
        </p:nvSpPr>
        <p:spPr>
          <a:xfrm xmlns:a="http://schemas.openxmlformats.org/drawingml/2006/main">
            <a:off x="609600" y="1724025"/>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Choose a recurring change</a:t>
            </a:r>
          </a:p>
          <a:p xmlns:a="http://schemas.openxmlformats.org/drawingml/2006/main">
            <a:pPr>
              <a:buNone/>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with a clear acceptance decision.</a:t>
            </a:r>
          </a:p>
        </p:txBody>
      </p:sp>
      <p:sp>
        <p:nvSpPr>
          <p:cNvPr id="5" name="Keep the useful controls.&#10;Add a component only when you">
            <a:extLst xmlns:a="http://schemas.openxmlformats.org/drawingml/2006/main">
              <a:ext uri="{FF2B5EF4-FFF2-40B4-BE49-F238E27FC236}">
                <a16:creationId xmlns:a16="http://schemas.microsoft.com/office/drawing/2014/main" id="{E51C1EDD-CDA5-4BFF-BB28-47255CC504A4}"/>
              </a:ext>
            </a:extLst>
          </p:cNvPr>
          <p:cNvSpPr>
            <a:spLocks xmlns:a="http://schemas.openxmlformats.org/drawingml/2006/main" noGrp="1"/>
          </p:cNvSpPr>
          <p:nvPr/>
        </p:nvSpPr>
        <p:spPr>
          <a:xfrm xmlns:a="http://schemas.openxmlformats.org/drawingml/2006/main">
            <a:off x="609600" y="3648075"/>
            <a:ext cx="109728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Keep the useful controls.</a:t>
            </a:r>
          </a:p>
          <a:p xmlns:a="http://schemas.openxmlformats.org/drawingml/2006/main">
            <a:pPr>
              <a:buNone/>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Add a component only when you can name what it improves.</a:t>
            </a:r>
          </a:p>
        </p:txBody>
      </p:sp>
      <p:sp>
        <p:nvSpPr>
          <p:cNvPr id="6" name="Your existing coding CLI and CI may already meet the ne">
            <a:extLst xmlns:a="http://schemas.openxmlformats.org/drawingml/2006/main">
              <a:ext uri="{FF2B5EF4-FFF2-40B4-BE49-F238E27FC236}">
                <a16:creationId xmlns:a16="http://schemas.microsoft.com/office/drawing/2014/main" id="{01F9DF58-5569-4C86-9D4E-B7C9BEB91ED7}"/>
              </a:ext>
            </a:extLst>
          </p:cNvPr>
          <p:cNvSpPr>
            <a:spLocks xmlns:a="http://schemas.openxmlformats.org/drawingml/2006/main" noGrp="1"/>
          </p:cNvSpPr>
          <p:nvPr/>
        </p:nvSpPr>
        <p:spPr>
          <a:xfrm xmlns:a="http://schemas.openxmlformats.org/drawingml/2006/main">
            <a:off x="609600" y="55530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777"/>
                </a:solidFill>
                <a:latin typeface="Helvetica Neue"/>
                <a:ea typeface="Helvetica Neue"/>
                <a:cs typeface="Helvetica Neue"/>
              </a:defRPr>
            </a:pPr>
            <a:r>
              <a:rPr sz="2100" b="0">
                <a:solidFill>
                  <a:srgbClr val="526777"/>
                </a:solidFill>
                <a:latin typeface="Helvetica Neue"/>
                <a:ea typeface="Helvetica Neue"/>
                <a:cs typeface="Helvetica Neue"/>
              </a:rPr>
              <a:t>Your existing coding CLI and CI may already meet the need.</a:t>
            </a:r>
          </a:p>
        </p:txBody>
      </p:sp>
    </p:spTree>
    <p:extLst>
      <p:ext uri="{BB962C8B-B14F-4D97-AF65-F5344CB8AC3E}">
        <p14:creationId xmlns:p14="http://schemas.microsoft.com/office/powerpoint/2010/main" val="203637013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xercise 11: design your pilot">
            <a:extLst xmlns:a="http://schemas.openxmlformats.org/drawingml/2006/main">
              <a:ext uri="{FF2B5EF4-FFF2-40B4-BE49-F238E27FC236}">
                <a16:creationId xmlns:a16="http://schemas.microsoft.com/office/drawing/2014/main" id="{72F87B0E-3DB6-4426-B67D-B5159585B663}"/>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11: design your pilot</a:t>
            </a:r>
          </a:p>
        </p:txBody>
      </p:sp>
      <p:sp>
        <p:nvSpPr>
          <p:cNvPr id="2" name="02:37–02:46 elapsed">
            <a:extLst xmlns:a="http://schemas.openxmlformats.org/drawingml/2006/main">
              <a:ext uri="{FF2B5EF4-FFF2-40B4-BE49-F238E27FC236}">
                <a16:creationId xmlns:a16="http://schemas.microsoft.com/office/drawing/2014/main" id="{83D98A50-DEAC-4A0F-9C32-A6FB4CE2456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36">
            <a:extLst xmlns:a="http://schemas.openxmlformats.org/drawingml/2006/main">
              <a:ext uri="{FF2B5EF4-FFF2-40B4-BE49-F238E27FC236}">
                <a16:creationId xmlns:a16="http://schemas.microsoft.com/office/drawing/2014/main" id="{A8BE7044-7538-478F-946D-DFA316C501C3}"/>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36</a:t>
            </a:r>
          </a:p>
        </p:txBody>
      </p:sp>
      <p:sp>
        <p:nvSpPr>
          <p:cNvPr id="4" name="9 minutes">
            <a:extLst xmlns:a="http://schemas.openxmlformats.org/drawingml/2006/main">
              <a:ext uri="{FF2B5EF4-FFF2-40B4-BE49-F238E27FC236}">
                <a16:creationId xmlns:a16="http://schemas.microsoft.com/office/drawing/2014/main" id="{FD70AFA2-AF80-4881-B63A-2AC101EE807B}"/>
              </a:ext>
            </a:extLst>
          </p:cNvPr>
          <p:cNvSpPr>
            <a:spLocks xmlns:a="http://schemas.openxmlformats.org/drawingml/2006/main" noGrp="1"/>
          </p:cNvSpPr>
          <p:nvPr/>
        </p:nvSpPr>
        <p:spPr>
          <a:xfrm xmlns:a="http://schemas.openxmlformats.org/drawingml/2006/main">
            <a:off x="609600" y="1543050"/>
            <a:ext cx="3810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125" b="1">
                <a:solidFill>
                  <a:srgbClr val="C44C0D"/>
                </a:solidFill>
                <a:latin typeface="Helvetica Neue"/>
                <a:ea typeface="Helvetica Neue"/>
                <a:cs typeface="Helvetica Neue"/>
              </a:defRPr>
            </a:pPr>
            <a:r>
              <a:rPr sz="4125" b="1">
                <a:solidFill>
                  <a:srgbClr val="C44C0D"/>
                </a:solidFill>
                <a:latin typeface="Helvetica Neue"/>
                <a:ea typeface="Helvetica Neue"/>
                <a:cs typeface="Helvetica Neue"/>
              </a:rPr>
              <a:t>9 minutes</a:t>
            </a:r>
          </a:p>
        </p:txBody>
      </p:sp>
      <p:sp>
        <p:nvSpPr>
          <p:cNvPr id="5" name="Request and result">
            <a:extLst xmlns:a="http://schemas.openxmlformats.org/drawingml/2006/main">
              <a:ext uri="{FF2B5EF4-FFF2-40B4-BE49-F238E27FC236}">
                <a16:creationId xmlns:a16="http://schemas.microsoft.com/office/drawing/2014/main" id="{BB22DE29-D7A0-48FD-ADD8-FE91FC597BFA}"/>
              </a:ext>
            </a:extLst>
          </p:cNvPr>
          <p:cNvSpPr>
            <a:spLocks xmlns:a="http://schemas.openxmlformats.org/drawingml/2006/main" noGrp="1"/>
          </p:cNvSpPr>
          <p:nvPr/>
        </p:nvSpPr>
        <p:spPr>
          <a:xfrm xmlns:a="http://schemas.openxmlformats.org/drawingml/2006/main">
            <a:off x="609600" y="2695575"/>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Request and result</a:t>
            </a:r>
          </a:p>
        </p:txBody>
      </p:sp>
      <p:sp>
        <p:nvSpPr>
          <p:cNvPr id="6" name="One recurring change, one exclusion, observable behavio">
            <a:extLst xmlns:a="http://schemas.openxmlformats.org/drawingml/2006/main">
              <a:ext uri="{FF2B5EF4-FFF2-40B4-BE49-F238E27FC236}">
                <a16:creationId xmlns:a16="http://schemas.microsoft.com/office/drawing/2014/main" id="{52509483-17D7-4C59-9A7F-187CBBAFAD81}"/>
              </a:ext>
            </a:extLst>
          </p:cNvPr>
          <p:cNvSpPr>
            <a:spLocks xmlns:a="http://schemas.openxmlformats.org/drawingml/2006/main" noGrp="1"/>
          </p:cNvSpPr>
          <p:nvPr/>
        </p:nvSpPr>
        <p:spPr>
          <a:xfrm xmlns:a="http://schemas.openxmlformats.org/drawingml/2006/main">
            <a:off x="4467225" y="2695575"/>
            <a:ext cx="700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One recurring change, one exclusion, observable behavior.</a:t>
            </a:r>
          </a:p>
        </p:txBody>
      </p:sp>
      <p:sp>
        <p:nvSpPr>
          <p:cNvPr id="7" name="Evidence and access">
            <a:extLst xmlns:a="http://schemas.openxmlformats.org/drawingml/2006/main">
              <a:ext uri="{FF2B5EF4-FFF2-40B4-BE49-F238E27FC236}">
                <a16:creationId xmlns:a16="http://schemas.microsoft.com/office/drawing/2014/main" id="{448E8A32-5093-4262-8B23-C6178283F9F3}"/>
              </a:ext>
            </a:extLst>
          </p:cNvPr>
          <p:cNvSpPr>
            <a:spLocks xmlns:a="http://schemas.openxmlformats.org/drawingml/2006/main" noGrp="1"/>
          </p:cNvSpPr>
          <p:nvPr/>
        </p:nvSpPr>
        <p:spPr>
          <a:xfrm xmlns:a="http://schemas.openxmlformats.org/drawingml/2006/main">
            <a:off x="609600" y="352425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Evidence and access</a:t>
            </a:r>
          </a:p>
        </p:txBody>
      </p:sp>
      <p:sp>
        <p:nvSpPr>
          <p:cNvPr id="8" name="Checks, human judgment, repository, data and credential">
            <a:extLst xmlns:a="http://schemas.openxmlformats.org/drawingml/2006/main">
              <a:ext uri="{FF2B5EF4-FFF2-40B4-BE49-F238E27FC236}">
                <a16:creationId xmlns:a16="http://schemas.microsoft.com/office/drawing/2014/main" id="{9688DACB-3255-4771-A3BB-0C006A2AA36C}"/>
              </a:ext>
            </a:extLst>
          </p:cNvPr>
          <p:cNvSpPr>
            <a:spLocks xmlns:a="http://schemas.openxmlformats.org/drawingml/2006/main" noGrp="1"/>
          </p:cNvSpPr>
          <p:nvPr/>
        </p:nvSpPr>
        <p:spPr>
          <a:xfrm xmlns:a="http://schemas.openxmlformats.org/drawingml/2006/main">
            <a:off x="4467225" y="3524250"/>
            <a:ext cx="700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Checks, human judgment, repository, data and credentials.</a:t>
            </a:r>
          </a:p>
        </p:txBody>
      </p:sp>
      <p:sp>
        <p:nvSpPr>
          <p:cNvPr id="9" name="Ownership and capacity">
            <a:extLst xmlns:a="http://schemas.openxmlformats.org/drawingml/2006/main">
              <a:ext uri="{FF2B5EF4-FFF2-40B4-BE49-F238E27FC236}">
                <a16:creationId xmlns:a16="http://schemas.microsoft.com/office/drawing/2014/main" id="{9A909987-3143-4D88-BA3F-F86EF0453558}"/>
              </a:ext>
            </a:extLst>
          </p:cNvPr>
          <p:cNvSpPr>
            <a:spLocks xmlns:a="http://schemas.openxmlformats.org/drawingml/2006/main" noGrp="1"/>
          </p:cNvSpPr>
          <p:nvPr/>
        </p:nvSpPr>
        <p:spPr>
          <a:xfrm xmlns:a="http://schemas.openxmlformats.org/drawingml/2006/main">
            <a:off x="609600" y="4352925"/>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Ownership and capacity</a:t>
            </a:r>
          </a:p>
        </p:txBody>
      </p:sp>
      <p:sp>
        <p:nvSpPr>
          <p:cNvPr id="10" name="Reviewer, recovery owner, effort and cost to measure.">
            <a:extLst xmlns:a="http://schemas.openxmlformats.org/drawingml/2006/main">
              <a:ext uri="{FF2B5EF4-FFF2-40B4-BE49-F238E27FC236}">
                <a16:creationId xmlns:a16="http://schemas.microsoft.com/office/drawing/2014/main" id="{B4246D34-C0D4-4A7C-8464-DBEC6DE0A60D}"/>
              </a:ext>
            </a:extLst>
          </p:cNvPr>
          <p:cNvSpPr>
            <a:spLocks xmlns:a="http://schemas.openxmlformats.org/drawingml/2006/main" noGrp="1"/>
          </p:cNvSpPr>
          <p:nvPr/>
        </p:nvSpPr>
        <p:spPr>
          <a:xfrm xmlns:a="http://schemas.openxmlformats.org/drawingml/2006/main">
            <a:off x="4467225" y="4352925"/>
            <a:ext cx="700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Reviewer, recovery owner, effort and cost to measure.</a:t>
            </a:r>
          </a:p>
        </p:txBody>
      </p:sp>
      <p:sp>
        <p:nvSpPr>
          <p:cNvPr id="11" name="Pilot decision">
            <a:extLst xmlns:a="http://schemas.openxmlformats.org/drawingml/2006/main">
              <a:ext uri="{FF2B5EF4-FFF2-40B4-BE49-F238E27FC236}">
                <a16:creationId xmlns:a16="http://schemas.microsoft.com/office/drawing/2014/main" id="{78561843-2CAF-434D-A2EB-C00999E798D8}"/>
              </a:ext>
            </a:extLst>
          </p:cNvPr>
          <p:cNvSpPr>
            <a:spLocks xmlns:a="http://schemas.openxmlformats.org/drawingml/2006/main" noGrp="1"/>
          </p:cNvSpPr>
          <p:nvPr/>
        </p:nvSpPr>
        <p:spPr>
          <a:xfrm xmlns:a="http://schemas.openxmlformats.org/drawingml/2006/main">
            <a:off x="609600" y="5181600"/>
            <a:ext cx="3714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Pilot decision</a:t>
            </a:r>
          </a:p>
        </p:txBody>
      </p:sp>
      <p:sp>
        <p:nvSpPr>
          <p:cNvPr id="12" name="Smallest trial, stop/go criterion, next action and owne">
            <a:extLst xmlns:a="http://schemas.openxmlformats.org/drawingml/2006/main">
              <a:ext uri="{FF2B5EF4-FFF2-40B4-BE49-F238E27FC236}">
                <a16:creationId xmlns:a16="http://schemas.microsoft.com/office/drawing/2014/main" id="{2D38E4FF-D306-44D6-9266-EB14805DA9B5}"/>
              </a:ext>
            </a:extLst>
          </p:cNvPr>
          <p:cNvSpPr>
            <a:spLocks xmlns:a="http://schemas.openxmlformats.org/drawingml/2006/main" noGrp="1"/>
          </p:cNvSpPr>
          <p:nvPr/>
        </p:nvSpPr>
        <p:spPr>
          <a:xfrm xmlns:a="http://schemas.openxmlformats.org/drawingml/2006/main">
            <a:off x="4467225" y="5181600"/>
            <a:ext cx="700087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52A3A"/>
                </a:solidFill>
                <a:latin typeface="Helvetica Neue"/>
                <a:ea typeface="Helvetica Neue"/>
                <a:cs typeface="Helvetica Neue"/>
              </a:defRPr>
            </a:pPr>
            <a:r>
              <a:rPr sz="2100" b="0">
                <a:solidFill>
                  <a:srgbClr val="152A3A"/>
                </a:solidFill>
                <a:latin typeface="Helvetica Neue"/>
                <a:ea typeface="Helvetica Neue"/>
                <a:cs typeface="Helvetica Neue"/>
              </a:rPr>
              <a:t>Smallest trial, stop/go criterion, next action and owner.</a:t>
            </a:r>
          </a:p>
        </p:txBody>
      </p:sp>
    </p:spTree>
    <p:extLst>
      <p:ext uri="{BB962C8B-B14F-4D97-AF65-F5344CB8AC3E}">
        <p14:creationId xmlns:p14="http://schemas.microsoft.com/office/powerpoint/2010/main" val="834441742"/>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Exercise 12: challenge a partner’s plan">
            <a:extLst xmlns:a="http://schemas.openxmlformats.org/drawingml/2006/main">
              <a:ext uri="{FF2B5EF4-FFF2-40B4-BE49-F238E27FC236}">
                <a16:creationId xmlns:a16="http://schemas.microsoft.com/office/drawing/2014/main" id="{79C8B4B3-B7E0-4C8C-AD0B-DCD3107919E2}"/>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Exercise 12: challenge a partner’s plan</a:t>
            </a:r>
          </a:p>
        </p:txBody>
      </p:sp>
      <p:sp>
        <p:nvSpPr>
          <p:cNvPr id="2" name="02:46–02:53 elapsed">
            <a:extLst xmlns:a="http://schemas.openxmlformats.org/drawingml/2006/main">
              <a:ext uri="{FF2B5EF4-FFF2-40B4-BE49-F238E27FC236}">
                <a16:creationId xmlns:a16="http://schemas.microsoft.com/office/drawing/2014/main" id="{D7BFE879-A57C-453E-9CEA-A0A757C4A66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37">
            <a:extLst xmlns:a="http://schemas.openxmlformats.org/drawingml/2006/main">
              <a:ext uri="{FF2B5EF4-FFF2-40B4-BE49-F238E27FC236}">
                <a16:creationId xmlns:a16="http://schemas.microsoft.com/office/drawing/2014/main" id="{69E2BD33-15D6-40EE-A925-A20DB6BEDA1F}"/>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37</a:t>
            </a:r>
          </a:p>
        </p:txBody>
      </p:sp>
      <p:sp>
        <p:nvSpPr>
          <p:cNvPr id="4" name="7 minutes">
            <a:extLst xmlns:a="http://schemas.openxmlformats.org/drawingml/2006/main">
              <a:ext uri="{FF2B5EF4-FFF2-40B4-BE49-F238E27FC236}">
                <a16:creationId xmlns:a16="http://schemas.microsoft.com/office/drawing/2014/main" id="{8E4D2051-5445-4EE0-B5C8-3D6390AD392C}"/>
              </a:ext>
            </a:extLst>
          </p:cNvPr>
          <p:cNvSpPr>
            <a:spLocks xmlns:a="http://schemas.openxmlformats.org/drawingml/2006/main" noGrp="1"/>
          </p:cNvSpPr>
          <p:nvPr/>
        </p:nvSpPr>
        <p:spPr>
          <a:xfrm xmlns:a="http://schemas.openxmlformats.org/drawingml/2006/main">
            <a:off x="609600" y="1695450"/>
            <a:ext cx="3762375"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4425" b="1">
                <a:solidFill>
                  <a:srgbClr val="C44C0D"/>
                </a:solidFill>
                <a:latin typeface="Helvetica Neue"/>
                <a:ea typeface="Helvetica Neue"/>
                <a:cs typeface="Helvetica Neue"/>
              </a:defRPr>
            </a:pPr>
            <a:r>
              <a:rPr sz="4425" b="1">
                <a:solidFill>
                  <a:srgbClr val="C44C0D"/>
                </a:solidFill>
                <a:latin typeface="Helvetica Neue"/>
                <a:ea typeface="Helvetica Neue"/>
                <a:cs typeface="Helvetica Neue"/>
              </a:rPr>
              <a:t>7 minutes</a:t>
            </a:r>
          </a:p>
        </p:txBody>
      </p:sp>
      <p:sp>
        <p:nvSpPr>
          <p:cNvPr id="5" name="Work in your own run.&#10;Compare decisions with a partner.">
            <a:extLst xmlns:a="http://schemas.openxmlformats.org/drawingml/2006/main">
              <a:ext uri="{FF2B5EF4-FFF2-40B4-BE49-F238E27FC236}">
                <a16:creationId xmlns:a16="http://schemas.microsoft.com/office/drawing/2014/main" id="{CCE5D405-F026-4E13-9AAE-D2267A72DA58}"/>
              </a:ext>
            </a:extLst>
          </p:cNvPr>
          <p:cNvSpPr>
            <a:spLocks xmlns:a="http://schemas.openxmlformats.org/drawingml/2006/main" noGrp="1"/>
          </p:cNvSpPr>
          <p:nvPr/>
        </p:nvSpPr>
        <p:spPr>
          <a:xfrm xmlns:a="http://schemas.openxmlformats.org/drawingml/2006/main">
            <a:off x="609600" y="2924175"/>
            <a:ext cx="33909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Work in your own run.</a:t>
            </a:r>
          </a:p>
          <a:p xmlns:a="http://schemas.openxmlformats.org/drawingml/2006/main">
            <a:pPr>
              <a:buNone/>
              <a:defRPr sz="2175" b="0">
                <a:solidFill>
                  <a:srgbClr val="526777"/>
                </a:solidFill>
                <a:latin typeface="Helvetica Neue"/>
                <a:ea typeface="Helvetica Neue"/>
                <a:cs typeface="Helvetica Neue"/>
              </a:defRPr>
            </a:pPr>
            <a:r>
              <a:rPr sz="2175" b="0">
                <a:solidFill>
                  <a:srgbClr val="526777"/>
                </a:solidFill>
                <a:latin typeface="Helvetica Neue"/>
                <a:ea typeface="Helvetica Neue"/>
                <a:cs typeface="Helvetica Neue"/>
              </a:rPr>
              <a:t>Compare decisions with a partner.</a:t>
            </a:r>
          </a:p>
        </p:txBody>
      </p:sp>
      <p:sp>
        <p:nvSpPr>
          <p:cNvPr id="6" name="1">
            <a:extLst xmlns:a="http://schemas.openxmlformats.org/drawingml/2006/main">
              <a:ext uri="{FF2B5EF4-FFF2-40B4-BE49-F238E27FC236}">
                <a16:creationId xmlns:a16="http://schemas.microsoft.com/office/drawing/2014/main" id="{C1B00E93-2BDB-4E6D-A27E-D66BFC58BAF8}"/>
              </a:ext>
            </a:extLst>
          </p:cNvPr>
          <p:cNvSpPr>
            <a:spLocks xmlns:a="http://schemas.openxmlformats.org/drawingml/2006/main" noGrp="1"/>
          </p:cNvSpPr>
          <p:nvPr/>
        </p:nvSpPr>
        <p:spPr>
          <a:xfrm xmlns:a="http://schemas.openxmlformats.org/drawingml/2006/main">
            <a:off x="4352925" y="1781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1</a:t>
            </a:r>
          </a:p>
        </p:txBody>
      </p:sp>
      <p:sp>
        <p:nvSpPr>
          <p:cNvPr id="7" name="Each person explains the intended outcome and acceptanc">
            <a:extLst xmlns:a="http://schemas.openxmlformats.org/drawingml/2006/main">
              <a:ext uri="{FF2B5EF4-FFF2-40B4-BE49-F238E27FC236}">
                <a16:creationId xmlns:a16="http://schemas.microsoft.com/office/drawing/2014/main" id="{4D56B5CA-8BCC-4036-9E25-A4BD907B4C35}"/>
              </a:ext>
            </a:extLst>
          </p:cNvPr>
          <p:cNvSpPr>
            <a:spLocks xmlns:a="http://schemas.openxmlformats.org/drawingml/2006/main" noGrp="1"/>
          </p:cNvSpPr>
          <p:nvPr/>
        </p:nvSpPr>
        <p:spPr>
          <a:xfrm xmlns:a="http://schemas.openxmlformats.org/drawingml/2006/main">
            <a:off x="4972050" y="1781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Each person explains the intended outcome and acceptance evidence.</a:t>
            </a:r>
          </a:p>
        </p:txBody>
      </p:sp>
      <p:sp>
        <p:nvSpPr>
          <p:cNvPr id="8" name="2">
            <a:extLst xmlns:a="http://schemas.openxmlformats.org/drawingml/2006/main">
              <a:ext uri="{FF2B5EF4-FFF2-40B4-BE49-F238E27FC236}">
                <a16:creationId xmlns:a16="http://schemas.microsoft.com/office/drawing/2014/main" id="{AAB8FFBD-CC1B-4D6A-BFA1-1454286C09F8}"/>
              </a:ext>
            </a:extLst>
          </p:cNvPr>
          <p:cNvSpPr>
            <a:spLocks xmlns:a="http://schemas.openxmlformats.org/drawingml/2006/main" noGrp="1"/>
          </p:cNvSpPr>
          <p:nvPr/>
        </p:nvSpPr>
        <p:spPr>
          <a:xfrm xmlns:a="http://schemas.openxmlformats.org/drawingml/2006/main">
            <a:off x="4352925" y="2924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2</a:t>
            </a:r>
          </a:p>
        </p:txBody>
      </p:sp>
      <p:sp>
        <p:nvSpPr>
          <p:cNvPr id="9" name="Your partner identifies the least-tested assumption.">
            <a:extLst xmlns:a="http://schemas.openxmlformats.org/drawingml/2006/main">
              <a:ext uri="{FF2B5EF4-FFF2-40B4-BE49-F238E27FC236}">
                <a16:creationId xmlns:a16="http://schemas.microsoft.com/office/drawing/2014/main" id="{486E3519-6D07-429C-BF95-E4E91B425DCE}"/>
              </a:ext>
            </a:extLst>
          </p:cNvPr>
          <p:cNvSpPr>
            <a:spLocks xmlns:a="http://schemas.openxmlformats.org/drawingml/2006/main" noGrp="1"/>
          </p:cNvSpPr>
          <p:nvPr/>
        </p:nvSpPr>
        <p:spPr>
          <a:xfrm xmlns:a="http://schemas.openxmlformats.org/drawingml/2006/main">
            <a:off x="4972050" y="2924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Your partner identifies the least-tested assumption.</a:t>
            </a:r>
          </a:p>
        </p:txBody>
      </p:sp>
      <p:sp>
        <p:nvSpPr>
          <p:cNvPr id="10" name="3">
            <a:extLst xmlns:a="http://schemas.openxmlformats.org/drawingml/2006/main">
              <a:ext uri="{FF2B5EF4-FFF2-40B4-BE49-F238E27FC236}">
                <a16:creationId xmlns:a16="http://schemas.microsoft.com/office/drawing/2014/main" id="{0395094B-DD9B-47F6-88E5-EE9DA50B3832}"/>
              </a:ext>
            </a:extLst>
          </p:cNvPr>
          <p:cNvSpPr>
            <a:spLocks xmlns:a="http://schemas.openxmlformats.org/drawingml/2006/main" noGrp="1"/>
          </p:cNvSpPr>
          <p:nvPr/>
        </p:nvSpPr>
        <p:spPr>
          <a:xfrm xmlns:a="http://schemas.openxmlformats.org/drawingml/2006/main">
            <a:off x="4352925" y="4067175"/>
            <a:ext cx="571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3</a:t>
            </a:r>
          </a:p>
        </p:txBody>
      </p:sp>
      <p:sp>
        <p:nvSpPr>
          <p:cNvPr id="11" name="Agree one simpler design or one experiment that could r">
            <a:extLst xmlns:a="http://schemas.openxmlformats.org/drawingml/2006/main">
              <a:ext uri="{FF2B5EF4-FFF2-40B4-BE49-F238E27FC236}">
                <a16:creationId xmlns:a16="http://schemas.microsoft.com/office/drawing/2014/main" id="{A8CBB2C4-99CE-4CFA-9EF8-DDA5F31633F1}"/>
              </a:ext>
            </a:extLst>
          </p:cNvPr>
          <p:cNvSpPr>
            <a:spLocks xmlns:a="http://schemas.openxmlformats.org/drawingml/2006/main" noGrp="1"/>
          </p:cNvSpPr>
          <p:nvPr/>
        </p:nvSpPr>
        <p:spPr>
          <a:xfrm xmlns:a="http://schemas.openxmlformats.org/drawingml/2006/main">
            <a:off x="4972050" y="4067175"/>
            <a:ext cx="65341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0">
                <a:solidFill>
                  <a:srgbClr val="152A3A"/>
                </a:solidFill>
                <a:latin typeface="Helvetica Neue"/>
                <a:ea typeface="Helvetica Neue"/>
                <a:cs typeface="Helvetica Neue"/>
              </a:defRPr>
            </a:pPr>
            <a:r>
              <a:rPr sz="2325" b="0">
                <a:solidFill>
                  <a:srgbClr val="152A3A"/>
                </a:solidFill>
                <a:latin typeface="Helvetica Neue"/>
                <a:ea typeface="Helvetica Neue"/>
                <a:cs typeface="Helvetica Neue"/>
              </a:rPr>
              <a:t>Agree one simpler design or one experiment that could resolve it.</a:t>
            </a:r>
          </a:p>
        </p:txBody>
      </p:sp>
      <p:sp>
        <p:nvSpPr>
          <p:cNvPr id="12" name="Show: a revised pilot with an owner and a measurable st">
            <a:extLst xmlns:a="http://schemas.openxmlformats.org/drawingml/2006/main">
              <a:ext uri="{FF2B5EF4-FFF2-40B4-BE49-F238E27FC236}">
                <a16:creationId xmlns:a16="http://schemas.microsoft.com/office/drawing/2014/main" id="{A1CFDDC4-14C3-4799-B6BA-B0CBCC790603}"/>
              </a:ext>
            </a:extLst>
          </p:cNvPr>
          <p:cNvSpPr>
            <a:spLocks xmlns:a="http://schemas.openxmlformats.org/drawingml/2006/main" noGrp="1"/>
          </p:cNvSpPr>
          <p:nvPr/>
        </p:nvSpPr>
        <p:spPr>
          <a:xfrm xmlns:a="http://schemas.openxmlformats.org/drawingml/2006/main">
            <a:off x="609600" y="5514975"/>
            <a:ext cx="108870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006CA5"/>
                </a:solidFill>
                <a:latin typeface="Helvetica Neue"/>
                <a:ea typeface="Helvetica Neue"/>
                <a:cs typeface="Helvetica Neue"/>
              </a:defRPr>
            </a:pPr>
            <a:r>
              <a:rPr sz="2175" b="1">
                <a:solidFill>
                  <a:srgbClr val="006CA5"/>
                </a:solidFill>
                <a:latin typeface="Helvetica Neue"/>
                <a:ea typeface="Helvetica Neue"/>
                <a:cs typeface="Helvetica Neue"/>
              </a:rPr>
              <a:t>Show: a revised pilot with an owner and a measurable stop/go criterion.</a:t>
            </a:r>
          </a:p>
        </p:txBody>
      </p:sp>
    </p:spTree>
    <p:extLst>
      <p:ext uri="{BB962C8B-B14F-4D97-AF65-F5344CB8AC3E}">
        <p14:creationId xmlns:p14="http://schemas.microsoft.com/office/powerpoint/2010/main" val="25138394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Your next experiment">
            <a:extLst xmlns:a="http://schemas.openxmlformats.org/drawingml/2006/main">
              <a:ext uri="{FF2B5EF4-FFF2-40B4-BE49-F238E27FC236}">
                <a16:creationId xmlns:a16="http://schemas.microsoft.com/office/drawing/2014/main" id="{83886915-8C54-45B1-AF51-F05043A715BF}"/>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Your next experiment</a:t>
            </a:r>
          </a:p>
        </p:txBody>
      </p:sp>
      <p:sp>
        <p:nvSpPr>
          <p:cNvPr id="2" name="02:53–02:55 elapsed">
            <a:extLst xmlns:a="http://schemas.openxmlformats.org/drawingml/2006/main">
              <a:ext uri="{FF2B5EF4-FFF2-40B4-BE49-F238E27FC236}">
                <a16:creationId xmlns:a16="http://schemas.microsoft.com/office/drawing/2014/main" id="{67CA67EE-E0B2-48A6-B889-7FB0B0810DFA}"/>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38">
            <a:extLst xmlns:a="http://schemas.openxmlformats.org/drawingml/2006/main">
              <a:ext uri="{FF2B5EF4-FFF2-40B4-BE49-F238E27FC236}">
                <a16:creationId xmlns:a16="http://schemas.microsoft.com/office/drawing/2014/main" id="{DAC621A8-B895-496E-AC79-094B60D0CC8C}"/>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38</a:t>
            </a:r>
          </a:p>
        </p:txBody>
      </p:sp>
      <p:sp>
        <p:nvSpPr>
          <p:cNvPr id="4" name="“We will try ___ on ___.”">
            <a:extLst xmlns:a="http://schemas.openxmlformats.org/drawingml/2006/main">
              <a:ext uri="{FF2B5EF4-FFF2-40B4-BE49-F238E27FC236}">
                <a16:creationId xmlns:a16="http://schemas.microsoft.com/office/drawing/2014/main" id="{45101808-C1ED-4498-ADDB-0C8746EAFD42}"/>
              </a:ext>
            </a:extLst>
          </p:cNvPr>
          <p:cNvSpPr>
            <a:spLocks xmlns:a="http://schemas.openxmlformats.org/drawingml/2006/main" noGrp="1"/>
          </p:cNvSpPr>
          <p:nvPr/>
        </p:nvSpPr>
        <p:spPr>
          <a:xfrm xmlns:a="http://schemas.openxmlformats.org/drawingml/2006/main">
            <a:off x="609600" y="1724025"/>
            <a:ext cx="1097280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600" b="1">
                <a:solidFill>
                  <a:srgbClr val="006CA5"/>
                </a:solidFill>
                <a:latin typeface="Helvetica Neue"/>
                <a:ea typeface="Helvetica Neue"/>
                <a:cs typeface="Helvetica Neue"/>
              </a:defRPr>
            </a:pPr>
            <a:r>
              <a:rPr sz="3600" b="1">
                <a:solidFill>
                  <a:srgbClr val="006CA5"/>
                </a:solidFill>
                <a:latin typeface="Helvetica Neue"/>
                <a:ea typeface="Helvetica Neue"/>
                <a:cs typeface="Helvetica Neue"/>
              </a:rPr>
              <a:t>“We will try ___ on ___.”</a:t>
            </a:r>
          </a:p>
        </p:txBody>
      </p:sp>
      <p:sp>
        <p:nvSpPr>
          <p:cNvPr id="5" name="“We will accept it only if ___.”&#10;“___ owns the next act">
            <a:extLst xmlns:a="http://schemas.openxmlformats.org/drawingml/2006/main">
              <a:ext uri="{FF2B5EF4-FFF2-40B4-BE49-F238E27FC236}">
                <a16:creationId xmlns:a16="http://schemas.microsoft.com/office/drawing/2014/main" id="{FEFAB839-EA6D-4AAB-9942-6CD2310C31F4}"/>
              </a:ext>
            </a:extLst>
          </p:cNvPr>
          <p:cNvSpPr>
            <a:spLocks xmlns:a="http://schemas.openxmlformats.org/drawingml/2006/main" noGrp="1"/>
          </p:cNvSpPr>
          <p:nvPr/>
        </p:nvSpPr>
        <p:spPr>
          <a:xfrm xmlns:a="http://schemas.openxmlformats.org/drawingml/2006/main">
            <a:off x="609600" y="3648075"/>
            <a:ext cx="109728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“We will accept it only if ___.”</a:t>
            </a:r>
          </a:p>
          <a:p xmlns:a="http://schemas.openxmlformats.org/drawingml/2006/main">
            <a:pPr>
              <a:buNone/>
              <a:defRPr sz="2475" b="0">
                <a:solidFill>
                  <a:srgbClr val="152A3A"/>
                </a:solidFill>
                <a:latin typeface="Helvetica Neue"/>
                <a:ea typeface="Helvetica Neue"/>
                <a:cs typeface="Helvetica Neue"/>
              </a:defRPr>
            </a:pPr>
            <a:r>
              <a:rPr sz="2475" b="0">
                <a:solidFill>
                  <a:srgbClr val="152A3A"/>
                </a:solidFill>
                <a:latin typeface="Helvetica Neue"/>
                <a:ea typeface="Helvetica Neue"/>
                <a:cs typeface="Helvetica Neue"/>
              </a:rPr>
              <a:t>“___ owns the next action.”</a:t>
            </a:r>
          </a:p>
        </p:txBody>
      </p:sp>
      <p:sp>
        <p:nvSpPr>
          <p:cNvPr id="6" name="A small observed result gives you a reason to expand, c">
            <a:extLst xmlns:a="http://schemas.openxmlformats.org/drawingml/2006/main">
              <a:ext uri="{FF2B5EF4-FFF2-40B4-BE49-F238E27FC236}">
                <a16:creationId xmlns:a16="http://schemas.microsoft.com/office/drawing/2014/main" id="{0A9504F9-681F-4B69-93F6-B835CAFF7135}"/>
              </a:ext>
            </a:extLst>
          </p:cNvPr>
          <p:cNvSpPr>
            <a:spLocks xmlns:a="http://schemas.openxmlformats.org/drawingml/2006/main" noGrp="1"/>
          </p:cNvSpPr>
          <p:nvPr/>
        </p:nvSpPr>
        <p:spPr>
          <a:xfrm xmlns:a="http://schemas.openxmlformats.org/drawingml/2006/main">
            <a:off x="609600" y="5553075"/>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526777"/>
                </a:solidFill>
                <a:latin typeface="Helvetica Neue"/>
                <a:ea typeface="Helvetica Neue"/>
                <a:cs typeface="Helvetica Neue"/>
              </a:defRPr>
            </a:pPr>
            <a:r>
              <a:rPr sz="2100" b="0">
                <a:solidFill>
                  <a:srgbClr val="526777"/>
                </a:solidFill>
                <a:latin typeface="Helvetica Neue"/>
                <a:ea typeface="Helvetica Neue"/>
                <a:cs typeface="Helvetica Neue"/>
              </a:rPr>
              <a:t>A small observed result gives you a reason to expand, change, or stop.</a:t>
            </a:r>
          </a:p>
        </p:txBody>
      </p:sp>
    </p:spTree>
    <p:extLst>
      <p:ext uri="{BB962C8B-B14F-4D97-AF65-F5344CB8AC3E}">
        <p14:creationId xmlns:p14="http://schemas.microsoft.com/office/powerpoint/2010/main" val="1184017395"/>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hree decisions before we finish">
            <a:extLst xmlns:a="http://schemas.openxmlformats.org/drawingml/2006/main">
              <a:ext uri="{FF2B5EF4-FFF2-40B4-BE49-F238E27FC236}">
                <a16:creationId xmlns:a16="http://schemas.microsoft.com/office/drawing/2014/main" id="{2CD74140-3496-4C72-A87E-C8B27A9B689B}"/>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Three decisions before we finish</a:t>
            </a:r>
          </a:p>
        </p:txBody>
      </p:sp>
      <p:sp>
        <p:nvSpPr>
          <p:cNvPr id="2" name="02:55–02:58 elapsed">
            <a:extLst xmlns:a="http://schemas.openxmlformats.org/drawingml/2006/main">
              <a:ext uri="{FF2B5EF4-FFF2-40B4-BE49-F238E27FC236}">
                <a16:creationId xmlns:a16="http://schemas.microsoft.com/office/drawing/2014/main" id="{5753424D-B696-4136-B723-5F6104C88859}"/>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39">
            <a:extLst xmlns:a="http://schemas.openxmlformats.org/drawingml/2006/main">
              <a:ext uri="{FF2B5EF4-FFF2-40B4-BE49-F238E27FC236}">
                <a16:creationId xmlns:a16="http://schemas.microsoft.com/office/drawing/2014/main" id="{BF6F650E-E3F6-409C-9586-53BD56807525}"/>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39</a:t>
            </a:r>
          </a:p>
        </p:txBody>
      </p:sp>
      <p:sp>
        <p:nvSpPr>
          <p:cNvPr id="4" name="1">
            <a:extLst xmlns:a="http://schemas.openxmlformats.org/drawingml/2006/main">
              <a:ext uri="{FF2B5EF4-FFF2-40B4-BE49-F238E27FC236}">
                <a16:creationId xmlns:a16="http://schemas.microsoft.com/office/drawing/2014/main" id="{339EEC85-0E05-48F3-855B-24B5A9BD3C93}"/>
              </a:ext>
            </a:extLst>
          </p:cNvPr>
          <p:cNvSpPr>
            <a:spLocks xmlns:a="http://schemas.openxmlformats.org/drawingml/2006/main" noGrp="1"/>
          </p:cNvSpPr>
          <p:nvPr/>
        </p:nvSpPr>
        <p:spPr>
          <a:xfrm xmlns:a="http://schemas.openxmlformats.org/drawingml/2006/main">
            <a:off x="609600" y="1838325"/>
            <a:ext cx="66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006CA5"/>
                </a:solidFill>
                <a:latin typeface="Helvetica Neue"/>
                <a:ea typeface="Helvetica Neue"/>
                <a:cs typeface="Helvetica Neue"/>
              </a:defRPr>
            </a:pPr>
            <a:r>
              <a:rPr sz="2775" b="1">
                <a:solidFill>
                  <a:srgbClr val="006CA5"/>
                </a:solidFill>
                <a:latin typeface="Helvetica Neue"/>
                <a:ea typeface="Helvetica Neue"/>
                <a:cs typeface="Helvetica Neue"/>
              </a:rPr>
              <a:t>1</a:t>
            </a:r>
          </a:p>
        </p:txBody>
      </p:sp>
      <p:sp>
        <p:nvSpPr>
          <p:cNvPr id="5" name="The branch changed after review. What must happen befor">
            <a:extLst xmlns:a="http://schemas.openxmlformats.org/drawingml/2006/main">
              <a:ext uri="{FF2B5EF4-FFF2-40B4-BE49-F238E27FC236}">
                <a16:creationId xmlns:a16="http://schemas.microsoft.com/office/drawing/2014/main" id="{74AAAE19-BAE1-4D0F-BEE7-3936EB517286}"/>
              </a:ext>
            </a:extLst>
          </p:cNvPr>
          <p:cNvSpPr>
            <a:spLocks xmlns:a="http://schemas.openxmlformats.org/drawingml/2006/main" noGrp="1"/>
          </p:cNvSpPr>
          <p:nvPr/>
        </p:nvSpPr>
        <p:spPr>
          <a:xfrm xmlns:a="http://schemas.openxmlformats.org/drawingml/2006/main">
            <a:off x="1628775" y="1838325"/>
            <a:ext cx="9763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0">
                <a:solidFill>
                  <a:srgbClr val="152A3A"/>
                </a:solidFill>
                <a:latin typeface="Helvetica Neue"/>
                <a:ea typeface="Helvetica Neue"/>
                <a:cs typeface="Helvetica Neue"/>
              </a:defRPr>
            </a:pPr>
            <a:r>
              <a:rPr sz="2700" b="0">
                <a:solidFill>
                  <a:srgbClr val="152A3A"/>
                </a:solidFill>
                <a:latin typeface="Helvetica Neue"/>
                <a:ea typeface="Helvetica Neue"/>
                <a:cs typeface="Helvetica Neue"/>
              </a:rPr>
              <a:t>The branch changed after review. What must happen before merge?</a:t>
            </a:r>
          </a:p>
        </p:txBody>
      </p:sp>
      <p:sp>
        <p:nvSpPr>
          <p:cNvPr id="6" name="2">
            <a:extLst xmlns:a="http://schemas.openxmlformats.org/drawingml/2006/main">
              <a:ext uri="{FF2B5EF4-FFF2-40B4-BE49-F238E27FC236}">
                <a16:creationId xmlns:a16="http://schemas.microsoft.com/office/drawing/2014/main" id="{BDF37CB2-5C19-4888-96BA-E8121714E4CD}"/>
              </a:ext>
            </a:extLst>
          </p:cNvPr>
          <p:cNvSpPr>
            <a:spLocks xmlns:a="http://schemas.openxmlformats.org/drawingml/2006/main" noGrp="1"/>
          </p:cNvSpPr>
          <p:nvPr/>
        </p:nvSpPr>
        <p:spPr>
          <a:xfrm xmlns:a="http://schemas.openxmlformats.org/drawingml/2006/main">
            <a:off x="609600" y="3200400"/>
            <a:ext cx="66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006CA5"/>
                </a:solidFill>
                <a:latin typeface="Helvetica Neue"/>
                <a:ea typeface="Helvetica Neue"/>
                <a:cs typeface="Helvetica Neue"/>
              </a:defRPr>
            </a:pPr>
            <a:r>
              <a:rPr sz="2775" b="1">
                <a:solidFill>
                  <a:srgbClr val="006CA5"/>
                </a:solidFill>
                <a:latin typeface="Helvetica Neue"/>
                <a:ea typeface="Helvetica Neue"/>
                <a:cs typeface="Helvetica Neue"/>
              </a:rPr>
              <a:t>2</a:t>
            </a:r>
          </a:p>
        </p:txBody>
      </p:sp>
      <p:sp>
        <p:nvSpPr>
          <p:cNvPr id="7" name="A missing test dependency caused RED. Can implementatio">
            <a:extLst xmlns:a="http://schemas.openxmlformats.org/drawingml/2006/main">
              <a:ext uri="{FF2B5EF4-FFF2-40B4-BE49-F238E27FC236}">
                <a16:creationId xmlns:a16="http://schemas.microsoft.com/office/drawing/2014/main" id="{B973FB44-CA98-454D-8F5B-AB635DDA4FE7}"/>
              </a:ext>
            </a:extLst>
          </p:cNvPr>
          <p:cNvSpPr>
            <a:spLocks xmlns:a="http://schemas.openxmlformats.org/drawingml/2006/main" noGrp="1"/>
          </p:cNvSpPr>
          <p:nvPr/>
        </p:nvSpPr>
        <p:spPr>
          <a:xfrm xmlns:a="http://schemas.openxmlformats.org/drawingml/2006/main">
            <a:off x="1628775" y="3200400"/>
            <a:ext cx="9763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0">
                <a:solidFill>
                  <a:srgbClr val="152A3A"/>
                </a:solidFill>
                <a:latin typeface="Helvetica Neue"/>
                <a:ea typeface="Helvetica Neue"/>
                <a:cs typeface="Helvetica Neue"/>
              </a:defRPr>
            </a:pPr>
            <a:r>
              <a:rPr sz="2700" b="0">
                <a:solidFill>
                  <a:srgbClr val="152A3A"/>
                </a:solidFill>
                <a:latin typeface="Helvetica Neue"/>
                <a:ea typeface="Helvetica Neue"/>
                <a:cs typeface="Helvetica Neue"/>
              </a:rPr>
              <a:t>A missing test dependency caused RED. Can implementation begin?</a:t>
            </a:r>
          </a:p>
        </p:txBody>
      </p:sp>
      <p:sp>
        <p:nvSpPr>
          <p:cNvPr id="8" name="3">
            <a:extLst xmlns:a="http://schemas.openxmlformats.org/drawingml/2006/main">
              <a:ext uri="{FF2B5EF4-FFF2-40B4-BE49-F238E27FC236}">
                <a16:creationId xmlns:a16="http://schemas.microsoft.com/office/drawing/2014/main" id="{FB70C456-DD8B-412E-895E-61A591C390CC}"/>
              </a:ext>
            </a:extLst>
          </p:cNvPr>
          <p:cNvSpPr>
            <a:spLocks xmlns:a="http://schemas.openxmlformats.org/drawingml/2006/main" noGrp="1"/>
          </p:cNvSpPr>
          <p:nvPr/>
        </p:nvSpPr>
        <p:spPr>
          <a:xfrm xmlns:a="http://schemas.openxmlformats.org/drawingml/2006/main">
            <a:off x="609600" y="4562475"/>
            <a:ext cx="6667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75" b="1">
                <a:solidFill>
                  <a:srgbClr val="006CA5"/>
                </a:solidFill>
                <a:latin typeface="Helvetica Neue"/>
                <a:ea typeface="Helvetica Neue"/>
                <a:cs typeface="Helvetica Neue"/>
              </a:defRPr>
            </a:pPr>
            <a:r>
              <a:rPr sz="2775" b="1">
                <a:solidFill>
                  <a:srgbClr val="006CA5"/>
                </a:solidFill>
                <a:latin typeface="Helvetica Neue"/>
                <a:ea typeface="Helvetica Neue"/>
                <a:cs typeface="Helvetica Neue"/>
              </a:rPr>
              <a:t>3</a:t>
            </a:r>
          </a:p>
        </p:txBody>
      </p:sp>
      <p:sp>
        <p:nvSpPr>
          <p:cNvPr id="9" name="Review is slower than implementation. What would you me">
            <a:extLst xmlns:a="http://schemas.openxmlformats.org/drawingml/2006/main">
              <a:ext uri="{FF2B5EF4-FFF2-40B4-BE49-F238E27FC236}">
                <a16:creationId xmlns:a16="http://schemas.microsoft.com/office/drawing/2014/main" id="{F5B62816-3805-4E82-8824-5ACD00C0E8C7}"/>
              </a:ext>
            </a:extLst>
          </p:cNvPr>
          <p:cNvSpPr>
            <a:spLocks xmlns:a="http://schemas.openxmlformats.org/drawingml/2006/main" noGrp="1"/>
          </p:cNvSpPr>
          <p:nvPr/>
        </p:nvSpPr>
        <p:spPr>
          <a:xfrm xmlns:a="http://schemas.openxmlformats.org/drawingml/2006/main">
            <a:off x="1628775" y="4562475"/>
            <a:ext cx="97631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0">
                <a:solidFill>
                  <a:srgbClr val="152A3A"/>
                </a:solidFill>
                <a:latin typeface="Helvetica Neue"/>
                <a:ea typeface="Helvetica Neue"/>
                <a:cs typeface="Helvetica Neue"/>
              </a:defRPr>
            </a:pPr>
            <a:r>
              <a:rPr sz="2700" b="0">
                <a:solidFill>
                  <a:srgbClr val="152A3A"/>
                </a:solidFill>
                <a:latin typeface="Helvetica Neue"/>
                <a:ea typeface="Helvetica Neue"/>
                <a:cs typeface="Helvetica Neue"/>
              </a:rPr>
              <a:t>Review is slower than implementation. What would you measure first?</a:t>
            </a:r>
          </a:p>
        </p:txBody>
      </p:sp>
    </p:spTree>
    <p:extLst>
      <p:ext uri="{BB962C8B-B14F-4D97-AF65-F5344CB8AC3E}">
        <p14:creationId xmlns:p14="http://schemas.microsoft.com/office/powerpoint/2010/main" val="197891852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What you can take back to work">
            <a:extLst xmlns:a="http://schemas.openxmlformats.org/drawingml/2006/main">
              <a:ext uri="{FF2B5EF4-FFF2-40B4-BE49-F238E27FC236}">
                <a16:creationId xmlns:a16="http://schemas.microsoft.com/office/drawing/2014/main" id="{89D575C8-2ABD-4B89-83C7-3315ABC2DD7A}"/>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What you can take back to work</a:t>
            </a:r>
          </a:p>
        </p:txBody>
      </p:sp>
      <p:sp>
        <p:nvSpPr>
          <p:cNvPr id="2" name="02:58–03:00 elapsed">
            <a:extLst xmlns:a="http://schemas.openxmlformats.org/drawingml/2006/main">
              <a:ext uri="{FF2B5EF4-FFF2-40B4-BE49-F238E27FC236}">
                <a16:creationId xmlns:a16="http://schemas.microsoft.com/office/drawing/2014/main" id="{DCED11BF-E383-4925-BF75-543941B49AAB}"/>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
            </a:r>
          </a:p>
        </p:txBody>
      </p:sp>
      <p:sp>
        <p:nvSpPr>
          <p:cNvPr id="3" name="40">
            <a:extLst xmlns:a="http://schemas.openxmlformats.org/drawingml/2006/main">
              <a:ext uri="{FF2B5EF4-FFF2-40B4-BE49-F238E27FC236}">
                <a16:creationId xmlns:a16="http://schemas.microsoft.com/office/drawing/2014/main" id="{1C273C0C-86BA-42D8-B162-E0F83242AEF6}"/>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40</a:t>
            </a:r>
          </a:p>
        </p:txBody>
      </p:sp>
      <p:sp>
        <p:nvSpPr>
          <p:cNvPr id="4" name="Current evidence">
            <a:extLst xmlns:a="http://schemas.openxmlformats.org/drawingml/2006/main">
              <a:ext uri="{FF2B5EF4-FFF2-40B4-BE49-F238E27FC236}">
                <a16:creationId xmlns:a16="http://schemas.microsoft.com/office/drawing/2014/main" id="{AEA1FEBC-4499-4F62-B2A2-0BA0F025A4AE}"/>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Current evidence</a:t>
            </a:r>
          </a:p>
        </p:txBody>
      </p:sp>
      <p:sp>
        <p:nvSpPr>
          <p:cNvPr id="5" name="Verify and review the candidate you intend to merge.">
            <a:extLst xmlns:a="http://schemas.openxmlformats.org/drawingml/2006/main">
              <a:ext uri="{FF2B5EF4-FFF2-40B4-BE49-F238E27FC236}">
                <a16:creationId xmlns:a16="http://schemas.microsoft.com/office/drawing/2014/main" id="{91F423F8-D6C5-4578-9E74-977619AED315}"/>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Verify and review the candidate you intend to merge.</a:t>
            </a:r>
          </a:p>
        </p:txBody>
      </p:sp>
      <p:sp>
        <p:nvSpPr>
          <p:cNvPr id="6" name="Meaningful feedback">
            <a:extLst xmlns:a="http://schemas.openxmlformats.org/drawingml/2006/main">
              <a:ext uri="{FF2B5EF4-FFF2-40B4-BE49-F238E27FC236}">
                <a16:creationId xmlns:a16="http://schemas.microsoft.com/office/drawing/2014/main" id="{A3915708-8720-4B23-8986-452A9409580B}"/>
              </a:ext>
            </a:extLst>
          </p:cNvPr>
          <p:cNvSpPr>
            <a:spLocks xmlns:a="http://schemas.openxmlformats.org/drawingml/2006/main" noGrp="1"/>
          </p:cNvSpPr>
          <p:nvPr/>
        </p:nvSpPr>
        <p:spPr>
          <a:xfrm xmlns:a="http://schemas.openxmlformats.org/drawingml/2006/main">
            <a:off x="609600" y="30765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Meaningful feedback</a:t>
            </a:r>
          </a:p>
        </p:txBody>
      </p:sp>
      <p:sp>
        <p:nvSpPr>
          <p:cNvPr id="7" name="Repair the environment before accepting a behavior-fail">
            <a:extLst xmlns:a="http://schemas.openxmlformats.org/drawingml/2006/main">
              <a:ext uri="{FF2B5EF4-FFF2-40B4-BE49-F238E27FC236}">
                <a16:creationId xmlns:a16="http://schemas.microsoft.com/office/drawing/2014/main" id="{EB06D535-2DB1-42E1-9CFB-30B13F9F1DF3}"/>
              </a:ext>
            </a:extLst>
          </p:cNvPr>
          <p:cNvSpPr>
            <a:spLocks xmlns:a="http://schemas.openxmlformats.org/drawingml/2006/main" noGrp="1"/>
          </p:cNvSpPr>
          <p:nvPr/>
        </p:nvSpPr>
        <p:spPr>
          <a:xfrm xmlns:a="http://schemas.openxmlformats.org/drawingml/2006/main">
            <a:off x="4572000" y="30765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Repair the environment before accepting a behavior-failure claim.</a:t>
            </a:r>
          </a:p>
        </p:txBody>
      </p:sp>
      <p:sp>
        <p:nvSpPr>
          <p:cNvPr id="8" name="Accepted outcomes">
            <a:extLst xmlns:a="http://schemas.openxmlformats.org/drawingml/2006/main">
              <a:ext uri="{FF2B5EF4-FFF2-40B4-BE49-F238E27FC236}">
                <a16:creationId xmlns:a16="http://schemas.microsoft.com/office/drawing/2014/main" id="{B8495B16-55BB-459B-9CBD-2E06131B3FBC}"/>
              </a:ext>
            </a:extLst>
          </p:cNvPr>
          <p:cNvSpPr>
            <a:spLocks xmlns:a="http://schemas.openxmlformats.org/drawingml/2006/main" noGrp="1"/>
          </p:cNvSpPr>
          <p:nvPr/>
        </p:nvSpPr>
        <p:spPr>
          <a:xfrm xmlns:a="http://schemas.openxmlformats.org/drawingml/2006/main">
            <a:off x="609600" y="44386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Accepted outcomes</a:t>
            </a:r>
          </a:p>
        </p:txBody>
      </p:sp>
      <p:sp>
        <p:nvSpPr>
          <p:cNvPr id="9" name="Measure queue, review effort and rework before adding w">
            <a:extLst xmlns:a="http://schemas.openxmlformats.org/drawingml/2006/main">
              <a:ext uri="{FF2B5EF4-FFF2-40B4-BE49-F238E27FC236}">
                <a16:creationId xmlns:a16="http://schemas.microsoft.com/office/drawing/2014/main" id="{164C36F3-73D2-4D5D-8205-956F1B56EA60}"/>
              </a:ext>
            </a:extLst>
          </p:cNvPr>
          <p:cNvSpPr>
            <a:spLocks xmlns:a="http://schemas.openxmlformats.org/drawingml/2006/main" noGrp="1"/>
          </p:cNvSpPr>
          <p:nvPr/>
        </p:nvSpPr>
        <p:spPr>
          <a:xfrm xmlns:a="http://schemas.openxmlformats.org/drawingml/2006/main">
            <a:off x="4572000" y="44386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Measure queue, review effort and rework before adding workers.</a:t>
            </a:r>
          </a:p>
        </p:txBody>
      </p:sp>
      <p:sp>
        <p:nvSpPr>
          <p:cNvPr id="10" name="Your next action has an owner. Your unfinished run has ">
            <a:extLst xmlns:a="http://schemas.openxmlformats.org/drawingml/2006/main">
              <a:ext uri="{FF2B5EF4-FFF2-40B4-BE49-F238E27FC236}">
                <a16:creationId xmlns:a16="http://schemas.microsoft.com/office/drawing/2014/main" id="{101F6487-5B1F-493A-8736-16CEB2F68363}"/>
              </a:ext>
            </a:extLst>
          </p:cNvPr>
          <p:cNvSpPr>
            <a:spLocks xmlns:a="http://schemas.openxmlformats.org/drawingml/2006/main" noGrp="1"/>
          </p:cNvSpPr>
          <p:nvPr/>
        </p:nvSpPr>
        <p:spPr>
          <a:xfrm xmlns:a="http://schemas.openxmlformats.org/drawingml/2006/main">
            <a:off x="609600" y="5781675"/>
            <a:ext cx="10668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0">
                <a:solidFill>
                  <a:srgbClr val="526777"/>
                </a:solidFill>
                <a:latin typeface="Helvetica Neue"/>
                <a:ea typeface="Helvetica Neue"/>
                <a:cs typeface="Helvetica Neue"/>
              </a:defRPr>
            </a:pPr>
            <a:r>
              <a:rPr sz="2025" b="0">
                <a:solidFill>
                  <a:srgbClr val="526777"/>
                </a:solidFill>
                <a:latin typeface="Helvetica Neue"/>
                <a:ea typeface="Helvetica Neue"/>
                <a:cs typeface="Helvetica Neue"/>
              </a:rPr>
              <a:t>Your next action has an owner. Your unfinished run has a resume point.</a:t>
            </a:r>
          </a:p>
        </p:txBody>
      </p:sp>
    </p:spTree>
    <p:extLst>
      <p:ext uri="{BB962C8B-B14F-4D97-AF65-F5344CB8AC3E}">
        <p14:creationId xmlns:p14="http://schemas.microsoft.com/office/powerpoint/2010/main" val="38610900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ference: replaceable responsibilities">
            <a:extLst xmlns:a="http://schemas.openxmlformats.org/drawingml/2006/main">
              <a:ext uri="{FF2B5EF4-FFF2-40B4-BE49-F238E27FC236}">
                <a16:creationId xmlns:a16="http://schemas.microsoft.com/office/drawing/2014/main" id="{81BC446D-8A9F-4C75-9E0E-6CD697182450}"/>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Reference: replaceable responsibilities</a:t>
            </a:r>
          </a:p>
        </p:txBody>
      </p:sp>
      <p:sp>
        <p:nvSpPr>
          <p:cNvPr id="2" name="Optional reference">
            <a:extLst xmlns:a="http://schemas.openxmlformats.org/drawingml/2006/main">
              <a:ext uri="{FF2B5EF4-FFF2-40B4-BE49-F238E27FC236}">
                <a16:creationId xmlns:a16="http://schemas.microsoft.com/office/drawing/2014/main" id="{1ECDAD05-1547-4BAA-9A9C-F3A7BE7299B2}"/>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Optional reference</a:t>
            </a:r>
          </a:p>
        </p:txBody>
      </p:sp>
      <p:sp>
        <p:nvSpPr>
          <p:cNvPr id="3" name="41">
            <a:extLst xmlns:a="http://schemas.openxmlformats.org/drawingml/2006/main">
              <a:ext uri="{FF2B5EF4-FFF2-40B4-BE49-F238E27FC236}">
                <a16:creationId xmlns:a16="http://schemas.microsoft.com/office/drawing/2014/main" id="{C445874D-E767-4BD3-AAE7-71E2CE059AD0}"/>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41</a:t>
            </a:r>
          </a:p>
        </p:txBody>
      </p:sp>
      <p:graphicFrame>
        <p:nvGraphicFramePr>
          <p:cNvPr id="11" name=""/>
          <p:cNvGraphicFramePr/>
          <p:nvPr/>
        </p:nvGraphicFramePr>
        <p:xfrm>
          <a:off xmlns:a="http://schemas.openxmlformats.org/drawingml/2006/main" x="609600" y="1685925"/>
          <a:ext xmlns:a="http://schemas.openxmlformats.org/drawingml/2006/main" cx="10972800" cy="3952875"/>
        </p:xfrm>
        <a:graphic xmlns:a="http://schemas.openxmlformats.org/drawingml/2006/main">
          <a:graphicData uri="http://schemas.openxmlformats.org/drawingml/2006/table">
            <a:tbl>
              <a:tblPr/>
              <a:tblGrid>
                <a:gridCol w="3524250"/>
                <a:gridCol w="7448550"/>
              </a:tblGrid>
              <a:tr h="790575">
                <a:tc>
                  <a:txBody>
                    <a:bodyPr>
                      <a:noAutofit/>
                    </a:bodyPr>
                    <a:lstStyle/>
                    <a:p>
                      <a:r>
                        <a:rPr sz="1950" b="1">
                          <a:solidFill>
                            <a:srgbClr val="006CA5"/>
                          </a:solidFill>
                          <a:latin typeface="Helvetica Neue"/>
                          <a:ea typeface="Helvetica Neue"/>
                          <a:cs typeface="Helvetica Neue"/>
                        </a:rPr>
                        <a:t>Concern</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Workshop implementation</a:t>
                      </a:r>
                    </a:p>
                  </a:txBody>
                  <a:tcPr marL="142875" marR="114300" marT="95250" marB="76200" anchor="ctr">
                    <a:solidFill>
                      <a:srgbClr val="EAF3F8"/>
                    </a:solidFill>
                  </a:tcPr>
                </a:tc>
              </a:tr>
              <a:tr h="790575">
                <a:tc>
                  <a:txBody>
                    <a:bodyPr>
                      <a:noAutofit/>
                    </a:bodyPr>
                    <a:lstStyle/>
                    <a:p>
                      <a:r>
                        <a:rPr sz="1950" b="0">
                          <a:solidFill>
                            <a:srgbClr val="152A3A"/>
                          </a:solidFill>
                          <a:latin typeface="Helvetica Neue"/>
                          <a:ea typeface="Helvetica Neue"/>
                          <a:cs typeface="Helvetica Neue"/>
                        </a:rPr>
                        <a:t>Compute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The local machine running the process</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Development environment</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Target repository, tools, dependencies and worktree</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Coding harness</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Configured Claude Code, Codex or Cursor CLI</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Coordination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Factory state, dependencies, gates and decisions</a:t>
                      </a:r>
                    </a:p>
                  </a:txBody>
                  <a:tcPr marL="142875" marR="114300" marT="95250" marB="76200" anchor="ctr">
                    <a:solidFill>
                      <a:srgbClr val="FFFFFF"/>
                    </a:solidFill>
                  </a:tcPr>
                </a:tc>
              </a:tr>
            </a:tbl>
          </a:graphicData>
        </a:graphic>
      </p:graphicFrame>
      <p:sp>
        <p:nvSpPr>
          <p:cNvPr id="5" name="Compare real adapters on the same task. Capability diff">
            <a:extLst xmlns:a="http://schemas.openxmlformats.org/drawingml/2006/main">
              <a:ext uri="{FF2B5EF4-FFF2-40B4-BE49-F238E27FC236}">
                <a16:creationId xmlns:a16="http://schemas.microsoft.com/office/drawing/2014/main" id="{D2C1DD24-3D3A-4F57-96EA-F91AD1B9C653}"/>
              </a:ext>
            </a:extLst>
          </p:cNvPr>
          <p:cNvSpPr>
            <a:spLocks xmlns:a="http://schemas.openxmlformats.org/drawingml/2006/main" noGrp="1"/>
          </p:cNvSpPr>
          <p:nvPr/>
        </p:nvSpPr>
        <p:spPr>
          <a:xfrm xmlns:a="http://schemas.openxmlformats.org/drawingml/2006/main">
            <a:off x="609600" y="5829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Compare real adapters on the same task. Capability differences remain.</a:t>
            </a:r>
          </a:p>
        </p:txBody>
      </p:sp>
    </p:spTree>
    <p:extLst>
      <p:ext uri="{BB962C8B-B14F-4D97-AF65-F5344CB8AC3E}">
        <p14:creationId xmlns:p14="http://schemas.microsoft.com/office/powerpoint/2010/main" val="1154078795"/>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ference: profiles and authority">
            <a:extLst xmlns:a="http://schemas.openxmlformats.org/drawingml/2006/main">
              <a:ext uri="{FF2B5EF4-FFF2-40B4-BE49-F238E27FC236}">
                <a16:creationId xmlns:a16="http://schemas.microsoft.com/office/drawing/2014/main" id="{BDB91922-9A94-4C70-B504-A0E1F1F7BEF8}"/>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Reference: profiles and authority</a:t>
            </a:r>
          </a:p>
        </p:txBody>
      </p:sp>
      <p:sp>
        <p:nvSpPr>
          <p:cNvPr id="2" name="Optional reference">
            <a:extLst xmlns:a="http://schemas.openxmlformats.org/drawingml/2006/main">
              <a:ext uri="{FF2B5EF4-FFF2-40B4-BE49-F238E27FC236}">
                <a16:creationId xmlns:a16="http://schemas.microsoft.com/office/drawing/2014/main" id="{25697CB2-9F67-45A6-BDA1-AF584D906FA9}"/>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Optional reference</a:t>
            </a:r>
          </a:p>
        </p:txBody>
      </p:sp>
      <p:sp>
        <p:nvSpPr>
          <p:cNvPr id="3" name="42">
            <a:extLst xmlns:a="http://schemas.openxmlformats.org/drawingml/2006/main">
              <a:ext uri="{FF2B5EF4-FFF2-40B4-BE49-F238E27FC236}">
                <a16:creationId xmlns:a16="http://schemas.microsoft.com/office/drawing/2014/main" id="{AEBB4285-08D0-42AB-BAA2-232EF06C922D}"/>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42</a:t>
            </a:r>
          </a:p>
        </p:txBody>
      </p:sp>
      <p:graphicFrame>
        <p:nvGraphicFramePr>
          <p:cNvPr id="11" name=""/>
          <p:cNvGraphicFramePr/>
          <p:nvPr/>
        </p:nvGraphicFramePr>
        <p:xfrm>
          <a:off xmlns:a="http://schemas.openxmlformats.org/drawingml/2006/main" x="609600" y="1685925"/>
          <a:ext xmlns:a="http://schemas.openxmlformats.org/drawingml/2006/main" cx="10972800" cy="3952875"/>
        </p:xfrm>
        <a:graphic xmlns:a="http://schemas.openxmlformats.org/drawingml/2006/main">
          <a:graphicData uri="http://schemas.openxmlformats.org/drawingml/2006/table">
            <a:tbl>
              <a:tblPr/>
              <a:tblGrid>
                <a:gridCol w="2238375"/>
                <a:gridCol w="6524625"/>
                <a:gridCol w="2209800"/>
              </a:tblGrid>
              <a:tr h="790575">
                <a:tc>
                  <a:txBody>
                    <a:bodyPr>
                      <a:noAutofit/>
                    </a:bodyPr>
                    <a:lstStyle/>
                    <a:p>
                      <a:r>
                        <a:rPr sz="1950" b="1">
                          <a:solidFill>
                            <a:srgbClr val="006CA5"/>
                          </a:solidFill>
                          <a:latin typeface="Helvetica Neue"/>
                          <a:ea typeface="Helvetica Neue"/>
                          <a:cs typeface="Helvetica Neue"/>
                        </a:rPr>
                        <a:t>Profile</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What it adds or omits</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Merge</a:t>
                      </a:r>
                    </a:p>
                  </a:txBody>
                  <a:tcPr marL="142875" marR="114300" marT="95250" marB="76200" anchor="ctr">
                    <a:solidFill>
                      <a:srgbClr val="EAF3F8"/>
                    </a:solidFill>
                  </a:tcPr>
                </a:tc>
              </a:tr>
              <a:tr h="790575">
                <a:tc>
                  <a:txBody>
                    <a:bodyPr>
                      <a:noAutofit/>
                    </a:bodyPr>
                    <a:lstStyle/>
                    <a:p>
                      <a:r>
                        <a:rPr sz="1950" b="0">
                          <a:solidFill>
                            <a:srgbClr val="152A3A"/>
                          </a:solidFill>
                          <a:latin typeface="Helvetica Neue"/>
                          <a:ea typeface="Helvetica Neue"/>
                          <a:cs typeface="Helvetica Neue"/>
                        </a:rPr>
                        <a:t>Lean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Product + slices, implementation, existing tests</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Human</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Standard</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Four planners, QA, implementation, code review</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Human</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Assured</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Additional roles, Supervisor and negative proof</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Human</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Autonomous Demo</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Supervisor with explicit autonomy opt-in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Within policy</a:t>
                      </a:r>
                    </a:p>
                  </a:txBody>
                  <a:tcPr marL="142875" marR="114300" marT="95250" marB="76200" anchor="ctr">
                    <a:solidFill>
                      <a:srgbClr val="FFFFFF"/>
                    </a:solidFill>
                  </a:tcPr>
                </a:tc>
              </a:tr>
            </a:tbl>
          </a:graphicData>
        </a:graphic>
      </p:graphicFrame>
      <p:sp>
        <p:nvSpPr>
          <p:cNvPr id="5" name="The Critic can run under deep verification in any profi">
            <a:extLst xmlns:a="http://schemas.openxmlformats.org/drawingml/2006/main">
              <a:ext uri="{FF2B5EF4-FFF2-40B4-BE49-F238E27FC236}">
                <a16:creationId xmlns:a16="http://schemas.microsoft.com/office/drawing/2014/main" id="{AD257600-C17B-4D39-AAA6-A85DFAFF466F}"/>
              </a:ext>
            </a:extLst>
          </p:cNvPr>
          <p:cNvSpPr>
            <a:spLocks xmlns:a="http://schemas.openxmlformats.org/drawingml/2006/main" noGrp="1"/>
          </p:cNvSpPr>
          <p:nvPr/>
        </p:nvSpPr>
        <p:spPr>
          <a:xfrm xmlns:a="http://schemas.openxmlformats.org/drawingml/2006/main">
            <a:off x="609600" y="5829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The Critic can run under deep verification in any profile.</a:t>
            </a:r>
          </a:p>
        </p:txBody>
      </p:sp>
    </p:spTree>
    <p:extLst>
      <p:ext uri="{BB962C8B-B14F-4D97-AF65-F5344CB8AC3E}">
        <p14:creationId xmlns:p14="http://schemas.microsoft.com/office/powerpoint/2010/main" val="26469266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Reference: experiments after the workshop">
            <a:extLst xmlns:a="http://schemas.openxmlformats.org/drawingml/2006/main">
              <a:ext uri="{FF2B5EF4-FFF2-40B4-BE49-F238E27FC236}">
                <a16:creationId xmlns:a16="http://schemas.microsoft.com/office/drawing/2014/main" id="{3673CBA8-7EAF-4389-8CB4-F6DE29DD3B66}"/>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Reference: experiments after the workshop</a:t>
            </a:r>
          </a:p>
        </p:txBody>
      </p:sp>
      <p:sp>
        <p:nvSpPr>
          <p:cNvPr id="2" name="Optional reference">
            <a:extLst xmlns:a="http://schemas.openxmlformats.org/drawingml/2006/main">
              <a:ext uri="{FF2B5EF4-FFF2-40B4-BE49-F238E27FC236}">
                <a16:creationId xmlns:a16="http://schemas.microsoft.com/office/drawing/2014/main" id="{4203B1AD-F48F-4E50-8B53-BD93AE02811C}"/>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Optional reference</a:t>
            </a:r>
          </a:p>
        </p:txBody>
      </p:sp>
      <p:sp>
        <p:nvSpPr>
          <p:cNvPr id="3" name="43">
            <a:extLst xmlns:a="http://schemas.openxmlformats.org/drawingml/2006/main">
              <a:ext uri="{FF2B5EF4-FFF2-40B4-BE49-F238E27FC236}">
                <a16:creationId xmlns:a16="http://schemas.microsoft.com/office/drawing/2014/main" id="{F83B3BF2-060C-4079-B429-BC189A4DC1F7}"/>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43</a:t>
            </a:r>
          </a:p>
        </p:txBody>
      </p:sp>
      <p:graphicFrame>
        <p:nvGraphicFramePr>
          <p:cNvPr id="11" name=""/>
          <p:cNvGraphicFramePr/>
          <p:nvPr/>
        </p:nvGraphicFramePr>
        <p:xfrm>
          <a:off xmlns:a="http://schemas.openxmlformats.org/drawingml/2006/main" x="609600" y="1685925"/>
          <a:ext xmlns:a="http://schemas.openxmlformats.org/drawingml/2006/main" cx="10972800" cy="3952875"/>
        </p:xfrm>
        <a:graphic xmlns:a="http://schemas.openxmlformats.org/drawingml/2006/main">
          <a:graphicData uri="http://schemas.openxmlformats.org/drawingml/2006/table">
            <a:tbl>
              <a:tblPr/>
              <a:tblGrid>
                <a:gridCol w="5048250"/>
                <a:gridCol w="5924550"/>
              </a:tblGrid>
              <a:tr h="790575">
                <a:tc>
                  <a:txBody>
                    <a:bodyPr>
                      <a:noAutofit/>
                    </a:bodyPr>
                    <a:lstStyle/>
                    <a:p>
                      <a:r>
                        <a:rPr sz="1950" b="1">
                          <a:solidFill>
                            <a:srgbClr val="006CA5"/>
                          </a:solidFill>
                          <a:latin typeface="Helvetica Neue"/>
                          <a:ea typeface="Helvetica Neue"/>
                          <a:cs typeface="Helvetica Neue"/>
                        </a:rPr>
                        <a:t>Question</a:t>
                      </a:r>
                    </a:p>
                  </a:txBody>
                  <a:tcPr marL="142875" marR="114300" marT="95250" marB="76200" anchor="ctr">
                    <a:solidFill>
                      <a:srgbClr val="EAF3F8"/>
                    </a:solidFill>
                  </a:tcPr>
                </a:tc>
                <a:tc>
                  <a:txBody>
                    <a:bodyPr>
                      <a:noAutofit/>
                    </a:bodyPr>
                    <a:lstStyle/>
                    <a:p>
                      <a:r>
                        <a:rPr sz="1950" b="1">
                          <a:solidFill>
                            <a:srgbClr val="006CA5"/>
                          </a:solidFill>
                          <a:latin typeface="Helvetica Neue"/>
                          <a:ea typeface="Helvetica Neue"/>
                          <a:cs typeface="Helvetica Neue"/>
                        </a:rPr>
                        <a:t>Controlled comparison</a:t>
                      </a:r>
                    </a:p>
                  </a:txBody>
                  <a:tcPr marL="142875" marR="114300" marT="95250" marB="76200" anchor="ctr">
                    <a:solidFill>
                      <a:srgbClr val="EAF3F8"/>
                    </a:solidFill>
                  </a:tcPr>
                </a:tc>
              </a:tr>
              <a:tr h="790575">
                <a:tc>
                  <a:txBody>
                    <a:bodyPr>
                      <a:noAutofit/>
                    </a:bodyPr>
                    <a:lstStyle/>
                    <a:p>
                      <a:r>
                        <a:rPr sz="1950" b="0">
                          <a:solidFill>
                            <a:srgbClr val="152A3A"/>
                          </a:solidFill>
                          <a:latin typeface="Helvetica Neue"/>
                          <a:ea typeface="Helvetica Neue"/>
                          <a:cs typeface="Helvetica Neue"/>
                        </a:rPr>
                        <a:t>Does an optional skill help?</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Same task and tools, with and without that skill</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Can the adapter change?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Same contract and checks through two real adapters</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Does later work stay maintainable?</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New requirement plus all retained acceptance checks</a:t>
                      </a:r>
                    </a:p>
                  </a:txBody>
                  <a:tcPr marL="142875" marR="114300" marT="95250" marB="76200" anchor="ctr">
                    <a:solidFill>
                      <a:srgbClr val="FFFFFF"/>
                    </a:solidFill>
                  </a:tcPr>
                </a:tc>
              </a:tr>
              <a:tr h="790575">
                <a:tc>
                  <a:txBody>
                    <a:bodyPr>
                      <a:noAutofit/>
                    </a:bodyPr>
                    <a:lstStyle/>
                    <a:p>
                      <a:r>
                        <a:rPr sz="1950" b="0">
                          <a:solidFill>
                            <a:srgbClr val="152A3A"/>
                          </a:solidFill>
                          <a:latin typeface="Helvetica Neue"/>
                          <a:ea typeface="Helvetica Neue"/>
                          <a:cs typeface="Helvetica Neue"/>
                        </a:rPr>
                        <a:t>Can recovery handle interruption?</a:t>
                      </a:r>
                    </a:p>
                  </a:txBody>
                  <a:tcPr marL="142875" marR="114300" marT="95250" marB="76200" anchor="ctr">
                    <a:solidFill>
                      <a:srgbClr val="FFFFFF"/>
                    </a:solidFill>
                  </a:tcPr>
                </a:tc>
                <a:tc>
                  <a:txBody>
                    <a:bodyPr>
                      <a:noAutofit/>
                    </a:bodyPr>
                    <a:lstStyle/>
                    <a:p>
                      <a:r>
                        <a:rPr sz="1950" b="0">
                          <a:solidFill>
                            <a:srgbClr val="152A3A"/>
                          </a:solidFill>
                          <a:latin typeface="Helvetica Neue"/>
                          <a:ea typeface="Helvetica Neue"/>
                          <a:cs typeface="Helvetica Neue"/>
                        </a:rPr>
                        <a:t>Disposable run with reconciliation and duplicate checks</a:t>
                      </a:r>
                    </a:p>
                  </a:txBody>
                  <a:tcPr marL="142875" marR="114300" marT="95250" marB="76200" anchor="ctr">
                    <a:solidFill>
                      <a:srgbClr val="FFFFFF"/>
                    </a:solidFill>
                  </a:tcPr>
                </a:tc>
              </a:tr>
            </a:tbl>
          </a:graphicData>
        </a:graphic>
      </p:graphicFrame>
      <p:sp>
        <p:nvSpPr>
          <p:cNvPr id="5" name="These are proposed experiments. This deck does not clai">
            <a:extLst xmlns:a="http://schemas.openxmlformats.org/drawingml/2006/main">
              <a:ext uri="{FF2B5EF4-FFF2-40B4-BE49-F238E27FC236}">
                <a16:creationId xmlns:a16="http://schemas.microsoft.com/office/drawing/2014/main" id="{33027544-5C4C-4D5D-A291-2F8E4EC6375E}"/>
              </a:ext>
            </a:extLst>
          </p:cNvPr>
          <p:cNvSpPr>
            <a:spLocks xmlns:a="http://schemas.openxmlformats.org/drawingml/2006/main" noGrp="1"/>
          </p:cNvSpPr>
          <p:nvPr/>
        </p:nvSpPr>
        <p:spPr>
          <a:xfrm xmlns:a="http://schemas.openxmlformats.org/drawingml/2006/main">
            <a:off x="609600" y="5829300"/>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006CA5"/>
                </a:solidFill>
                <a:latin typeface="Helvetica Neue"/>
                <a:ea typeface="Helvetica Neue"/>
                <a:cs typeface="Helvetica Neue"/>
              </a:defRPr>
            </a:pPr>
            <a:r>
              <a:rPr sz="1950" b="0">
                <a:solidFill>
                  <a:srgbClr val="006CA5"/>
                </a:solidFill>
                <a:latin typeface="Helvetica Neue"/>
                <a:ea typeface="Helvetica Neue"/>
                <a:cs typeface="Helvetica Neue"/>
              </a:rPr>
              <a:t>These are proposed experiments. This deck does not claim they passed.</a:t>
            </a:r>
          </a:p>
        </p:txBody>
      </p:sp>
    </p:spTree>
    <p:extLst>
      <p:ext uri="{BB962C8B-B14F-4D97-AF65-F5344CB8AC3E}">
        <p14:creationId xmlns:p14="http://schemas.microsoft.com/office/powerpoint/2010/main" val="1869955912"/>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Reference: reading and evidence">
            <a:extLst xmlns:a="http://schemas.openxmlformats.org/drawingml/2006/main">
              <a:ext uri="{FF2B5EF4-FFF2-40B4-BE49-F238E27FC236}">
                <a16:creationId xmlns:a16="http://schemas.microsoft.com/office/drawing/2014/main" id="{8F91D1E7-B66E-4675-BD7B-F111BB9EAD94}"/>
              </a:ext>
            </a:extLst>
          </p:cNvPr>
          <p:cNvSpPr>
            <a:spLocks xmlns:a="http://schemas.openxmlformats.org/drawingml/2006/main" noGrp="1"/>
          </p:cNvSpPr>
          <p:nvPr/>
        </p:nvSpPr>
        <p:spPr>
          <a:xfrm xmlns:a="http://schemas.openxmlformats.org/drawingml/2006/main">
            <a:off x="609600" y="4095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225" b="1">
                <a:solidFill>
                  <a:srgbClr val="152A3A"/>
                </a:solidFill>
                <a:latin typeface="Helvetica Neue"/>
                <a:ea typeface="Helvetica Neue"/>
                <a:cs typeface="Helvetica Neue"/>
              </a:defRPr>
            </a:pPr>
            <a:r>
              <a:rPr sz="3225" b="1">
                <a:solidFill>
                  <a:srgbClr val="152A3A"/>
                </a:solidFill>
                <a:latin typeface="Helvetica Neue"/>
                <a:ea typeface="Helvetica Neue"/>
                <a:cs typeface="Helvetica Neue"/>
              </a:rPr>
              <a:t>Reference: reading and evidence</a:t>
            </a:r>
          </a:p>
        </p:txBody>
      </p:sp>
      <p:sp>
        <p:nvSpPr>
          <p:cNvPr id="2" name="Optional reference">
            <a:extLst xmlns:a="http://schemas.openxmlformats.org/drawingml/2006/main">
              <a:ext uri="{FF2B5EF4-FFF2-40B4-BE49-F238E27FC236}">
                <a16:creationId xmlns:a16="http://schemas.microsoft.com/office/drawing/2014/main" id="{32B38EFE-8793-4E23-8BE1-154FDB86A9D0}"/>
              </a:ext>
            </a:extLst>
          </p:cNvPr>
          <p:cNvSpPr>
            <a:spLocks xmlns:a="http://schemas.openxmlformats.org/drawingml/2006/main" noGrp="1"/>
          </p:cNvSpPr>
          <p:nvPr/>
        </p:nvSpPr>
        <p:spPr>
          <a:xfrm xmlns:a="http://schemas.openxmlformats.org/drawingml/2006/main">
            <a:off x="609600" y="6419850"/>
            <a:ext cx="34766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Optional reference</a:t>
            </a:r>
          </a:p>
        </p:txBody>
      </p:sp>
      <p:sp>
        <p:nvSpPr>
          <p:cNvPr id="3" name="44">
            <a:extLst xmlns:a="http://schemas.openxmlformats.org/drawingml/2006/main">
              <a:ext uri="{FF2B5EF4-FFF2-40B4-BE49-F238E27FC236}">
                <a16:creationId xmlns:a16="http://schemas.microsoft.com/office/drawing/2014/main" id="{6E153F8E-2889-47B5-8F65-0CCFA446A0CA}"/>
              </a:ext>
            </a:extLst>
          </p:cNvPr>
          <p:cNvSpPr>
            <a:spLocks xmlns:a="http://schemas.openxmlformats.org/drawingml/2006/main" noGrp="1"/>
          </p:cNvSpPr>
          <p:nvPr/>
        </p:nvSpPr>
        <p:spPr>
          <a:xfrm xmlns:a="http://schemas.openxmlformats.org/drawingml/2006/main">
            <a:off x="11144250" y="6419850"/>
            <a:ext cx="571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425" b="0">
                <a:solidFill>
                  <a:srgbClr val="526777"/>
                </a:solidFill>
                <a:latin typeface="Helvetica Neue"/>
                <a:ea typeface="Helvetica Neue"/>
                <a:cs typeface="Helvetica Neue"/>
              </a:defRPr>
            </a:pPr>
            <a:r>
              <a:rPr sz="1425" b="0">
                <a:solidFill>
                  <a:srgbClr val="526777"/>
                </a:solidFill>
                <a:latin typeface="Helvetica Neue"/>
                <a:ea typeface="Helvetica Neue"/>
                <a:cs typeface="Helvetica Neue"/>
              </a:rPr>
              <a:t>44</a:t>
            </a:r>
          </a:p>
        </p:txBody>
      </p:sp>
      <p:sp>
        <p:nvSpPr>
          <p:cNvPr id="4" name="Workshop procedure">
            <a:extLst xmlns:a="http://schemas.openxmlformats.org/drawingml/2006/main">
              <a:ext uri="{FF2B5EF4-FFF2-40B4-BE49-F238E27FC236}">
                <a16:creationId xmlns:a16="http://schemas.microsoft.com/office/drawing/2014/main" id="{0615AD0D-1324-49A2-9F4A-4D097A56B333}"/>
              </a:ext>
            </a:extLst>
          </p:cNvPr>
          <p:cNvSpPr>
            <a:spLocks xmlns:a="http://schemas.openxmlformats.org/drawingml/2006/main" noGrp="1"/>
          </p:cNvSpPr>
          <p:nvPr/>
        </p:nvSpPr>
        <p:spPr>
          <a:xfrm xmlns:a="http://schemas.openxmlformats.org/drawingml/2006/main">
            <a:off x="609600" y="171450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Workshop procedure</a:t>
            </a:r>
          </a:p>
        </p:txBody>
      </p:sp>
      <p:sp>
        <p:nvSpPr>
          <p:cNvPr id="5" name="Workshop guide, three-hour plan, PRD and Agent Referenc">
            <a:extLst xmlns:a="http://schemas.openxmlformats.org/drawingml/2006/main">
              <a:ext uri="{FF2B5EF4-FFF2-40B4-BE49-F238E27FC236}">
                <a16:creationId xmlns:a16="http://schemas.microsoft.com/office/drawing/2014/main" id="{09383177-1544-4178-845F-59569D3DF9B5}"/>
              </a:ext>
            </a:extLst>
          </p:cNvPr>
          <p:cNvSpPr>
            <a:spLocks xmlns:a="http://schemas.openxmlformats.org/drawingml/2006/main" noGrp="1"/>
          </p:cNvSpPr>
          <p:nvPr/>
        </p:nvSpPr>
        <p:spPr>
          <a:xfrm xmlns:a="http://schemas.openxmlformats.org/drawingml/2006/main">
            <a:off x="4572000" y="171450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Workshop guide, three-hour plan, PRD and Agent Reference</a:t>
            </a:r>
          </a:p>
        </p:txBody>
      </p:sp>
      <p:sp>
        <p:nvSpPr>
          <p:cNvPr id="6" name="Supplied knowledge review">
            <a:extLst xmlns:a="http://schemas.openxmlformats.org/drawingml/2006/main">
              <a:ext uri="{FF2B5EF4-FFF2-40B4-BE49-F238E27FC236}">
                <a16:creationId xmlns:a16="http://schemas.microsoft.com/office/drawing/2014/main" id="{AB8D8A74-A049-46AD-A6C0-C64341139B93}"/>
              </a:ext>
            </a:extLst>
          </p:cNvPr>
          <p:cNvSpPr>
            <a:spLocks xmlns:a="http://schemas.openxmlformats.org/drawingml/2006/main" noGrp="1"/>
          </p:cNvSpPr>
          <p:nvPr/>
        </p:nvSpPr>
        <p:spPr>
          <a:xfrm xmlns:a="http://schemas.openxmlformats.org/drawingml/2006/main">
            <a:off x="609600" y="279082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Supplied knowledge review</a:t>
            </a:r>
          </a:p>
        </p:txBody>
      </p:sp>
      <p:sp>
        <p:nvSpPr>
          <p:cNvPr id="7" name="AI Software Factories — Knowledge and Workshop Review, ">
            <a:extLst xmlns:a="http://schemas.openxmlformats.org/drawingml/2006/main">
              <a:ext uri="{FF2B5EF4-FFF2-40B4-BE49-F238E27FC236}">
                <a16:creationId xmlns:a16="http://schemas.microsoft.com/office/drawing/2014/main" id="{1B51B873-3EC3-4E1E-9ABF-A836CC57A55D}"/>
              </a:ext>
            </a:extLst>
          </p:cNvPr>
          <p:cNvSpPr>
            <a:spLocks xmlns:a="http://schemas.openxmlformats.org/drawingml/2006/main" noGrp="1"/>
          </p:cNvSpPr>
          <p:nvPr/>
        </p:nvSpPr>
        <p:spPr>
          <a:xfrm xmlns:a="http://schemas.openxmlformats.org/drawingml/2006/main">
            <a:off x="4572000" y="279082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AI Software Factories — Knowledge and Workshop Review, 8 Sep 2026</a:t>
            </a:r>
          </a:p>
        </p:txBody>
      </p:sp>
      <p:sp>
        <p:nvSpPr>
          <p:cNvPr id="8" name="Primary discussions">
            <a:extLst xmlns:a="http://schemas.openxmlformats.org/drawingml/2006/main">
              <a:ext uri="{FF2B5EF4-FFF2-40B4-BE49-F238E27FC236}">
                <a16:creationId xmlns:a16="http://schemas.microsoft.com/office/drawing/2014/main" id="{CCA75169-7A9E-4769-852C-57A5061001BC}"/>
              </a:ext>
            </a:extLst>
          </p:cNvPr>
          <p:cNvSpPr>
            <a:spLocks xmlns:a="http://schemas.openxmlformats.org/drawingml/2006/main" noGrp="1"/>
          </p:cNvSpPr>
          <p:nvPr/>
        </p:nvSpPr>
        <p:spPr>
          <a:xfrm xmlns:a="http://schemas.openxmlformats.org/drawingml/2006/main">
            <a:off x="609600" y="3867150"/>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Primary discussions</a:t>
            </a:r>
          </a:p>
        </p:txBody>
      </p:sp>
      <p:sp>
        <p:nvSpPr>
          <p:cNvPr id="9" name="Software Factory Design Patterns; Why Software Factorie">
            <a:extLst xmlns:a="http://schemas.openxmlformats.org/drawingml/2006/main">
              <a:ext uri="{FF2B5EF4-FFF2-40B4-BE49-F238E27FC236}">
                <a16:creationId xmlns:a16="http://schemas.microsoft.com/office/drawing/2014/main" id="{9A1357E9-D565-4E39-A36B-BF73CD8EF7EC}"/>
              </a:ext>
            </a:extLst>
          </p:cNvPr>
          <p:cNvSpPr>
            <a:spLocks xmlns:a="http://schemas.openxmlformats.org/drawingml/2006/main" noGrp="1"/>
          </p:cNvSpPr>
          <p:nvPr/>
        </p:nvSpPr>
        <p:spPr>
          <a:xfrm xmlns:a="http://schemas.openxmlformats.org/drawingml/2006/main">
            <a:off x="4572000" y="3867150"/>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Software Factory Design Patterns; Why Software Factories Fail</a:t>
            </a:r>
          </a:p>
        </p:txBody>
      </p:sp>
      <p:sp>
        <p:nvSpPr>
          <p:cNvPr id="10" name="Verification and evaluation">
            <a:extLst xmlns:a="http://schemas.openxmlformats.org/drawingml/2006/main">
              <a:ext uri="{FF2B5EF4-FFF2-40B4-BE49-F238E27FC236}">
                <a16:creationId xmlns:a16="http://schemas.microsoft.com/office/drawing/2014/main" id="{D9999A7B-63CE-476A-BB28-8E743C76C119}"/>
              </a:ext>
            </a:extLst>
          </p:cNvPr>
          <p:cNvSpPr>
            <a:spLocks xmlns:a="http://schemas.openxmlformats.org/drawingml/2006/main" noGrp="1"/>
          </p:cNvSpPr>
          <p:nvPr/>
        </p:nvSpPr>
        <p:spPr>
          <a:xfrm xmlns:a="http://schemas.openxmlformats.org/drawingml/2006/main">
            <a:off x="609600" y="4943475"/>
            <a:ext cx="3714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325" b="1">
                <a:solidFill>
                  <a:srgbClr val="006CA5"/>
                </a:solidFill>
                <a:latin typeface="Helvetica Neue"/>
                <a:ea typeface="Helvetica Neue"/>
                <a:cs typeface="Helvetica Neue"/>
              </a:defRPr>
            </a:pPr>
            <a:r>
              <a:rPr sz="2325" b="1">
                <a:solidFill>
                  <a:srgbClr val="006CA5"/>
                </a:solidFill>
                <a:latin typeface="Helvetica Neue"/>
                <a:ea typeface="Helvetica Neue"/>
                <a:cs typeface="Helvetica Neue"/>
              </a:rPr>
              <a:t>Verification and evaluation</a:t>
            </a:r>
          </a:p>
        </p:txBody>
      </p:sp>
      <p:sp>
        <p:nvSpPr>
          <p:cNvPr id="11" name="SWE-Marathon; Don’t Ship Skills Without Evals">
            <a:extLst xmlns:a="http://schemas.openxmlformats.org/drawingml/2006/main">
              <a:ext uri="{FF2B5EF4-FFF2-40B4-BE49-F238E27FC236}">
                <a16:creationId xmlns:a16="http://schemas.microsoft.com/office/drawing/2014/main" id="{8E4D54DE-63DC-4BF9-ADC1-44DED165742B}"/>
              </a:ext>
            </a:extLst>
          </p:cNvPr>
          <p:cNvSpPr>
            <a:spLocks xmlns:a="http://schemas.openxmlformats.org/drawingml/2006/main" noGrp="1"/>
          </p:cNvSpPr>
          <p:nvPr/>
        </p:nvSpPr>
        <p:spPr>
          <a:xfrm xmlns:a="http://schemas.openxmlformats.org/drawingml/2006/main">
            <a:off x="4572000" y="4943475"/>
            <a:ext cx="6953250" cy="1019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52A3A"/>
                </a:solidFill>
                <a:latin typeface="Helvetica Neue"/>
                <a:ea typeface="Helvetica Neue"/>
                <a:cs typeface="Helvetica Neue"/>
              </a:defRPr>
            </a:pPr>
            <a:r>
              <a:rPr sz="2250" b="0">
                <a:solidFill>
                  <a:srgbClr val="152A3A"/>
                </a:solidFill>
                <a:latin typeface="Helvetica Neue"/>
                <a:ea typeface="Helvetica Neue"/>
                <a:cs typeface="Helvetica Neue"/>
              </a:rPr>
              <a:t>SWE-Marathon; Don’t Ship Skills Without Evals</a:t>
            </a:r>
          </a:p>
        </p:txBody>
      </p:sp>
    </p:spTree>
    <p:extLst>
      <p:ext uri="{BB962C8B-B14F-4D97-AF65-F5344CB8AC3E}">
        <p14:creationId xmlns:p14="http://schemas.microsoft.com/office/powerpoint/2010/main" val="178578766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2026-09-08T13:49:40.4390000Z</dcterms:created>
  <dcterms:modified xsi:type="dcterms:W3CDTF">2026-09-08T13:49:40.4390000Z</dcterms:modified>
</coreProperties>
</file>