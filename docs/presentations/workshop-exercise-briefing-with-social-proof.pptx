
<file path=[Content_Types].xml><?xml version="1.0" encoding="utf-8"?>
<Types xmlns="http://schemas.openxmlformats.org/package/2006/content-types">
  <Default Extension="xml" ContentType="application/vnd.openxmlformats-package.core-properties+xml"/>
  <Default Extension="bin" ContentType="image/webp"/>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Default Extension="jpg" ContentType="image/jpeg"/>
  <Default Extension="png" ContentType="image/png"/>
  <Override PartName="/ppt/notesMasters/theme/social-proof-theme3.xml" ContentType="application/vnd.openxmlformats-officedocument.theme+xml"/>
  <Override PartName="/ppt/notesMasters/social-proof-notesMaster1.xml" ContentType="application/vnd.openxmlformats-officedocument.presentationml.notesMaster+xml"/>
  <Override PartName="/ppt/notesSlides/social-proof-notesSlide1.xml" ContentType="application/vnd.openxmlformats-officedocument.presentationml.notesSlide+xml"/>
  <Override PartName="/ppt/slides/social-proof-slide1.xml" ContentType="application/vnd.openxmlformats-officedocument.presentationml.slide+xml"/>
</Types>
</file>

<file path=_rels/.rels>&#65279;<?xml version="1.0" encoding="utf-8"?><Relationships xmlns="http://schemas.openxmlformats.org/package/2006/relationships"><Relationship Type="http://schemas.openxmlformats.org/package/2006/relationships/metadata/core-properties" Target="/docProps/core.xml" Id="Rec243aa21b49428c" /><Relationship Type="http://schemas.openxmlformats.org/officeDocument/2006/relationships/extended-properties" Target="/docProps/app.xml" Id="Rc9f09af257c14365" /><Relationship Type="http://schemas.openxmlformats.org/officeDocument/2006/relationships/officeDocument" Target="/ppt/presentation.xml" Id="R930908612a9e4723" /></Relationships>
</file>

<file path=ppt/presentation.xml><?xml version="1.0" encoding="utf-8"?>
<p:presentation xmlns:p="http://schemas.openxmlformats.org/presentationml/2006/main" xmlns:r="http://schemas.openxmlformats.org/officeDocument/2006/relationships">
  <p:sldMasterIdLst>
    <p:sldMasterId id="2147483648" r:id="R7c11eab6e9bf4f26"/>
  </p:sldMasterIdLst>
  <p:notesMasterIdLst>
    <p:notesMasterId r:id="R67248693c0bc4d85"/>
  </p:notesMasterIdLst>
  <p:sldIdLst>
    <p:sldId id="256" r:id="R843c5be8078f481d"/>
    <p:sldId id="257" r:id="Rc8108d65666a4824"/>
    <p:sldId id="258" r:id="Rd62c16d63f6941bd"/>
    <p:sldId id="259" r:id="Ra3e6d8d98f7b4525"/>
    <p:sldId id="267" r:id="rIdSocialProof"/>
    <p:sldId id="260" r:id="R8c24e265d6104440"/>
    <p:sldId id="261" r:id="R13e1f3ebea674708"/>
    <p:sldId id="262" r:id="R8a1b1872f27748d3"/>
    <p:sldId id="263" r:id="R5a9ef0f8bae34013"/>
    <p:sldId id="264" r:id="R24472653978c4ce2"/>
    <p:sldId id="265" r:id="Rd569cafd40ba490e"/>
    <p:sldId id="266" r:id="Rd3c470c581db4f7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ns0:Relationships xmlns:ns0="http://schemas.openxmlformats.org/package/2006/relationships"><ns0:Relationship Type="http://schemas.openxmlformats.org/officeDocument/2006/relationships/theme" Target="/ppt/theme/theme1.xml" Id="R0129a3502ee148d1" /><ns0:Relationship Type="http://schemas.openxmlformats.org/officeDocument/2006/relationships/slideMaster" Target="/ppt/slideMasters/slideMaster1.xml" Id="R7c11eab6e9bf4f26" /><ns0:Relationship Type="http://schemas.openxmlformats.org/officeDocument/2006/relationships/notesMaster" Target="/ppt/notesMasters/notesMaster1.xml" Id="R67248693c0bc4d85" /><ns0:Relationship Type="http://schemas.openxmlformats.org/officeDocument/2006/relationships/presProps" Target="/ppt/presProps.xml" Id="R773c920707e84e24" /><ns0:Relationship Type="http://schemas.openxmlformats.org/officeDocument/2006/relationships/tableStyles" Target="/ppt/tableStyles.xml" Id="R1fdfb4f2a774448a" /><ns0:Relationship Type="http://schemas.openxmlformats.org/officeDocument/2006/relationships/slide" Target="/ppt/slides/slide1.xml" Id="R843c5be8078f481d" /><ns0:Relationship Type="http://schemas.openxmlformats.org/officeDocument/2006/relationships/slide" Target="/ppt/slides/slide2.xml" Id="Rc8108d65666a4824" /><ns0:Relationship Type="http://schemas.openxmlformats.org/officeDocument/2006/relationships/slide" Target="/ppt/slides/slide3.xml" Id="Rd62c16d63f6941bd" /><ns0:Relationship Type="http://schemas.openxmlformats.org/officeDocument/2006/relationships/slide" Target="/ppt/slides/slide4.xml" Id="Ra3e6d8d98f7b4525" /><ns0:Relationship Type="http://schemas.openxmlformats.org/officeDocument/2006/relationships/slide" Target="/ppt/slides/slide5.xml" Id="R8c24e265d6104440" /><ns0:Relationship Type="http://schemas.openxmlformats.org/officeDocument/2006/relationships/slide" Target="/ppt/slides/slide6.xml" Id="R13e1f3ebea674708" /><ns0:Relationship Type="http://schemas.openxmlformats.org/officeDocument/2006/relationships/slide" Target="/ppt/slides/slide7.xml" Id="R8a1b1872f27748d3" /><ns0:Relationship Type="http://schemas.openxmlformats.org/officeDocument/2006/relationships/slide" Target="/ppt/slides/slide8.xml" Id="R5a9ef0f8bae34013" /><ns0:Relationship Type="http://schemas.openxmlformats.org/officeDocument/2006/relationships/slide" Target="/ppt/slides/slide9.xml" Id="R24472653978c4ce2" /><ns0:Relationship Type="http://schemas.openxmlformats.org/officeDocument/2006/relationships/slide" Target="/ppt/slides/slide10.xml" Id="Rd569cafd40ba490e" /><ns0:Relationship Type="http://schemas.openxmlformats.org/officeDocument/2006/relationships/slide" Target="/ppt/slides/slide11.xml" Id="Rd3c470c581db4f7e" /><ns0:Relationship Id="rIdSocialProof" Type="http://schemas.openxmlformats.org/officeDocument/2006/relationships/slide" Target="slides/social-proof-slide1.xml" /></ns0: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5943d50044d4c6e" /></Relationships>
</file>

<file path=ppt/notesMasters/_rels/social-proof-notesMaster1.xml.rels><?xml version='1.0' encoding='utf-8'?>
<ns0:Relationships xmlns:ns0="http://schemas.openxmlformats.org/package/2006/relationships"><ns0:Relationship Type="http://schemas.openxmlformats.org/officeDocument/2006/relationships/theme" Target="theme/social-proof-theme3.xml" Id="Rb405fd2f1ba54a08" /></ns0: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social-proof-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social-proof-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03723f915654655" /><Relationship Type="http://schemas.openxmlformats.org/officeDocument/2006/relationships/notesMaster" Target="/ppt/notesMasters/notesMaster1.xml" Id="Rebb3681ed887458d" /></Relationships>
</file>

<file path=ppt/notesSlides/_rels/notesSlide2.xml.rels>&#65279;<?xml version="1.0" encoding="utf-8"?><Relationships xmlns="http://schemas.openxmlformats.org/package/2006/relationships"><Relationship Type="http://schemas.openxmlformats.org/officeDocument/2006/relationships/slide" Target="/ppt/slides/slide2.xml" Id="R2978b044dd984f9f" /><Relationship Type="http://schemas.openxmlformats.org/officeDocument/2006/relationships/notesMaster" Target="/ppt/notesMasters/notesMaster1.xml" Id="Rf804297a194341f2" /></Relationships>
</file>

<file path=ppt/notesSlides/_rels/notesSlide3.xml.rels>&#65279;<?xml version="1.0" encoding="utf-8"?><Relationships xmlns="http://schemas.openxmlformats.org/package/2006/relationships"><Relationship Type="http://schemas.openxmlformats.org/officeDocument/2006/relationships/slide" Target="/ppt/slides/slide3.xml" Id="R0c086bf889ce4fe4" /><Relationship Type="http://schemas.openxmlformats.org/officeDocument/2006/relationships/notesMaster" Target="/ppt/notesMasters/notesMaster1.xml" Id="R7538545a43464bde" /></Relationships>
</file>

<file path=ppt/notesSlides/_rels/notesSlide4.xml.rels>&#65279;<?xml version="1.0" encoding="utf-8"?><Relationships xmlns="http://schemas.openxmlformats.org/package/2006/relationships"><Relationship Type="http://schemas.openxmlformats.org/officeDocument/2006/relationships/slide" Target="/ppt/slides/slide4.xml" Id="R07f0486356874d2f" /><Relationship Type="http://schemas.openxmlformats.org/officeDocument/2006/relationships/notesMaster" Target="/ppt/notesMasters/notesMaster1.xml" Id="R4fb411208e6b4690" /></Relationships>
</file>

<file path=ppt/notesSlides/_rels/notesSlide5.xml.rels>&#65279;<?xml version="1.0" encoding="utf-8"?><Relationships xmlns="http://schemas.openxmlformats.org/package/2006/relationships"><Relationship Type="http://schemas.openxmlformats.org/officeDocument/2006/relationships/slide" Target="/ppt/slides/slide5.xml" Id="R1f96e7387000418c" /><Relationship Type="http://schemas.openxmlformats.org/officeDocument/2006/relationships/notesMaster" Target="/ppt/notesMasters/notesMaster1.xml" Id="R7662d92d73c242a9" /></Relationships>
</file>

<file path=ppt/notesSlides/_rels/notesSlide6.xml.rels>&#65279;<?xml version="1.0" encoding="utf-8"?><Relationships xmlns="http://schemas.openxmlformats.org/package/2006/relationships"><Relationship Type="http://schemas.openxmlformats.org/officeDocument/2006/relationships/slide" Target="/ppt/slides/slide6.xml" Id="R983b480de012438c" /><Relationship Type="http://schemas.openxmlformats.org/officeDocument/2006/relationships/notesMaster" Target="/ppt/notesMasters/notesMaster1.xml" Id="R874317dcf27c4ccb" /></Relationships>
</file>

<file path=ppt/notesSlides/_rels/notesSlide7.xml.rels>&#65279;<?xml version="1.0" encoding="utf-8"?><Relationships xmlns="http://schemas.openxmlformats.org/package/2006/relationships"><Relationship Type="http://schemas.openxmlformats.org/officeDocument/2006/relationships/slide" Target="/ppt/slides/slide7.xml" Id="R981765258ca44f63" /><Relationship Type="http://schemas.openxmlformats.org/officeDocument/2006/relationships/notesMaster" Target="/ppt/notesMasters/notesMaster1.xml" Id="Ra27bf12f55cd4b1b" /></Relationships>
</file>

<file path=ppt/notesSlides/_rels/notesSlide8.xml.rels>&#65279;<?xml version="1.0" encoding="utf-8"?><Relationships xmlns="http://schemas.openxmlformats.org/package/2006/relationships"><Relationship Type="http://schemas.openxmlformats.org/officeDocument/2006/relationships/slide" Target="/ppt/slides/slide8.xml" Id="R02559cbd77ea41cd" /><Relationship Type="http://schemas.openxmlformats.org/officeDocument/2006/relationships/notesMaster" Target="/ppt/notesMasters/notesMaster1.xml" Id="R68d1d16ef2ad4de9" /></Relationships>
</file>

<file path=ppt/notesSlides/_rels/notesSlide9.xml.rels>&#65279;<?xml version="1.0" encoding="utf-8"?><Relationships xmlns="http://schemas.openxmlformats.org/package/2006/relationships"><Relationship Type="http://schemas.openxmlformats.org/officeDocument/2006/relationships/slide" Target="/ppt/slides/slide9.xml" Id="R2d3c2d3de5ec406f" /><Relationship Type="http://schemas.openxmlformats.org/officeDocument/2006/relationships/notesMaster" Target="/ppt/notesMasters/notesMaster1.xml" Id="R064a563f9e9d4e7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bd0df7e1fd641c1" /><Relationship Type="http://schemas.openxmlformats.org/officeDocument/2006/relationships/notesMaster" Target="/ppt/notesMasters/notesMaster1.xml" Id="R6c76f881483143c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5f2fd0b4eeb46c3" /><Relationship Type="http://schemas.openxmlformats.org/officeDocument/2006/relationships/notesMaster" Target="/ppt/notesMasters/notesMaster1.xml" Id="Rb361c05db01d450e" /></Relationships>
</file>

<file path=ppt/notesSlides/_rels/social-proof-notesSlide1.xml.rels><?xml version='1.0' encoding='utf-8'?>
<ns0:Relationships xmlns:ns0="http://schemas.openxmlformats.org/package/2006/relationships"><ns0:Relationship Type="http://schemas.openxmlformats.org/officeDocument/2006/relationships/slide" Target="../slides/social-proof-slide1.xml" Id="Rf59e8f2f250a480a" /><ns0:Relationship Type="http://schemas.openxmlformats.org/officeDocument/2006/relationships/notesMaster" Target="../notesMasters/social-proof-notesMaster1.xml" Id="R245766197be94c2f" /></ns0: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FACILITATOR CUE: about 40 seconds.</a:t>
            </a:r>
          </a:p>
          <a:p xmlns:a="http://schemas.openxmlformats.org/drawingml/2006/main">
            <a:r>
              <a:t/>
            </a:r>
          </a:p>
          <a:p xmlns:a="http://schemas.openxmlformats.org/drawingml/2006/main">
            <a:r>
              <a:t>Say: You are the engineering team taking over Pocket Cinema, an existing movie application. Hearth &amp; Harvest Foods wants to reuse it to launch TableStory, a recipe product. You are responsible for delivering that transformation using AI agents. Keep laptops on this briefing for now. Introduce the product problem before naming factory internals. This opening is a separate briefing for use before Setup; the existing three-hour deck is unchanged.</a:t>
            </a:r>
          </a:p>
          <a:p xmlns:a="http://schemas.openxmlformats.org/drawingml/2006/main">
            <a:r>
              <a:t/>
            </a:r>
          </a:p>
          <a:p xmlns:a="http://schemas.openxmlformats.org/drawingml/2006/main">
            <a:r>
              <a:t>SOURCES</a:t>
            </a:r>
          </a:p>
          <a:p xmlns:a="http://schemas.openxmlformats.org/drawingml/2006/main">
            <a:r>
              <a:t>recipe-app-prd.md; factory/WORKSHOP_PLAN_3_HOURS.md; factory/AGENT_REFERENCE.md; factory/CONTROL_CENTER.md.</a:t>
            </a:r>
          </a:p>
          <a:p xmlns:a="http://schemas.openxmlformats.org/drawingml/2006/main">
            <a:r>
              <a:t>Workshop guide: https://software-refactory-workshop.vercel.app/</a:t>
            </a:r>
          </a:p>
          <a:p xmlns:a="http://schemas.openxmlformats.org/drawingml/2006/main">
            <a:r>
              <a:t/>
            </a:r>
          </a:p>
          <a:p xmlns:a="http://schemas.openxmlformats.org/drawingml/2006/main">
            <a:r>
              <a:t>This is the Standard Live workshop. Use each attendee's own disposable GitHub repository. Human QA approval and human merge remain enabled. Prepared product screenshots illustrate the goal, not an attendee's completed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FACILITATOR CUE: about 45 seconds.</a:t>
            </a:r>
          </a:p>
          <a:p xmlns:a="http://schemas.openxmlformats.org/drawingml/2006/main">
            <a:r>
              <a:t/>
            </a:r>
          </a:p>
          <a:p xmlns:a="http://schemas.openxmlformats.org/drawingml/2006/main">
            <a:r>
              <a:t>Show the Pocket Cinema starting app and the prepared TableStory reference. Point out that familiar capabilities can be reused, but their meaning changes. Say: Today someone looks for a movie, reads its details and saves it. The new customer wants a home cook to search by ingredient, read cooking instructions and save a recipe. The screenshot is one possible completed design, not a pixel-perfect template or a promise of the exact Live output. Sources for images: workshop-guide/public/screenshots/pocket-cinema-before.webp and tablestory-desktop.webp.</a:t>
            </a:r>
          </a:p>
          <a:p xmlns:a="http://schemas.openxmlformats.org/drawingml/2006/main">
            <a:r>
              <a:t/>
            </a:r>
          </a:p>
          <a:p xmlns:a="http://schemas.openxmlformats.org/drawingml/2006/main">
            <a:r>
              <a:t>SOURCES</a:t>
            </a:r>
          </a:p>
          <a:p xmlns:a="http://schemas.openxmlformats.org/drawingml/2006/main">
            <a:r>
              <a:t>recipe-app-prd.md; factory/WORKSHOP_PLAN_3_HOURS.md; factory/AGENT_REFERENCE.md; factory/CONTROL_CENTER.md.</a:t>
            </a:r>
          </a:p>
          <a:p xmlns:a="http://schemas.openxmlformats.org/drawingml/2006/main">
            <a:r>
              <a:t>Workshop guide: https://software-refactory-workshop.vercel.app/</a:t>
            </a:r>
          </a:p>
          <a:p xmlns:a="http://schemas.openxmlformats.org/drawingml/2006/main">
            <a:r>
              <a:t/>
            </a:r>
          </a:p>
          <a:p xmlns:a="http://schemas.openxmlformats.org/drawingml/2006/main">
            <a:r>
              <a:t>This is the Standard Live workshop. Use each attendee's own disposable GitHub repository. Human QA approval and human merge remain enabled. Prepared product screenshots illustrate the goal, not an attendee's completed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FACILITATOR CUE: about 40 seconds.</a:t>
            </a:r>
          </a:p>
          <a:p xmlns:a="http://schemas.openxmlformats.org/drawingml/2006/main">
            <a:r>
              <a:t/>
            </a:r>
          </a:p>
          <a:p xmlns:a="http://schemas.openxmlformats.org/drawingml/2006/main">
            <a:r>
              <a:t>Keep one cooking journey as the teaching thread, while preserving the full PRD scope. Explain recipe data and APIs in plain language as the information and services behind the screens. The app must also work on mobile and with TV keyboard/remote navigation, and remove movie-domain language. A logo swap or one search ticket is insufficient. The provided recipe-app-prd.md contains the detailed requirements. Do not add accounts, cross-device synchronization or persistent storage beyond the PRD.</a:t>
            </a:r>
          </a:p>
          <a:p xmlns:a="http://schemas.openxmlformats.org/drawingml/2006/main">
            <a:r>
              <a:t/>
            </a:r>
          </a:p>
          <a:p xmlns:a="http://schemas.openxmlformats.org/drawingml/2006/main">
            <a:r>
              <a:t>SOURCES</a:t>
            </a:r>
          </a:p>
          <a:p xmlns:a="http://schemas.openxmlformats.org/drawingml/2006/main">
            <a:r>
              <a:t>recipe-app-prd.md; factory/WORKSHOP_PLAN_3_HOURS.md; factory/AGENT_REFERENCE.md; factory/CONTROL_CENTER.md.</a:t>
            </a:r>
          </a:p>
          <a:p xmlns:a="http://schemas.openxmlformats.org/drawingml/2006/main">
            <a:r>
              <a:t>Workshop guide: https://software-refactory-workshop.vercel.app/</a:t>
            </a:r>
          </a:p>
          <a:p xmlns:a="http://schemas.openxmlformats.org/drawingml/2006/main">
            <a:r>
              <a:t/>
            </a:r>
          </a:p>
          <a:p xmlns:a="http://schemas.openxmlformats.org/drawingml/2006/main">
            <a:r>
              <a:t>This is the Standard Live workshop. Use each attendee's own disposable GitHub repository. Human QA approval and human merge remain enabled. Prepared product screenshots illustrate the goal, not an attendee's completed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FACILITATOR CUE: about 40 seconds.</a:t>
            </a:r>
          </a:p>
          <a:p xmlns:a="http://schemas.openxmlformats.org/drawingml/2006/main">
            <a:r>
              <a:t/>
            </a:r>
          </a:p>
          <a:p xmlns:a="http://schemas.openxmlformats.org/drawingml/2006/main">
            <a:r>
              <a:t>Use this working definition: a repeatable software-delivery workflow that uses AI agents to perform development tasks. It connects requirements to implementation, checks and acceptance under explicit operating rules. One agent can participate in a factory. Several agents, cloud deployment and full autonomy are not defining requirements. Our workshop implementation keeps human approval and uses ordinary code to coordinate Standard delivery. The repository contract supplies project rules; the PRD supplies the intended outcome.</a:t>
            </a:r>
          </a:p>
          <a:p xmlns:a="http://schemas.openxmlformats.org/drawingml/2006/main">
            <a:r>
              <a:t/>
            </a:r>
          </a:p>
          <a:p xmlns:a="http://schemas.openxmlformats.org/drawingml/2006/main">
            <a:r>
              <a:t>SOURCES</a:t>
            </a:r>
          </a:p>
          <a:p xmlns:a="http://schemas.openxmlformats.org/drawingml/2006/main">
            <a:r>
              <a:t>Workshop definition and application: factory/WORKSHOP_NARRATIVE.md; factory/WORKSHOP_PLAN_3_HOURS.md; factory/AGENT_REFERENCE.md; recipe-app-prd.md.</a:t>
            </a:r>
          </a:p>
          <a:p xmlns:a="http://schemas.openxmlformats.org/drawingml/2006/main">
            <a:r>
              <a:t>Discussion of planning, review and rework: Dex Horthy, Harness Engineering is not Enough: Why Software Factories Fail, https://ai.engineer/talks/Ib5GBkD555M-harness-engineering-is-not-enough-why-software (checked 14 September 2026).</a:t>
            </a:r>
          </a:p>
          <a:p xmlns:a="http://schemas.openxmlformats.org/drawingml/2006/main">
            <a:r>
              <a:t>The selection advice is a workshop recommendation, not a measured comparison or universal requirement.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FACILITATOR CUE: about 40 seconds.</a:t>
            </a:r>
          </a:p>
          <a:p xmlns:a="http://schemas.openxmlformats.org/drawingml/2006/main">
            <a:r>
              <a:t/>
            </a:r>
          </a:p>
          <a:p xmlns:a="http://schemas.openxmlformats.org/drawingml/2006/main">
            <a:r>
              <a:t>Tie the explanation to TableStory. Recipe data, public APIs and screens must agree, so a plan and ticket prerequisites coordinate the changes. The factory records candidate checks and review so people can inspect what supports acceptance. Failures return to the appropriate work with their evidence rather than requiring someone to reconstruct every handoff. These are intended operational benefits, not a claim of guaranteed speed or correctness. Existing CI and developer tools can provide some of the same controls. The added coordination must earn its cost.</a:t>
            </a:r>
          </a:p>
          <a:p xmlns:a="http://schemas.openxmlformats.org/drawingml/2006/main">
            <a:r>
              <a:t/>
            </a:r>
          </a:p>
          <a:p xmlns:a="http://schemas.openxmlformats.org/drawingml/2006/main">
            <a:r>
              <a:t>SOURCES</a:t>
            </a:r>
          </a:p>
          <a:p xmlns:a="http://schemas.openxmlformats.org/drawingml/2006/main">
            <a:r>
              <a:t>Workshop definition and application: factory/WORKSHOP_NARRATIVE.md; factory/WORKSHOP_PLAN_3_HOURS.md; factory/AGENT_REFERENCE.md; recipe-app-prd.md.</a:t>
            </a:r>
          </a:p>
          <a:p xmlns:a="http://schemas.openxmlformats.org/drawingml/2006/main">
            <a:r>
              <a:t>Discussion of planning, review and rework: Dex Horthy, Harness Engineering is not Enough: Why Software Factories Fail, https://ai.engineer/talks/Ib5GBkD555M-harness-engineering-is-not-enough-why-software (checked 14 September 2026).</a:t>
            </a:r>
          </a:p>
          <a:p xmlns:a="http://schemas.openxmlformats.org/drawingml/2006/main">
            <a:r>
              <a:t>The selection advice is a workshop recommendation, not a measured comparison or universal requirement.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FACILITATOR CUE: about 40 seconds.</a:t>
            </a:r>
          </a:p>
          <a:p xmlns:a="http://schemas.openxmlformats.org/drawingml/2006/main">
            <a:r>
              <a:t/>
            </a:r>
          </a:p>
          <a:p xmlns:a="http://schemas.openxmlformats.org/drawingml/2006/main">
            <a:r>
              <a:t>Recommend a small pilot when repeatable delivery work, dependencies and approval handoffs create a real coordination burden. Start with outcomes that can be checked and an owner who can review them. Potential examples include bounded migrations or a product transformation such as TableStory. For a small isolated fix, a coding agent with existing tests, CI and human review may be sufficient. If requirements are unclear or meaningful checks do not exist, establish them first; more orchestration cannot substitute for those foundations. Measure accepted outcomes, active review effort, retries and cost before expanding.</a:t>
            </a:r>
          </a:p>
          <a:p xmlns:a="http://schemas.openxmlformats.org/drawingml/2006/main">
            <a:r>
              <a:t/>
            </a:r>
          </a:p>
          <a:p xmlns:a="http://schemas.openxmlformats.org/drawingml/2006/main">
            <a:r>
              <a:t>SOURCES</a:t>
            </a:r>
          </a:p>
          <a:p xmlns:a="http://schemas.openxmlformats.org/drawingml/2006/main">
            <a:r>
              <a:t>Workshop definition and application: factory/WORKSHOP_NARRATIVE.md; factory/WORKSHOP_PLAN_3_HOURS.md; factory/AGENT_REFERENCE.md; recipe-app-prd.md.</a:t>
            </a:r>
          </a:p>
          <a:p xmlns:a="http://schemas.openxmlformats.org/drawingml/2006/main">
            <a:r>
              <a:t>Discussion of planning, review and rework: Dex Horthy, Harness Engineering is not Enough: Why Software Factories Fail, https://ai.engineer/talks/Ib5GBkD555M-harness-engineering-is-not-enough-why-software (checked 14 September 2026).</a:t>
            </a:r>
          </a:p>
          <a:p xmlns:a="http://schemas.openxmlformats.org/drawingml/2006/main">
            <a:r>
              <a:t>The selection advice is a workshop recommendation, not a measured comparison or universal requirement.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FACILITATOR CUE: about 50 seconds.</a:t>
            </a:r>
          </a:p>
          <a:p xmlns:a="http://schemas.openxmlformats.org/drawingml/2006/main">
            <a:r>
              <a:t/>
            </a:r>
          </a:p>
          <a:p xmlns:a="http://schemas.openxmlformats.org/drawingml/2006/main">
            <a:r>
              <a:t>Say: You are here to make engineering decisions about the agents’ work. The agents prepare requirements, a technical plan, acceptance tests, implementation and code review. Ordinary factory code coordinates the work and runs checks. You review product intent and the plan before tickets, approve valid QA evidence before implementation, and inspect the exact candidate before merging. You can request corrections. Separate agent roles can share blind spots; their output does not replace your judgment. Avoid listing all agent names in this opening.</a:t>
            </a:r>
          </a:p>
          <a:p xmlns:a="http://schemas.openxmlformats.org/drawingml/2006/main">
            <a:r>
              <a:t/>
            </a:r>
          </a:p>
          <a:p xmlns:a="http://schemas.openxmlformats.org/drawingml/2006/main">
            <a:r>
              <a:t>SOURCES</a:t>
            </a:r>
          </a:p>
          <a:p xmlns:a="http://schemas.openxmlformats.org/drawingml/2006/main">
            <a:r>
              <a:t>recipe-app-prd.md; factory/WORKSHOP_PLAN_3_HOURS.md; factory/AGENT_REFERENCE.md; factory/CONTROL_CENTER.md.</a:t>
            </a:r>
          </a:p>
          <a:p xmlns:a="http://schemas.openxmlformats.org/drawingml/2006/main">
            <a:r>
              <a:t>Workshop guide: https://software-refactory-workshop.vercel.app/</a:t>
            </a:r>
          </a:p>
          <a:p xmlns:a="http://schemas.openxmlformats.org/drawingml/2006/main">
            <a:r>
              <a:t/>
            </a:r>
          </a:p>
          <a:p xmlns:a="http://schemas.openxmlformats.org/drawingml/2006/main">
            <a:r>
              <a:t>This is the Standard Live workshop. Use each attendee's own disposable GitHub repository. Human QA approval and human merge remain enabled. Prepared product screenshots illustrate the goal, not an attendee's completed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FACILITATOR CUE: about 30 seconds.</a:t>
            </a:r>
          </a:p>
          <a:p xmlns:a="http://schemas.openxmlformats.org/drawingml/2006/main">
            <a:r>
              <a:t/>
            </a:r>
          </a:p>
          <a:p xmlns:a="http://schemas.openxmlformats.org/drawingml/2006/main">
            <a:r>
              <a:t>Orient the room before asking anyone to navigate. The website gives instructions, the Control Center operates the factory, the personal GitHub repository holds the changed product, and GitHub Projects shows its tickets. These are views and tools for one exercise, not four separate assignments. The factory checkout and product repository are separate. Each attendee uses their own product repository; the facilitator uses a separate one. Detailed installation and authentication remain in the website.</a:t>
            </a:r>
          </a:p>
          <a:p xmlns:a="http://schemas.openxmlformats.org/drawingml/2006/main">
            <a:r>
              <a:t/>
            </a:r>
          </a:p>
          <a:p xmlns:a="http://schemas.openxmlformats.org/drawingml/2006/main">
            <a:r>
              <a:t>SOURCES</a:t>
            </a:r>
          </a:p>
          <a:p xmlns:a="http://schemas.openxmlformats.org/drawingml/2006/main">
            <a:r>
              <a:t>recipe-app-prd.md; factory/WORKSHOP_PLAN_3_HOURS.md; factory/AGENT_REFERENCE.md; factory/CONTROL_CENTER.md.</a:t>
            </a:r>
          </a:p>
          <a:p xmlns:a="http://schemas.openxmlformats.org/drawingml/2006/main">
            <a:r>
              <a:t>Workshop guide: https://software-refactory-workshop.vercel.app/</a:t>
            </a:r>
          </a:p>
          <a:p xmlns:a="http://schemas.openxmlformats.org/drawingml/2006/main">
            <a:r>
              <a:t/>
            </a:r>
          </a:p>
          <a:p xmlns:a="http://schemas.openxmlformats.org/drawingml/2006/main">
            <a:r>
              <a:t>This is the Standard Live workshop. Use each attendee's own disposable GitHub repository. Human QA approval and human merge remain enabled. Prepared product screenshots illustrate the goal, not an attendee's completed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FACILITATOR CUE: about 30 seconds.</a:t>
            </a:r>
          </a:p>
          <a:p xmlns:a="http://schemas.openxmlformats.org/drawingml/2006/main">
            <a:r>
              <a:t/>
            </a:r>
          </a:p>
          <a:p xmlns:a="http://schemas.openxmlformats.org/drawingml/2006/main">
            <a:r>
              <a:t>Point back to the customer request. Completion requires the approved transformation to be merged and the integrated application to satisfy acceptance checks. Demonstrate the full find/read/save journey and removal from My Cookbook, plus the rest of the approved scope, including APIs, mobile/TV behavior and domain cleanup. Inspect the merged version rather than only an isolated ticket. Green ticket states alone do not establish product acceptance.</a:t>
            </a:r>
          </a:p>
          <a:p xmlns:a="http://schemas.openxmlformats.org/drawingml/2006/main">
            <a:r>
              <a:t/>
            </a:r>
          </a:p>
          <a:p xmlns:a="http://schemas.openxmlformats.org/drawingml/2006/main">
            <a:r>
              <a:t>SOURCES</a:t>
            </a:r>
          </a:p>
          <a:p xmlns:a="http://schemas.openxmlformats.org/drawingml/2006/main">
            <a:r>
              <a:t>recipe-app-prd.md; factory/WORKSHOP_PLAN_3_HOURS.md; factory/AGENT_REFERENCE.md; factory/CONTROL_CENTER.md.</a:t>
            </a:r>
          </a:p>
          <a:p xmlns:a="http://schemas.openxmlformats.org/drawingml/2006/main">
            <a:r>
              <a:t>Workshop guide: https://software-refactory-workshop.vercel.app/</a:t>
            </a:r>
          </a:p>
          <a:p xmlns:a="http://schemas.openxmlformats.org/drawingml/2006/main">
            <a:r>
              <a:t/>
            </a:r>
          </a:p>
          <a:p xmlns:a="http://schemas.openxmlformats.org/drawingml/2006/main">
            <a:r>
              <a:t>This is the Standard Live workshop. Use each attendee's own disposable GitHub repository. Human QA approval and human merge remain enabled. Prepared product screenshots illustrate the goal, not an attendee's completed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FACILITATOR CUE: about 25 seconds.</a:t>
            </a:r>
          </a:p>
          <a:p xmlns:a="http://schemas.openxmlformats.org/drawingml/2006/main">
            <a:r>
              <a:t/>
            </a:r>
          </a:p>
          <a:p xmlns:a="http://schemas.openxmlformats.org/drawingml/2006/main">
            <a:r>
              <a:t>Distinguish the product outcome from the learning outcome. A Live agent run may take longer than the workshop. Healthy agents can keep running. While waiting, inspect the starting app or prepare the acceptance example, and use clearly labeled prepared evidence if the next teaching decision arrives before the Live artifact. Never approve work just to maintain pace. Preserve incomplete work, record the ticket or stage, the next action and its owner, and explain how to resume. Do not describe a prepared example as completing a participant’s Live run.</a:t>
            </a:r>
          </a:p>
          <a:p xmlns:a="http://schemas.openxmlformats.org/drawingml/2006/main">
            <a:r>
              <a:t/>
            </a:r>
          </a:p>
          <a:p xmlns:a="http://schemas.openxmlformats.org/drawingml/2006/main">
            <a:r>
              <a:t>SOURCES</a:t>
            </a:r>
          </a:p>
          <a:p xmlns:a="http://schemas.openxmlformats.org/drawingml/2006/main">
            <a:r>
              <a:t>recipe-app-prd.md; factory/WORKSHOP_PLAN_3_HOURS.md; factory/AGENT_REFERENCE.md; factory/CONTROL_CENTER.md.</a:t>
            </a:r>
          </a:p>
          <a:p xmlns:a="http://schemas.openxmlformats.org/drawingml/2006/main">
            <a:r>
              <a:t>Workshop guide: https://software-refactory-workshop.vercel.app/</a:t>
            </a:r>
          </a:p>
          <a:p xmlns:a="http://schemas.openxmlformats.org/drawingml/2006/main">
            <a:r>
              <a:t/>
            </a:r>
          </a:p>
          <a:p xmlns:a="http://schemas.openxmlformats.org/drawingml/2006/main">
            <a:r>
              <a:t>This is the Standard Live workshop. Use each attendee's own disposable GitHub repository. Human QA approval and human merge remain enabled. Prepared product screenshots illustrate the goal, not an attendee's completed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FACILITATOR CUE: about 40 seconds.</a:t>
            </a:r>
          </a:p>
          <a:p xmlns:a="http://schemas.openxmlformats.org/drawingml/2006/main">
            <a:r>
              <a:t/>
            </a:r>
          </a:p>
          <a:p xmlns:a="http://schemas.openxmlformats.org/drawingml/2006/main">
            <a:r>
              <a:t>Ask before anyone moves to Setup: In your own words, what are you delivering and what are you responsible for checking? Give people a moment, then hear one or two answers. Expected answer: We are transforming a movie app into the complete recipe product, using agents. We remain responsible for whether their understanding, plan, tests and finished changes meet the requirement. If the answer is only launching agents or completing tickets, return to the product and role slides. Once this is clear, proceed to the existing workshop guide Setup or confirm pre-session setup.</a:t>
            </a:r>
          </a:p>
          <a:p xmlns:a="http://schemas.openxmlformats.org/drawingml/2006/main">
            <a:r>
              <a:t/>
            </a:r>
          </a:p>
          <a:p xmlns:a="http://schemas.openxmlformats.org/drawingml/2006/main">
            <a:r>
              <a:t>SOURCES</a:t>
            </a:r>
          </a:p>
          <a:p xmlns:a="http://schemas.openxmlformats.org/drawingml/2006/main">
            <a:r>
              <a:t>recipe-app-prd.md; factory/WORKSHOP_PLAN_3_HOURS.md; factory/AGENT_REFERENCE.md; factory/CONTROL_CENTER.md.</a:t>
            </a:r>
          </a:p>
          <a:p xmlns:a="http://schemas.openxmlformats.org/drawingml/2006/main">
            <a:r>
              <a:t>Workshop guide: https://software-refactory-workshop.vercel.app/</a:t>
            </a:r>
          </a:p>
          <a:p xmlns:a="http://schemas.openxmlformats.org/drawingml/2006/main">
            <a:r>
              <a:t/>
            </a:r>
          </a:p>
          <a:p xmlns:a="http://schemas.openxmlformats.org/drawingml/2006/main">
            <a:r>
              <a:t>This is the Standard Live workshop. Use each attendee's own disposable GitHub repository. Human QA approval and human merge remain enabled. Prepared product screenshots illustrate the goal, not an attendee's completed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social-proof-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FACILITATOR CUE: about 45 seconds.</a:t>
            </a:r>
          </a:p>
          <a:p xmlns:a="http://schemas.openxmlformats.org/drawingml/2006/main">
            <a:r>
              <a:t/>
            </a:r>
          </a:p>
          <a:p xmlns:a="http://schemas.openxmlformats.org/drawingml/2006/main">
            <a:r>
              <a:t>These six posts show three practitioners discussing and building software factories. Point to Bob Martin’s working squad, Addy Osmani’s emphasis on human judgment and Guillermo Rauch’s focus on the factory itself. They disagree about how far autonomy should go. This is evidence of active discussion, not proof that the approaches are safe, effective or universally adopted. The workshop gives you a way to inspect those claims through an actual delivery exercise. Keep human review and the final merge decision in our Standard workshop.</a:t>
            </a:r>
          </a:p>
          <a:p xmlns:a="http://schemas.openxmlformats.org/drawingml/2006/main">
            <a:r>
              <a:t/>
            </a:r>
          </a:p>
          <a:p xmlns:a="http://schemas.openxmlformats.org/drawingml/2006/main">
            <a:r>
              <a:t>The visible posts show July and August dates without a year. The supplied files were captured on 14 September 2026. Do not infer verified publication years or current engagement counts from the filenames. Some screenshots contain truncated posts; no missing text has been reconstructed. Images remain intact and editable as individual pictures.</a:t>
            </a:r>
          </a:p>
          <a:p xmlns:a="http://schemas.openxmlformats.org/drawingml/2006/main">
            <a:r>
              <a:t/>
            </a:r>
          </a:p>
          <a:p xmlns:a="http://schemas.openxmlformats.org/drawingml/2006/main">
            <a:r>
              <a:t>SOURCES</a:t>
            </a:r>
          </a:p>
          <a:p xmlns:a="http://schemas.openxmlformats.org/drawingml/2006/main">
            <a:r>
              <a:t>User-supplied screenshots:</a:t>
            </a:r>
          </a:p>
          <a:p xmlns:a="http://schemas.openxmlformats.org/drawingml/2006/main">
            <a:r>
              <a:t>/Users/glaquidara/Desktop/Screenshot 2026-09-14 at 13.00.30.png</a:t>
            </a:r>
          </a:p>
          <a:p xmlns:a="http://schemas.openxmlformats.org/drawingml/2006/main">
            <a:r>
              <a:t>/Users/glaquidara/Desktop/Screenshot 2026-09-14 at 13.01.27.png</a:t>
            </a:r>
          </a:p>
          <a:p xmlns:a="http://schemas.openxmlformats.org/drawingml/2006/main">
            <a:r>
              <a:t>/Users/glaquidara/Desktop/Screenshot 2026-09-14 at 13.00.06.png</a:t>
            </a:r>
          </a:p>
          <a:p xmlns:a="http://schemas.openxmlformats.org/drawingml/2006/main">
            <a:r>
              <a:t>/Users/glaquidara/Desktop/Screenshot 2026-09-14 at 13.00.23.png</a:t>
            </a:r>
          </a:p>
          <a:p xmlns:a="http://schemas.openxmlformats.org/drawingml/2006/main">
            <a:r>
              <a:t>/Users/glaquidara/Desktop/Screenshot 2026-09-14 at 12.59.35.png</a:t>
            </a:r>
          </a:p>
          <a:p xmlns:a="http://schemas.openxmlformats.org/drawingml/2006/main">
            <a:r>
              <a:t>/Users/glaquidara/Desktop/Screenshot 2026-09-14 at 13.01.14.png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f1bbe15201f4fc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cae058a60274003" /><Relationship Type="http://schemas.openxmlformats.org/officeDocument/2006/relationships/slideLayout" Target="/ppt/slideLayouts/slideLayout1.xml" Id="Rf24ff18e0693424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24ff18e0693424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ns0:Relationships xmlns:ns0="http://schemas.openxmlformats.org/package/2006/relationships"><ns0:Relationship Type="http://schemas.openxmlformats.org/officeDocument/2006/relationships/slideLayout" Target="/ppt/slideLayouts/slideLayout1.xml" Id="R3551d6d9c0b242e0" /><ns0:Relationship Type="http://schemas.openxmlformats.org/officeDocument/2006/relationships/notesSlide" Target="/ppt/notesSlides/notesSlide1.xml" Id="R3d7651e934194d2c" /><ns0:Relationship Id="rIdWorkshopBackground" Type="http://schemas.openxmlformats.org/officeDocument/2006/relationships/image" Target="../media/workshop-template-background.jpg" /></ns0:Relationships>
</file>

<file path=ppt/slides/_rels/slide2.xml.rels><?xml version='1.0' encoding='utf-8'?>
<ns0:Relationships xmlns:ns0="http://schemas.openxmlformats.org/package/2006/relationships"><ns0:Relationship Type="http://schemas.openxmlformats.org/officeDocument/2006/relationships/slideLayout" Target="/ppt/slideLayouts/slideLayout1.xml" Id="Rb630eaefce8c4319" /><ns0:Relationship Type="http://schemas.openxmlformats.org/officeDocument/2006/relationships/image" Target="/ppt/media/image.bin" Id="R50e4dcd6411f4051" /><ns0:Relationship Type="http://schemas.openxmlformats.org/officeDocument/2006/relationships/image" Target="/ppt/media/image2.bin" Id="R1fd564180cfe4bb8" /><ns0:Relationship Type="http://schemas.openxmlformats.org/officeDocument/2006/relationships/notesSlide" Target="/ppt/notesSlides/notesSlide2.xml" Id="R7df0861b731340f3" /><ns0:Relationship Id="rIdWorkshopBackground" Type="http://schemas.openxmlformats.org/officeDocument/2006/relationships/image" Target="../media/workshop-template-background.jpg" /></ns0:Relationships>
</file>

<file path=ppt/slides/_rels/slide3.xml.rels><?xml version='1.0' encoding='utf-8'?>
<ns0:Relationships xmlns:ns0="http://schemas.openxmlformats.org/package/2006/relationships"><ns0:Relationship Type="http://schemas.openxmlformats.org/officeDocument/2006/relationships/slideLayout" Target="/ppt/slideLayouts/slideLayout1.xml" Id="Re96a2cbc3f214058" /><ns0:Relationship Type="http://schemas.openxmlformats.org/officeDocument/2006/relationships/notesSlide" Target="/ppt/notesSlides/notesSlide3.xml" Id="R622a5439d9804cc8" /><ns0:Relationship Id="rIdWorkshopBackground" Type="http://schemas.openxmlformats.org/officeDocument/2006/relationships/image" Target="../media/workshop-template-background.jpg" /></ns0:Relationships>
</file>

<file path=ppt/slides/_rels/slide4.xml.rels><?xml version='1.0' encoding='utf-8'?>
<ns0:Relationships xmlns:ns0="http://schemas.openxmlformats.org/package/2006/relationships"><ns0:Relationship Type="http://schemas.openxmlformats.org/officeDocument/2006/relationships/slideLayout" Target="/ppt/slideLayouts/slideLayout1.xml" Id="R5fe23a4563544ede" /><ns0:Relationship Type="http://schemas.openxmlformats.org/officeDocument/2006/relationships/notesSlide" Target="/ppt/notesSlides/notesSlide4.xml" Id="Rbcdd525c0be547bf" /><ns0:Relationship Id="rIdWorkshopBackground" Type="http://schemas.openxmlformats.org/officeDocument/2006/relationships/image" Target="../media/workshop-template-background.jpg" /></ns0:Relationships>
</file>

<file path=ppt/slides/_rels/slide5.xml.rels><?xml version='1.0' encoding='utf-8'?>
<ns0:Relationships xmlns:ns0="http://schemas.openxmlformats.org/package/2006/relationships"><ns0:Relationship Type="http://schemas.openxmlformats.org/officeDocument/2006/relationships/slideLayout" Target="/ppt/slideLayouts/slideLayout1.xml" Id="R3337faa822ab47dd" /><ns0:Relationship Type="http://schemas.openxmlformats.org/officeDocument/2006/relationships/notesSlide" Target="/ppt/notesSlides/notesSlide5.xml" Id="R4cf1c19643d141f5" /><ns0:Relationship Id="rIdWorkshopBackground" Type="http://schemas.openxmlformats.org/officeDocument/2006/relationships/image" Target="../media/workshop-template-background.jpg" /></ns0:Relationships>
</file>

<file path=ppt/slides/_rels/slide6.xml.rels><?xml version='1.0' encoding='utf-8'?>
<ns0:Relationships xmlns:ns0="http://schemas.openxmlformats.org/package/2006/relationships"><ns0:Relationship Type="http://schemas.openxmlformats.org/officeDocument/2006/relationships/slideLayout" Target="/ppt/slideLayouts/slideLayout1.xml" Id="Rc99aa276f62e4d35" /><ns0:Relationship Type="http://schemas.openxmlformats.org/officeDocument/2006/relationships/notesSlide" Target="/ppt/notesSlides/notesSlide6.xml" Id="R90864e1754494f72" /><ns0:Relationship Id="rIdWorkshopBackground" Type="http://schemas.openxmlformats.org/officeDocument/2006/relationships/image" Target="../media/workshop-template-background.jpg" /></ns0:Relationships>
</file>

<file path=ppt/slides/_rels/slide7.xml.rels><?xml version='1.0' encoding='utf-8'?>
<ns0:Relationships xmlns:ns0="http://schemas.openxmlformats.org/package/2006/relationships"><ns0:Relationship Type="http://schemas.openxmlformats.org/officeDocument/2006/relationships/slideLayout" Target="/ppt/slideLayouts/slideLayout1.xml" Id="Redf772e34f2f4c1a" /><ns0:Relationship Type="http://schemas.openxmlformats.org/officeDocument/2006/relationships/notesSlide" Target="/ppt/notesSlides/notesSlide7.xml" Id="R458d057a85984214" /><ns0:Relationship Id="rIdWorkshopBackground" Type="http://schemas.openxmlformats.org/officeDocument/2006/relationships/image" Target="../media/workshop-template-background.jpg" /></ns0:Relationships>
</file>

<file path=ppt/slides/_rels/slide8.xml.rels><?xml version='1.0' encoding='utf-8'?>
<ns0:Relationships xmlns:ns0="http://schemas.openxmlformats.org/package/2006/relationships"><ns0:Relationship Type="http://schemas.openxmlformats.org/officeDocument/2006/relationships/slideLayout" Target="/ppt/slideLayouts/slideLayout1.xml" Id="R822d6fa4c2ea49b1" /><ns0:Relationship Type="http://schemas.openxmlformats.org/officeDocument/2006/relationships/notesSlide" Target="/ppt/notesSlides/notesSlide8.xml" Id="R98b23c6d86d4431d" /><ns0:Relationship Id="rIdWorkshopBackground" Type="http://schemas.openxmlformats.org/officeDocument/2006/relationships/image" Target="../media/workshop-template-background.jpg" /></ns0:Relationships>
</file>

<file path=ppt/slides/_rels/slide9.xml.rels><?xml version='1.0' encoding='utf-8'?>
<ns0:Relationships xmlns:ns0="http://schemas.openxmlformats.org/package/2006/relationships"><ns0:Relationship Type="http://schemas.openxmlformats.org/officeDocument/2006/relationships/slideLayout" Target="/ppt/slideLayouts/slideLayout1.xml" Id="R903e7bdec43f42a3" /><ns0:Relationship Type="http://schemas.openxmlformats.org/officeDocument/2006/relationships/notesSlide" Target="/ppt/notesSlides/notesSlide9.xml" Id="Ra75094d3b0324851" /><ns0:Relationship Id="rIdWorkshopBackground" Type="http://schemas.openxmlformats.org/officeDocument/2006/relationships/image" Target="../media/workshop-template-background.jpg" /></ns0:Relationships>
</file>

<file path=ppt/slides/_rels/slide10.xml.rels><?xml version='1.0' encoding='utf-8'?>
<ns0:Relationships xmlns:ns0="http://schemas.openxmlformats.org/package/2006/relationships"><ns0:Relationship Type="http://schemas.openxmlformats.org/officeDocument/2006/relationships/slideLayout" Target="/ppt/slideLayouts/slideLayout1.xml" Id="R8a307abbe7c54c6f" /><ns0:Relationship Type="http://schemas.openxmlformats.org/officeDocument/2006/relationships/notesSlide" Target="/ppt/notesSlides/notesSlide10.xml" Id="Rc560710e39f24139" /><ns0:Relationship Id="rIdWorkshopBackground" Type="http://schemas.openxmlformats.org/officeDocument/2006/relationships/image" Target="../media/workshop-template-background.jpg" /></ns0:Relationships>
</file>

<file path=ppt/slides/_rels/slide11.xml.rels><?xml version='1.0' encoding='utf-8'?>
<ns0:Relationships xmlns:ns0="http://schemas.openxmlformats.org/package/2006/relationships"><ns0:Relationship Type="http://schemas.openxmlformats.org/officeDocument/2006/relationships/slideLayout" Target="/ppt/slideLayouts/slideLayout1.xml" Id="R6598ab30daa844bd" /><ns0:Relationship Type="http://schemas.openxmlformats.org/officeDocument/2006/relationships/notesSlide" Target="/ppt/notesSlides/notesSlide11.xml" Id="Ra912945344444a23" /><ns0:Relationship Id="rIdWorkshopBackground" Type="http://schemas.openxmlformats.org/officeDocument/2006/relationships/image" Target="../media/workshop-template-background.jpg" /></ns0:Relationships>
</file>

<file path=ppt/slides/_rels/social-proof-slide1.xml.rels><?xml version='1.0' encoding='utf-8'?>
<ns0:Relationships xmlns:ns0="http://schemas.openxmlformats.org/package/2006/relationships"><ns0:Relationship Type="http://schemas.openxmlformats.org/officeDocument/2006/relationships/slideLayout" Target="../slideLayouts/slideLayout1.xml" Id="R629f90bd2f3d4d15" /><ns0:Relationship Type="http://schemas.openxmlformats.org/officeDocument/2006/relationships/image" Target="../media/social-proof-image.png" Id="R0c6579b084084a38" /><ns0:Relationship Type="http://schemas.openxmlformats.org/officeDocument/2006/relationships/image" Target="../media/social-proof-image2.png" Id="R14389f0145354345" /><ns0:Relationship Type="http://schemas.openxmlformats.org/officeDocument/2006/relationships/image" Target="../media/social-proof-image3.png" Id="R392ec72c94374c0a" /><ns0:Relationship Type="http://schemas.openxmlformats.org/officeDocument/2006/relationships/image" Target="../media/social-proof-image4.png" Id="Rf68dd10ba7404fed" /><ns0:Relationship Type="http://schemas.openxmlformats.org/officeDocument/2006/relationships/image" Target="../media/social-proof-image5.png" Id="R8862e575e57f4fbf" /><ns0:Relationship Type="http://schemas.openxmlformats.org/officeDocument/2006/relationships/image" Target="../media/social-proof-image6.png" Id="R561f5edd80a04d5b" /><ns0:Relationship Type="http://schemas.openxmlformats.org/officeDocument/2006/relationships/notesSlide" Target="../notesSlides/social-proof-notesSlide1.xml" Id="R37a61f721710447e" /><ns0:Relationship Id="rIdWorkshopBackground" Type="http://schemas.openxmlformats.org/officeDocument/2006/relationships/image" Target="../media/workshop-template-background.jpg" /></ns0:Relationships>
</file>

<file path=ppt/slides/slide1.xml><?xml version="1.0" encoding="utf-8"?>
<p:sld xmlns:a="http://schemas.openxmlformats.org/drawingml/2006/main" xmlns:ns3="http://schemas.microsoft.com/office/drawing/2014/main" xmlns:ns4="http://schemas.microsoft.com/office/powerpoint/2010/main" xmlns:p="http://schemas.openxmlformats.org/presentationml/2006/main" xmlns:r="http://schemas.openxmlformats.org/officeDocument/2006/relationships">
  <p:cSld>
    <p:bg>
      <p:bgPr>
        <a:blipFill dpi="0" rotWithShape="1">
          <a:blip r:embed="rIdWorkshopBackground">
            <a:lum/>
          </a:blip>
          <a:srcRect/>
          <a:stretch>
            <a:fillRect/>
          </a:stretch>
        </a:blipFill>
        <a:effectLst/>
      </p:bgPr>
    </p:bg>
    <p:spTree>
      <p:nvGrpSpPr>
        <p:cNvPr id="1" name=""/>
        <p:cNvGrpSpPr/>
        <p:nvPr/>
      </p:nvGrpSpPr>
      <p:grpSpPr>
        <a:xfrm/>
      </p:grpSpPr>
      <p:sp>
        <p:nvSpPr>
          <p:cNvPr id="7" name="Rectangle 6">
            <a:extLst>
              <a:ext uri="{FF2B5EF4-FFF2-40B4-BE49-F238E27FC236}">
                <ns3:creationId id="{4427A647-1148-D1DB-4A47-20B001230704}"/>
              </a:ext>
            </a:extLst>
          </p:cNvPr>
          <p:cNvSpPr/>
          <p:nvPr userDrawn="1"/>
        </p:nvSpPr>
        <p:spPr>
          <a:xfrm>
            <a:off x="0" y="0"/>
            <a:ext cx="12192000" cy="6858000"/>
          </a:xfrm>
          <a:prstGeom prst="rect">
            <a:avLst/>
          </a:prstGeom>
          <a:gradFill flip="none" rotWithShape="1">
            <a:gsLst>
              <a:gs pos="7000">
                <a:srgbClr val="161D26">
                  <a:alpha val="24489"/>
                </a:srgbClr>
              </a:gs>
              <a:gs pos="62000">
                <a:srgbClr val="161D26">
                  <a:alpha val="85100"/>
                </a:srgbClr>
              </a:gs>
              <a:gs pos="100000">
                <a:srgbClr val="161D26"/>
              </a:gs>
            </a:gsLst>
            <a:lin ang="168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Your assignment">
            <a:extLst>
              <a:ext uri="{FF2B5EF4-FFF2-40B4-BE49-F238E27FC236}">
                <ns3:creationId id="{3BC02046-46D4-4448-B70D-6F083F694176}"/>
              </a:ext>
            </a:extLst>
          </p:cNvPr>
          <p:cNvSpPr>
            <a:spLocks noGrp="1"/>
          </p:cNvSpPr>
          <p:nvPr/>
        </p:nvSpPr>
        <p:spPr>
          <a:xfrm>
            <a:off x="609600" y="457200"/>
            <a:ext cx="10972800" cy="1095375"/>
          </a:xfrm>
          <a:prstGeom prst="rect">
            <a:avLst/>
          </a:prstGeom>
          <a:noFill/>
          <a:ln w="0">
            <a:noFill/>
          </a:ln>
        </p:spPr>
        <p:txBody>
          <a:bodyPr>
            <a:noAutofit/>
          </a:bodyPr>
          <a:lstStyle/>
          <a:p>
            <a:pPr>
              <a:buNone/>
              <a:defRPr sz="3450" b="1">
                <a:solidFill>
                  <a:srgbClr val="FF6600"/>
                </a:solidFill>
                <a:latin typeface="Ember Modern Display Standard"/>
                <a:ea typeface="Ember Modern Display Standard"/>
                <a:cs typeface="Ember Modern Display Standard"/>
              </a:defRPr>
            </a:pPr>
            <a:r>
              <a:rPr sz="3450" b="1">
                <a:solidFill>
                  <a:srgbClr val="FF6600"/>
                </a:solidFill>
                <a:latin typeface="Ember Modern Display Standard"/>
                <a:ea typeface="Ember Modern Display Standard"/>
                <a:cs typeface="Ember Modern Display Standard"/>
              </a:rPr>
              <a:t>Your assignment</a:t>
            </a:r>
          </a:p>
        </p:txBody>
      </p:sp>
      <p:sp>
        <p:nvSpPr>
          <p:cNvPr id="2" name="01">
            <a:extLst>
              <a:ext uri="{FF2B5EF4-FFF2-40B4-BE49-F238E27FC236}">
                <ns3:creationId id="{73831295-4E88-4F9D-83E5-6E043D751287}"/>
              </a:ext>
            </a:extLst>
          </p:cNvPr>
          <p:cNvSpPr>
            <a:spLocks noGrp="1"/>
          </p:cNvSpPr>
          <p:nvPr/>
        </p:nvSpPr>
        <p:spPr>
          <a:xfrm>
            <a:off x="11144250" y="6419850"/>
            <a:ext cx="571500" cy="247650"/>
          </a:xfrm>
          <a:prstGeom prst="rect">
            <a:avLst/>
          </a:prstGeom>
          <a:noFill/>
          <a:ln w="0">
            <a:noFill/>
          </a:ln>
        </p:spPr>
        <p:txBody>
          <a:bodyPr>
            <a:noAutofit/>
          </a:bodyPr>
          <a:lstStyle/>
          <a:p>
            <a:pPr>
              <a:buNone/>
              <a:defRPr sz="1425" b="0">
                <a:solidFill>
                  <a:srgbClr val="D5D9DD"/>
                </a:solidFill>
                <a:latin typeface="Ember Modern Display Standard"/>
                <a:ea typeface="Ember Modern Display Standard"/>
                <a:cs typeface="Ember Modern Display Standard"/>
              </a:defRPr>
            </a:pPr>
            <a:r>
              <a:rPr sz="1425" b="0">
                <a:solidFill>
                  <a:srgbClr val="D5D9DD"/>
                </a:solidFill>
                <a:latin typeface="Ember Modern Display Standard"/>
                <a:ea typeface="Ember Modern Display Standard"/>
                <a:cs typeface="Ember Modern Display Standard"/>
              </a:rPr>
              <a:t>01</a:t>
            </a:r>
          </a:p>
        </p:txBody>
      </p:sp>
      <p:sp>
        <p:nvSpPr>
          <p:cNvPr id="3" name="A food company needs a recipe app.">
            <a:extLst>
              <a:ext uri="{FF2B5EF4-FFF2-40B4-BE49-F238E27FC236}">
                <ns3:creationId id="{B092C633-ED19-440C-B69D-C205D139C6A6}"/>
              </a:ext>
            </a:extLst>
          </p:cNvPr>
          <p:cNvSpPr>
            <a:spLocks noGrp="1"/>
          </p:cNvSpPr>
          <p:nvPr/>
        </p:nvSpPr>
        <p:spPr>
          <a:xfrm>
            <a:off x="609600" y="1895475"/>
            <a:ext cx="10972800" cy="809625"/>
          </a:xfrm>
          <a:prstGeom prst="rect">
            <a:avLst/>
          </a:prstGeom>
          <a:noFill/>
          <a:ln w="0">
            <a:noFill/>
          </a:ln>
        </p:spPr>
        <p:txBody>
          <a:bodyPr>
            <a:noAutofit/>
          </a:bodyPr>
          <a:lstStyle/>
          <a:p>
            <a:pPr>
              <a:buNone/>
              <a:defRPr sz="3675" b="1">
                <a:solidFill>
                  <a:srgbClr val="FF6600"/>
                </a:solidFill>
                <a:latin typeface="Ember Modern Display Standard"/>
                <a:ea typeface="Ember Modern Display Standard"/>
                <a:cs typeface="Ember Modern Display Standard"/>
              </a:defRPr>
            </a:pPr>
            <a:r>
              <a:rPr sz="3675" b="1">
                <a:solidFill>
                  <a:srgbClr val="FF6600"/>
                </a:solidFill>
                <a:latin typeface="Ember Modern Display Standard"/>
                <a:ea typeface="Ember Modern Display Standard"/>
                <a:cs typeface="Ember Modern Display Standard"/>
              </a:rPr>
              <a:t>A food company needs a recipe app.</a:t>
            </a:r>
          </a:p>
        </p:txBody>
      </p:sp>
      <p:sp>
        <p:nvSpPr>
          <p:cNvPr id="4" name="You have inherited Pocket Cinema.&#10;Hearth &amp; Harvest Food">
            <a:extLst>
              <a:ext uri="{FF2B5EF4-FFF2-40B4-BE49-F238E27FC236}">
                <ns3:creationId id="{E9A69630-AD08-4FDF-B427-A597CA441D32}"/>
              </a:ext>
            </a:extLst>
          </p:cNvPr>
          <p:cNvSpPr>
            <a:spLocks noGrp="1"/>
          </p:cNvSpPr>
          <p:nvPr/>
        </p:nvSpPr>
        <p:spPr>
          <a:xfrm>
            <a:off x="609600" y="3181350"/>
            <a:ext cx="10572750" cy="1323975"/>
          </a:xfrm>
          <a:prstGeom prst="rect">
            <a:avLst/>
          </a:prstGeom>
          <a:noFill/>
          <a:ln w="0">
            <a:noFill/>
          </a:ln>
        </p:spPr>
        <p:txBody>
          <a:bodyPr>
            <a:noAutofit/>
          </a:bodyPr>
          <a:lstStyle/>
          <a:p>
            <a:pPr>
              <a:buNone/>
              <a:defRPr sz="2625" b="0">
                <a:solidFill>
                  <a:srgbClr val="FFFFFF"/>
                </a:solidFill>
                <a:latin typeface="Ember Modern Display Standard"/>
                <a:ea typeface="Ember Modern Display Standard"/>
                <a:cs typeface="Ember Modern Display Standard"/>
              </a:defRPr>
            </a:pPr>
            <a:r>
              <a:rPr sz="2625" b="0">
                <a:solidFill>
                  <a:srgbClr val="FFFFFF"/>
                </a:solidFill>
                <a:latin typeface="Ember Modern Display Standard"/>
                <a:ea typeface="Ember Modern Display Standard"/>
                <a:cs typeface="Ember Modern Display Standard"/>
              </a:rPr>
              <a:t>You have inherited Pocket Cinema.</a:t>
            </a:r>
          </a:p>
          <a:p>
            <a:pPr>
              <a:buNone/>
              <a:defRPr sz="2625" b="0">
                <a:solidFill>
                  <a:srgbClr val="FFFFFF"/>
                </a:solidFill>
                <a:latin typeface="Ember Modern Display Standard"/>
                <a:ea typeface="Ember Modern Display Standard"/>
                <a:cs typeface="Ember Modern Display Standard"/>
              </a:defRPr>
            </a:pPr>
            <a:r>
              <a:rPr sz="2625" b="0">
                <a:solidFill>
                  <a:srgbClr val="FFFFFF"/>
                </a:solidFill>
                <a:latin typeface="Ember Modern Display Standard"/>
                <a:ea typeface="Ember Modern Display Standard"/>
                <a:cs typeface="Ember Modern Display Standard"/>
              </a:rPr>
              <a:t>Hearth &amp; Harvest Foods wants you to turn it into TableStory.</a:t>
            </a:r>
          </a:p>
        </p:txBody>
      </p:sp>
      <p:sp>
        <p:nvSpPr>
          <p:cNvPr id="5" name="You lead the transformation. AI agents help you deliver">
            <a:extLst>
              <a:ext uri="{FF2B5EF4-FFF2-40B4-BE49-F238E27FC236}">
                <ns3:creationId id="{A5C1C0E9-D485-4FF0-AB6A-3C4AA71EDE4F}"/>
              </a:ext>
            </a:extLst>
          </p:cNvPr>
          <p:cNvSpPr>
            <a:spLocks noGrp="1"/>
          </p:cNvSpPr>
          <p:nvPr/>
        </p:nvSpPr>
        <p:spPr>
          <a:xfrm>
            <a:off x="609600" y="5334000"/>
            <a:ext cx="10668000" cy="847725"/>
          </a:xfrm>
          <a:prstGeom prst="rect">
            <a:avLst/>
          </a:prstGeom>
          <a:noFill/>
          <a:ln w="0">
            <a:noFill/>
          </a:ln>
        </p:spPr>
        <p:txBody>
          <a:bodyPr>
            <a:noAutofit/>
          </a:bodyPr>
          <a:lstStyle/>
          <a:p>
            <a:pPr>
              <a:buNone/>
              <a:defRPr sz="2550" b="1">
                <a:solidFill>
                  <a:srgbClr val="FFFFFF"/>
                </a:solidFill>
                <a:latin typeface="Ember Modern Display Standard"/>
                <a:ea typeface="Ember Modern Display Standard"/>
                <a:cs typeface="Ember Modern Display Standard"/>
              </a:defRPr>
            </a:pPr>
            <a:r>
              <a:rPr sz="2550" b="1">
                <a:solidFill>
                  <a:srgbClr val="FFFFFF"/>
                </a:solidFill>
                <a:latin typeface="Ember Modern Display Standard"/>
                <a:ea typeface="Ember Modern Display Standard"/>
                <a:cs typeface="Ember Modern Display Standard"/>
              </a:rPr>
              <a:t>You lead the transformation. AI agents help you deliver it.</a:t>
            </a:r>
          </a:p>
        </p:txBody>
      </p:sp>
    </p:spTree>
    <p:extLst>
      <p:ext uri="{BB962C8B-B14F-4D97-AF65-F5344CB8AC3E}">
        <ns4:creationId val="1058910090"/>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dissolv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dissolv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Lst>
  </p:timing>
</p:sld>
</file>

<file path=ppt/slides/slide2.xml><?xml version="1.0" encoding="utf-8"?>
<p:sld xmlns:a="http://schemas.openxmlformats.org/drawingml/2006/main" xmlns:ns3="http://schemas.microsoft.com/office/drawing/2014/main" xmlns:ns4="http://schemas.microsoft.com/office/powerpoint/2010/main" xmlns:p="http://schemas.openxmlformats.org/presentationml/2006/main" xmlns:r="http://schemas.openxmlformats.org/officeDocument/2006/relationships">
  <p:cSld>
    <p:bg>
      <p:bgPr>
        <a:blipFill dpi="0" rotWithShape="1">
          <a:blip r:embed="rIdWorkshopBackground">
            <a:lum/>
          </a:blip>
          <a:srcRect/>
          <a:stretch>
            <a:fillRect/>
          </a:stretch>
        </a:blipFill>
        <a:effectLst/>
      </p:bgPr>
    </p:bg>
    <p:spTree>
      <p:nvGrpSpPr>
        <p:cNvPr id="1" name=""/>
        <p:cNvGrpSpPr/>
        <p:nvPr/>
      </p:nvGrpSpPr>
      <p:grpSpPr>
        <a:xfrm/>
      </p:grpSpPr>
      <p:sp>
        <p:nvSpPr>
          <p:cNvPr id="18" name="Rectangle 6">
            <a:extLst>
              <a:ext uri="{FF2B5EF4-FFF2-40B4-BE49-F238E27FC236}">
                <ns3:creationId id="{4427A647-1148-D1DB-4A47-20B001230704}"/>
              </a:ext>
            </a:extLst>
          </p:cNvPr>
          <p:cNvSpPr/>
          <p:nvPr userDrawn="1"/>
        </p:nvSpPr>
        <p:spPr>
          <a:xfrm>
            <a:off x="0" y="0"/>
            <a:ext cx="12192000" cy="6858000"/>
          </a:xfrm>
          <a:prstGeom prst="rect">
            <a:avLst/>
          </a:prstGeom>
          <a:gradFill flip="none" rotWithShape="1">
            <a:gsLst>
              <a:gs pos="7000">
                <a:srgbClr val="161D26">
                  <a:alpha val="24489"/>
                </a:srgbClr>
              </a:gs>
              <a:gs pos="62000">
                <a:srgbClr val="161D26">
                  <a:alpha val="85100"/>
                </a:srgbClr>
              </a:gs>
              <a:gs pos="100000">
                <a:srgbClr val="161D26"/>
              </a:gs>
            </a:gsLst>
            <a:lin ang="168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he product you will transform">
            <a:extLst>
              <a:ext uri="{FF2B5EF4-FFF2-40B4-BE49-F238E27FC236}">
                <ns3:creationId id="{ABFB13DD-5F4F-4376-BE19-B76D690A993E}"/>
              </a:ext>
            </a:extLst>
          </p:cNvPr>
          <p:cNvSpPr>
            <a:spLocks noGrp="1"/>
          </p:cNvSpPr>
          <p:nvPr/>
        </p:nvSpPr>
        <p:spPr>
          <a:xfrm>
            <a:off x="609600" y="457200"/>
            <a:ext cx="10972800" cy="1095375"/>
          </a:xfrm>
          <a:prstGeom prst="rect">
            <a:avLst/>
          </a:prstGeom>
          <a:noFill/>
          <a:ln w="0">
            <a:noFill/>
          </a:ln>
        </p:spPr>
        <p:txBody>
          <a:bodyPr>
            <a:noAutofit/>
          </a:bodyPr>
          <a:lstStyle/>
          <a:p>
            <a:pPr>
              <a:buNone/>
              <a:defRPr sz="3450" b="1">
                <a:solidFill>
                  <a:srgbClr val="FF6600"/>
                </a:solidFill>
                <a:latin typeface="Ember Modern Display Standard"/>
                <a:ea typeface="Ember Modern Display Standard"/>
                <a:cs typeface="Ember Modern Display Standard"/>
              </a:defRPr>
            </a:pPr>
            <a:r>
              <a:rPr sz="3450" b="1">
                <a:solidFill>
                  <a:srgbClr val="FF6600"/>
                </a:solidFill>
                <a:latin typeface="Ember Modern Display Standard"/>
                <a:ea typeface="Ember Modern Display Standard"/>
                <a:cs typeface="Ember Modern Display Standard"/>
              </a:rPr>
              <a:t>The product you will transform</a:t>
            </a:r>
          </a:p>
        </p:txBody>
      </p:sp>
      <p:sp>
        <p:nvSpPr>
          <p:cNvPr id="2" name="02">
            <a:extLst>
              <a:ext uri="{FF2B5EF4-FFF2-40B4-BE49-F238E27FC236}">
                <ns3:creationId id="{5E681DAA-5D6B-41C0-9716-2362AE8FF49B}"/>
              </a:ext>
            </a:extLst>
          </p:cNvPr>
          <p:cNvSpPr>
            <a:spLocks noGrp="1"/>
          </p:cNvSpPr>
          <p:nvPr/>
        </p:nvSpPr>
        <p:spPr>
          <a:xfrm>
            <a:off x="11144250" y="6419850"/>
            <a:ext cx="571500" cy="247650"/>
          </a:xfrm>
          <a:prstGeom prst="rect">
            <a:avLst/>
          </a:prstGeom>
          <a:noFill/>
          <a:ln w="0">
            <a:noFill/>
          </a:ln>
        </p:spPr>
        <p:txBody>
          <a:bodyPr>
            <a:noAutofit/>
          </a:bodyPr>
          <a:lstStyle/>
          <a:p>
            <a:pPr>
              <a:buNone/>
              <a:defRPr sz="1425" b="0">
                <a:solidFill>
                  <a:srgbClr val="D5D9DD"/>
                </a:solidFill>
                <a:latin typeface="Ember Modern Display Standard"/>
                <a:ea typeface="Ember Modern Display Standard"/>
                <a:cs typeface="Ember Modern Display Standard"/>
              </a:defRPr>
            </a:pPr>
            <a:r>
              <a:rPr sz="1425" b="0">
                <a:solidFill>
                  <a:srgbClr val="D5D9DD"/>
                </a:solidFill>
                <a:latin typeface="Ember Modern Display Standard"/>
                <a:ea typeface="Ember Modern Display Standard"/>
                <a:cs typeface="Ember Modern Display Standard"/>
              </a:rPr>
              <a:t>02</a:t>
            </a:r>
          </a:p>
        </p:txBody>
      </p:sp>
      <p:sp>
        <p:nvSpPr>
          <p:cNvPr id="3" name="Starting app: Pocket Cinema">
            <a:extLst>
              <a:ext uri="{FF2B5EF4-FFF2-40B4-BE49-F238E27FC236}">
                <ns3:creationId id="{56772358-A6FB-4945-AC3B-5211C3712C77}"/>
              </a:ext>
            </a:extLst>
          </p:cNvPr>
          <p:cNvSpPr>
            <a:spLocks noGrp="1"/>
          </p:cNvSpPr>
          <p:nvPr/>
        </p:nvSpPr>
        <p:spPr>
          <a:xfrm>
            <a:off x="609600" y="1552575"/>
            <a:ext cx="5334000" cy="466725"/>
          </a:xfrm>
          <a:prstGeom prst="rect">
            <a:avLst/>
          </a:prstGeom>
          <a:noFill/>
          <a:ln w="0">
            <a:noFill/>
          </a:ln>
        </p:spPr>
        <p:txBody>
          <a:bodyPr>
            <a:noAutofit/>
          </a:bodyPr>
          <a:lstStyle/>
          <a:p>
            <a:pPr>
              <a:buNone/>
              <a:defRPr sz="2175" b="1">
                <a:solidFill>
                  <a:srgbClr val="FFFFFF"/>
                </a:solidFill>
                <a:latin typeface="Ember Modern Display Standard"/>
                <a:ea typeface="Ember Modern Display Standard"/>
                <a:cs typeface="Ember Modern Display Standard"/>
              </a:defRPr>
            </a:pPr>
            <a:r>
              <a:rPr sz="2175" b="1">
                <a:solidFill>
                  <a:srgbClr val="FFFFFF"/>
                </a:solidFill>
                <a:latin typeface="Ember Modern Display Standard"/>
                <a:ea typeface="Ember Modern Display Standard"/>
                <a:cs typeface="Ember Modern Display Standard"/>
              </a:rPr>
              <a:t>Starting app: Pocket Cinema</a:t>
            </a:r>
          </a:p>
        </p:txBody>
      </p:sp>
      <p:sp>
        <p:nvSpPr>
          <p:cNvPr id="4" name="Target example: TableStory">
            <a:extLst>
              <a:ext uri="{FF2B5EF4-FFF2-40B4-BE49-F238E27FC236}">
                <ns3:creationId id="{494CECEC-B349-495C-AB07-397207D825B9}"/>
              </a:ext>
            </a:extLst>
          </p:cNvPr>
          <p:cNvSpPr>
            <a:spLocks noGrp="1"/>
          </p:cNvSpPr>
          <p:nvPr/>
        </p:nvSpPr>
        <p:spPr>
          <a:xfrm>
            <a:off x="6324600" y="1552575"/>
            <a:ext cx="5257800" cy="466725"/>
          </a:xfrm>
          <a:prstGeom prst="rect">
            <a:avLst/>
          </a:prstGeom>
          <a:noFill/>
          <a:ln w="0">
            <a:noFill/>
          </a:ln>
        </p:spPr>
        <p:txBody>
          <a:bodyPr>
            <a:noAutofit/>
          </a:bodyPr>
          <a:lstStyle/>
          <a:p>
            <a:pPr>
              <a:buNone/>
              <a:defRPr sz="2175" b="1">
                <a:solidFill>
                  <a:srgbClr val="FFFFFF"/>
                </a:solidFill>
                <a:latin typeface="Ember Modern Display Standard"/>
                <a:ea typeface="Ember Modern Display Standard"/>
                <a:cs typeface="Ember Modern Display Standard"/>
              </a:defRPr>
            </a:pPr>
            <a:r>
              <a:rPr sz="2175" b="1">
                <a:solidFill>
                  <a:srgbClr val="FFFFFF"/>
                </a:solidFill>
                <a:latin typeface="Ember Modern Display Standard"/>
                <a:ea typeface="Ember Modern Display Standard"/>
                <a:cs typeface="Ember Modern Display Standard"/>
              </a:rPr>
              <a:t>Target example: TableStory</a:t>
            </a:r>
          </a:p>
        </p:txBody>
      </p:sp>
      <p:pic>
        <p:nvPicPr>
          <p:cNvPr id="16" name=""/>
          <p:cNvPicPr>
            <a:picLocks noChangeAspect="1"/>
          </p:cNvPicPr>
          <p:nvPr/>
        </p:nvPicPr>
        <p:blipFill>
          <a:blip r:embed="R50e4dcd6411f4051"/>
          <a:stretch/>
        </p:blipFill>
        <p:spPr>
          <a:xfrm>
            <a:off x="1111120" y="2095500"/>
            <a:ext cx="4254759" cy="2895600"/>
          </a:xfrm>
          <a:prstGeom prst="rect">
            <a:avLst/>
          </a:prstGeom>
        </p:spPr>
      </p:pic>
      <p:pic>
        <p:nvPicPr>
          <p:cNvPr id="17" name=""/>
          <p:cNvPicPr>
            <a:picLocks noChangeAspect="1"/>
          </p:cNvPicPr>
          <p:nvPr/>
        </p:nvPicPr>
        <p:blipFill>
          <a:blip r:embed="R1fd564180cfe4bb8"/>
          <a:stretch/>
        </p:blipFill>
        <p:spPr>
          <a:xfrm>
            <a:off x="6826120" y="2095500"/>
            <a:ext cx="4254759" cy="2895600"/>
          </a:xfrm>
          <a:prstGeom prst="rect">
            <a:avLst/>
          </a:prstGeom>
        </p:spPr>
      </p:pic>
      <p:sp>
        <p:nvSpPr>
          <p:cNvPr id="7" name="Find a movie. Read its details.&#10;Save it for later.">
            <a:extLst>
              <a:ext uri="{FF2B5EF4-FFF2-40B4-BE49-F238E27FC236}">
                <ns3:creationId id="{29E13035-4346-42DC-8DDC-A43459C31539}"/>
              </a:ext>
            </a:extLst>
          </p:cNvPr>
          <p:cNvSpPr>
            <a:spLocks noGrp="1"/>
          </p:cNvSpPr>
          <p:nvPr/>
        </p:nvSpPr>
        <p:spPr>
          <a:xfrm>
            <a:off x="609600" y="5229225"/>
            <a:ext cx="5257800" cy="952500"/>
          </a:xfrm>
          <a:prstGeom prst="rect">
            <a:avLst/>
          </a:prstGeom>
          <a:noFill/>
          <a:ln w="0">
            <a:noFill/>
          </a:ln>
        </p:spPr>
        <p:txBody>
          <a:bodyPr>
            <a:noAutofit/>
          </a:bodyPr>
          <a:lstStyle/>
          <a:p>
            <a:pPr>
              <a:buNone/>
              <a:defRPr sz="2175" b="0">
                <a:solidFill>
                  <a:srgbClr val="FFFFFF"/>
                </a:solidFill>
                <a:latin typeface="Ember Modern Display Standard"/>
                <a:ea typeface="Ember Modern Display Standard"/>
                <a:cs typeface="Ember Modern Display Standard"/>
              </a:defRPr>
            </a:pPr>
            <a:r>
              <a:rPr sz="2175" b="0">
                <a:solidFill>
                  <a:srgbClr val="FFFFFF"/>
                </a:solidFill>
                <a:latin typeface="Ember Modern Display Standard"/>
                <a:ea typeface="Ember Modern Display Standard"/>
                <a:cs typeface="Ember Modern Display Standard"/>
              </a:rPr>
              <a:t>Find a movie. Read its details.</a:t>
            </a:r>
          </a:p>
          <a:p>
            <a:pPr>
              <a:buNone/>
              <a:defRPr sz="2175" b="0">
                <a:solidFill>
                  <a:srgbClr val="FFFFFF"/>
                </a:solidFill>
                <a:latin typeface="Ember Modern Display Standard"/>
                <a:ea typeface="Ember Modern Display Standard"/>
                <a:cs typeface="Ember Modern Display Standard"/>
              </a:defRPr>
            </a:pPr>
            <a:r>
              <a:rPr sz="2175" b="0">
                <a:solidFill>
                  <a:srgbClr val="FFFFFF"/>
                </a:solidFill>
                <a:latin typeface="Ember Modern Display Standard"/>
                <a:ea typeface="Ember Modern Display Standard"/>
                <a:cs typeface="Ember Modern Display Standard"/>
              </a:rPr>
              <a:t>Save it for later.</a:t>
            </a:r>
          </a:p>
        </p:txBody>
      </p:sp>
      <p:sp>
        <p:nvSpPr>
          <p:cNvPr id="8" name="Find a recipe by ingredient.&#10;Read its steps. Save to My">
            <a:extLst>
              <a:ext uri="{FF2B5EF4-FFF2-40B4-BE49-F238E27FC236}">
                <ns3:creationId id="{1EAD92B1-8350-4C30-8813-EDFA0E226C66}"/>
              </a:ext>
            </a:extLst>
          </p:cNvPr>
          <p:cNvSpPr>
            <a:spLocks noGrp="1"/>
          </p:cNvSpPr>
          <p:nvPr/>
        </p:nvSpPr>
        <p:spPr>
          <a:xfrm>
            <a:off x="6324600" y="5229225"/>
            <a:ext cx="5257800" cy="990600"/>
          </a:xfrm>
          <a:prstGeom prst="rect">
            <a:avLst/>
          </a:prstGeom>
          <a:noFill/>
          <a:ln w="0">
            <a:noFill/>
          </a:ln>
        </p:spPr>
        <p:txBody>
          <a:bodyPr>
            <a:noAutofit/>
          </a:bodyPr>
          <a:lstStyle/>
          <a:p>
            <a:pPr>
              <a:buNone/>
              <a:defRPr sz="2175" b="0">
                <a:solidFill>
                  <a:srgbClr val="FFFFFF"/>
                </a:solidFill>
                <a:latin typeface="Ember Modern Display Standard"/>
                <a:ea typeface="Ember Modern Display Standard"/>
                <a:cs typeface="Ember Modern Display Standard"/>
              </a:defRPr>
            </a:pPr>
            <a:r>
              <a:rPr sz="2175" b="0">
                <a:solidFill>
                  <a:srgbClr val="FFFFFF"/>
                </a:solidFill>
                <a:latin typeface="Ember Modern Display Standard"/>
                <a:ea typeface="Ember Modern Display Standard"/>
                <a:cs typeface="Ember Modern Display Standard"/>
              </a:rPr>
              <a:t>Find a recipe by ingredient.</a:t>
            </a:r>
          </a:p>
          <a:p>
            <a:pPr>
              <a:buNone/>
              <a:defRPr sz="2175" b="0">
                <a:solidFill>
                  <a:srgbClr val="FFFFFF"/>
                </a:solidFill>
                <a:latin typeface="Ember Modern Display Standard"/>
                <a:ea typeface="Ember Modern Display Standard"/>
                <a:cs typeface="Ember Modern Display Standard"/>
              </a:defRPr>
            </a:pPr>
            <a:r>
              <a:rPr sz="2175" b="0">
                <a:solidFill>
                  <a:srgbClr val="FFFFFF"/>
                </a:solidFill>
                <a:latin typeface="Ember Modern Display Standard"/>
                <a:ea typeface="Ember Modern Display Standard"/>
                <a:cs typeface="Ember Modern Display Standard"/>
              </a:rPr>
              <a:t>Read its steps. Save to My Cookbook.</a:t>
            </a:r>
          </a:p>
        </p:txBody>
      </p:sp>
    </p:spTree>
    <p:extLst>
      <p:ext uri="{BB962C8B-B14F-4D97-AF65-F5344CB8AC3E}">
        <ns4:creationId val="1684234544"/>
      </p:ext>
    </p:extLst>
  </p:cSld>
</p:sld>
</file>

<file path=ppt/slides/slide3.xml><?xml version="1.0" encoding="utf-8"?>
<p:sld xmlns:a="http://schemas.openxmlformats.org/drawingml/2006/main" xmlns:ns3="http://schemas.microsoft.com/office/drawing/2014/main" xmlns:ns4="http://schemas.microsoft.com/office/powerpoint/2010/main" xmlns:p="http://schemas.openxmlformats.org/presentationml/2006/main" xmlns:r="http://schemas.openxmlformats.org/officeDocument/2006/relationships">
  <p:cSld>
    <p:bg>
      <p:bgPr>
        <a:blipFill dpi="0" rotWithShape="1">
          <a:blip r:embed="rIdWorkshopBackground">
            <a:lum/>
          </a:blip>
          <a:srcRect/>
          <a:stretch>
            <a:fillRect/>
          </a:stretch>
        </a:blipFill>
        <a:effectLst/>
      </p:bgPr>
    </p:bg>
    <p:spTree>
      <p:nvGrpSpPr>
        <p:cNvPr id="1" name=""/>
        <p:cNvGrpSpPr/>
        <p:nvPr/>
      </p:nvGrpSpPr>
      <p:grpSpPr>
        <a:xfrm/>
      </p:grpSpPr>
      <p:sp>
        <p:nvSpPr>
          <p:cNvPr id="9" name="Rectangle 6">
            <a:extLst>
              <a:ext uri="{FF2B5EF4-FFF2-40B4-BE49-F238E27FC236}">
                <ns3:creationId id="{4427A647-1148-D1DB-4A47-20B001230704}"/>
              </a:ext>
            </a:extLst>
          </p:cNvPr>
          <p:cNvSpPr/>
          <p:nvPr userDrawn="1"/>
        </p:nvSpPr>
        <p:spPr>
          <a:xfrm>
            <a:off x="0" y="0"/>
            <a:ext cx="12192000" cy="6858000"/>
          </a:xfrm>
          <a:prstGeom prst="rect">
            <a:avLst/>
          </a:prstGeom>
          <a:gradFill flip="none" rotWithShape="1">
            <a:gsLst>
              <a:gs pos="7000">
                <a:srgbClr val="161D26">
                  <a:alpha val="24489"/>
                </a:srgbClr>
              </a:gs>
              <a:gs pos="62000">
                <a:srgbClr val="161D26">
                  <a:alpha val="85100"/>
                </a:srgbClr>
              </a:gs>
              <a:gs pos="100000">
                <a:srgbClr val="161D26"/>
              </a:gs>
            </a:gsLst>
            <a:lin ang="168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he complete transformation">
            <a:extLst>
              <a:ext uri="{FF2B5EF4-FFF2-40B4-BE49-F238E27FC236}">
                <ns3:creationId id="{394C02D0-5B89-4039-8675-BCEE7866ACA3}"/>
              </a:ext>
            </a:extLst>
          </p:cNvPr>
          <p:cNvSpPr>
            <a:spLocks noGrp="1"/>
          </p:cNvSpPr>
          <p:nvPr/>
        </p:nvSpPr>
        <p:spPr>
          <a:xfrm>
            <a:off x="609600" y="457200"/>
            <a:ext cx="10972800" cy="1095375"/>
          </a:xfrm>
          <a:prstGeom prst="rect">
            <a:avLst/>
          </a:prstGeom>
          <a:noFill/>
          <a:ln w="0">
            <a:noFill/>
          </a:ln>
        </p:spPr>
        <p:txBody>
          <a:bodyPr>
            <a:noAutofit/>
          </a:bodyPr>
          <a:lstStyle/>
          <a:p>
            <a:pPr>
              <a:buNone/>
              <a:defRPr sz="3450" b="1">
                <a:solidFill>
                  <a:srgbClr val="FF6600"/>
                </a:solidFill>
                <a:latin typeface="Ember Modern Display Standard"/>
                <a:ea typeface="Ember Modern Display Standard"/>
                <a:cs typeface="Ember Modern Display Standard"/>
              </a:defRPr>
            </a:pPr>
            <a:r>
              <a:rPr sz="3450" b="1">
                <a:solidFill>
                  <a:srgbClr val="FF6600"/>
                </a:solidFill>
                <a:latin typeface="Ember Modern Display Standard"/>
                <a:ea typeface="Ember Modern Display Standard"/>
                <a:cs typeface="Ember Modern Display Standard"/>
              </a:rPr>
              <a:t>The complete transformation</a:t>
            </a:r>
          </a:p>
        </p:txBody>
      </p:sp>
      <p:sp>
        <p:nvSpPr>
          <p:cNvPr id="2" name="03">
            <a:extLst>
              <a:ext uri="{FF2B5EF4-FFF2-40B4-BE49-F238E27FC236}">
                <ns3:creationId id="{C4203FA2-4282-4CAA-ADD2-3C39A61B2B20}"/>
              </a:ext>
            </a:extLst>
          </p:cNvPr>
          <p:cNvSpPr>
            <a:spLocks noGrp="1"/>
          </p:cNvSpPr>
          <p:nvPr/>
        </p:nvSpPr>
        <p:spPr>
          <a:xfrm>
            <a:off x="11144250" y="6419850"/>
            <a:ext cx="571500" cy="247650"/>
          </a:xfrm>
          <a:prstGeom prst="rect">
            <a:avLst/>
          </a:prstGeom>
          <a:noFill/>
          <a:ln w="0">
            <a:noFill/>
          </a:ln>
        </p:spPr>
        <p:txBody>
          <a:bodyPr>
            <a:noAutofit/>
          </a:bodyPr>
          <a:lstStyle/>
          <a:p>
            <a:pPr>
              <a:buNone/>
              <a:defRPr sz="1425" b="0">
                <a:solidFill>
                  <a:srgbClr val="D5D9DD"/>
                </a:solidFill>
                <a:latin typeface="Ember Modern Display Standard"/>
                <a:ea typeface="Ember Modern Display Standard"/>
                <a:cs typeface="Ember Modern Display Standard"/>
              </a:defRPr>
            </a:pPr>
            <a:r>
              <a:rPr sz="1425" b="0">
                <a:solidFill>
                  <a:srgbClr val="D5D9DD"/>
                </a:solidFill>
                <a:latin typeface="Ember Modern Display Standard"/>
                <a:ea typeface="Ember Modern Display Standard"/>
                <a:cs typeface="Ember Modern Display Standard"/>
              </a:rPr>
              <a:t>03</a:t>
            </a:r>
          </a:p>
        </p:txBody>
      </p:sp>
      <p:sp>
        <p:nvSpPr>
          <p:cNvPr id="3" name="The cooking journey">
            <a:extLst>
              <a:ext uri="{FF2B5EF4-FFF2-40B4-BE49-F238E27FC236}">
                <ns3:creationId id="{0B4AB8CF-8878-4290-8BBA-990DF61F7E73}"/>
              </a:ext>
            </a:extLst>
          </p:cNvPr>
          <p:cNvSpPr>
            <a:spLocks noGrp="1"/>
          </p:cNvSpPr>
          <p:nvPr/>
        </p:nvSpPr>
        <p:spPr>
          <a:xfrm>
            <a:off x="609600" y="1790700"/>
            <a:ext cx="10572750" cy="485775"/>
          </a:xfrm>
          <a:prstGeom prst="rect">
            <a:avLst/>
          </a:prstGeom>
          <a:noFill/>
          <a:ln w="0">
            <a:noFill/>
          </a:ln>
        </p:spPr>
        <p:txBody>
          <a:bodyPr>
            <a:noAutofit/>
          </a:bodyPr>
          <a:lstStyle/>
          <a:p>
            <a:pPr>
              <a:buNone/>
              <a:defRPr sz="2400" b="1">
                <a:solidFill>
                  <a:srgbClr val="FF6600"/>
                </a:solidFill>
                <a:latin typeface="Ember Modern Display Standard"/>
                <a:ea typeface="Ember Modern Display Standard"/>
                <a:cs typeface="Ember Modern Display Standard"/>
              </a:defRPr>
            </a:pPr>
            <a:r>
              <a:rPr sz="2400" b="1">
                <a:solidFill>
                  <a:srgbClr val="FF6600"/>
                </a:solidFill>
                <a:latin typeface="Ember Modern Display Standard"/>
                <a:ea typeface="Ember Modern Display Standard"/>
                <a:cs typeface="Ember Modern Display Standard"/>
              </a:rPr>
              <a:t>The cooking journey</a:t>
            </a:r>
          </a:p>
        </p:txBody>
      </p:sp>
      <p:sp>
        <p:nvSpPr>
          <p:cNvPr id="4" name="Search by ingredient, read the cooking steps,&#10;then save">
            <a:extLst>
              <a:ext uri="{FF2B5EF4-FFF2-40B4-BE49-F238E27FC236}">
                <ns3:creationId id="{318A68FC-7A72-4D18-8574-4AA6898834A5}"/>
              </a:ext>
            </a:extLst>
          </p:cNvPr>
          <p:cNvSpPr>
            <a:spLocks noGrp="1"/>
          </p:cNvSpPr>
          <p:nvPr/>
        </p:nvSpPr>
        <p:spPr>
          <a:xfrm>
            <a:off x="609600" y="2362200"/>
            <a:ext cx="10858500" cy="1095375"/>
          </a:xfrm>
          <a:prstGeom prst="rect">
            <a:avLst/>
          </a:prstGeom>
          <a:noFill/>
          <a:ln w="0">
            <a:noFill/>
          </a:ln>
        </p:spPr>
        <p:txBody>
          <a:bodyPr>
            <a:noAutofit/>
          </a:bodyPr>
          <a:lstStyle/>
          <a:p>
            <a:pPr>
              <a:buNone/>
              <a:defRPr sz="3000" b="1">
                <a:solidFill>
                  <a:srgbClr val="FFFFFF"/>
                </a:solidFill>
                <a:latin typeface="Ember Modern Display Standard"/>
                <a:ea typeface="Ember Modern Display Standard"/>
                <a:cs typeface="Ember Modern Display Standard"/>
              </a:defRPr>
            </a:pPr>
            <a:r>
              <a:rPr sz="3000" b="1">
                <a:solidFill>
                  <a:srgbClr val="FFFFFF"/>
                </a:solidFill>
                <a:latin typeface="Ember Modern Display Standard"/>
                <a:ea typeface="Ember Modern Display Standard"/>
                <a:cs typeface="Ember Modern Display Standard"/>
              </a:rPr>
              <a:t>Search by ingredient, read the cooking steps,</a:t>
            </a:r>
          </a:p>
          <a:p>
            <a:pPr>
              <a:buNone/>
              <a:defRPr sz="3000" b="1">
                <a:solidFill>
                  <a:srgbClr val="FFFFFF"/>
                </a:solidFill>
                <a:latin typeface="Ember Modern Display Standard"/>
                <a:ea typeface="Ember Modern Display Standard"/>
                <a:cs typeface="Ember Modern Display Standard"/>
              </a:defRPr>
            </a:pPr>
            <a:r>
              <a:rPr sz="3000" b="1">
                <a:solidFill>
                  <a:srgbClr val="FFFFFF"/>
                </a:solidFill>
                <a:latin typeface="Ember Modern Display Standard"/>
                <a:ea typeface="Ember Modern Display Standard"/>
                <a:cs typeface="Ember Modern Display Standard"/>
              </a:rPr>
              <a:t>then save the recipe to My Cookbook.</a:t>
            </a:r>
          </a:p>
        </p:txBody>
      </p:sp>
      <p:sp>
        <p:nvSpPr>
          <p:cNvPr id="5" name="The rest of the product changes too">
            <a:extLst>
              <a:ext uri="{FF2B5EF4-FFF2-40B4-BE49-F238E27FC236}">
                <ns3:creationId id="{F8F70445-C96F-45E2-9EC5-3AFE0CA04C20}"/>
              </a:ext>
            </a:extLst>
          </p:cNvPr>
          <p:cNvSpPr>
            <a:spLocks noGrp="1"/>
          </p:cNvSpPr>
          <p:nvPr/>
        </p:nvSpPr>
        <p:spPr>
          <a:xfrm>
            <a:off x="609600" y="3914775"/>
            <a:ext cx="10477500" cy="447675"/>
          </a:xfrm>
          <a:prstGeom prst="rect">
            <a:avLst/>
          </a:prstGeom>
          <a:noFill/>
          <a:ln w="0">
            <a:noFill/>
          </a:ln>
        </p:spPr>
        <p:txBody>
          <a:bodyPr>
            <a:noAutofit/>
          </a:bodyPr>
          <a:lstStyle/>
          <a:p>
            <a:pPr>
              <a:buNone/>
              <a:defRPr sz="2250" b="1">
                <a:solidFill>
                  <a:srgbClr val="FF6600"/>
                </a:solidFill>
                <a:latin typeface="Ember Modern Display Standard"/>
                <a:ea typeface="Ember Modern Display Standard"/>
                <a:cs typeface="Ember Modern Display Standard"/>
              </a:defRPr>
            </a:pPr>
            <a:r>
              <a:rPr sz="2250" b="1">
                <a:solidFill>
                  <a:srgbClr val="FF6600"/>
                </a:solidFill>
                <a:latin typeface="Ember Modern Display Standard"/>
                <a:ea typeface="Ember Modern Display Standard"/>
                <a:cs typeface="Ember Modern Display Standard"/>
              </a:rPr>
              <a:t>The rest of the product changes too</a:t>
            </a:r>
          </a:p>
        </p:txBody>
      </p:sp>
      <p:sp>
        <p:nvSpPr>
          <p:cNvPr id="6" name="Recipe data and APIs. A new identity and wording.&#10;Mobil">
            <a:extLst>
              <a:ext uri="{FF2B5EF4-FFF2-40B4-BE49-F238E27FC236}">
                <ns3:creationId id="{CB47A614-4430-4005-AF90-99C93C514211}"/>
              </a:ext>
            </a:extLst>
          </p:cNvPr>
          <p:cNvSpPr>
            <a:spLocks noGrp="1"/>
          </p:cNvSpPr>
          <p:nvPr/>
        </p:nvSpPr>
        <p:spPr>
          <a:xfrm>
            <a:off x="609600" y="4486275"/>
            <a:ext cx="10858500" cy="1133475"/>
          </a:xfrm>
          <a:prstGeom prst="rect">
            <a:avLst/>
          </a:prstGeom>
          <a:noFill/>
          <a:ln w="0">
            <a:noFill/>
          </a:ln>
        </p:spPr>
        <p:txBody>
          <a:bodyPr>
            <a:noAutofit/>
          </a:bodyPr>
          <a:lstStyle/>
          <a:p>
            <a:pPr>
              <a:buNone/>
              <a:defRPr sz="2400" b="0">
                <a:solidFill>
                  <a:srgbClr val="FFFFFF"/>
                </a:solidFill>
                <a:latin typeface="Ember Modern Display Standard"/>
                <a:ea typeface="Ember Modern Display Standard"/>
                <a:cs typeface="Ember Modern Display Standard"/>
              </a:defRPr>
            </a:pPr>
            <a:r>
              <a:rPr sz="2400" b="0">
                <a:solidFill>
                  <a:srgbClr val="FFFFFF"/>
                </a:solidFill>
                <a:latin typeface="Ember Modern Display Standard"/>
                <a:ea typeface="Ember Modern Display Standard"/>
                <a:cs typeface="Ember Modern Display Standard"/>
              </a:rPr>
              <a:t>Recipe data and APIs. A new identity and wording.</a:t>
            </a:r>
          </a:p>
          <a:p>
            <a:pPr>
              <a:buNone/>
              <a:defRPr sz="2400" b="0">
                <a:solidFill>
                  <a:srgbClr val="FFFFFF"/>
                </a:solidFill>
                <a:latin typeface="Ember Modern Display Standard"/>
                <a:ea typeface="Ember Modern Display Standard"/>
                <a:cs typeface="Ember Modern Display Standard"/>
              </a:defRPr>
            </a:pPr>
            <a:r>
              <a:rPr sz="2400" b="0">
                <a:solidFill>
                  <a:srgbClr val="FFFFFF"/>
                </a:solidFill>
                <a:latin typeface="Ember Modern Display Standard"/>
                <a:ea typeface="Ember Modern Display Standard"/>
                <a:cs typeface="Ember Modern Display Standard"/>
              </a:rPr>
              <a:t>Mobile and TV behavior. Removal of movie-specific behavior.</a:t>
            </a:r>
          </a:p>
        </p:txBody>
      </p:sp>
      <p:sp>
        <p:nvSpPr>
          <p:cNvPr id="7" name="The full recipe PRD defines the scope.">
            <a:extLst>
              <a:ext uri="{FF2B5EF4-FFF2-40B4-BE49-F238E27FC236}">
                <ns3:creationId id="{0DD49FBE-A170-4C67-AD02-31CC1593E4E9}"/>
              </a:ext>
            </a:extLst>
          </p:cNvPr>
          <p:cNvSpPr>
            <a:spLocks noGrp="1"/>
          </p:cNvSpPr>
          <p:nvPr/>
        </p:nvSpPr>
        <p:spPr>
          <a:xfrm>
            <a:off x="609600" y="5943600"/>
            <a:ext cx="10477500" cy="381000"/>
          </a:xfrm>
          <a:prstGeom prst="rect">
            <a:avLst/>
          </a:prstGeom>
          <a:noFill/>
          <a:ln w="0">
            <a:noFill/>
          </a:ln>
        </p:spPr>
        <p:txBody>
          <a:bodyPr>
            <a:noAutofit/>
          </a:bodyPr>
          <a:lstStyle/>
          <a:p>
            <a:pPr>
              <a:buNone/>
              <a:defRPr sz="1875" b="0">
                <a:solidFill>
                  <a:srgbClr val="D5D9DD"/>
                </a:solidFill>
                <a:latin typeface="Ember Modern Display Standard"/>
                <a:ea typeface="Ember Modern Display Standard"/>
                <a:cs typeface="Ember Modern Display Standard"/>
              </a:defRPr>
            </a:pPr>
            <a:r>
              <a:rPr sz="1875" b="0">
                <a:solidFill>
                  <a:srgbClr val="D5D9DD"/>
                </a:solidFill>
                <a:latin typeface="Ember Modern Display Standard"/>
                <a:ea typeface="Ember Modern Display Standard"/>
                <a:cs typeface="Ember Modern Display Standard"/>
              </a:rPr>
              <a:t>The full recipe PRD defines the scope.</a:t>
            </a:r>
          </a:p>
        </p:txBody>
      </p:sp>
    </p:spTree>
    <p:extLst>
      <p:ext uri="{BB962C8B-B14F-4D97-AF65-F5344CB8AC3E}">
        <ns4:creationId val="896759771"/>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par>
                                <p:cTn id="8" presetID="9"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dissolve">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dissolve">
                                      <p:cBhvr>
                                        <p:cTn id="15" dur="500"/>
                                        <p:tgtEl>
                                          <p:spTgt spid="5"/>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dissolve">
                                      <p:cBhvr>
                                        <p:cTn id="18" dur="5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dissolve">
                                      <p:cBhvr>
                                        <p:cTn id="2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p:bldLst>
  </p:timing>
</p:sld>
</file>

<file path=ppt/slides/slide4.xml><?xml version="1.0" encoding="utf-8"?>
<p:sld xmlns:a="http://schemas.openxmlformats.org/drawingml/2006/main" xmlns:ns3="http://schemas.microsoft.com/office/drawing/2014/main" xmlns:ns4="http://schemas.microsoft.com/office/powerpoint/2010/main" xmlns:p="http://schemas.openxmlformats.org/presentationml/2006/main" xmlns:r="http://schemas.openxmlformats.org/officeDocument/2006/relationships">
  <p:cSld>
    <p:bg>
      <p:bgPr>
        <a:blipFill dpi="0" rotWithShape="1">
          <a:blip r:embed="rIdWorkshopBackground">
            <a:lum/>
          </a:blip>
          <a:srcRect/>
          <a:stretch>
            <a:fillRect/>
          </a:stretch>
        </a:blipFill>
        <a:effectLst/>
      </p:bgPr>
    </p:bg>
    <p:spTree>
      <p:nvGrpSpPr>
        <p:cNvPr id="1" name=""/>
        <p:cNvGrpSpPr/>
        <p:nvPr/>
      </p:nvGrpSpPr>
      <p:grpSpPr>
        <a:xfrm/>
      </p:grpSpPr>
      <p:sp>
        <p:nvSpPr>
          <p:cNvPr id="7" name="Rectangle 6">
            <a:extLst>
              <a:ext uri="{FF2B5EF4-FFF2-40B4-BE49-F238E27FC236}">
                <ns3:creationId id="{4427A647-1148-D1DB-4A47-20B001230704}"/>
              </a:ext>
            </a:extLst>
          </p:cNvPr>
          <p:cNvSpPr/>
          <p:nvPr userDrawn="1"/>
        </p:nvSpPr>
        <p:spPr>
          <a:xfrm>
            <a:off x="0" y="0"/>
            <a:ext cx="12192000" cy="6858000"/>
          </a:xfrm>
          <a:prstGeom prst="rect">
            <a:avLst/>
          </a:prstGeom>
          <a:gradFill flip="none" rotWithShape="1">
            <a:gsLst>
              <a:gs pos="7000">
                <a:srgbClr val="161D26">
                  <a:alpha val="24489"/>
                </a:srgbClr>
              </a:gs>
              <a:gs pos="62000">
                <a:srgbClr val="161D26">
                  <a:alpha val="85100"/>
                </a:srgbClr>
              </a:gs>
              <a:gs pos="100000">
                <a:srgbClr val="161D26"/>
              </a:gs>
            </a:gsLst>
            <a:lin ang="168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What is an AI software factory?">
            <a:extLst>
              <a:ext uri="{FF2B5EF4-FFF2-40B4-BE49-F238E27FC236}">
                <ns3:creationId id="{F5D69278-33D3-4807-A686-71510A91E2DE}"/>
              </a:ext>
            </a:extLst>
          </p:cNvPr>
          <p:cNvSpPr>
            <a:spLocks noGrp="1"/>
          </p:cNvSpPr>
          <p:nvPr/>
        </p:nvSpPr>
        <p:spPr>
          <a:xfrm>
            <a:off x="609600" y="457200"/>
            <a:ext cx="10972800" cy="1095375"/>
          </a:xfrm>
          <a:prstGeom prst="rect">
            <a:avLst/>
          </a:prstGeom>
          <a:noFill/>
          <a:ln w="0">
            <a:noFill/>
          </a:ln>
        </p:spPr>
        <p:txBody>
          <a:bodyPr>
            <a:noAutofit/>
          </a:bodyPr>
          <a:lstStyle/>
          <a:p>
            <a:pPr>
              <a:buNone/>
              <a:defRPr sz="3450" b="1">
                <a:solidFill>
                  <a:srgbClr val="FF6600"/>
                </a:solidFill>
                <a:latin typeface="Ember Modern Display Standard"/>
                <a:ea typeface="Ember Modern Display Standard"/>
                <a:cs typeface="Ember Modern Display Standard"/>
              </a:defRPr>
            </a:pPr>
            <a:r>
              <a:rPr sz="3450" b="1">
                <a:solidFill>
                  <a:srgbClr val="FF6600"/>
                </a:solidFill>
                <a:latin typeface="Ember Modern Display Standard"/>
                <a:ea typeface="Ember Modern Display Standard"/>
                <a:cs typeface="Ember Modern Display Standard"/>
              </a:rPr>
              <a:t>What is an AI software factory?</a:t>
            </a:r>
          </a:p>
        </p:txBody>
      </p:sp>
      <p:sp>
        <p:nvSpPr>
          <p:cNvPr id="2" name="A repeatable way to deliver software&#10;using AI agents.">
            <a:extLst>
              <a:ext uri="{FF2B5EF4-FFF2-40B4-BE49-F238E27FC236}">
                <ns3:creationId id="{DC1C8F45-0704-4FF1-B5B7-4DB21869DEB2}"/>
              </a:ext>
            </a:extLst>
          </p:cNvPr>
          <p:cNvSpPr>
            <a:spLocks noGrp="1"/>
          </p:cNvSpPr>
          <p:nvPr/>
        </p:nvSpPr>
        <p:spPr>
          <a:xfrm>
            <a:off x="609600" y="1809750"/>
            <a:ext cx="10972800" cy="1476375"/>
          </a:xfrm>
          <a:prstGeom prst="rect">
            <a:avLst/>
          </a:prstGeom>
          <a:noFill/>
          <a:ln w="0">
            <a:noFill/>
          </a:ln>
        </p:spPr>
        <p:txBody>
          <a:bodyPr>
            <a:noAutofit/>
          </a:bodyPr>
          <a:lstStyle/>
          <a:p>
            <a:pPr>
              <a:buNone/>
              <a:defRPr sz="3675" b="1">
                <a:solidFill>
                  <a:srgbClr val="FF6600"/>
                </a:solidFill>
                <a:latin typeface="Ember Modern Display Standard"/>
                <a:ea typeface="Ember Modern Display Standard"/>
                <a:cs typeface="Ember Modern Display Standard"/>
              </a:defRPr>
            </a:pPr>
            <a:r>
              <a:rPr sz="3675" b="1">
                <a:solidFill>
                  <a:srgbClr val="FF6600"/>
                </a:solidFill>
                <a:latin typeface="Ember Modern Display Standard"/>
                <a:ea typeface="Ember Modern Display Standard"/>
                <a:cs typeface="Ember Modern Display Standard"/>
              </a:rPr>
              <a:t>A repeatable way to deliver software</a:t>
            </a:r>
          </a:p>
          <a:p>
            <a:pPr>
              <a:buNone/>
              <a:defRPr sz="3675" b="1">
                <a:solidFill>
                  <a:srgbClr val="FF6600"/>
                </a:solidFill>
                <a:latin typeface="Ember Modern Display Standard"/>
                <a:ea typeface="Ember Modern Display Standard"/>
                <a:cs typeface="Ember Modern Display Standard"/>
              </a:defRPr>
            </a:pPr>
            <a:r>
              <a:rPr sz="3675" b="1">
                <a:solidFill>
                  <a:srgbClr val="FF6600"/>
                </a:solidFill>
                <a:latin typeface="Ember Modern Display Standard"/>
                <a:ea typeface="Ember Modern Display Standard"/>
                <a:cs typeface="Ember Modern Display Standard"/>
              </a:rPr>
              <a:t>using AI agents.</a:t>
            </a:r>
          </a:p>
        </p:txBody>
      </p:sp>
      <p:sp>
        <p:nvSpPr>
          <p:cNvPr id="3" name="It connects requirements to code, checks and review,&#10;wi">
            <a:extLst>
              <a:ext uri="{FF2B5EF4-FFF2-40B4-BE49-F238E27FC236}">
                <ns3:creationId id="{B85364A0-B8DE-441F-8D8F-FBE00B5E5FE7}"/>
              </a:ext>
            </a:extLst>
          </p:cNvPr>
          <p:cNvSpPr>
            <a:spLocks noGrp="1"/>
          </p:cNvSpPr>
          <p:nvPr/>
        </p:nvSpPr>
        <p:spPr>
          <a:xfrm>
            <a:off x="609600" y="3695700"/>
            <a:ext cx="10934700" cy="1190625"/>
          </a:xfrm>
          <a:prstGeom prst="rect">
            <a:avLst/>
          </a:prstGeom>
          <a:noFill/>
          <a:ln w="0">
            <a:noFill/>
          </a:ln>
        </p:spPr>
        <p:txBody>
          <a:bodyPr>
            <a:noAutofit/>
          </a:bodyPr>
          <a:lstStyle/>
          <a:p>
            <a:pPr>
              <a:buNone/>
              <a:defRPr sz="2625" b="0">
                <a:solidFill>
                  <a:srgbClr val="FFFFFF"/>
                </a:solidFill>
                <a:latin typeface="Ember Modern Display Standard"/>
                <a:ea typeface="Ember Modern Display Standard"/>
                <a:cs typeface="Ember Modern Display Standard"/>
              </a:defRPr>
            </a:pPr>
            <a:r>
              <a:rPr sz="2625" b="0">
                <a:solidFill>
                  <a:srgbClr val="FFFFFF"/>
                </a:solidFill>
                <a:latin typeface="Ember Modern Display Standard"/>
                <a:ea typeface="Ember Modern Display Standard"/>
                <a:cs typeface="Ember Modern Display Standard"/>
              </a:rPr>
              <a:t>It connects requirements to code, checks and review,</a:t>
            </a:r>
          </a:p>
          <a:p>
            <a:pPr>
              <a:buNone/>
              <a:defRPr sz="2625" b="0">
                <a:solidFill>
                  <a:srgbClr val="FFFFFF"/>
                </a:solidFill>
                <a:latin typeface="Ember Modern Display Standard"/>
                <a:ea typeface="Ember Modern Display Standard"/>
                <a:cs typeface="Ember Modern Display Standard"/>
              </a:defRPr>
            </a:pPr>
            <a:r>
              <a:rPr sz="2625" b="0">
                <a:solidFill>
                  <a:srgbClr val="FFFFFF"/>
                </a:solidFill>
                <a:latin typeface="Ember Modern Display Standard"/>
                <a:ea typeface="Ember Modern Display Standard"/>
                <a:cs typeface="Ember Modern Display Standard"/>
              </a:rPr>
              <a:t>with clear rules for accepting a change.</a:t>
            </a:r>
          </a:p>
        </p:txBody>
      </p:sp>
      <p:sp>
        <p:nvSpPr>
          <p:cNvPr id="4" name="In this workshop, you keep the final merge decision.">
            <a:extLst>
              <a:ext uri="{FF2B5EF4-FFF2-40B4-BE49-F238E27FC236}">
                <ns3:creationId id="{A9AB3C29-035A-472E-BF88-D61A16C33936}"/>
              </a:ext>
            </a:extLst>
          </p:cNvPr>
          <p:cNvSpPr>
            <a:spLocks noGrp="1"/>
          </p:cNvSpPr>
          <p:nvPr/>
        </p:nvSpPr>
        <p:spPr>
          <a:xfrm>
            <a:off x="609600" y="5619750"/>
            <a:ext cx="10715625" cy="619125"/>
          </a:xfrm>
          <a:prstGeom prst="rect">
            <a:avLst/>
          </a:prstGeom>
          <a:noFill/>
          <a:ln w="0">
            <a:noFill/>
          </a:ln>
        </p:spPr>
        <p:txBody>
          <a:bodyPr>
            <a:noAutofit/>
          </a:bodyPr>
          <a:lstStyle/>
          <a:p>
            <a:pPr>
              <a:buNone/>
              <a:defRPr sz="2250" b="0">
                <a:solidFill>
                  <a:srgbClr val="D5D9DD"/>
                </a:solidFill>
                <a:latin typeface="Ember Modern Display Standard"/>
                <a:ea typeface="Ember Modern Display Standard"/>
                <a:cs typeface="Ember Modern Display Standard"/>
              </a:defRPr>
            </a:pPr>
            <a:r>
              <a:rPr sz="2250" b="0">
                <a:solidFill>
                  <a:srgbClr val="D5D9DD"/>
                </a:solidFill>
                <a:latin typeface="Ember Modern Display Standard"/>
                <a:ea typeface="Ember Modern Display Standard"/>
                <a:cs typeface="Ember Modern Display Standard"/>
              </a:rPr>
              <a:t>In this workshop, you keep the final merge decision.</a:t>
            </a:r>
          </a:p>
        </p:txBody>
      </p:sp>
      <p:sp>
        <p:nvSpPr>
          <p:cNvPr id="5" name="04">
            <a:extLst>
              <a:ext uri="{FF2B5EF4-FFF2-40B4-BE49-F238E27FC236}">
                <ns3:creationId id="{5E3C5CDE-3AC5-41DD-86DB-2DBE0E5FD833}"/>
              </a:ext>
            </a:extLst>
          </p:cNvPr>
          <p:cNvSpPr>
            <a:spLocks noGrp="1"/>
          </p:cNvSpPr>
          <p:nvPr/>
        </p:nvSpPr>
        <p:spPr>
          <a:xfrm>
            <a:off x="11144250" y="6419850"/>
            <a:ext cx="571500" cy="247650"/>
          </a:xfrm>
          <a:prstGeom prst="rect">
            <a:avLst/>
          </a:prstGeom>
          <a:noFill/>
          <a:ln w="0">
            <a:noFill/>
          </a:ln>
        </p:spPr>
        <p:txBody>
          <a:bodyPr>
            <a:noAutofit/>
          </a:bodyPr>
          <a:lstStyle/>
          <a:p>
            <a:pPr>
              <a:buNone/>
              <a:defRPr sz="1425" b="0">
                <a:solidFill>
                  <a:srgbClr val="D5D9DD"/>
                </a:solidFill>
                <a:latin typeface="Ember Modern Display Standard"/>
                <a:ea typeface="Ember Modern Display Standard"/>
                <a:cs typeface="Ember Modern Display Standard"/>
              </a:defRPr>
            </a:pPr>
            <a:r>
              <a:rPr sz="1425" b="0">
                <a:solidFill>
                  <a:srgbClr val="D5D9DD"/>
                </a:solidFill>
                <a:latin typeface="Ember Modern Display Standard"/>
                <a:ea typeface="Ember Modern Display Standard"/>
                <a:cs typeface="Ember Modern Display Standard"/>
              </a:rPr>
              <a:t>04</a:t>
            </a:r>
          </a:p>
        </p:txBody>
      </p:sp>
    </p:spTree>
    <p:extLst>
      <p:ext uri="{BB962C8B-B14F-4D97-AF65-F5344CB8AC3E}">
        <ns4:creationId val="2084078151"/>
      </p:ext>
    </p:extLst>
  </p:cSld>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dissolv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dissolve">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5.xml><?xml version="1.0" encoding="utf-8"?>
<p:sld xmlns:a="http://schemas.openxmlformats.org/drawingml/2006/main" xmlns:ns3="http://schemas.microsoft.com/office/drawing/2014/main" xmlns:ns4="http://schemas.microsoft.com/office/powerpoint/2010/main" xmlns:p="http://schemas.openxmlformats.org/presentationml/2006/main" xmlns:r="http://schemas.openxmlformats.org/officeDocument/2006/relationships">
  <p:cSld>
    <p:bg>
      <p:bgPr>
        <a:blipFill dpi="0" rotWithShape="1">
          <a:blip r:embed="rIdWorkshopBackground">
            <a:lum/>
          </a:blip>
          <a:srcRect/>
          <a:stretch>
            <a:fillRect/>
          </a:stretch>
        </a:blipFill>
        <a:effectLst/>
      </p:bgPr>
    </p:bg>
    <p:spTree>
      <p:nvGrpSpPr>
        <p:cNvPr id="1" name=""/>
        <p:cNvGrpSpPr/>
        <p:nvPr/>
      </p:nvGrpSpPr>
      <p:grpSpPr>
        <a:xfrm/>
      </p:grpSpPr>
      <p:sp>
        <p:nvSpPr>
          <p:cNvPr id="11" name="Rectangle 6">
            <a:extLst>
              <a:ext uri="{FF2B5EF4-FFF2-40B4-BE49-F238E27FC236}">
                <ns3:creationId id="{4427A647-1148-D1DB-4A47-20B001230704}"/>
              </a:ext>
            </a:extLst>
          </p:cNvPr>
          <p:cNvSpPr/>
          <p:nvPr userDrawn="1"/>
        </p:nvSpPr>
        <p:spPr>
          <a:xfrm>
            <a:off x="0" y="0"/>
            <a:ext cx="12192000" cy="6858000"/>
          </a:xfrm>
          <a:prstGeom prst="rect">
            <a:avLst/>
          </a:prstGeom>
          <a:gradFill flip="none" rotWithShape="1">
            <a:gsLst>
              <a:gs pos="7000">
                <a:srgbClr val="161D26">
                  <a:alpha val="24489"/>
                </a:srgbClr>
              </a:gs>
              <a:gs pos="62000">
                <a:srgbClr val="161D26">
                  <a:alpha val="85100"/>
                </a:srgbClr>
              </a:gs>
              <a:gs pos="100000">
                <a:srgbClr val="161D26"/>
              </a:gs>
            </a:gsLst>
            <a:lin ang="168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Why use a factory?">
            <a:extLst>
              <a:ext uri="{FF2B5EF4-FFF2-40B4-BE49-F238E27FC236}">
                <ns3:creationId id="{FD34724D-C2CD-458A-AC21-FF56A14B7A3B}"/>
              </a:ext>
            </a:extLst>
          </p:cNvPr>
          <p:cNvSpPr>
            <a:spLocks noGrp="1"/>
          </p:cNvSpPr>
          <p:nvPr/>
        </p:nvSpPr>
        <p:spPr>
          <a:xfrm>
            <a:off x="609600" y="457200"/>
            <a:ext cx="10972800" cy="1095375"/>
          </a:xfrm>
          <a:prstGeom prst="rect">
            <a:avLst/>
          </a:prstGeom>
          <a:noFill/>
          <a:ln w="0">
            <a:noFill/>
          </a:ln>
        </p:spPr>
        <p:txBody>
          <a:bodyPr>
            <a:noAutofit/>
          </a:bodyPr>
          <a:lstStyle/>
          <a:p>
            <a:pPr>
              <a:buNone/>
              <a:defRPr sz="3450" b="1">
                <a:solidFill>
                  <a:srgbClr val="FF6600"/>
                </a:solidFill>
                <a:latin typeface="Ember Modern Display Standard"/>
                <a:ea typeface="Ember Modern Display Standard"/>
                <a:cs typeface="Ember Modern Display Standard"/>
              </a:defRPr>
            </a:pPr>
            <a:r>
              <a:rPr sz="3450" b="1">
                <a:solidFill>
                  <a:srgbClr val="FF6600"/>
                </a:solidFill>
                <a:latin typeface="Ember Modern Display Standard"/>
                <a:ea typeface="Ember Modern Display Standard"/>
                <a:cs typeface="Ember Modern Display Standard"/>
              </a:rPr>
              <a:t>Why use a factory?</a:t>
            </a:r>
          </a:p>
        </p:txBody>
      </p:sp>
      <p:sp>
        <p:nvSpPr>
          <p:cNvPr id="2" name="Several changes must fit together.">
            <a:extLst>
              <a:ext uri="{FF2B5EF4-FFF2-40B4-BE49-F238E27FC236}">
                <ns3:creationId id="{C31846D8-D147-4701-A77A-36B0095082FB}"/>
              </a:ext>
            </a:extLst>
          </p:cNvPr>
          <p:cNvSpPr>
            <a:spLocks noGrp="1"/>
          </p:cNvSpPr>
          <p:nvPr/>
        </p:nvSpPr>
        <p:spPr>
          <a:xfrm>
            <a:off x="609600" y="1762125"/>
            <a:ext cx="10858500" cy="495300"/>
          </a:xfrm>
          <a:prstGeom prst="rect">
            <a:avLst/>
          </a:prstGeom>
          <a:noFill/>
          <a:ln w="0">
            <a:noFill/>
          </a:ln>
        </p:spPr>
        <p:txBody>
          <a:bodyPr>
            <a:noAutofit/>
          </a:bodyPr>
          <a:lstStyle/>
          <a:p>
            <a:pPr>
              <a:buNone/>
              <a:defRPr sz="2550" b="1">
                <a:solidFill>
                  <a:srgbClr val="FF6600"/>
                </a:solidFill>
                <a:latin typeface="Ember Modern Display Standard"/>
                <a:ea typeface="Ember Modern Display Standard"/>
                <a:cs typeface="Ember Modern Display Standard"/>
              </a:defRPr>
            </a:pPr>
            <a:r>
              <a:rPr sz="2550" b="1">
                <a:solidFill>
                  <a:srgbClr val="FF6600"/>
                </a:solidFill>
                <a:latin typeface="Ember Modern Display Standard"/>
                <a:ea typeface="Ember Modern Display Standard"/>
                <a:cs typeface="Ember Modern Display Standard"/>
              </a:rPr>
              <a:t>Several changes must fit together.</a:t>
            </a:r>
          </a:p>
        </p:txBody>
      </p:sp>
      <p:sp>
        <p:nvSpPr>
          <p:cNvPr id="3" name="The plan and dependencies coordinate work across the ap">
            <a:extLst>
              <a:ext uri="{FF2B5EF4-FFF2-40B4-BE49-F238E27FC236}">
                <ns3:creationId id="{3A4B66BB-BF00-49A5-870D-9AFF37983003}"/>
              </a:ext>
            </a:extLst>
          </p:cNvPr>
          <p:cNvSpPr>
            <a:spLocks noGrp="1"/>
          </p:cNvSpPr>
          <p:nvPr/>
        </p:nvSpPr>
        <p:spPr>
          <a:xfrm>
            <a:off x="609600" y="2286000"/>
            <a:ext cx="10906125" cy="666750"/>
          </a:xfrm>
          <a:prstGeom prst="rect">
            <a:avLst/>
          </a:prstGeom>
          <a:noFill/>
          <a:ln w="0">
            <a:noFill/>
          </a:ln>
        </p:spPr>
        <p:txBody>
          <a:bodyPr>
            <a:noAutofit/>
          </a:bodyPr>
          <a:lstStyle/>
          <a:p>
            <a:pPr>
              <a:buNone/>
              <a:defRPr sz="2250" b="0">
                <a:solidFill>
                  <a:srgbClr val="FFFFFF"/>
                </a:solidFill>
                <a:latin typeface="Ember Modern Display Standard"/>
                <a:ea typeface="Ember Modern Display Standard"/>
                <a:cs typeface="Ember Modern Display Standard"/>
              </a:defRPr>
            </a:pPr>
            <a:r>
              <a:rPr sz="2250" b="0">
                <a:solidFill>
                  <a:srgbClr val="FFFFFF"/>
                </a:solidFill>
                <a:latin typeface="Ember Modern Display Standard"/>
                <a:ea typeface="Ember Modern Display Standard"/>
                <a:cs typeface="Ember Modern Display Standard"/>
              </a:rPr>
              <a:t>The plan and dependencies coordinate work across the app.</a:t>
            </a:r>
          </a:p>
        </p:txBody>
      </p:sp>
      <p:sp>
        <p:nvSpPr>
          <p:cNvPr id="4" name="Every change needs evidence.">
            <a:extLst>
              <a:ext uri="{FF2B5EF4-FFF2-40B4-BE49-F238E27FC236}">
                <ns3:creationId id="{901DAB03-CE92-4ABB-B325-3626A449CCBD}"/>
              </a:ext>
            </a:extLst>
          </p:cNvPr>
          <p:cNvSpPr>
            <a:spLocks noGrp="1"/>
          </p:cNvSpPr>
          <p:nvPr/>
        </p:nvSpPr>
        <p:spPr>
          <a:xfrm>
            <a:off x="609600" y="3057525"/>
            <a:ext cx="10858500" cy="495300"/>
          </a:xfrm>
          <a:prstGeom prst="rect">
            <a:avLst/>
          </a:prstGeom>
          <a:noFill/>
          <a:ln w="0">
            <a:noFill/>
          </a:ln>
        </p:spPr>
        <p:txBody>
          <a:bodyPr>
            <a:noAutofit/>
          </a:bodyPr>
          <a:lstStyle/>
          <a:p>
            <a:pPr>
              <a:buNone/>
              <a:defRPr sz="2550" b="1">
                <a:solidFill>
                  <a:srgbClr val="FF6600"/>
                </a:solidFill>
                <a:latin typeface="Ember Modern Display Standard"/>
                <a:ea typeface="Ember Modern Display Standard"/>
                <a:cs typeface="Ember Modern Display Standard"/>
              </a:defRPr>
            </a:pPr>
            <a:r>
              <a:rPr sz="2550" b="1">
                <a:solidFill>
                  <a:srgbClr val="FF6600"/>
                </a:solidFill>
                <a:latin typeface="Ember Modern Display Standard"/>
                <a:ea typeface="Ember Modern Display Standard"/>
                <a:cs typeface="Ember Modern Display Standard"/>
              </a:rPr>
              <a:t>Every change needs evidence.</a:t>
            </a:r>
          </a:p>
        </p:txBody>
      </p:sp>
      <p:sp>
        <p:nvSpPr>
          <p:cNvPr id="5" name="Checks and review show what supports the merge decision">
            <a:extLst>
              <a:ext uri="{FF2B5EF4-FFF2-40B4-BE49-F238E27FC236}">
                <ns3:creationId id="{2F4A0324-3C89-4BA0-B157-C80CA1406334}"/>
              </a:ext>
            </a:extLst>
          </p:cNvPr>
          <p:cNvSpPr>
            <a:spLocks noGrp="1"/>
          </p:cNvSpPr>
          <p:nvPr/>
        </p:nvSpPr>
        <p:spPr>
          <a:xfrm>
            <a:off x="609600" y="3581400"/>
            <a:ext cx="10906125" cy="666750"/>
          </a:xfrm>
          <a:prstGeom prst="rect">
            <a:avLst/>
          </a:prstGeom>
          <a:noFill/>
          <a:ln w="0">
            <a:noFill/>
          </a:ln>
        </p:spPr>
        <p:txBody>
          <a:bodyPr>
            <a:noAutofit/>
          </a:bodyPr>
          <a:lstStyle/>
          <a:p>
            <a:pPr>
              <a:buNone/>
              <a:defRPr sz="2250" b="0">
                <a:solidFill>
                  <a:srgbClr val="FFFFFF"/>
                </a:solidFill>
                <a:latin typeface="Ember Modern Display Standard"/>
                <a:ea typeface="Ember Modern Display Standard"/>
                <a:cs typeface="Ember Modern Display Standard"/>
              </a:defRPr>
            </a:pPr>
            <a:r>
              <a:rPr sz="2250" b="0">
                <a:solidFill>
                  <a:srgbClr val="FFFFFF"/>
                </a:solidFill>
                <a:latin typeface="Ember Modern Display Standard"/>
                <a:ea typeface="Ember Modern Display Standard"/>
                <a:cs typeface="Ember Modern Display Standard"/>
              </a:rPr>
              <a:t>Checks and review show what supports the merge decision.</a:t>
            </a:r>
          </a:p>
        </p:txBody>
      </p:sp>
      <p:sp>
        <p:nvSpPr>
          <p:cNvPr id="6" name="Failures need a next action.">
            <a:extLst>
              <a:ext uri="{FF2B5EF4-FFF2-40B4-BE49-F238E27FC236}">
                <ns3:creationId id="{06509A50-DE26-485F-9E23-DF96F11F9882}"/>
              </a:ext>
            </a:extLst>
          </p:cNvPr>
          <p:cNvSpPr>
            <a:spLocks noGrp="1"/>
          </p:cNvSpPr>
          <p:nvPr/>
        </p:nvSpPr>
        <p:spPr>
          <a:xfrm>
            <a:off x="609600" y="4352925"/>
            <a:ext cx="10858500" cy="495300"/>
          </a:xfrm>
          <a:prstGeom prst="rect">
            <a:avLst/>
          </a:prstGeom>
          <a:noFill/>
          <a:ln w="0">
            <a:noFill/>
          </a:ln>
        </p:spPr>
        <p:txBody>
          <a:bodyPr>
            <a:noAutofit/>
          </a:bodyPr>
          <a:lstStyle/>
          <a:p>
            <a:pPr>
              <a:buNone/>
              <a:defRPr sz="2550" b="1">
                <a:solidFill>
                  <a:srgbClr val="FF6600"/>
                </a:solidFill>
                <a:latin typeface="Ember Modern Display Standard"/>
                <a:ea typeface="Ember Modern Display Standard"/>
                <a:cs typeface="Ember Modern Display Standard"/>
              </a:defRPr>
            </a:pPr>
            <a:r>
              <a:rPr sz="2550" b="1">
                <a:solidFill>
                  <a:srgbClr val="FF6600"/>
                </a:solidFill>
                <a:latin typeface="Ember Modern Display Standard"/>
                <a:ea typeface="Ember Modern Display Standard"/>
                <a:cs typeface="Ember Modern Display Standard"/>
              </a:rPr>
              <a:t>Failures need a next action.</a:t>
            </a:r>
          </a:p>
        </p:txBody>
      </p:sp>
      <p:sp>
        <p:nvSpPr>
          <p:cNvPr id="7" name="Recorded results help you find the cause and resume wor">
            <a:extLst>
              <a:ext uri="{FF2B5EF4-FFF2-40B4-BE49-F238E27FC236}">
                <ns3:creationId id="{0DF16082-3DD3-406C-865F-B71EF2E0A076}"/>
              </a:ext>
            </a:extLst>
          </p:cNvPr>
          <p:cNvSpPr>
            <a:spLocks noGrp="1"/>
          </p:cNvSpPr>
          <p:nvPr/>
        </p:nvSpPr>
        <p:spPr>
          <a:xfrm>
            <a:off x="609600" y="4876800"/>
            <a:ext cx="10906125" cy="666750"/>
          </a:xfrm>
          <a:prstGeom prst="rect">
            <a:avLst/>
          </a:prstGeom>
          <a:noFill/>
          <a:ln w="0">
            <a:noFill/>
          </a:ln>
        </p:spPr>
        <p:txBody>
          <a:bodyPr>
            <a:noAutofit/>
          </a:bodyPr>
          <a:lstStyle/>
          <a:p>
            <a:pPr>
              <a:buNone/>
              <a:defRPr sz="2250" b="0">
                <a:solidFill>
                  <a:srgbClr val="FFFFFF"/>
                </a:solidFill>
                <a:latin typeface="Ember Modern Display Standard"/>
                <a:ea typeface="Ember Modern Display Standard"/>
                <a:cs typeface="Ember Modern Display Standard"/>
              </a:defRPr>
            </a:pPr>
            <a:r>
              <a:rPr sz="2250" b="0">
                <a:solidFill>
                  <a:srgbClr val="FFFFFF"/>
                </a:solidFill>
                <a:latin typeface="Ember Modern Display Standard"/>
                <a:ea typeface="Ember Modern Display Standard"/>
                <a:cs typeface="Ember Modern Display Standard"/>
              </a:rPr>
              <a:t>Recorded results help you find the cause and resume work.</a:t>
            </a:r>
          </a:p>
        </p:txBody>
      </p:sp>
      <p:sp>
        <p:nvSpPr>
          <p:cNvPr id="8" name="Its value depends on the review effort and rework it ac">
            <a:extLst>
              <a:ext uri="{FF2B5EF4-FFF2-40B4-BE49-F238E27FC236}">
                <ns3:creationId id="{D6B830F2-EA23-46F3-952D-B446F1008551}"/>
              </a:ext>
            </a:extLst>
          </p:cNvPr>
          <p:cNvSpPr>
            <a:spLocks noGrp="1"/>
          </p:cNvSpPr>
          <p:nvPr/>
        </p:nvSpPr>
        <p:spPr>
          <a:xfrm>
            <a:off x="609600" y="5848350"/>
            <a:ext cx="10858500" cy="466725"/>
          </a:xfrm>
          <a:prstGeom prst="rect">
            <a:avLst/>
          </a:prstGeom>
          <a:noFill/>
          <a:ln w="0">
            <a:noFill/>
          </a:ln>
        </p:spPr>
        <p:txBody>
          <a:bodyPr>
            <a:noAutofit/>
          </a:bodyPr>
          <a:lstStyle/>
          <a:p>
            <a:pPr>
              <a:buNone/>
              <a:defRPr sz="2025" b="0">
                <a:solidFill>
                  <a:srgbClr val="D5D9DD"/>
                </a:solidFill>
                <a:latin typeface="Ember Modern Display Standard"/>
                <a:ea typeface="Ember Modern Display Standard"/>
                <a:cs typeface="Ember Modern Display Standard"/>
              </a:defRPr>
            </a:pPr>
            <a:r>
              <a:rPr sz="2025" b="0">
                <a:solidFill>
                  <a:srgbClr val="D5D9DD"/>
                </a:solidFill>
                <a:latin typeface="Ember Modern Display Standard"/>
                <a:ea typeface="Ember Modern Display Standard"/>
                <a:cs typeface="Ember Modern Display Standard"/>
              </a:rPr>
              <a:t>Its value depends on the review effort and rework it actually saves.</a:t>
            </a:r>
          </a:p>
        </p:txBody>
      </p:sp>
      <p:sp>
        <p:nvSpPr>
          <p:cNvPr id="9" name="05">
            <a:extLst>
              <a:ext uri="{FF2B5EF4-FFF2-40B4-BE49-F238E27FC236}">
                <ns3:creationId id="{59FDA5A8-D529-40D6-A6BA-1EA5E4A40196}"/>
              </a:ext>
            </a:extLst>
          </p:cNvPr>
          <p:cNvSpPr>
            <a:spLocks noGrp="1"/>
          </p:cNvSpPr>
          <p:nvPr/>
        </p:nvSpPr>
        <p:spPr>
          <a:xfrm>
            <a:off x="11144250" y="6419850"/>
            <a:ext cx="571500" cy="247650"/>
          </a:xfrm>
          <a:prstGeom prst="rect">
            <a:avLst/>
          </a:prstGeom>
          <a:noFill/>
          <a:ln w="0">
            <a:noFill/>
          </a:ln>
        </p:spPr>
        <p:txBody>
          <a:bodyPr>
            <a:noAutofit/>
          </a:bodyPr>
          <a:lstStyle/>
          <a:p>
            <a:pPr>
              <a:buNone/>
              <a:defRPr sz="1425" b="0">
                <a:solidFill>
                  <a:srgbClr val="D5D9DD"/>
                </a:solidFill>
                <a:latin typeface="Ember Modern Display Standard"/>
                <a:ea typeface="Ember Modern Display Standard"/>
                <a:cs typeface="Ember Modern Display Standard"/>
              </a:defRPr>
            </a:pPr>
            <a:r>
              <a:rPr sz="1425" b="0">
                <a:solidFill>
                  <a:srgbClr val="D5D9DD"/>
                </a:solidFill>
                <a:latin typeface="Ember Modern Display Standard"/>
                <a:ea typeface="Ember Modern Display Standard"/>
                <a:cs typeface="Ember Modern Display Standard"/>
              </a:rPr>
              <a:t>06</a:t>
            </a:r>
          </a:p>
        </p:txBody>
      </p:sp>
    </p:spTree>
    <p:extLst>
      <p:ext uri="{BB962C8B-B14F-4D97-AF65-F5344CB8AC3E}">
        <ns4:creationId val="983103839"/>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par>
                                <p:cTn id="8" presetID="9"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dissolve">
                                      <p:cBhvr>
                                        <p:cTn id="10" dur="5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dissolve">
                                      <p:cBhvr>
                                        <p:cTn id="15" dur="500"/>
                                        <p:tgtEl>
                                          <p:spTgt spid="4"/>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dissolve">
                                      <p:cBhvr>
                                        <p:cTn id="18" dur="500"/>
                                        <p:tgtEl>
                                          <p:spTgt spid="5"/>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dissolve">
                                      <p:cBhvr>
                                        <p:cTn id="23" dur="500"/>
                                        <p:tgtEl>
                                          <p:spTgt spid="6"/>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dissolve">
                                      <p:cBhvr>
                                        <p:cTn id="26" dur="500"/>
                                        <p:tgtEl>
                                          <p:spTgt spid="7"/>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dissolve">
                                      <p:cBhvr>
                                        <p:cTn id="3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P spid="8" grpId="0"/>
    </p:bldLst>
  </p:timing>
</p:sld>
</file>

<file path=ppt/slides/slide6.xml><?xml version="1.0" encoding="utf-8"?>
<p:sld xmlns:a="http://schemas.openxmlformats.org/drawingml/2006/main" xmlns:ns3="http://schemas.microsoft.com/office/drawing/2014/main" xmlns:ns4="http://schemas.microsoft.com/office/powerpoint/2010/main" xmlns:p="http://schemas.openxmlformats.org/presentationml/2006/main" xmlns:r="http://schemas.openxmlformats.org/officeDocument/2006/relationships">
  <p:cSld>
    <p:bg>
      <p:bgPr>
        <a:blipFill dpi="0" rotWithShape="1">
          <a:blip r:embed="rIdWorkshopBackground">
            <a:lum/>
          </a:blip>
          <a:srcRect/>
          <a:stretch>
            <a:fillRect/>
          </a:stretch>
        </a:blipFill>
        <a:effectLst/>
      </p:bgPr>
    </p:bg>
    <p:spTree>
      <p:nvGrpSpPr>
        <p:cNvPr id="1" name=""/>
        <p:cNvGrpSpPr/>
        <p:nvPr/>
      </p:nvGrpSpPr>
      <p:grpSpPr>
        <a:xfrm/>
      </p:grpSpPr>
      <p:sp>
        <p:nvSpPr>
          <p:cNvPr id="9" name="Rectangle 6">
            <a:extLst>
              <a:ext uri="{FF2B5EF4-FFF2-40B4-BE49-F238E27FC236}">
                <ns3:creationId id="{4427A647-1148-D1DB-4A47-20B001230704}"/>
              </a:ext>
            </a:extLst>
          </p:cNvPr>
          <p:cNvSpPr/>
          <p:nvPr userDrawn="1"/>
        </p:nvSpPr>
        <p:spPr>
          <a:xfrm>
            <a:off x="0" y="0"/>
            <a:ext cx="12192000" cy="6858000"/>
          </a:xfrm>
          <a:prstGeom prst="rect">
            <a:avLst/>
          </a:prstGeom>
          <a:gradFill flip="none" rotWithShape="1">
            <a:gsLst>
              <a:gs pos="7000">
                <a:srgbClr val="161D26">
                  <a:alpha val="24489"/>
                </a:srgbClr>
              </a:gs>
              <a:gs pos="62000">
                <a:srgbClr val="161D26">
                  <a:alpha val="85100"/>
                </a:srgbClr>
              </a:gs>
              <a:gs pos="100000">
                <a:srgbClr val="161D26"/>
              </a:gs>
            </a:gsLst>
            <a:lin ang="168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When is it worth using?">
            <a:extLst>
              <a:ext uri="{FF2B5EF4-FFF2-40B4-BE49-F238E27FC236}">
                <ns3:creationId id="{57446DB0-2188-4354-A599-7EF442AB517E}"/>
              </a:ext>
            </a:extLst>
          </p:cNvPr>
          <p:cNvSpPr>
            <a:spLocks noGrp="1"/>
          </p:cNvSpPr>
          <p:nvPr/>
        </p:nvSpPr>
        <p:spPr>
          <a:xfrm>
            <a:off x="609600" y="457200"/>
            <a:ext cx="10972800" cy="1095375"/>
          </a:xfrm>
          <a:prstGeom prst="rect">
            <a:avLst/>
          </a:prstGeom>
          <a:noFill/>
          <a:ln w="0">
            <a:noFill/>
          </a:ln>
        </p:spPr>
        <p:txBody>
          <a:bodyPr>
            <a:noAutofit/>
          </a:bodyPr>
          <a:lstStyle/>
          <a:p>
            <a:pPr>
              <a:buNone/>
              <a:defRPr sz="3450" b="1">
                <a:solidFill>
                  <a:srgbClr val="FF6600"/>
                </a:solidFill>
                <a:latin typeface="Ember Modern Display Standard"/>
                <a:ea typeface="Ember Modern Display Standard"/>
                <a:cs typeface="Ember Modern Display Standard"/>
              </a:defRPr>
            </a:pPr>
            <a:r>
              <a:rPr sz="3450" b="1">
                <a:solidFill>
                  <a:srgbClr val="FF6600"/>
                </a:solidFill>
                <a:latin typeface="Ember Modern Display Standard"/>
                <a:ea typeface="Ember Modern Display Standard"/>
                <a:cs typeface="Ember Modern Display Standard"/>
              </a:rPr>
              <a:t>When is it worth using?</a:t>
            </a:r>
          </a:p>
        </p:txBody>
      </p:sp>
      <p:sp>
        <p:nvSpPr>
          <p:cNvPr id="2" name="Consider a factory">
            <a:extLst>
              <a:ext uri="{FF2B5EF4-FFF2-40B4-BE49-F238E27FC236}">
                <ns3:creationId id="{3BF9B135-0458-4B8C-B904-9C992C73FD93}"/>
              </a:ext>
            </a:extLst>
          </p:cNvPr>
          <p:cNvSpPr>
            <a:spLocks noGrp="1"/>
          </p:cNvSpPr>
          <p:nvPr/>
        </p:nvSpPr>
        <p:spPr>
          <a:xfrm>
            <a:off x="609600" y="1743075"/>
            <a:ext cx="10810875" cy="504825"/>
          </a:xfrm>
          <a:prstGeom prst="rect">
            <a:avLst/>
          </a:prstGeom>
          <a:noFill/>
          <a:ln w="0">
            <a:noFill/>
          </a:ln>
        </p:spPr>
        <p:txBody>
          <a:bodyPr>
            <a:noAutofit/>
          </a:bodyPr>
          <a:lstStyle/>
          <a:p>
            <a:pPr>
              <a:buNone/>
              <a:defRPr sz="2550" b="1">
                <a:solidFill>
                  <a:srgbClr val="FF6600"/>
                </a:solidFill>
                <a:latin typeface="Ember Modern Display Standard"/>
                <a:ea typeface="Ember Modern Display Standard"/>
                <a:cs typeface="Ember Modern Display Standard"/>
              </a:defRPr>
            </a:pPr>
            <a:r>
              <a:rPr sz="2550" b="1">
                <a:solidFill>
                  <a:srgbClr val="FF6600"/>
                </a:solidFill>
                <a:latin typeface="Ember Modern Display Standard"/>
                <a:ea typeface="Ember Modern Display Standard"/>
                <a:cs typeface="Ember Modern Display Standard"/>
              </a:rPr>
              <a:t>Consider a factory</a:t>
            </a:r>
          </a:p>
        </p:txBody>
      </p:sp>
      <p:sp>
        <p:nvSpPr>
          <p:cNvPr id="3" name="You repeatedly coordinate several changes or handoffs,&#10;">
            <a:extLst>
              <a:ext uri="{FF2B5EF4-FFF2-40B4-BE49-F238E27FC236}">
                <ns3:creationId id="{D0F68493-3B90-4483-8B4B-B0EBE4FC0CD5}"/>
              </a:ext>
            </a:extLst>
          </p:cNvPr>
          <p:cNvSpPr>
            <a:spLocks noGrp="1"/>
          </p:cNvSpPr>
          <p:nvPr/>
        </p:nvSpPr>
        <p:spPr>
          <a:xfrm>
            <a:off x="609600" y="2343150"/>
            <a:ext cx="10906125" cy="1095375"/>
          </a:xfrm>
          <a:prstGeom prst="rect">
            <a:avLst/>
          </a:prstGeom>
          <a:noFill/>
          <a:ln w="0">
            <a:noFill/>
          </a:ln>
        </p:spPr>
        <p:txBody>
          <a:bodyPr>
            <a:noAutofit/>
          </a:bodyPr>
          <a:lstStyle/>
          <a:p>
            <a:pPr>
              <a:buNone/>
              <a:defRPr sz="2550" b="0">
                <a:solidFill>
                  <a:srgbClr val="FFFFFF"/>
                </a:solidFill>
                <a:latin typeface="Ember Modern Display Standard"/>
                <a:ea typeface="Ember Modern Display Standard"/>
                <a:cs typeface="Ember Modern Display Standard"/>
              </a:defRPr>
            </a:pPr>
            <a:r>
              <a:rPr sz="2550" b="0">
                <a:solidFill>
                  <a:srgbClr val="FFFFFF"/>
                </a:solidFill>
                <a:latin typeface="Ember Modern Display Standard"/>
                <a:ea typeface="Ember Modern Display Standard"/>
                <a:cs typeface="Ember Modern Display Standard"/>
              </a:rPr>
              <a:t>You repeatedly coordinate several changes or handoffs,</a:t>
            </a:r>
          </a:p>
          <a:p>
            <a:pPr>
              <a:buNone/>
              <a:defRPr sz="2550" b="0">
                <a:solidFill>
                  <a:srgbClr val="FFFFFF"/>
                </a:solidFill>
                <a:latin typeface="Ember Modern Display Standard"/>
                <a:ea typeface="Ember Modern Display Standard"/>
                <a:cs typeface="Ember Modern Display Standard"/>
              </a:defRPr>
            </a:pPr>
            <a:r>
              <a:rPr sz="2550" b="0">
                <a:solidFill>
                  <a:srgbClr val="FFFFFF"/>
                </a:solidFill>
                <a:latin typeface="Ember Modern Display Standard"/>
                <a:ea typeface="Ember Modern Display Standard"/>
                <a:cs typeface="Ember Modern Display Standard"/>
              </a:rPr>
              <a:t>and can define checks and assign a reviewer.</a:t>
            </a:r>
          </a:p>
        </p:txBody>
      </p:sp>
      <p:sp>
        <p:nvSpPr>
          <p:cNvPr id="4" name="A simpler workflow may be enough">
            <a:extLst>
              <a:ext uri="{FF2B5EF4-FFF2-40B4-BE49-F238E27FC236}">
                <ns3:creationId id="{33083908-879A-4886-9DDA-DA410AB1C9A0}"/>
              </a:ext>
            </a:extLst>
          </p:cNvPr>
          <p:cNvSpPr>
            <a:spLocks noGrp="1"/>
          </p:cNvSpPr>
          <p:nvPr/>
        </p:nvSpPr>
        <p:spPr>
          <a:xfrm>
            <a:off x="609600" y="3905250"/>
            <a:ext cx="10858500" cy="504825"/>
          </a:xfrm>
          <a:prstGeom prst="rect">
            <a:avLst/>
          </a:prstGeom>
          <a:noFill/>
          <a:ln w="0">
            <a:noFill/>
          </a:ln>
        </p:spPr>
        <p:txBody>
          <a:bodyPr>
            <a:noAutofit/>
          </a:bodyPr>
          <a:lstStyle/>
          <a:p>
            <a:pPr>
              <a:buNone/>
              <a:defRPr sz="2550" b="1">
                <a:solidFill>
                  <a:srgbClr val="FF6600"/>
                </a:solidFill>
                <a:latin typeface="Ember Modern Display Standard"/>
                <a:ea typeface="Ember Modern Display Standard"/>
                <a:cs typeface="Ember Modern Display Standard"/>
              </a:defRPr>
            </a:pPr>
            <a:r>
              <a:rPr sz="2550" b="1">
                <a:solidFill>
                  <a:srgbClr val="FF6600"/>
                </a:solidFill>
                <a:latin typeface="Ember Modern Display Standard"/>
                <a:ea typeface="Ember Modern Display Standard"/>
                <a:cs typeface="Ember Modern Display Standard"/>
              </a:rPr>
              <a:t>A simpler workflow may be enough</a:t>
            </a:r>
          </a:p>
        </p:txBody>
      </p:sp>
      <p:sp>
        <p:nvSpPr>
          <p:cNvPr id="5" name="For a small, isolated change, use one coding agent&#10;with">
            <a:extLst>
              <a:ext uri="{FF2B5EF4-FFF2-40B4-BE49-F238E27FC236}">
                <ns3:creationId id="{DD9E3F39-5EF7-4E4F-BBDF-3C11EDB774F2}"/>
              </a:ext>
            </a:extLst>
          </p:cNvPr>
          <p:cNvSpPr>
            <a:spLocks noGrp="1"/>
          </p:cNvSpPr>
          <p:nvPr/>
        </p:nvSpPr>
        <p:spPr>
          <a:xfrm>
            <a:off x="609600" y="4505325"/>
            <a:ext cx="10906125" cy="1047750"/>
          </a:xfrm>
          <a:prstGeom prst="rect">
            <a:avLst/>
          </a:prstGeom>
          <a:noFill/>
          <a:ln w="0">
            <a:noFill/>
          </a:ln>
        </p:spPr>
        <p:txBody>
          <a:bodyPr>
            <a:noAutofit/>
          </a:bodyPr>
          <a:lstStyle/>
          <a:p>
            <a:pPr>
              <a:buNone/>
              <a:defRPr sz="2550" b="0">
                <a:solidFill>
                  <a:srgbClr val="FFFFFF"/>
                </a:solidFill>
                <a:latin typeface="Ember Modern Display Standard"/>
                <a:ea typeface="Ember Modern Display Standard"/>
                <a:cs typeface="Ember Modern Display Standard"/>
              </a:defRPr>
            </a:pPr>
            <a:r>
              <a:rPr sz="2550" b="0">
                <a:solidFill>
                  <a:srgbClr val="FFFFFF"/>
                </a:solidFill>
                <a:latin typeface="Ember Modern Display Standard"/>
                <a:ea typeface="Ember Modern Display Standard"/>
                <a:cs typeface="Ember Modern Display Standard"/>
              </a:rPr>
              <a:t>For a small, isolated change, use one coding agent</a:t>
            </a:r>
          </a:p>
          <a:p>
            <a:pPr>
              <a:buNone/>
              <a:defRPr sz="2550" b="0">
                <a:solidFill>
                  <a:srgbClr val="FFFFFF"/>
                </a:solidFill>
                <a:latin typeface="Ember Modern Display Standard"/>
                <a:ea typeface="Ember Modern Display Standard"/>
                <a:cs typeface="Ember Modern Display Standard"/>
              </a:defRPr>
            </a:pPr>
            <a:r>
              <a:rPr sz="2550" b="0">
                <a:solidFill>
                  <a:srgbClr val="FFFFFF"/>
                </a:solidFill>
                <a:latin typeface="Ember Modern Display Standard"/>
                <a:ea typeface="Ember Modern Display Standard"/>
                <a:cs typeface="Ember Modern Display Standard"/>
              </a:rPr>
              <a:t>with your existing tests and human review.</a:t>
            </a:r>
          </a:p>
        </p:txBody>
      </p:sp>
      <p:sp>
        <p:nvSpPr>
          <p:cNvPr id="6" name="Unclear requirements or missing checks? Establish those">
            <a:extLst>
              <a:ext uri="{FF2B5EF4-FFF2-40B4-BE49-F238E27FC236}">
                <ns3:creationId id="{B9668FF2-E7E8-4AE8-907A-C72603566A1C}"/>
              </a:ext>
            </a:extLst>
          </p:cNvPr>
          <p:cNvSpPr>
            <a:spLocks noGrp="1"/>
          </p:cNvSpPr>
          <p:nvPr/>
        </p:nvSpPr>
        <p:spPr>
          <a:xfrm>
            <a:off x="609600" y="5934075"/>
            <a:ext cx="10810875" cy="390525"/>
          </a:xfrm>
          <a:prstGeom prst="rect">
            <a:avLst/>
          </a:prstGeom>
          <a:noFill/>
          <a:ln w="0">
            <a:noFill/>
          </a:ln>
        </p:spPr>
        <p:txBody>
          <a:bodyPr>
            <a:noAutofit/>
          </a:bodyPr>
          <a:lstStyle/>
          <a:p>
            <a:pPr>
              <a:buNone/>
              <a:defRPr sz="2025" b="0">
                <a:solidFill>
                  <a:srgbClr val="D5D9DD"/>
                </a:solidFill>
                <a:latin typeface="Ember Modern Display Standard"/>
                <a:ea typeface="Ember Modern Display Standard"/>
                <a:cs typeface="Ember Modern Display Standard"/>
              </a:defRPr>
            </a:pPr>
            <a:r>
              <a:rPr sz="2025" b="0">
                <a:solidFill>
                  <a:srgbClr val="D5D9DD"/>
                </a:solidFill>
                <a:latin typeface="Ember Modern Display Standard"/>
                <a:ea typeface="Ember Modern Display Standard"/>
                <a:cs typeface="Ember Modern Display Standard"/>
              </a:rPr>
              <a:t>Unclear requirements or missing checks? Establish those first.</a:t>
            </a:r>
          </a:p>
        </p:txBody>
      </p:sp>
      <p:sp>
        <p:nvSpPr>
          <p:cNvPr id="7" name="06">
            <a:extLst>
              <a:ext uri="{FF2B5EF4-FFF2-40B4-BE49-F238E27FC236}">
                <ns3:creationId id="{5061213F-7C6B-49D1-98E3-996EA123F607}"/>
              </a:ext>
            </a:extLst>
          </p:cNvPr>
          <p:cNvSpPr>
            <a:spLocks noGrp="1"/>
          </p:cNvSpPr>
          <p:nvPr/>
        </p:nvSpPr>
        <p:spPr>
          <a:xfrm>
            <a:off x="11144250" y="6419850"/>
            <a:ext cx="571500" cy="247650"/>
          </a:xfrm>
          <a:prstGeom prst="rect">
            <a:avLst/>
          </a:prstGeom>
          <a:noFill/>
          <a:ln w="0">
            <a:noFill/>
          </a:ln>
        </p:spPr>
        <p:txBody>
          <a:bodyPr>
            <a:noAutofit/>
          </a:bodyPr>
          <a:lstStyle/>
          <a:p>
            <a:pPr>
              <a:buNone/>
              <a:defRPr sz="1425" b="0">
                <a:solidFill>
                  <a:srgbClr val="D5D9DD"/>
                </a:solidFill>
                <a:latin typeface="Ember Modern Display Standard"/>
                <a:ea typeface="Ember Modern Display Standard"/>
                <a:cs typeface="Ember Modern Display Standard"/>
              </a:defRPr>
            </a:pPr>
            <a:r>
              <a:rPr sz="1425" b="0">
                <a:solidFill>
                  <a:srgbClr val="D5D9DD"/>
                </a:solidFill>
                <a:latin typeface="Ember Modern Display Standard"/>
                <a:ea typeface="Ember Modern Display Standard"/>
                <a:cs typeface="Ember Modern Display Standard"/>
              </a:rPr>
              <a:t>07</a:t>
            </a:r>
          </a:p>
        </p:txBody>
      </p:sp>
    </p:spTree>
    <p:extLst>
      <p:ext uri="{BB962C8B-B14F-4D97-AF65-F5344CB8AC3E}">
        <ns4:creationId val="1641114190"/>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par>
                                <p:cTn id="8" presetID="9"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dissolve">
                                      <p:cBhvr>
                                        <p:cTn id="10" dur="5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dissolve">
                                      <p:cBhvr>
                                        <p:cTn id="15" dur="500"/>
                                        <p:tgtEl>
                                          <p:spTgt spid="4"/>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dissolve">
                                      <p:cBhvr>
                                        <p:cTn id="18" dur="500"/>
                                        <p:tgtEl>
                                          <p:spTgt spid="5"/>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dissolve">
                                      <p:cBhvr>
                                        <p:cTn id="2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Lst>
  </p:timing>
</p:sld>
</file>

<file path=ppt/slides/slide7.xml><?xml version="1.0" encoding="utf-8"?>
<p:sld xmlns:a="http://schemas.openxmlformats.org/drawingml/2006/main" xmlns:ns3="http://schemas.microsoft.com/office/drawing/2014/main" xmlns:ns4="http://schemas.microsoft.com/office/powerpoint/2010/main" xmlns:p="http://schemas.openxmlformats.org/presentationml/2006/main" xmlns:r="http://schemas.openxmlformats.org/officeDocument/2006/relationships">
  <p:cSld>
    <p:bg>
      <p:bgPr>
        <a:blipFill dpi="0" rotWithShape="1">
          <a:blip r:embed="rIdWorkshopBackground">
            <a:lum/>
          </a:blip>
          <a:srcRect/>
          <a:stretch>
            <a:fillRect/>
          </a:stretch>
        </a:blipFill>
        <a:effectLst/>
      </p:bgPr>
    </p:bg>
    <p:spTree>
      <p:nvGrpSpPr>
        <p:cNvPr id="1" name=""/>
        <p:cNvGrpSpPr/>
        <p:nvPr/>
      </p:nvGrpSpPr>
      <p:grpSpPr>
        <a:xfrm/>
      </p:grpSpPr>
      <p:sp>
        <p:nvSpPr>
          <p:cNvPr id="13" name="Rectangle 6">
            <a:extLst>
              <a:ext uri="{FF2B5EF4-FFF2-40B4-BE49-F238E27FC236}">
                <ns3:creationId id="{4427A647-1148-D1DB-4A47-20B001230704}"/>
              </a:ext>
            </a:extLst>
          </p:cNvPr>
          <p:cNvSpPr/>
          <p:nvPr userDrawn="1"/>
        </p:nvSpPr>
        <p:spPr>
          <a:xfrm>
            <a:off x="0" y="0"/>
            <a:ext cx="12192000" cy="6858000"/>
          </a:xfrm>
          <a:prstGeom prst="rect">
            <a:avLst/>
          </a:prstGeom>
          <a:gradFill flip="none" rotWithShape="1">
            <a:gsLst>
              <a:gs pos="7000">
                <a:srgbClr val="161D26">
                  <a:alpha val="24489"/>
                </a:srgbClr>
              </a:gs>
              <a:gs pos="62000">
                <a:srgbClr val="161D26">
                  <a:alpha val="85100"/>
                </a:srgbClr>
              </a:gs>
              <a:gs pos="100000">
                <a:srgbClr val="161D26"/>
              </a:gs>
            </a:gsLst>
            <a:lin ang="168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Your engineering decisions">
            <a:extLst>
              <a:ext uri="{FF2B5EF4-FFF2-40B4-BE49-F238E27FC236}">
                <ns3:creationId id="{9BC1785D-1299-48B5-99CE-595FFE02D0DA}"/>
              </a:ext>
            </a:extLst>
          </p:cNvPr>
          <p:cNvSpPr>
            <a:spLocks noGrp="1"/>
          </p:cNvSpPr>
          <p:nvPr/>
        </p:nvSpPr>
        <p:spPr>
          <a:xfrm>
            <a:off x="609600" y="457200"/>
            <a:ext cx="10972800" cy="1095375"/>
          </a:xfrm>
          <a:prstGeom prst="rect">
            <a:avLst/>
          </a:prstGeom>
          <a:noFill/>
          <a:ln w="0">
            <a:noFill/>
          </a:ln>
        </p:spPr>
        <p:txBody>
          <a:bodyPr>
            <a:noAutofit/>
          </a:bodyPr>
          <a:lstStyle/>
          <a:p>
            <a:pPr>
              <a:buNone/>
              <a:defRPr sz="3450" b="1">
                <a:solidFill>
                  <a:srgbClr val="FF6600"/>
                </a:solidFill>
                <a:latin typeface="Ember Modern Display Standard"/>
                <a:ea typeface="Ember Modern Display Standard"/>
                <a:cs typeface="Ember Modern Display Standard"/>
              </a:defRPr>
            </a:pPr>
            <a:r>
              <a:rPr sz="3450" b="1">
                <a:solidFill>
                  <a:srgbClr val="FF6600"/>
                </a:solidFill>
                <a:latin typeface="Ember Modern Display Standard"/>
                <a:ea typeface="Ember Modern Display Standard"/>
                <a:cs typeface="Ember Modern Display Standard"/>
              </a:rPr>
              <a:t>Your engineering decisions</a:t>
            </a:r>
          </a:p>
        </p:txBody>
      </p:sp>
      <p:sp>
        <p:nvSpPr>
          <p:cNvPr id="2" name="04">
            <a:extLst>
              <a:ext uri="{FF2B5EF4-FFF2-40B4-BE49-F238E27FC236}">
                <ns3:creationId id="{8DCF9203-F506-4FA3-950F-A1918318AB5E}"/>
              </a:ext>
            </a:extLst>
          </p:cNvPr>
          <p:cNvSpPr>
            <a:spLocks noGrp="1"/>
          </p:cNvSpPr>
          <p:nvPr/>
        </p:nvSpPr>
        <p:spPr>
          <a:xfrm>
            <a:off x="11144250" y="6419850"/>
            <a:ext cx="571500" cy="247650"/>
          </a:xfrm>
          <a:prstGeom prst="rect">
            <a:avLst/>
          </a:prstGeom>
          <a:noFill/>
          <a:ln w="0">
            <a:noFill/>
          </a:ln>
        </p:spPr>
        <p:txBody>
          <a:bodyPr>
            <a:noAutofit/>
          </a:bodyPr>
          <a:lstStyle/>
          <a:p>
            <a:pPr>
              <a:buNone/>
              <a:defRPr sz="1425" b="0">
                <a:solidFill>
                  <a:srgbClr val="D5D9DD"/>
                </a:solidFill>
                <a:latin typeface="Ember Modern Display Standard"/>
                <a:ea typeface="Ember Modern Display Standard"/>
                <a:cs typeface="Ember Modern Display Standard"/>
              </a:defRPr>
            </a:pPr>
            <a:r>
              <a:rPr sz="1425" b="0">
                <a:solidFill>
                  <a:srgbClr val="D5D9DD"/>
                </a:solidFill>
                <a:latin typeface="Ember Modern Display Standard"/>
                <a:ea typeface="Ember Modern Display Standard"/>
                <a:cs typeface="Ember Modern Display Standard"/>
              </a:rPr>
              <a:t>08</a:t>
            </a:r>
          </a:p>
        </p:txBody>
      </p:sp>
      <p:sp>
        <p:nvSpPr>
          <p:cNvPr id="3" name="1">
            <a:extLst>
              <a:ext uri="{FF2B5EF4-FFF2-40B4-BE49-F238E27FC236}">
                <ns3:creationId id="{F2C28BE1-5394-4F7D-8DE9-BF20A5C117A2}"/>
              </a:ext>
            </a:extLst>
          </p:cNvPr>
          <p:cNvSpPr>
            <a:spLocks noGrp="1"/>
          </p:cNvSpPr>
          <p:nvPr/>
        </p:nvSpPr>
        <p:spPr>
          <a:xfrm>
            <a:off x="609600" y="1771650"/>
            <a:ext cx="542925" cy="600075"/>
          </a:xfrm>
          <a:prstGeom prst="rect">
            <a:avLst/>
          </a:prstGeom>
          <a:noFill/>
          <a:ln w="0">
            <a:noFill/>
          </a:ln>
        </p:spPr>
        <p:txBody>
          <a:bodyPr>
            <a:noAutofit/>
          </a:bodyPr>
          <a:lstStyle/>
          <a:p>
            <a:pPr>
              <a:buNone/>
              <a:defRPr sz="2625" b="1">
                <a:solidFill>
                  <a:srgbClr val="FF6600"/>
                </a:solidFill>
                <a:latin typeface="Ember Modern Display Standard"/>
                <a:ea typeface="Ember Modern Display Standard"/>
                <a:cs typeface="Ember Modern Display Standard"/>
              </a:defRPr>
            </a:pPr>
            <a:r>
              <a:rPr sz="2625" b="1">
                <a:solidFill>
                  <a:srgbClr val="FF6600"/>
                </a:solidFill>
                <a:latin typeface="Ember Modern Display Standard"/>
                <a:ea typeface="Ember Modern Display Standard"/>
                <a:cs typeface="Ember Modern Display Standard"/>
              </a:rPr>
              <a:t>1</a:t>
            </a:r>
          </a:p>
        </p:txBody>
      </p:sp>
      <p:sp>
        <p:nvSpPr>
          <p:cNvPr id="4" name="Did the agents understand the requested product?">
            <a:extLst>
              <a:ext uri="{FF2B5EF4-FFF2-40B4-BE49-F238E27FC236}">
                <ns3:creationId id="{F7B8C2B9-641F-43D7-B534-104A1BC645F6}"/>
              </a:ext>
            </a:extLst>
          </p:cNvPr>
          <p:cNvSpPr>
            <a:spLocks noGrp="1"/>
          </p:cNvSpPr>
          <p:nvPr/>
        </p:nvSpPr>
        <p:spPr>
          <a:xfrm>
            <a:off x="1343025" y="1771650"/>
            <a:ext cx="10077450" cy="781050"/>
          </a:xfrm>
          <a:prstGeom prst="rect">
            <a:avLst/>
          </a:prstGeom>
          <a:noFill/>
          <a:ln w="0">
            <a:noFill/>
          </a:ln>
        </p:spPr>
        <p:txBody>
          <a:bodyPr>
            <a:noAutofit/>
          </a:bodyPr>
          <a:lstStyle/>
          <a:p>
            <a:pPr>
              <a:buNone/>
              <a:defRPr sz="2550" b="0">
                <a:solidFill>
                  <a:srgbClr val="FFFFFF"/>
                </a:solidFill>
                <a:latin typeface="Ember Modern Display Standard"/>
                <a:ea typeface="Ember Modern Display Standard"/>
                <a:cs typeface="Ember Modern Display Standard"/>
              </a:defRPr>
            </a:pPr>
            <a:r>
              <a:rPr sz="2550" b="0">
                <a:solidFill>
                  <a:srgbClr val="FFFFFF"/>
                </a:solidFill>
                <a:latin typeface="Ember Modern Display Standard"/>
                <a:ea typeface="Ember Modern Display Standard"/>
                <a:cs typeface="Ember Modern Display Standard"/>
              </a:rPr>
              <a:t>Did the agents understand the requested product?</a:t>
            </a:r>
          </a:p>
        </p:txBody>
      </p:sp>
      <p:sp>
        <p:nvSpPr>
          <p:cNvPr id="5" name="2">
            <a:extLst>
              <a:ext uri="{FF2B5EF4-FFF2-40B4-BE49-F238E27FC236}">
                <ns3:creationId id="{384FDE34-0162-41AC-B8E9-43C4B2336D1E}"/>
              </a:ext>
            </a:extLst>
          </p:cNvPr>
          <p:cNvSpPr>
            <a:spLocks noGrp="1"/>
          </p:cNvSpPr>
          <p:nvPr/>
        </p:nvSpPr>
        <p:spPr>
          <a:xfrm>
            <a:off x="609600" y="2714625"/>
            <a:ext cx="542925" cy="600075"/>
          </a:xfrm>
          <a:prstGeom prst="rect">
            <a:avLst/>
          </a:prstGeom>
          <a:noFill/>
          <a:ln w="0">
            <a:noFill/>
          </a:ln>
        </p:spPr>
        <p:txBody>
          <a:bodyPr>
            <a:noAutofit/>
          </a:bodyPr>
          <a:lstStyle/>
          <a:p>
            <a:pPr>
              <a:buNone/>
              <a:defRPr sz="2625" b="1">
                <a:solidFill>
                  <a:srgbClr val="FF6600"/>
                </a:solidFill>
                <a:latin typeface="Ember Modern Display Standard"/>
                <a:ea typeface="Ember Modern Display Standard"/>
                <a:cs typeface="Ember Modern Display Standard"/>
              </a:defRPr>
            </a:pPr>
            <a:r>
              <a:rPr sz="2625" b="1">
                <a:solidFill>
                  <a:srgbClr val="FF6600"/>
                </a:solidFill>
                <a:latin typeface="Ember Modern Display Standard"/>
                <a:ea typeface="Ember Modern Display Standard"/>
                <a:cs typeface="Ember Modern Display Standard"/>
              </a:rPr>
              <a:t>2</a:t>
            </a:r>
          </a:p>
        </p:txBody>
      </p:sp>
      <p:sp>
        <p:nvSpPr>
          <p:cNvPr id="6" name="Does their proposed plan make sense?">
            <a:extLst>
              <a:ext uri="{FF2B5EF4-FFF2-40B4-BE49-F238E27FC236}">
                <ns3:creationId id="{F41BB580-A0EC-4B03-8794-70F4D1AEC79B}"/>
              </a:ext>
            </a:extLst>
          </p:cNvPr>
          <p:cNvSpPr>
            <a:spLocks noGrp="1"/>
          </p:cNvSpPr>
          <p:nvPr/>
        </p:nvSpPr>
        <p:spPr>
          <a:xfrm>
            <a:off x="1343025" y="2714625"/>
            <a:ext cx="10077450" cy="781050"/>
          </a:xfrm>
          <a:prstGeom prst="rect">
            <a:avLst/>
          </a:prstGeom>
          <a:noFill/>
          <a:ln w="0">
            <a:noFill/>
          </a:ln>
        </p:spPr>
        <p:txBody>
          <a:bodyPr>
            <a:noAutofit/>
          </a:bodyPr>
          <a:lstStyle/>
          <a:p>
            <a:pPr>
              <a:buNone/>
              <a:defRPr sz="2550" b="0">
                <a:solidFill>
                  <a:srgbClr val="FFFFFF"/>
                </a:solidFill>
                <a:latin typeface="Ember Modern Display Standard"/>
                <a:ea typeface="Ember Modern Display Standard"/>
                <a:cs typeface="Ember Modern Display Standard"/>
              </a:defRPr>
            </a:pPr>
            <a:r>
              <a:rPr sz="2550" b="0">
                <a:solidFill>
                  <a:srgbClr val="FFFFFF"/>
                </a:solidFill>
                <a:latin typeface="Ember Modern Display Standard"/>
                <a:ea typeface="Ember Modern Display Standard"/>
                <a:cs typeface="Ember Modern Display Standard"/>
              </a:rPr>
              <a:t>Does their proposed plan make sense?</a:t>
            </a:r>
          </a:p>
        </p:txBody>
      </p:sp>
      <p:sp>
        <p:nvSpPr>
          <p:cNvPr id="7" name="3">
            <a:extLst>
              <a:ext uri="{FF2B5EF4-FFF2-40B4-BE49-F238E27FC236}">
                <ns3:creationId id="{11CE2236-7424-483A-8CC2-1D42779F126B}"/>
              </a:ext>
            </a:extLst>
          </p:cNvPr>
          <p:cNvSpPr>
            <a:spLocks noGrp="1"/>
          </p:cNvSpPr>
          <p:nvPr/>
        </p:nvSpPr>
        <p:spPr>
          <a:xfrm>
            <a:off x="609600" y="3657600"/>
            <a:ext cx="542925" cy="600075"/>
          </a:xfrm>
          <a:prstGeom prst="rect">
            <a:avLst/>
          </a:prstGeom>
          <a:noFill/>
          <a:ln w="0">
            <a:noFill/>
          </a:ln>
        </p:spPr>
        <p:txBody>
          <a:bodyPr>
            <a:noAutofit/>
          </a:bodyPr>
          <a:lstStyle/>
          <a:p>
            <a:pPr>
              <a:buNone/>
              <a:defRPr sz="2625" b="1">
                <a:solidFill>
                  <a:srgbClr val="FF6600"/>
                </a:solidFill>
                <a:latin typeface="Ember Modern Display Standard"/>
                <a:ea typeface="Ember Modern Display Standard"/>
                <a:cs typeface="Ember Modern Display Standard"/>
              </a:defRPr>
            </a:pPr>
            <a:r>
              <a:rPr sz="2625" b="1">
                <a:solidFill>
                  <a:srgbClr val="FF6600"/>
                </a:solidFill>
                <a:latin typeface="Ember Modern Display Standard"/>
                <a:ea typeface="Ember Modern Display Standard"/>
                <a:cs typeface="Ember Modern Display Standard"/>
              </a:rPr>
              <a:t>3</a:t>
            </a:r>
          </a:p>
        </p:txBody>
      </p:sp>
      <p:sp>
        <p:nvSpPr>
          <p:cNvPr id="8" name="Will the tests demonstrate the required behavior?">
            <a:extLst>
              <a:ext uri="{FF2B5EF4-FFF2-40B4-BE49-F238E27FC236}">
                <ns3:creationId id="{8A7D21A2-87D1-4044-8934-2AF9A4EF94EE}"/>
              </a:ext>
            </a:extLst>
          </p:cNvPr>
          <p:cNvSpPr>
            <a:spLocks noGrp="1"/>
          </p:cNvSpPr>
          <p:nvPr/>
        </p:nvSpPr>
        <p:spPr>
          <a:xfrm>
            <a:off x="1343025" y="3657600"/>
            <a:ext cx="10077450" cy="781050"/>
          </a:xfrm>
          <a:prstGeom prst="rect">
            <a:avLst/>
          </a:prstGeom>
          <a:noFill/>
          <a:ln w="0">
            <a:noFill/>
          </a:ln>
        </p:spPr>
        <p:txBody>
          <a:bodyPr>
            <a:noAutofit/>
          </a:bodyPr>
          <a:lstStyle/>
          <a:p>
            <a:pPr>
              <a:buNone/>
              <a:defRPr sz="2550" b="0">
                <a:solidFill>
                  <a:srgbClr val="FFFFFF"/>
                </a:solidFill>
                <a:latin typeface="Ember Modern Display Standard"/>
                <a:ea typeface="Ember Modern Display Standard"/>
                <a:cs typeface="Ember Modern Display Standard"/>
              </a:defRPr>
            </a:pPr>
            <a:r>
              <a:rPr sz="2550" b="0">
                <a:solidFill>
                  <a:srgbClr val="FFFFFF"/>
                </a:solidFill>
                <a:latin typeface="Ember Modern Display Standard"/>
                <a:ea typeface="Ember Modern Display Standard"/>
                <a:cs typeface="Ember Modern Display Standard"/>
              </a:rPr>
              <a:t>Will the tests demonstrate the required behavior?</a:t>
            </a:r>
          </a:p>
        </p:txBody>
      </p:sp>
      <p:sp>
        <p:nvSpPr>
          <p:cNvPr id="9" name="4">
            <a:extLst>
              <a:ext uri="{FF2B5EF4-FFF2-40B4-BE49-F238E27FC236}">
                <ns3:creationId id="{9A655D36-DBE7-4F05-A6B4-226DFC026271}"/>
              </a:ext>
            </a:extLst>
          </p:cNvPr>
          <p:cNvSpPr>
            <a:spLocks noGrp="1"/>
          </p:cNvSpPr>
          <p:nvPr/>
        </p:nvSpPr>
        <p:spPr>
          <a:xfrm>
            <a:off x="609600" y="4600575"/>
            <a:ext cx="542925" cy="600075"/>
          </a:xfrm>
          <a:prstGeom prst="rect">
            <a:avLst/>
          </a:prstGeom>
          <a:noFill/>
          <a:ln w="0">
            <a:noFill/>
          </a:ln>
        </p:spPr>
        <p:txBody>
          <a:bodyPr>
            <a:noAutofit/>
          </a:bodyPr>
          <a:lstStyle/>
          <a:p>
            <a:pPr>
              <a:buNone/>
              <a:defRPr sz="2625" b="1">
                <a:solidFill>
                  <a:srgbClr val="FF6600"/>
                </a:solidFill>
                <a:latin typeface="Ember Modern Display Standard"/>
                <a:ea typeface="Ember Modern Display Standard"/>
                <a:cs typeface="Ember Modern Display Standard"/>
              </a:defRPr>
            </a:pPr>
            <a:r>
              <a:rPr sz="2625" b="1">
                <a:solidFill>
                  <a:srgbClr val="FF6600"/>
                </a:solidFill>
                <a:latin typeface="Ember Modern Display Standard"/>
                <a:ea typeface="Ember Modern Display Standard"/>
                <a:cs typeface="Ember Modern Display Standard"/>
              </a:rPr>
              <a:t>4</a:t>
            </a:r>
          </a:p>
        </p:txBody>
      </p:sp>
      <p:sp>
        <p:nvSpPr>
          <p:cNvPr id="10" name="Does the finished change deserve to be merged?">
            <a:extLst>
              <a:ext uri="{FF2B5EF4-FFF2-40B4-BE49-F238E27FC236}">
                <ns3:creationId id="{9DF7064D-88DB-400B-8EC8-A3F919A20FB8}"/>
              </a:ext>
            </a:extLst>
          </p:cNvPr>
          <p:cNvSpPr>
            <a:spLocks noGrp="1"/>
          </p:cNvSpPr>
          <p:nvPr/>
        </p:nvSpPr>
        <p:spPr>
          <a:xfrm>
            <a:off x="1343025" y="4600575"/>
            <a:ext cx="10077450" cy="781050"/>
          </a:xfrm>
          <a:prstGeom prst="rect">
            <a:avLst/>
          </a:prstGeom>
          <a:noFill/>
          <a:ln w="0">
            <a:noFill/>
          </a:ln>
        </p:spPr>
        <p:txBody>
          <a:bodyPr>
            <a:noAutofit/>
          </a:bodyPr>
          <a:lstStyle/>
          <a:p>
            <a:pPr>
              <a:buNone/>
              <a:defRPr sz="2550" b="0">
                <a:solidFill>
                  <a:srgbClr val="FFFFFF"/>
                </a:solidFill>
                <a:latin typeface="Ember Modern Display Standard"/>
                <a:ea typeface="Ember Modern Display Standard"/>
                <a:cs typeface="Ember Modern Display Standard"/>
              </a:defRPr>
            </a:pPr>
            <a:r>
              <a:rPr sz="2550" b="0">
                <a:solidFill>
                  <a:srgbClr val="FFFFFF"/>
                </a:solidFill>
                <a:latin typeface="Ember Modern Display Standard"/>
                <a:ea typeface="Ember Modern Display Standard"/>
                <a:cs typeface="Ember Modern Display Standard"/>
              </a:rPr>
              <a:t>Does the finished change deserve to be merged?</a:t>
            </a:r>
          </a:p>
        </p:txBody>
      </p:sp>
      <p:sp>
        <p:nvSpPr>
          <p:cNvPr id="11" name="Agents propose the work. You inspect it and accept or r">
            <a:extLst>
              <a:ext uri="{FF2B5EF4-FFF2-40B4-BE49-F238E27FC236}">
                <ns3:creationId id="{EBF8DFC3-5168-4971-8F3E-2A88E8117025}"/>
              </a:ext>
            </a:extLst>
          </p:cNvPr>
          <p:cNvSpPr>
            <a:spLocks noGrp="1"/>
          </p:cNvSpPr>
          <p:nvPr/>
        </p:nvSpPr>
        <p:spPr>
          <a:xfrm>
            <a:off x="609600" y="5829300"/>
            <a:ext cx="10763250" cy="466725"/>
          </a:xfrm>
          <a:prstGeom prst="rect">
            <a:avLst/>
          </a:prstGeom>
          <a:noFill/>
          <a:ln w="0">
            <a:noFill/>
          </a:ln>
        </p:spPr>
        <p:txBody>
          <a:bodyPr>
            <a:noAutofit/>
          </a:bodyPr>
          <a:lstStyle/>
          <a:p>
            <a:pPr>
              <a:buNone/>
              <a:defRPr sz="2100" b="1">
                <a:solidFill>
                  <a:srgbClr val="FF6600"/>
                </a:solidFill>
                <a:latin typeface="Ember Modern Display Standard"/>
                <a:ea typeface="Ember Modern Display Standard"/>
                <a:cs typeface="Ember Modern Display Standard"/>
              </a:defRPr>
            </a:pPr>
            <a:r>
              <a:rPr sz="2100" b="1">
                <a:solidFill>
                  <a:srgbClr val="FF6600"/>
                </a:solidFill>
                <a:latin typeface="Ember Modern Display Standard"/>
                <a:ea typeface="Ember Modern Display Standard"/>
                <a:cs typeface="Ember Modern Display Standard"/>
              </a:rPr>
              <a:t>Agents propose the work. You inspect it and accept or request changes.</a:t>
            </a:r>
          </a:p>
        </p:txBody>
      </p:sp>
    </p:spTree>
    <p:extLst>
      <p:ext uri="{BB962C8B-B14F-4D97-AF65-F5344CB8AC3E}">
        <ns4:creationId val="1117116454"/>
      </p:ext>
    </p:extLst>
  </p:cSld>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par>
                                <p:cTn id="8" presetID="9"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dissolve">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dissolve">
                                      <p:cBhvr>
                                        <p:cTn id="15" dur="500"/>
                                        <p:tgtEl>
                                          <p:spTgt spid="5"/>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dissolve">
                                      <p:cBhvr>
                                        <p:cTn id="18" dur="5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dissolve">
                                      <p:cBhvr>
                                        <p:cTn id="23" dur="500"/>
                                        <p:tgtEl>
                                          <p:spTgt spid="7"/>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dissolve">
                                      <p:cBhvr>
                                        <p:cTn id="26" dur="500"/>
                                        <p:tgtEl>
                                          <p:spTgt spid="8"/>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dissolve">
                                      <p:cBhvr>
                                        <p:cTn id="31" dur="500"/>
                                        <p:tgtEl>
                                          <p:spTgt spid="10"/>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dissolve">
                                      <p:cBhvr>
                                        <p:cTn id="34" dur="500"/>
                                        <p:tgtEl>
                                          <p:spTgt spid="9"/>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grpId="0" nodeType="click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dissolve">
                                      <p:cBhvr>
                                        <p:cTn id="39"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p:bldP spid="8" grpId="0"/>
      <p:bldP spid="10" grpId="0"/>
      <p:bldP spid="9" grpId="0"/>
      <p:bldP spid="11" grpId="0"/>
    </p:bldLst>
  </p:timing>
</p:sld>
</file>

<file path=ppt/slides/slide8.xml><?xml version="1.0" encoding="utf-8"?>
<p:sld xmlns:a="http://schemas.openxmlformats.org/drawingml/2006/main" xmlns:ns3="http://schemas.microsoft.com/office/drawing/2014/main" xmlns:ns4="http://schemas.microsoft.com/office/powerpoint/2010/main" xmlns:p="http://schemas.openxmlformats.org/presentationml/2006/main" xmlns:r="http://schemas.openxmlformats.org/officeDocument/2006/relationships">
  <p:cSld>
    <p:bg>
      <p:bgPr>
        <a:blipFill dpi="0" rotWithShape="1">
          <a:blip r:embed="rIdWorkshopBackground">
            <a:lum/>
          </a:blip>
          <a:srcRect/>
          <a:stretch>
            <a:fillRect/>
          </a:stretch>
        </a:blipFill>
        <a:effectLst/>
      </p:bgPr>
    </p:bg>
    <p:spTree>
      <p:nvGrpSpPr>
        <p:cNvPr id="1" name=""/>
        <p:cNvGrpSpPr/>
        <p:nvPr/>
      </p:nvGrpSpPr>
      <p:grpSpPr>
        <a:xfrm/>
      </p:grpSpPr>
      <p:sp>
        <p:nvSpPr>
          <p:cNvPr id="9" name="Rectangle 6">
            <a:extLst>
              <a:ext uri="{FF2B5EF4-FFF2-40B4-BE49-F238E27FC236}">
                <ns3:creationId id="{4427A647-1148-D1DB-4A47-20B001230704}"/>
              </a:ext>
            </a:extLst>
          </p:cNvPr>
          <p:cNvSpPr/>
          <p:nvPr userDrawn="1"/>
        </p:nvSpPr>
        <p:spPr>
          <a:xfrm>
            <a:off x="0" y="0"/>
            <a:ext cx="12192000" cy="6858000"/>
          </a:xfrm>
          <a:prstGeom prst="rect">
            <a:avLst/>
          </a:prstGeom>
          <a:gradFill flip="none" rotWithShape="1">
            <a:gsLst>
              <a:gs pos="7000">
                <a:srgbClr val="161D26">
                  <a:alpha val="24489"/>
                </a:srgbClr>
              </a:gs>
              <a:gs pos="62000">
                <a:srgbClr val="161D26">
                  <a:alpha val="85100"/>
                </a:srgbClr>
              </a:gs>
              <a:gs pos="100000">
                <a:srgbClr val="161D26"/>
              </a:gs>
            </a:gsLst>
            <a:lin ang="168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Where you will work">
            <a:extLst>
              <a:ext uri="{FF2B5EF4-FFF2-40B4-BE49-F238E27FC236}">
                <ns3:creationId id="{78E53F6D-41FE-4372-BF98-8D4CF3BA871C}"/>
              </a:ext>
            </a:extLst>
          </p:cNvPr>
          <p:cNvSpPr>
            <a:spLocks noGrp="1"/>
          </p:cNvSpPr>
          <p:nvPr/>
        </p:nvSpPr>
        <p:spPr>
          <a:xfrm>
            <a:off x="609600" y="457200"/>
            <a:ext cx="10972800" cy="1095375"/>
          </a:xfrm>
          <a:prstGeom prst="rect">
            <a:avLst/>
          </a:prstGeom>
          <a:noFill/>
          <a:ln w="0">
            <a:noFill/>
          </a:ln>
        </p:spPr>
        <p:txBody>
          <a:bodyPr>
            <a:noAutofit/>
          </a:bodyPr>
          <a:lstStyle/>
          <a:p>
            <a:pPr>
              <a:buNone/>
              <a:defRPr sz="3450" b="1">
                <a:solidFill>
                  <a:srgbClr val="FF6600"/>
                </a:solidFill>
                <a:latin typeface="Ember Modern Display Standard"/>
                <a:ea typeface="Ember Modern Display Standard"/>
                <a:cs typeface="Ember Modern Display Standard"/>
              </a:defRPr>
            </a:pPr>
            <a:r>
              <a:rPr sz="3450" b="1">
                <a:solidFill>
                  <a:srgbClr val="FF6600"/>
                </a:solidFill>
                <a:latin typeface="Ember Modern Display Standard"/>
                <a:ea typeface="Ember Modern Display Standard"/>
                <a:cs typeface="Ember Modern Display Standard"/>
              </a:rPr>
              <a:t>Where you will work</a:t>
            </a:r>
          </a:p>
        </p:txBody>
      </p:sp>
      <p:sp>
        <p:nvSpPr>
          <p:cNvPr id="2" name="05">
            <a:extLst>
              <a:ext uri="{FF2B5EF4-FFF2-40B4-BE49-F238E27FC236}">
                <ns3:creationId id="{1AEB4DE1-763C-425A-AD2B-303FA8DE3C2A}"/>
              </a:ext>
            </a:extLst>
          </p:cNvPr>
          <p:cNvSpPr>
            <a:spLocks noGrp="1"/>
          </p:cNvSpPr>
          <p:nvPr/>
        </p:nvSpPr>
        <p:spPr>
          <a:xfrm>
            <a:off x="11144250" y="6419850"/>
            <a:ext cx="571500" cy="247650"/>
          </a:xfrm>
          <a:prstGeom prst="rect">
            <a:avLst/>
          </a:prstGeom>
          <a:noFill/>
          <a:ln w="0">
            <a:noFill/>
          </a:ln>
        </p:spPr>
        <p:txBody>
          <a:bodyPr>
            <a:noAutofit/>
          </a:bodyPr>
          <a:lstStyle/>
          <a:p>
            <a:pPr>
              <a:buNone/>
              <a:defRPr sz="1425" b="0">
                <a:solidFill>
                  <a:srgbClr val="D5D9DD"/>
                </a:solidFill>
                <a:latin typeface="Ember Modern Display Standard"/>
                <a:ea typeface="Ember Modern Display Standard"/>
                <a:cs typeface="Ember Modern Display Standard"/>
              </a:defRPr>
            </a:pPr>
            <a:r>
              <a:rPr sz="1425" b="0">
                <a:solidFill>
                  <a:srgbClr val="D5D9DD"/>
                </a:solidFill>
                <a:latin typeface="Ember Modern Display Standard"/>
                <a:ea typeface="Ember Modern Display Standard"/>
                <a:cs typeface="Ember Modern Display Standard"/>
              </a:rPr>
              <a:t>09</a:t>
            </a:r>
          </a:p>
        </p:txBody>
      </p:sp>
      <p:graphicFrame>
        <p:nvGraphicFramePr>
          <p:cNvPr id="8" name=""/>
          <p:cNvGraphicFramePr/>
          <p:nvPr/>
        </p:nvGraphicFramePr>
        <p:xfrm>
          <a:off x="609600" y="1743075"/>
          <a:ext cx="10972800" cy="4000500"/>
        </p:xfrm>
        <a:graphic>
          <a:graphicData uri="http://schemas.openxmlformats.org/drawingml/2006/table">
            <a:tbl>
              <a:tblPr/>
              <a:tblGrid>
                <a:gridCol w="3333750"/>
                <a:gridCol w="7639050"/>
              </a:tblGrid>
              <a:tr h="800100">
                <a:tc>
                  <a:txBody>
                    <a:bodyPr>
                      <a:noAutofit/>
                    </a:bodyPr>
                    <a:lstStyle/>
                    <a:p>
                      <a:r>
                        <a:rPr sz="2100" b="1">
                          <a:solidFill>
                            <a:srgbClr val="FF6600"/>
                          </a:solidFill>
                          <a:latin typeface="Ember Modern Display Standard"/>
                          <a:ea typeface="Ember Modern Display Standard"/>
                          <a:cs typeface="Ember Modern Display Standard"/>
                        </a:rPr>
                        <a:t>Place</a:t>
                      </a:r>
                    </a:p>
                  </a:txBody>
                  <a:tcPr marL="152400" marR="133350" marT="114300" marB="95250" anchor="ctr">
                    <a:solidFill>
                      <a:srgbClr val="243547"/>
                    </a:solidFill>
                  </a:tcPr>
                </a:tc>
                <a:tc>
                  <a:txBody>
                    <a:bodyPr>
                      <a:noAutofit/>
                    </a:bodyPr>
                    <a:lstStyle/>
                    <a:p>
                      <a:r>
                        <a:rPr sz="2100" b="1">
                          <a:solidFill>
                            <a:srgbClr val="FF6600"/>
                          </a:solidFill>
                          <a:latin typeface="Ember Modern Display Standard"/>
                          <a:ea typeface="Ember Modern Display Standard"/>
                          <a:cs typeface="Ember Modern Display Standard"/>
                        </a:rPr>
                        <a:t>Purpose</a:t>
                      </a:r>
                    </a:p>
                  </a:txBody>
                  <a:tcPr marL="152400" marR="133350" marT="114300" marB="95250" anchor="ctr">
                    <a:solidFill>
                      <a:srgbClr val="243547"/>
                    </a:solidFill>
                  </a:tcPr>
                </a:tc>
              </a:tr>
              <a:tr h="800100">
                <a:tc>
                  <a:txBody>
                    <a:bodyPr>
                      <a:noAutofit/>
                    </a:bodyPr>
                    <a:lstStyle/>
                    <a:p>
                      <a:r>
                        <a:rPr sz="2100" b="0">
                          <a:solidFill>
                            <a:srgbClr val="FFFFFF"/>
                          </a:solidFill>
                          <a:latin typeface="Ember Modern Display Standard"/>
                          <a:ea typeface="Ember Modern Display Standard"/>
                          <a:cs typeface="Ember Modern Display Standard"/>
                        </a:rPr>
                        <a:t>Workshop website</a:t>
                      </a:r>
                    </a:p>
                  </a:txBody>
                  <a:tcPr marL="152400" marR="133350" marT="114300" marB="95250" anchor="ctr">
                    <a:solidFill>
                      <a:srgbClr val="162330"/>
                    </a:solidFill>
                  </a:tcPr>
                </a:tc>
                <a:tc>
                  <a:txBody>
                    <a:bodyPr>
                      <a:noAutofit/>
                    </a:bodyPr>
                    <a:lstStyle/>
                    <a:p>
                      <a:r>
                        <a:rPr sz="2100" b="0">
                          <a:solidFill>
                            <a:srgbClr val="FFFFFF"/>
                          </a:solidFill>
                          <a:latin typeface="Ember Modern Display Standard"/>
                          <a:ea typeface="Ember Modern Display Standard"/>
                          <a:cs typeface="Ember Modern Display Standard"/>
                        </a:rPr>
                        <a:t>Follow the instructions for each step.</a:t>
                      </a:r>
                    </a:p>
                  </a:txBody>
                  <a:tcPr marL="152400" marR="133350" marT="114300" marB="95250" anchor="ctr">
                    <a:solidFill>
                      <a:srgbClr val="162330"/>
                    </a:solidFill>
                  </a:tcPr>
                </a:tc>
              </a:tr>
              <a:tr h="800100">
                <a:tc>
                  <a:txBody>
                    <a:bodyPr>
                      <a:noAutofit/>
                    </a:bodyPr>
                    <a:lstStyle/>
                    <a:p>
                      <a:r>
                        <a:rPr sz="2100" b="0">
                          <a:solidFill>
                            <a:srgbClr val="FFFFFF"/>
                          </a:solidFill>
                          <a:latin typeface="Ember Modern Display Standard"/>
                          <a:ea typeface="Ember Modern Display Standard"/>
                          <a:cs typeface="Ember Modern Display Standard"/>
                        </a:rPr>
                        <a:t>Control Center</a:t>
                      </a:r>
                    </a:p>
                  </a:txBody>
                  <a:tcPr marL="152400" marR="133350" marT="114300" marB="95250" anchor="ctr">
                    <a:solidFill>
                      <a:srgbClr val="162330"/>
                    </a:solidFill>
                  </a:tcPr>
                </a:tc>
                <a:tc>
                  <a:txBody>
                    <a:bodyPr>
                      <a:noAutofit/>
                    </a:bodyPr>
                    <a:lstStyle/>
                    <a:p>
                      <a:r>
                        <a:rPr sz="2100" b="0">
                          <a:solidFill>
                            <a:srgbClr val="FFFFFF"/>
                          </a:solidFill>
                          <a:latin typeface="Ember Modern Display Standard"/>
                          <a:ea typeface="Ember Modern Display Standard"/>
                          <a:cs typeface="Ember Modern Display Standard"/>
                        </a:rPr>
                        <a:t>Start work, inspect results and make decisions.</a:t>
                      </a:r>
                    </a:p>
                  </a:txBody>
                  <a:tcPr marL="152400" marR="133350" marT="114300" marB="95250" anchor="ctr">
                    <a:solidFill>
                      <a:srgbClr val="162330"/>
                    </a:solidFill>
                  </a:tcPr>
                </a:tc>
              </a:tr>
              <a:tr h="800100">
                <a:tc>
                  <a:txBody>
                    <a:bodyPr>
                      <a:noAutofit/>
                    </a:bodyPr>
                    <a:lstStyle/>
                    <a:p>
                      <a:r>
                        <a:rPr sz="2100" b="0">
                          <a:solidFill>
                            <a:srgbClr val="FFFFFF"/>
                          </a:solidFill>
                          <a:latin typeface="Ember Modern Display Standard"/>
                          <a:ea typeface="Ember Modern Display Standard"/>
                          <a:cs typeface="Ember Modern Display Standard"/>
                        </a:rPr>
                        <a:t>Your GitHub repository</a:t>
                      </a:r>
                    </a:p>
                  </a:txBody>
                  <a:tcPr marL="152400" marR="133350" marT="114300" marB="95250" anchor="ctr">
                    <a:solidFill>
                      <a:srgbClr val="162330"/>
                    </a:solidFill>
                  </a:tcPr>
                </a:tc>
                <a:tc>
                  <a:txBody>
                    <a:bodyPr>
                      <a:noAutofit/>
                    </a:bodyPr>
                    <a:lstStyle/>
                    <a:p>
                      <a:r>
                        <a:rPr sz="2100" b="0">
                          <a:solidFill>
                            <a:srgbClr val="FFFFFF"/>
                          </a:solidFill>
                          <a:latin typeface="Ember Modern Display Standard"/>
                          <a:ea typeface="Ember Modern Display Standard"/>
                          <a:cs typeface="Ember Modern Display Standard"/>
                        </a:rPr>
                        <a:t>Keep the product code and pull requests.</a:t>
                      </a:r>
                    </a:p>
                  </a:txBody>
                  <a:tcPr marL="152400" marR="133350" marT="114300" marB="95250" anchor="ctr">
                    <a:solidFill>
                      <a:srgbClr val="162330"/>
                    </a:solidFill>
                  </a:tcPr>
                </a:tc>
              </a:tr>
              <a:tr h="800100">
                <a:tc>
                  <a:txBody>
                    <a:bodyPr>
                      <a:noAutofit/>
                    </a:bodyPr>
                    <a:lstStyle/>
                    <a:p>
                      <a:r>
                        <a:rPr sz="2100" b="0">
                          <a:solidFill>
                            <a:srgbClr val="FFFFFF"/>
                          </a:solidFill>
                          <a:latin typeface="Ember Modern Display Standard"/>
                          <a:ea typeface="Ember Modern Display Standard"/>
                          <a:cs typeface="Ember Modern Display Standard"/>
                        </a:rPr>
                        <a:t>GitHub Projects</a:t>
                      </a:r>
                    </a:p>
                  </a:txBody>
                  <a:tcPr marL="152400" marR="133350" marT="114300" marB="95250" anchor="ctr">
                    <a:solidFill>
                      <a:srgbClr val="162330"/>
                    </a:solidFill>
                  </a:tcPr>
                </a:tc>
                <a:tc>
                  <a:txBody>
                    <a:bodyPr>
                      <a:noAutofit/>
                    </a:bodyPr>
                    <a:lstStyle/>
                    <a:p>
                      <a:r>
                        <a:rPr sz="2100" b="0">
                          <a:solidFill>
                            <a:srgbClr val="FFFFFF"/>
                          </a:solidFill>
                          <a:latin typeface="Ember Modern Display Standard"/>
                          <a:ea typeface="Ember Modern Display Standard"/>
                          <a:cs typeface="Ember Modern Display Standard"/>
                        </a:rPr>
                        <a:t>See the tickets and their status.</a:t>
                      </a:r>
                    </a:p>
                  </a:txBody>
                  <a:tcPr marL="152400" marR="133350" marT="114300" marB="95250" anchor="ctr">
                    <a:solidFill>
                      <a:srgbClr val="162330"/>
                    </a:solidFill>
                  </a:tcPr>
                </a:tc>
              </a:tr>
            </a:tbl>
          </a:graphicData>
        </a:graphic>
      </p:graphicFrame>
    </p:spTree>
    <p:extLst>
      <p:ext uri="{BB962C8B-B14F-4D97-AF65-F5344CB8AC3E}">
        <ns4:creationId val="563026860"/>
      </p:ext>
    </p:extLst>
  </p:cSld>
</p:sld>
</file>

<file path=ppt/slides/slide9.xml><?xml version="1.0" encoding="utf-8"?>
<p:sld xmlns:a="http://schemas.openxmlformats.org/drawingml/2006/main" xmlns:ns3="http://schemas.microsoft.com/office/drawing/2014/main" xmlns:ns4="http://schemas.microsoft.com/office/powerpoint/2010/main" xmlns:p="http://schemas.openxmlformats.org/presentationml/2006/main" xmlns:r="http://schemas.openxmlformats.org/officeDocument/2006/relationships">
  <p:cSld>
    <p:bg>
      <p:bgPr>
        <a:blipFill dpi="0" rotWithShape="1">
          <a:blip r:embed="rIdWorkshopBackground">
            <a:lum/>
          </a:blip>
          <a:srcRect/>
          <a:stretch>
            <a:fillRect/>
          </a:stretch>
        </a:blipFill>
        <a:effectLst/>
      </p:bgPr>
    </p:bg>
    <p:spTree>
      <p:nvGrpSpPr>
        <p:cNvPr id="1" name=""/>
        <p:cNvGrpSpPr/>
        <p:nvPr/>
      </p:nvGrpSpPr>
      <p:grpSpPr>
        <a:xfrm/>
      </p:grpSpPr>
      <p:sp>
        <p:nvSpPr>
          <p:cNvPr id="7" name="Rectangle 6">
            <a:extLst>
              <a:ext uri="{FF2B5EF4-FFF2-40B4-BE49-F238E27FC236}">
                <ns3:creationId id="{4427A647-1148-D1DB-4A47-20B001230704}"/>
              </a:ext>
            </a:extLst>
          </p:cNvPr>
          <p:cNvSpPr/>
          <p:nvPr userDrawn="1"/>
        </p:nvSpPr>
        <p:spPr>
          <a:xfrm>
            <a:off x="0" y="0"/>
            <a:ext cx="12192000" cy="6858000"/>
          </a:xfrm>
          <a:prstGeom prst="rect">
            <a:avLst/>
          </a:prstGeom>
          <a:gradFill flip="none" rotWithShape="1">
            <a:gsLst>
              <a:gs pos="7000">
                <a:srgbClr val="161D26">
                  <a:alpha val="24489"/>
                </a:srgbClr>
              </a:gs>
              <a:gs pos="62000">
                <a:srgbClr val="161D26">
                  <a:alpha val="85100"/>
                </a:srgbClr>
              </a:gs>
              <a:gs pos="100000">
                <a:srgbClr val="161D26"/>
              </a:gs>
            </a:gsLst>
            <a:lin ang="168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What product completion means">
            <a:extLst>
              <a:ext uri="{FF2B5EF4-FFF2-40B4-BE49-F238E27FC236}">
                <ns3:creationId id="{F3B5E35E-1708-4104-B8E4-9853D5F94CD8}"/>
              </a:ext>
            </a:extLst>
          </p:cNvPr>
          <p:cNvSpPr>
            <a:spLocks noGrp="1"/>
          </p:cNvSpPr>
          <p:nvPr/>
        </p:nvSpPr>
        <p:spPr>
          <a:xfrm>
            <a:off x="609600" y="457200"/>
            <a:ext cx="10972800" cy="1095375"/>
          </a:xfrm>
          <a:prstGeom prst="rect">
            <a:avLst/>
          </a:prstGeom>
          <a:noFill/>
          <a:ln w="0">
            <a:noFill/>
          </a:ln>
        </p:spPr>
        <p:txBody>
          <a:bodyPr>
            <a:noAutofit/>
          </a:bodyPr>
          <a:lstStyle/>
          <a:p>
            <a:pPr>
              <a:buNone/>
              <a:defRPr sz="3450" b="1">
                <a:solidFill>
                  <a:srgbClr val="FF6600"/>
                </a:solidFill>
                <a:latin typeface="Ember Modern Display Standard"/>
                <a:ea typeface="Ember Modern Display Standard"/>
                <a:cs typeface="Ember Modern Display Standard"/>
              </a:defRPr>
            </a:pPr>
            <a:r>
              <a:rPr sz="3450" b="1">
                <a:solidFill>
                  <a:srgbClr val="FF6600"/>
                </a:solidFill>
                <a:latin typeface="Ember Modern Display Standard"/>
                <a:ea typeface="Ember Modern Display Standard"/>
                <a:cs typeface="Ember Modern Display Standard"/>
              </a:rPr>
              <a:t>What product completion means</a:t>
            </a:r>
          </a:p>
        </p:txBody>
      </p:sp>
      <p:sp>
        <p:nvSpPr>
          <p:cNvPr id="2" name="06">
            <a:extLst>
              <a:ext uri="{FF2B5EF4-FFF2-40B4-BE49-F238E27FC236}">
                <ns3:creationId id="{522E7DD6-60F1-4024-93D7-AA3CC0731FBE}"/>
              </a:ext>
            </a:extLst>
          </p:cNvPr>
          <p:cNvSpPr>
            <a:spLocks noGrp="1"/>
          </p:cNvSpPr>
          <p:nvPr/>
        </p:nvSpPr>
        <p:spPr>
          <a:xfrm>
            <a:off x="11144250" y="6419850"/>
            <a:ext cx="571500" cy="247650"/>
          </a:xfrm>
          <a:prstGeom prst="rect">
            <a:avLst/>
          </a:prstGeom>
          <a:noFill/>
          <a:ln w="0">
            <a:noFill/>
          </a:ln>
        </p:spPr>
        <p:txBody>
          <a:bodyPr>
            <a:noAutofit/>
          </a:bodyPr>
          <a:lstStyle/>
          <a:p>
            <a:pPr>
              <a:buNone/>
              <a:defRPr sz="1425" b="0">
                <a:solidFill>
                  <a:srgbClr val="D5D9DD"/>
                </a:solidFill>
                <a:latin typeface="Ember Modern Display Standard"/>
                <a:ea typeface="Ember Modern Display Standard"/>
                <a:cs typeface="Ember Modern Display Standard"/>
              </a:defRPr>
            </a:pPr>
            <a:r>
              <a:rPr sz="1425" b="0">
                <a:solidFill>
                  <a:srgbClr val="D5D9DD"/>
                </a:solidFill>
                <a:latin typeface="Ember Modern Display Standard"/>
                <a:ea typeface="Ember Modern Display Standard"/>
                <a:cs typeface="Ember Modern Display Standard"/>
              </a:rPr>
              <a:t>10</a:t>
            </a:r>
          </a:p>
        </p:txBody>
      </p:sp>
      <p:sp>
        <p:nvSpPr>
          <p:cNvPr id="3" name="You can demonstrate TableStory&#10;from your merged code.">
            <a:extLst>
              <a:ext uri="{FF2B5EF4-FFF2-40B4-BE49-F238E27FC236}">
                <ns3:creationId id="{D592A27A-8C21-479A-973E-43AB78D580C3}"/>
              </a:ext>
            </a:extLst>
          </p:cNvPr>
          <p:cNvSpPr>
            <a:spLocks noGrp="1"/>
          </p:cNvSpPr>
          <p:nvPr/>
        </p:nvSpPr>
        <p:spPr>
          <a:xfrm>
            <a:off x="609600" y="1809750"/>
            <a:ext cx="10972800" cy="1428750"/>
          </a:xfrm>
          <a:prstGeom prst="rect">
            <a:avLst/>
          </a:prstGeom>
          <a:noFill/>
          <a:ln w="0">
            <a:noFill/>
          </a:ln>
        </p:spPr>
        <p:txBody>
          <a:bodyPr>
            <a:noAutofit/>
          </a:bodyPr>
          <a:lstStyle/>
          <a:p>
            <a:pPr>
              <a:buNone/>
              <a:defRPr sz="3675" b="1">
                <a:solidFill>
                  <a:srgbClr val="FF6600"/>
                </a:solidFill>
                <a:latin typeface="Ember Modern Display Standard"/>
                <a:ea typeface="Ember Modern Display Standard"/>
                <a:cs typeface="Ember Modern Display Standard"/>
              </a:defRPr>
            </a:pPr>
            <a:r>
              <a:rPr sz="3675" b="1">
                <a:solidFill>
                  <a:srgbClr val="FF6600"/>
                </a:solidFill>
                <a:latin typeface="Ember Modern Display Standard"/>
                <a:ea typeface="Ember Modern Display Standard"/>
                <a:cs typeface="Ember Modern Display Standard"/>
              </a:rPr>
              <a:t>You can demonstrate TableStory</a:t>
            </a:r>
          </a:p>
          <a:p>
            <a:pPr>
              <a:buNone/>
              <a:defRPr sz="3675" b="1">
                <a:solidFill>
                  <a:srgbClr val="FF6600"/>
                </a:solidFill>
                <a:latin typeface="Ember Modern Display Standard"/>
                <a:ea typeface="Ember Modern Display Standard"/>
                <a:cs typeface="Ember Modern Display Standard"/>
              </a:defRPr>
            </a:pPr>
            <a:r>
              <a:rPr sz="3675" b="1">
                <a:solidFill>
                  <a:srgbClr val="FF6600"/>
                </a:solidFill>
                <a:latin typeface="Ember Modern Display Standard"/>
                <a:ea typeface="Ember Modern Display Standard"/>
                <a:cs typeface="Ember Modern Display Standard"/>
              </a:rPr>
              <a:t>from your merged code.</a:t>
            </a:r>
          </a:p>
        </p:txBody>
      </p:sp>
      <p:sp>
        <p:nvSpPr>
          <p:cNvPr id="4" name="The recipe journeys work.&#10;The complete approved scope p">
            <a:extLst>
              <a:ext uri="{FF2B5EF4-FFF2-40B4-BE49-F238E27FC236}">
                <ns3:creationId id="{99797059-C4C1-4C27-9F4D-8F22082550B0}"/>
              </a:ext>
            </a:extLst>
          </p:cNvPr>
          <p:cNvSpPr>
            <a:spLocks noGrp="1"/>
          </p:cNvSpPr>
          <p:nvPr/>
        </p:nvSpPr>
        <p:spPr>
          <a:xfrm>
            <a:off x="609600" y="3714750"/>
            <a:ext cx="10972800" cy="1104900"/>
          </a:xfrm>
          <a:prstGeom prst="rect">
            <a:avLst/>
          </a:prstGeom>
          <a:noFill/>
          <a:ln w="0">
            <a:noFill/>
          </a:ln>
        </p:spPr>
        <p:txBody>
          <a:bodyPr>
            <a:noAutofit/>
          </a:bodyPr>
          <a:lstStyle/>
          <a:p>
            <a:pPr>
              <a:buNone/>
              <a:defRPr sz="2625" b="0">
                <a:solidFill>
                  <a:srgbClr val="FFFFFF"/>
                </a:solidFill>
                <a:latin typeface="Ember Modern Display Standard"/>
                <a:ea typeface="Ember Modern Display Standard"/>
                <a:cs typeface="Ember Modern Display Standard"/>
              </a:defRPr>
            </a:pPr>
            <a:r>
              <a:rPr sz="2625" b="0">
                <a:solidFill>
                  <a:srgbClr val="FFFFFF"/>
                </a:solidFill>
                <a:latin typeface="Ember Modern Display Standard"/>
                <a:ea typeface="Ember Modern Display Standard"/>
                <a:cs typeface="Ember Modern Display Standard"/>
              </a:rPr>
              <a:t>The recipe journeys work.</a:t>
            </a:r>
          </a:p>
          <a:p>
            <a:pPr>
              <a:buNone/>
              <a:defRPr sz="2625" b="0">
                <a:solidFill>
                  <a:srgbClr val="FFFFFF"/>
                </a:solidFill>
                <a:latin typeface="Ember Modern Display Standard"/>
                <a:ea typeface="Ember Modern Display Standard"/>
                <a:cs typeface="Ember Modern Display Standard"/>
              </a:defRPr>
            </a:pPr>
            <a:r>
              <a:rPr sz="2625" b="0">
                <a:solidFill>
                  <a:srgbClr val="FFFFFF"/>
                </a:solidFill>
                <a:latin typeface="Ember Modern Display Standard"/>
                <a:ea typeface="Ember Modern Display Standard"/>
                <a:cs typeface="Ember Modern Display Standard"/>
              </a:rPr>
              <a:t>The complete approved scope passes its acceptance checks.</a:t>
            </a:r>
          </a:p>
        </p:txBody>
      </p:sp>
      <p:sp>
        <p:nvSpPr>
          <p:cNvPr id="5" name="Save the run evidence and identify the version you veri">
            <a:extLst>
              <a:ext uri="{FF2B5EF4-FFF2-40B4-BE49-F238E27FC236}">
                <ns3:creationId id="{55957242-7B9B-4AD1-878C-AE42573C0384}"/>
              </a:ext>
            </a:extLst>
          </p:cNvPr>
          <p:cNvSpPr>
            <a:spLocks noGrp="1"/>
          </p:cNvSpPr>
          <p:nvPr/>
        </p:nvSpPr>
        <p:spPr>
          <a:xfrm>
            <a:off x="609600" y="5534025"/>
            <a:ext cx="10763250" cy="638175"/>
          </a:xfrm>
          <a:prstGeom prst="rect">
            <a:avLst/>
          </a:prstGeom>
          <a:noFill/>
          <a:ln w="0">
            <a:noFill/>
          </a:ln>
        </p:spPr>
        <p:txBody>
          <a:bodyPr>
            <a:noAutofit/>
          </a:bodyPr>
          <a:lstStyle/>
          <a:p>
            <a:pPr>
              <a:buNone/>
              <a:defRPr sz="2175" b="0">
                <a:solidFill>
                  <a:srgbClr val="D5D9DD"/>
                </a:solidFill>
                <a:latin typeface="Ember Modern Display Standard"/>
                <a:ea typeface="Ember Modern Display Standard"/>
                <a:cs typeface="Ember Modern Display Standard"/>
              </a:defRPr>
            </a:pPr>
            <a:r>
              <a:rPr sz="2175" b="0">
                <a:solidFill>
                  <a:srgbClr val="D5D9DD"/>
                </a:solidFill>
                <a:latin typeface="Ember Modern Display Standard"/>
                <a:ea typeface="Ember Modern Display Standard"/>
                <a:cs typeface="Ember Modern Display Standard"/>
              </a:rPr>
              <a:t>Save the run evidence and identify the version you verified.</a:t>
            </a:r>
          </a:p>
        </p:txBody>
      </p:sp>
    </p:spTree>
    <p:extLst>
      <p:ext uri="{BB962C8B-B14F-4D97-AF65-F5344CB8AC3E}">
        <ns4:creationId val="2068036399"/>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dissolv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dissolv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Lst>
  </p:timing>
</p:sld>
</file>

<file path=ppt/slides/slide10.xml><?xml version="1.0" encoding="utf-8"?>
<p:sld xmlns:a="http://schemas.openxmlformats.org/drawingml/2006/main" xmlns:ns3="http://schemas.microsoft.com/office/drawing/2014/main" xmlns:ns4="http://schemas.microsoft.com/office/powerpoint/2010/main" xmlns:p="http://schemas.openxmlformats.org/presentationml/2006/main" xmlns:r="http://schemas.openxmlformats.org/officeDocument/2006/relationships">
  <p:cSld>
    <p:bg>
      <p:bgPr>
        <a:blipFill dpi="0" rotWithShape="1">
          <a:blip r:embed="rIdWorkshopBackground">
            <a:lum/>
          </a:blip>
          <a:srcRect/>
          <a:stretch>
            <a:fillRect/>
          </a:stretch>
        </a:blipFill>
        <a:effectLst/>
      </p:bgPr>
    </p:bg>
    <p:spTree>
      <p:nvGrpSpPr>
        <p:cNvPr id="1" name=""/>
        <p:cNvGrpSpPr/>
        <p:nvPr/>
      </p:nvGrpSpPr>
      <p:grpSpPr>
        <a:xfrm/>
      </p:grpSpPr>
      <p:sp>
        <p:nvSpPr>
          <p:cNvPr id="6" name="Rectangle 6">
            <a:extLst>
              <a:ext uri="{FF2B5EF4-FFF2-40B4-BE49-F238E27FC236}">
                <ns3:creationId id="{4427A647-1148-D1DB-4A47-20B001230704}"/>
              </a:ext>
            </a:extLst>
          </p:cNvPr>
          <p:cNvSpPr/>
          <p:nvPr userDrawn="1"/>
        </p:nvSpPr>
        <p:spPr>
          <a:xfrm>
            <a:off x="0" y="0"/>
            <a:ext cx="12192000" cy="6858000"/>
          </a:xfrm>
          <a:prstGeom prst="rect">
            <a:avLst/>
          </a:prstGeom>
          <a:gradFill flip="none" rotWithShape="1">
            <a:gsLst>
              <a:gs pos="7000">
                <a:srgbClr val="161D26">
                  <a:alpha val="24489"/>
                </a:srgbClr>
              </a:gs>
              <a:gs pos="62000">
                <a:srgbClr val="161D26">
                  <a:alpha val="85100"/>
                </a:srgbClr>
              </a:gs>
              <a:gs pos="100000">
                <a:srgbClr val="161D26"/>
              </a:gs>
            </a:gsLst>
            <a:lin ang="168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What you should leave knowing">
            <a:extLst>
              <a:ext uri="{FF2B5EF4-FFF2-40B4-BE49-F238E27FC236}">
                <ns3:creationId id="{47C063B1-7258-42FD-8442-09455FD8676E}"/>
              </a:ext>
            </a:extLst>
          </p:cNvPr>
          <p:cNvSpPr>
            <a:spLocks noGrp="1"/>
          </p:cNvSpPr>
          <p:nvPr/>
        </p:nvSpPr>
        <p:spPr>
          <a:xfrm>
            <a:off x="609600" y="457200"/>
            <a:ext cx="10972800" cy="1095375"/>
          </a:xfrm>
          <a:prstGeom prst="rect">
            <a:avLst/>
          </a:prstGeom>
          <a:noFill/>
          <a:ln w="0">
            <a:noFill/>
          </a:ln>
        </p:spPr>
        <p:txBody>
          <a:bodyPr>
            <a:noAutofit/>
          </a:bodyPr>
          <a:lstStyle/>
          <a:p>
            <a:pPr>
              <a:buNone/>
              <a:defRPr sz="3450" b="1">
                <a:solidFill>
                  <a:srgbClr val="FF6600"/>
                </a:solidFill>
                <a:latin typeface="Ember Modern Display Standard"/>
                <a:ea typeface="Ember Modern Display Standard"/>
                <a:cs typeface="Ember Modern Display Standard"/>
              </a:defRPr>
            </a:pPr>
            <a:r>
              <a:rPr sz="3450" b="1">
                <a:solidFill>
                  <a:srgbClr val="FF6600"/>
                </a:solidFill>
                <a:latin typeface="Ember Modern Display Standard"/>
                <a:ea typeface="Ember Modern Display Standard"/>
                <a:cs typeface="Ember Modern Display Standard"/>
              </a:rPr>
              <a:t>What you should leave knowing</a:t>
            </a:r>
          </a:p>
        </p:txBody>
      </p:sp>
      <p:sp>
        <p:nvSpPr>
          <p:cNvPr id="2" name="07">
            <a:extLst>
              <a:ext uri="{FF2B5EF4-FFF2-40B4-BE49-F238E27FC236}">
                <ns3:creationId id="{B010FFE5-6E96-4913-8D58-E94AD98DD361}"/>
              </a:ext>
            </a:extLst>
          </p:cNvPr>
          <p:cNvSpPr>
            <a:spLocks noGrp="1"/>
          </p:cNvSpPr>
          <p:nvPr/>
        </p:nvSpPr>
        <p:spPr>
          <a:xfrm>
            <a:off x="11144250" y="6419850"/>
            <a:ext cx="571500" cy="247650"/>
          </a:xfrm>
          <a:prstGeom prst="rect">
            <a:avLst/>
          </a:prstGeom>
          <a:noFill/>
          <a:ln w="0">
            <a:noFill/>
          </a:ln>
        </p:spPr>
        <p:txBody>
          <a:bodyPr>
            <a:noAutofit/>
          </a:bodyPr>
          <a:lstStyle/>
          <a:p>
            <a:pPr>
              <a:buNone/>
              <a:defRPr sz="1425" b="0">
                <a:solidFill>
                  <a:srgbClr val="D5D9DD"/>
                </a:solidFill>
                <a:latin typeface="Ember Modern Display Standard"/>
                <a:ea typeface="Ember Modern Display Standard"/>
                <a:cs typeface="Ember Modern Display Standard"/>
              </a:defRPr>
            </a:pPr>
            <a:r>
              <a:rPr sz="1425" b="0">
                <a:solidFill>
                  <a:srgbClr val="D5D9DD"/>
                </a:solidFill>
                <a:latin typeface="Ember Modern Display Standard"/>
                <a:ea typeface="Ember Modern Display Standard"/>
                <a:cs typeface="Ember Modern Display Standard"/>
              </a:rPr>
              <a:t>11</a:t>
            </a:r>
          </a:p>
        </p:txBody>
      </p:sp>
      <p:sp>
        <p:nvSpPr>
          <p:cNvPr id="3" name="What evidence to demand.&#10;How to investigate a failure.&#10;">
            <a:extLst>
              <a:ext uri="{FF2B5EF4-FFF2-40B4-BE49-F238E27FC236}">
                <ns3:creationId id="{CED1E894-557D-4D65-BB51-11BBFE1DB896}"/>
              </a:ext>
            </a:extLst>
          </p:cNvPr>
          <p:cNvSpPr>
            <a:spLocks noGrp="1"/>
          </p:cNvSpPr>
          <p:nvPr/>
        </p:nvSpPr>
        <p:spPr>
          <a:xfrm>
            <a:off x="609600" y="1800225"/>
            <a:ext cx="10858500" cy="2419350"/>
          </a:xfrm>
          <a:prstGeom prst="rect">
            <a:avLst/>
          </a:prstGeom>
          <a:noFill/>
          <a:ln w="0">
            <a:noFill/>
          </a:ln>
        </p:spPr>
        <p:txBody>
          <a:bodyPr>
            <a:noAutofit/>
          </a:bodyPr>
          <a:lstStyle/>
          <a:p>
            <a:pPr>
              <a:buNone/>
              <a:defRPr sz="3225" b="1">
                <a:solidFill>
                  <a:srgbClr val="FF6600"/>
                </a:solidFill>
                <a:latin typeface="Ember Modern Display Standard"/>
                <a:ea typeface="Ember Modern Display Standard"/>
                <a:cs typeface="Ember Modern Display Standard"/>
              </a:defRPr>
            </a:pPr>
            <a:r>
              <a:rPr sz="3225" b="1">
                <a:solidFill>
                  <a:srgbClr val="FF6600"/>
                </a:solidFill>
                <a:latin typeface="Ember Modern Display Standard"/>
                <a:ea typeface="Ember Modern Display Standard"/>
                <a:cs typeface="Ember Modern Display Standard"/>
              </a:rPr>
              <a:t>What evidence to demand.</a:t>
            </a:r>
          </a:p>
          <a:p>
            <a:pPr>
              <a:buNone/>
              <a:defRPr sz="3225" b="1">
                <a:solidFill>
                  <a:srgbClr val="FF6600"/>
                </a:solidFill>
                <a:latin typeface="Ember Modern Display Standard"/>
                <a:ea typeface="Ember Modern Display Standard"/>
                <a:cs typeface="Ember Modern Display Standard"/>
              </a:defRPr>
            </a:pPr>
            <a:r>
              <a:rPr sz="3225" b="1">
                <a:solidFill>
                  <a:srgbClr val="FF6600"/>
                </a:solidFill>
                <a:latin typeface="Ember Modern Display Standard"/>
                <a:ea typeface="Ember Modern Display Standard"/>
                <a:cs typeface="Ember Modern Display Standard"/>
              </a:rPr>
              <a:t>How to investigate a failure.</a:t>
            </a:r>
          </a:p>
          <a:p>
            <a:pPr>
              <a:buNone/>
              <a:defRPr sz="3225" b="1">
                <a:solidFill>
                  <a:srgbClr val="FF6600"/>
                </a:solidFill>
                <a:latin typeface="Ember Modern Display Standard"/>
                <a:ea typeface="Ember Modern Display Standard"/>
                <a:cs typeface="Ember Modern Display Standard"/>
              </a:defRPr>
            </a:pPr>
            <a:r>
              <a:rPr sz="3225" b="1">
                <a:solidFill>
                  <a:srgbClr val="FF6600"/>
                </a:solidFill>
                <a:latin typeface="Ember Modern Display Standard"/>
                <a:ea typeface="Ember Modern Display Standard"/>
                <a:cs typeface="Ember Modern Display Standard"/>
              </a:rPr>
              <a:t>What to try with your own team.</a:t>
            </a:r>
          </a:p>
        </p:txBody>
      </p:sp>
      <p:sp>
        <p:nvSpPr>
          <p:cNvPr id="4" name="If your Live run is unfinished, record what remains&#10;and">
            <a:extLst>
              <a:ext uri="{FF2B5EF4-FFF2-40B4-BE49-F238E27FC236}">
                <ns3:creationId id="{3A2F4BD3-7AE1-4EE6-8A7C-5894015A2CAB}"/>
              </a:ext>
            </a:extLst>
          </p:cNvPr>
          <p:cNvSpPr>
            <a:spLocks noGrp="1"/>
          </p:cNvSpPr>
          <p:nvPr/>
        </p:nvSpPr>
        <p:spPr>
          <a:xfrm>
            <a:off x="609600" y="4800600"/>
            <a:ext cx="10763250" cy="1104900"/>
          </a:xfrm>
          <a:prstGeom prst="rect">
            <a:avLst/>
          </a:prstGeom>
          <a:noFill/>
          <a:ln w="0">
            <a:noFill/>
          </a:ln>
        </p:spPr>
        <p:txBody>
          <a:bodyPr>
            <a:noAutofit/>
          </a:bodyPr>
          <a:lstStyle/>
          <a:p>
            <a:pPr>
              <a:buNone/>
              <a:defRPr sz="2400" b="0">
                <a:solidFill>
                  <a:srgbClr val="FFFFFF"/>
                </a:solidFill>
                <a:latin typeface="Ember Modern Display Standard"/>
                <a:ea typeface="Ember Modern Display Standard"/>
                <a:cs typeface="Ember Modern Display Standard"/>
              </a:defRPr>
            </a:pPr>
            <a:r>
              <a:rPr sz="2400" b="0">
                <a:solidFill>
                  <a:srgbClr val="FFFFFF"/>
                </a:solidFill>
                <a:latin typeface="Ember Modern Display Standard"/>
                <a:ea typeface="Ember Modern Display Standard"/>
                <a:cs typeface="Ember Modern Display Standard"/>
              </a:rPr>
              <a:t>If your Live run is unfinished, record what remains</a:t>
            </a:r>
          </a:p>
          <a:p>
            <a:pPr>
              <a:buNone/>
              <a:defRPr sz="2400" b="0">
                <a:solidFill>
                  <a:srgbClr val="FFFFFF"/>
                </a:solidFill>
                <a:latin typeface="Ember Modern Display Standard"/>
                <a:ea typeface="Ember Modern Display Standard"/>
                <a:cs typeface="Ember Modern Display Standard"/>
              </a:defRPr>
            </a:pPr>
            <a:r>
              <a:rPr sz="2400" b="0">
                <a:solidFill>
                  <a:srgbClr val="FFFFFF"/>
                </a:solidFill>
                <a:latin typeface="Ember Modern Display Standard"/>
                <a:ea typeface="Ember Modern Display Standard"/>
                <a:cs typeface="Ember Modern Display Standard"/>
              </a:rPr>
              <a:t>and the next action needed to resume.</a:t>
            </a:r>
          </a:p>
        </p:txBody>
      </p:sp>
    </p:spTree>
    <p:extLst>
      <p:ext uri="{BB962C8B-B14F-4D97-AF65-F5344CB8AC3E}">
        <ns4:creationId val="1080050996"/>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dissolv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11.xml><?xml version="1.0" encoding="utf-8"?>
<p:sld xmlns:a="http://schemas.openxmlformats.org/drawingml/2006/main" xmlns:ns3="http://schemas.microsoft.com/office/drawing/2014/main" xmlns:ns4="http://schemas.microsoft.com/office/powerpoint/2010/main" xmlns:p="http://schemas.openxmlformats.org/presentationml/2006/main" xmlns:r="http://schemas.openxmlformats.org/officeDocument/2006/relationships">
  <p:cSld>
    <p:bg>
      <p:bgPr>
        <a:blipFill dpi="0" rotWithShape="1">
          <a:blip r:embed="rIdWorkshopBackground">
            <a:lum/>
          </a:blip>
          <a:srcRect/>
          <a:stretch>
            <a:fillRect/>
          </a:stretch>
        </a:blipFill>
        <a:effectLst/>
      </p:bgPr>
    </p:bg>
    <p:spTree>
      <p:nvGrpSpPr>
        <p:cNvPr id="1" name=""/>
        <p:cNvGrpSpPr/>
        <p:nvPr/>
      </p:nvGrpSpPr>
      <p:grpSpPr>
        <a:xfrm/>
      </p:grpSpPr>
      <p:sp>
        <p:nvSpPr>
          <p:cNvPr id="7" name="Rectangle 6">
            <a:extLst>
              <a:ext uri="{FF2B5EF4-FFF2-40B4-BE49-F238E27FC236}">
                <ns3:creationId id="{4427A647-1148-D1DB-4A47-20B001230704}"/>
              </a:ext>
            </a:extLst>
          </p:cNvPr>
          <p:cNvSpPr/>
          <p:nvPr userDrawn="1"/>
        </p:nvSpPr>
        <p:spPr>
          <a:xfrm>
            <a:off x="0" y="0"/>
            <a:ext cx="12192000" cy="6858000"/>
          </a:xfrm>
          <a:prstGeom prst="rect">
            <a:avLst/>
          </a:prstGeom>
          <a:gradFill flip="none" rotWithShape="1">
            <a:gsLst>
              <a:gs pos="7000">
                <a:srgbClr val="161D26">
                  <a:alpha val="24489"/>
                </a:srgbClr>
              </a:gs>
              <a:gs pos="62000">
                <a:srgbClr val="161D26">
                  <a:alpha val="85100"/>
                </a:srgbClr>
              </a:gs>
              <a:gs pos="100000">
                <a:srgbClr val="161D26"/>
              </a:gs>
            </a:gsLst>
            <a:lin ang="168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Your understanding of the assignment">
            <a:extLst>
              <a:ext uri="{FF2B5EF4-FFF2-40B4-BE49-F238E27FC236}">
                <ns3:creationId id="{9DA5F09A-F929-4743-AAF9-673A4A583C2F}"/>
              </a:ext>
            </a:extLst>
          </p:cNvPr>
          <p:cNvSpPr>
            <a:spLocks noGrp="1"/>
          </p:cNvSpPr>
          <p:nvPr/>
        </p:nvSpPr>
        <p:spPr>
          <a:xfrm>
            <a:off x="609600" y="457200"/>
            <a:ext cx="10972800" cy="1095375"/>
          </a:xfrm>
          <a:prstGeom prst="rect">
            <a:avLst/>
          </a:prstGeom>
          <a:noFill/>
          <a:ln w="0">
            <a:noFill/>
          </a:ln>
        </p:spPr>
        <p:txBody>
          <a:bodyPr>
            <a:noAutofit/>
          </a:bodyPr>
          <a:lstStyle/>
          <a:p>
            <a:pPr>
              <a:buNone/>
              <a:defRPr sz="3450" b="1">
                <a:solidFill>
                  <a:srgbClr val="FF6600"/>
                </a:solidFill>
                <a:latin typeface="Ember Modern Display Standard"/>
                <a:ea typeface="Ember Modern Display Standard"/>
                <a:cs typeface="Ember Modern Display Standard"/>
              </a:defRPr>
            </a:pPr>
            <a:r>
              <a:rPr sz="3450" b="1">
                <a:solidFill>
                  <a:srgbClr val="FF6600"/>
                </a:solidFill>
                <a:latin typeface="Ember Modern Display Standard"/>
                <a:ea typeface="Ember Modern Display Standard"/>
                <a:cs typeface="Ember Modern Display Standard"/>
              </a:rPr>
              <a:t>Your understanding of the assignment</a:t>
            </a:r>
          </a:p>
        </p:txBody>
      </p:sp>
      <p:sp>
        <p:nvSpPr>
          <p:cNvPr id="2" name="08">
            <a:extLst>
              <a:ext uri="{FF2B5EF4-FFF2-40B4-BE49-F238E27FC236}">
                <ns3:creationId id="{0577909E-96F8-4ACD-B7E2-AD39A62DD66A}"/>
              </a:ext>
            </a:extLst>
          </p:cNvPr>
          <p:cNvSpPr>
            <a:spLocks noGrp="1"/>
          </p:cNvSpPr>
          <p:nvPr/>
        </p:nvSpPr>
        <p:spPr>
          <a:xfrm>
            <a:off x="11144250" y="6419850"/>
            <a:ext cx="571500" cy="247650"/>
          </a:xfrm>
          <a:prstGeom prst="rect">
            <a:avLst/>
          </a:prstGeom>
          <a:noFill/>
          <a:ln w="0">
            <a:noFill/>
          </a:ln>
        </p:spPr>
        <p:txBody>
          <a:bodyPr>
            <a:noAutofit/>
          </a:bodyPr>
          <a:lstStyle/>
          <a:p>
            <a:pPr>
              <a:buNone/>
              <a:defRPr sz="1425" b="0">
                <a:solidFill>
                  <a:srgbClr val="D5D9DD"/>
                </a:solidFill>
                <a:latin typeface="Ember Modern Display Standard"/>
                <a:ea typeface="Ember Modern Display Standard"/>
                <a:cs typeface="Ember Modern Display Standard"/>
              </a:defRPr>
            </a:pPr>
            <a:r>
              <a:rPr sz="1425" b="0">
                <a:solidFill>
                  <a:srgbClr val="D5D9DD"/>
                </a:solidFill>
                <a:latin typeface="Ember Modern Display Standard"/>
                <a:ea typeface="Ember Modern Display Standard"/>
                <a:cs typeface="Ember Modern Display Standard"/>
              </a:rPr>
              <a:t>12</a:t>
            </a:r>
          </a:p>
        </p:txBody>
      </p:sp>
      <p:sp>
        <p:nvSpPr>
          <p:cNvPr id="3" name="What are you delivering?">
            <a:extLst>
              <a:ext uri="{FF2B5EF4-FFF2-40B4-BE49-F238E27FC236}">
                <ns3:creationId id="{76ABD7A0-26AA-43B8-9AD5-98C1D84C9B5A}"/>
              </a:ext>
            </a:extLst>
          </p:cNvPr>
          <p:cNvSpPr>
            <a:spLocks noGrp="1"/>
          </p:cNvSpPr>
          <p:nvPr/>
        </p:nvSpPr>
        <p:spPr>
          <a:xfrm>
            <a:off x="609600" y="1962150"/>
            <a:ext cx="10906125" cy="952500"/>
          </a:xfrm>
          <a:prstGeom prst="rect">
            <a:avLst/>
          </a:prstGeom>
          <a:noFill/>
          <a:ln w="0">
            <a:noFill/>
          </a:ln>
        </p:spPr>
        <p:txBody>
          <a:bodyPr>
            <a:noAutofit/>
          </a:bodyPr>
          <a:lstStyle/>
          <a:p>
            <a:pPr>
              <a:buNone/>
              <a:defRPr sz="3675" b="1">
                <a:solidFill>
                  <a:srgbClr val="FF6600"/>
                </a:solidFill>
                <a:latin typeface="Ember Modern Display Standard"/>
                <a:ea typeface="Ember Modern Display Standard"/>
                <a:cs typeface="Ember Modern Display Standard"/>
              </a:defRPr>
            </a:pPr>
            <a:r>
              <a:rPr sz="3675" b="1">
                <a:solidFill>
                  <a:srgbClr val="FF6600"/>
                </a:solidFill>
                <a:latin typeface="Ember Modern Display Standard"/>
                <a:ea typeface="Ember Modern Display Standard"/>
                <a:cs typeface="Ember Modern Display Standard"/>
              </a:rPr>
              <a:t>What are you delivering?</a:t>
            </a:r>
          </a:p>
        </p:txBody>
      </p:sp>
      <p:sp>
        <p:nvSpPr>
          <p:cNvPr id="4" name="What are you responsible for checking?">
            <a:extLst>
              <a:ext uri="{FF2B5EF4-FFF2-40B4-BE49-F238E27FC236}">
                <ns3:creationId id="{5F7D3735-5198-434C-BD49-EF8262C4B412}"/>
              </a:ext>
            </a:extLst>
          </p:cNvPr>
          <p:cNvSpPr>
            <a:spLocks noGrp="1"/>
          </p:cNvSpPr>
          <p:nvPr/>
        </p:nvSpPr>
        <p:spPr>
          <a:xfrm>
            <a:off x="609600" y="3400425"/>
            <a:ext cx="10906125" cy="1143000"/>
          </a:xfrm>
          <a:prstGeom prst="rect">
            <a:avLst/>
          </a:prstGeom>
          <a:noFill/>
          <a:ln w="0">
            <a:noFill/>
          </a:ln>
        </p:spPr>
        <p:txBody>
          <a:bodyPr>
            <a:noAutofit/>
          </a:bodyPr>
          <a:lstStyle/>
          <a:p>
            <a:pPr>
              <a:buNone/>
              <a:defRPr sz="3375" b="1">
                <a:solidFill>
                  <a:srgbClr val="FFFFFF"/>
                </a:solidFill>
                <a:latin typeface="Ember Modern Display Standard"/>
                <a:ea typeface="Ember Modern Display Standard"/>
                <a:cs typeface="Ember Modern Display Standard"/>
              </a:defRPr>
            </a:pPr>
            <a:r>
              <a:rPr sz="3375" b="1">
                <a:solidFill>
                  <a:srgbClr val="FFFFFF"/>
                </a:solidFill>
                <a:latin typeface="Ember Modern Display Standard"/>
                <a:ea typeface="Ember Modern Display Standard"/>
                <a:cs typeface="Ember Modern Display Standard"/>
              </a:rPr>
              <a:t>What are you responsible for checking?</a:t>
            </a:r>
          </a:p>
        </p:txBody>
      </p:sp>
      <p:sp>
        <p:nvSpPr>
          <p:cNvPr id="5" name="Next: connect your own repository in the Control Center">
            <a:extLst>
              <a:ext uri="{FF2B5EF4-FFF2-40B4-BE49-F238E27FC236}">
                <ns3:creationId id="{6B89989A-5D68-4BF2-869A-44099E5264B3}"/>
              </a:ext>
            </a:extLst>
          </p:cNvPr>
          <p:cNvSpPr>
            <a:spLocks noGrp="1"/>
          </p:cNvSpPr>
          <p:nvPr/>
        </p:nvSpPr>
        <p:spPr>
          <a:xfrm>
            <a:off x="609600" y="5638800"/>
            <a:ext cx="10858500" cy="581025"/>
          </a:xfrm>
          <a:prstGeom prst="rect">
            <a:avLst/>
          </a:prstGeom>
          <a:noFill/>
          <a:ln w="0">
            <a:noFill/>
          </a:ln>
        </p:spPr>
        <p:txBody>
          <a:bodyPr>
            <a:noAutofit/>
          </a:bodyPr>
          <a:lstStyle/>
          <a:p>
            <a:pPr>
              <a:buNone/>
              <a:defRPr sz="2175" b="0">
                <a:solidFill>
                  <a:srgbClr val="D5D9DD"/>
                </a:solidFill>
                <a:latin typeface="Ember Modern Display Standard"/>
                <a:ea typeface="Ember Modern Display Standard"/>
                <a:cs typeface="Ember Modern Display Standard"/>
              </a:defRPr>
            </a:pPr>
            <a:r>
              <a:rPr sz="2175" b="0">
                <a:solidFill>
                  <a:srgbClr val="D5D9DD"/>
                </a:solidFill>
                <a:latin typeface="Ember Modern Display Standard"/>
                <a:ea typeface="Ember Modern Display Standard"/>
                <a:cs typeface="Ember Modern Display Standard"/>
              </a:rPr>
              <a:t>Next: connect your own repository in the Control Center.</a:t>
            </a:r>
          </a:p>
        </p:txBody>
      </p:sp>
    </p:spTree>
    <p:extLst>
      <p:ext uri="{BB962C8B-B14F-4D97-AF65-F5344CB8AC3E}">
        <ns4:creationId val="1573014477"/>
      </p:ext>
    </p:extLst>
  </p:cSld>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dissolv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dissolv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Lst>
  </p:timing>
</p:sld>
</file>

<file path=ppt/slides/social-proof-slide1.xml><?xml version="1.0" encoding="utf-8"?>
<p:sld xmlns:a="http://schemas.openxmlformats.org/drawingml/2006/main" xmlns:ns3="http://schemas.microsoft.com/office/drawing/2014/main" xmlns:ns4="http://schemas.microsoft.com/office/powerpoint/2010/main" xmlns:p="http://schemas.openxmlformats.org/presentationml/2006/main" xmlns:r="http://schemas.openxmlformats.org/officeDocument/2006/relationships">
  <p:cSld>
    <p:bg>
      <p:bgPr>
        <a:blipFill dpi="0" rotWithShape="1">
          <a:blip r:embed="rIdWorkshopBackground">
            <a:lum/>
          </a:blip>
          <a:srcRect/>
          <a:stretch>
            <a:fillRect/>
          </a:stretch>
        </a:blipFill>
        <a:effectLst/>
      </p:bgPr>
    </p:bg>
    <p:spTree>
      <p:nvGrpSpPr>
        <p:cNvPr id="1" name=""/>
        <p:cNvGrpSpPr/>
        <p:nvPr/>
      </p:nvGrpSpPr>
      <p:grpSpPr>
        <a:xfrm/>
      </p:grpSpPr>
      <p:sp>
        <p:nvSpPr>
          <p:cNvPr id="24" name="Rectangle 6">
            <a:extLst>
              <a:ext uri="{FF2B5EF4-FFF2-40B4-BE49-F238E27FC236}">
                <ns3:creationId id="{4427A647-1148-D1DB-4A47-20B001230704}"/>
              </a:ext>
            </a:extLst>
          </p:cNvPr>
          <p:cNvSpPr/>
          <p:nvPr userDrawn="1"/>
        </p:nvSpPr>
        <p:spPr>
          <a:xfrm>
            <a:off x="0" y="0"/>
            <a:ext cx="12192000" cy="6858000"/>
          </a:xfrm>
          <a:prstGeom prst="rect">
            <a:avLst/>
          </a:prstGeom>
          <a:gradFill flip="none" rotWithShape="1">
            <a:gsLst>
              <a:gs pos="7000">
                <a:srgbClr val="161D26">
                  <a:alpha val="24489"/>
                </a:srgbClr>
              </a:gs>
              <a:gs pos="62000">
                <a:srgbClr val="161D26">
                  <a:alpha val="85100"/>
                </a:srgbClr>
              </a:gs>
              <a:gs pos="100000">
                <a:srgbClr val="161D26"/>
              </a:gs>
            </a:gsLst>
            <a:lin ang="168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Software factories are an active discussion">
            <a:extLst>
              <a:ext uri="{FF2B5EF4-FFF2-40B4-BE49-F238E27FC236}">
                <ns3:creationId id="{E9089636-E280-4770-8D86-22E66D0577AF}"/>
              </a:ext>
            </a:extLst>
          </p:cNvPr>
          <p:cNvSpPr>
            <a:spLocks noGrp="1"/>
          </p:cNvSpPr>
          <p:nvPr/>
        </p:nvSpPr>
        <p:spPr>
          <a:xfrm>
            <a:off x="609600" y="400050"/>
            <a:ext cx="10972800" cy="609600"/>
          </a:xfrm>
          <a:prstGeom prst="rect">
            <a:avLst/>
          </a:prstGeom>
          <a:noFill/>
          <a:ln w="0">
            <a:noFill/>
          </a:ln>
        </p:spPr>
        <p:txBody>
          <a:bodyPr>
            <a:noAutofit/>
          </a:bodyPr>
          <a:lstStyle/>
          <a:p>
            <a:pPr>
              <a:defRPr sz="3375" b="1">
                <a:solidFill>
                  <a:srgbClr val="FF6600"/>
                </a:solidFill>
                <a:latin typeface="Ember Modern Display Standard"/>
                <a:ea typeface="Ember Modern Display Standard"/>
                <a:cs typeface="Ember Modern Display Standard"/>
              </a:defRPr>
            </a:pPr>
            <a:r>
              <a:rPr sz="3375" b="1">
                <a:solidFill>
                  <a:srgbClr val="FF6600"/>
                </a:solidFill>
                <a:latin typeface="Ember Modern Display Standard"/>
                <a:ea typeface="Ember Modern Display Standard"/>
                <a:cs typeface="Ember Modern Display Standard"/>
              </a:rPr>
              <a:t>Software factories are an active discussion</a:t>
            </a:r>
          </a:p>
        </p:txBody>
      </p:sp>
      <p:sp>
        <p:nvSpPr>
          <p:cNvPr id="2" name="Uncle Bob Martin">
            <a:extLst>
              <a:ext uri="{FF2B5EF4-FFF2-40B4-BE49-F238E27FC236}">
                <ns3:creationId id="{00BE20C1-A5A1-4B45-8EA8-4B17D351AD40}"/>
              </a:ext>
            </a:extLst>
          </p:cNvPr>
          <p:cNvSpPr>
            <a:spLocks noGrp="1"/>
          </p:cNvSpPr>
          <p:nvPr/>
        </p:nvSpPr>
        <p:spPr>
          <a:xfrm>
            <a:off x="609600" y="1057275"/>
            <a:ext cx="3295650" cy="361950"/>
          </a:xfrm>
          <a:prstGeom prst="rect">
            <a:avLst/>
          </a:prstGeom>
          <a:noFill/>
          <a:ln w="0">
            <a:noFill/>
          </a:ln>
        </p:spPr>
        <p:txBody>
          <a:bodyPr>
            <a:noAutofit/>
          </a:bodyPr>
          <a:lstStyle/>
          <a:p>
            <a:pPr>
              <a:defRPr sz="1875" b="1">
                <a:solidFill>
                  <a:srgbClr val="FFFFFF"/>
                </a:solidFill>
                <a:latin typeface="Ember Modern Display Standard"/>
                <a:ea typeface="Ember Modern Display Standard"/>
                <a:cs typeface="Ember Modern Display Standard"/>
              </a:defRPr>
            </a:pPr>
            <a:r>
              <a:rPr sz="1875" b="1">
                <a:solidFill>
                  <a:srgbClr val="FFFFFF"/>
                </a:solidFill>
                <a:latin typeface="Ember Modern Display Standard"/>
                <a:ea typeface="Ember Modern Display Standard"/>
                <a:cs typeface="Ember Modern Display Standard"/>
              </a:rPr>
              <a:t>Uncle Bob Martin</a:t>
            </a:r>
          </a:p>
        </p:txBody>
      </p:sp>
      <p:sp>
        <p:nvSpPr>
          <p:cNvPr id="3" name="Addy Osmani">
            <a:extLst>
              <a:ext uri="{FF2B5EF4-FFF2-40B4-BE49-F238E27FC236}">
                <ns3:creationId id="{3A51DDC6-239E-468C-A227-C5468AF1332B}"/>
              </a:ext>
            </a:extLst>
          </p:cNvPr>
          <p:cNvSpPr>
            <a:spLocks noGrp="1"/>
          </p:cNvSpPr>
          <p:nvPr/>
        </p:nvSpPr>
        <p:spPr>
          <a:xfrm>
            <a:off x="4095750" y="1057275"/>
            <a:ext cx="2800350" cy="361950"/>
          </a:xfrm>
          <a:prstGeom prst="rect">
            <a:avLst/>
          </a:prstGeom>
          <a:noFill/>
          <a:ln w="0">
            <a:noFill/>
          </a:ln>
        </p:spPr>
        <p:txBody>
          <a:bodyPr>
            <a:noAutofit/>
          </a:bodyPr>
          <a:lstStyle/>
          <a:p>
            <a:pPr>
              <a:defRPr sz="1875" b="1">
                <a:solidFill>
                  <a:srgbClr val="FFFFFF"/>
                </a:solidFill>
                <a:latin typeface="Ember Modern Display Standard"/>
                <a:ea typeface="Ember Modern Display Standard"/>
                <a:cs typeface="Ember Modern Display Standard"/>
              </a:defRPr>
            </a:pPr>
            <a:r>
              <a:rPr sz="1875" b="1">
                <a:solidFill>
                  <a:srgbClr val="FFFFFF"/>
                </a:solidFill>
                <a:latin typeface="Ember Modern Display Standard"/>
                <a:ea typeface="Ember Modern Display Standard"/>
                <a:cs typeface="Ember Modern Display Standard"/>
              </a:rPr>
              <a:t>Addy Osmani</a:t>
            </a:r>
          </a:p>
        </p:txBody>
      </p:sp>
      <p:sp>
        <p:nvSpPr>
          <p:cNvPr id="4" name="Guillermo Rauch">
            <a:extLst>
              <a:ext uri="{FF2B5EF4-FFF2-40B4-BE49-F238E27FC236}">
                <ns3:creationId id="{548323C4-F7F3-4EE0-A155-AE081778ADB2}"/>
              </a:ext>
            </a:extLst>
          </p:cNvPr>
          <p:cNvSpPr>
            <a:spLocks noGrp="1"/>
          </p:cNvSpPr>
          <p:nvPr/>
        </p:nvSpPr>
        <p:spPr>
          <a:xfrm>
            <a:off x="7086600" y="1057275"/>
            <a:ext cx="4495800" cy="361950"/>
          </a:xfrm>
          <a:prstGeom prst="rect">
            <a:avLst/>
          </a:prstGeom>
          <a:noFill/>
          <a:ln w="0">
            <a:noFill/>
          </a:ln>
        </p:spPr>
        <p:txBody>
          <a:bodyPr>
            <a:noAutofit/>
          </a:bodyPr>
          <a:lstStyle/>
          <a:p>
            <a:pPr>
              <a:defRPr sz="1875" b="1">
                <a:solidFill>
                  <a:srgbClr val="FFFFFF"/>
                </a:solidFill>
                <a:latin typeface="Ember Modern Display Standard"/>
                <a:ea typeface="Ember Modern Display Standard"/>
                <a:cs typeface="Ember Modern Display Standard"/>
              </a:defRPr>
            </a:pPr>
            <a:r>
              <a:rPr sz="1875" b="1">
                <a:solidFill>
                  <a:srgbClr val="FFFFFF"/>
                </a:solidFill>
                <a:latin typeface="Ember Modern Display Standard"/>
                <a:ea typeface="Ember Modern Display Standard"/>
                <a:cs typeface="Ember Modern Display Standard"/>
              </a:rPr>
              <a:t>Guillermo Rauch</a:t>
            </a:r>
          </a:p>
        </p:txBody>
      </p:sp>
      <p:pic>
        <p:nvPicPr>
          <p:cNvPr id="18" name=""/>
          <p:cNvPicPr>
            <a:picLocks noChangeAspect="1"/>
          </p:cNvPicPr>
          <p:nvPr/>
        </p:nvPicPr>
        <p:blipFill>
          <a:blip r:embed="R0c6579b084084a38"/>
          <a:stretch/>
        </p:blipFill>
        <p:spPr>
          <a:xfrm>
            <a:off x="609600" y="1476375"/>
            <a:ext cx="3295650" cy="2786475"/>
          </a:xfrm>
          <a:prstGeom prst="rect">
            <a:avLst/>
          </a:prstGeom>
        </p:spPr>
      </p:pic>
      <p:pic>
        <p:nvPicPr>
          <p:cNvPr id="19" name=""/>
          <p:cNvPicPr>
            <a:picLocks noChangeAspect="1"/>
          </p:cNvPicPr>
          <p:nvPr/>
        </p:nvPicPr>
        <p:blipFill>
          <a:blip r:embed="R14389f0145354345"/>
          <a:stretch/>
        </p:blipFill>
        <p:spPr>
          <a:xfrm>
            <a:off x="609600" y="4358100"/>
            <a:ext cx="3295650" cy="1166749"/>
          </a:xfrm>
          <a:prstGeom prst="rect">
            <a:avLst/>
          </a:prstGeom>
        </p:spPr>
      </p:pic>
      <p:pic>
        <p:nvPicPr>
          <p:cNvPr id="20" name=""/>
          <p:cNvPicPr>
            <a:picLocks noChangeAspect="1"/>
          </p:cNvPicPr>
          <p:nvPr/>
        </p:nvPicPr>
        <p:blipFill>
          <a:blip r:embed="R392ec72c94374c0a"/>
          <a:stretch/>
        </p:blipFill>
        <p:spPr>
          <a:xfrm>
            <a:off x="609600" y="5620098"/>
            <a:ext cx="3295650" cy="753291"/>
          </a:xfrm>
          <a:prstGeom prst="rect">
            <a:avLst/>
          </a:prstGeom>
        </p:spPr>
      </p:pic>
      <p:pic>
        <p:nvPicPr>
          <p:cNvPr id="21" name=""/>
          <p:cNvPicPr>
            <a:picLocks noChangeAspect="1"/>
          </p:cNvPicPr>
          <p:nvPr/>
        </p:nvPicPr>
        <p:blipFill>
          <a:blip r:embed="Rf68dd10ba7404fed"/>
          <a:stretch/>
        </p:blipFill>
        <p:spPr>
          <a:xfrm>
            <a:off x="4095750" y="1476375"/>
            <a:ext cx="2800350" cy="2629770"/>
          </a:xfrm>
          <a:prstGeom prst="rect">
            <a:avLst/>
          </a:prstGeom>
        </p:spPr>
      </p:pic>
      <p:pic>
        <p:nvPicPr>
          <p:cNvPr id="22" name=""/>
          <p:cNvPicPr>
            <a:picLocks noChangeAspect="1"/>
          </p:cNvPicPr>
          <p:nvPr/>
        </p:nvPicPr>
        <p:blipFill>
          <a:blip r:embed="R8862e575e57f4fbf"/>
          <a:stretch/>
        </p:blipFill>
        <p:spPr>
          <a:xfrm>
            <a:off x="4095750" y="4201395"/>
            <a:ext cx="2800350" cy="2063664"/>
          </a:xfrm>
          <a:prstGeom prst="rect">
            <a:avLst/>
          </a:prstGeom>
        </p:spPr>
      </p:pic>
      <p:pic>
        <p:nvPicPr>
          <p:cNvPr id="23" name=""/>
          <p:cNvPicPr>
            <a:picLocks noChangeAspect="1"/>
          </p:cNvPicPr>
          <p:nvPr/>
        </p:nvPicPr>
        <p:blipFill>
          <a:blip r:embed="R561f5edd80a04d5b"/>
          <a:stretch/>
        </p:blipFill>
        <p:spPr>
          <a:xfrm>
            <a:off x="7086600" y="1476375"/>
            <a:ext cx="4495800" cy="2783114"/>
          </a:xfrm>
          <a:prstGeom prst="rect">
            <a:avLst/>
          </a:prstGeom>
        </p:spPr>
      </p:pic>
      <p:sp>
        <p:nvSpPr>
          <p:cNvPr id="11" name="July–August posts">
            <a:extLst>
              <a:ext uri="{FF2B5EF4-FFF2-40B4-BE49-F238E27FC236}">
                <ns3:creationId id="{E23D36C6-1E98-458C-A866-DC71700603D4}"/>
              </a:ext>
            </a:extLst>
          </p:cNvPr>
          <p:cNvSpPr>
            <a:spLocks noGrp="1"/>
          </p:cNvSpPr>
          <p:nvPr/>
        </p:nvSpPr>
        <p:spPr>
          <a:xfrm>
            <a:off x="7086600" y="4486275"/>
            <a:ext cx="4495800" cy="419100"/>
          </a:xfrm>
          <a:prstGeom prst="rect">
            <a:avLst/>
          </a:prstGeom>
          <a:noFill/>
          <a:ln w="0">
            <a:noFill/>
          </a:ln>
        </p:spPr>
        <p:txBody>
          <a:bodyPr>
            <a:noAutofit/>
          </a:bodyPr>
          <a:lstStyle/>
          <a:p>
            <a:pPr>
              <a:defRPr sz="2175" b="1">
                <a:solidFill>
                  <a:srgbClr val="FF6600"/>
                </a:solidFill>
                <a:latin typeface="Ember Modern Display Standard"/>
                <a:ea typeface="Ember Modern Display Standard"/>
                <a:cs typeface="Ember Modern Display Standard"/>
              </a:defRPr>
            </a:pPr>
            <a:r>
              <a:rPr sz="2175" b="1">
                <a:solidFill>
                  <a:srgbClr val="FF6600"/>
                </a:solidFill>
                <a:latin typeface="Ember Modern Display Standard"/>
                <a:ea typeface="Ember Modern Display Standard"/>
                <a:cs typeface="Ember Modern Display Standard"/>
              </a:rPr>
              <a:t>July–August posts</a:t>
            </a:r>
          </a:p>
        </p:txBody>
      </p:sp>
      <p:sp>
        <p:nvSpPr>
          <p:cNvPr id="12" name="The discussion includes&#10;autonomy, human judgment&#10;and how to control agents.">
            <a:extLst>
              <a:ext uri="{FF2B5EF4-FFF2-40B4-BE49-F238E27FC236}">
                <ns3:creationId id="{6F3DA133-F484-48CB-861E-0B23C987314A}"/>
              </a:ext>
            </a:extLst>
          </p:cNvPr>
          <p:cNvSpPr>
            <a:spLocks noGrp="1"/>
          </p:cNvSpPr>
          <p:nvPr/>
        </p:nvSpPr>
        <p:spPr>
          <a:xfrm>
            <a:off x="7086600" y="4972050"/>
            <a:ext cx="4495800" cy="1190625"/>
          </a:xfrm>
          <a:prstGeom prst="rect">
            <a:avLst/>
          </a:prstGeom>
          <a:noFill/>
          <a:ln w="0">
            <a:noFill/>
          </a:ln>
        </p:spPr>
        <p:txBody>
          <a:bodyPr>
            <a:noAutofit/>
          </a:bodyPr>
          <a:lstStyle/>
          <a:p>
            <a:pPr>
              <a:defRPr sz="2100" b="0">
                <a:solidFill>
                  <a:srgbClr val="FFFFFF"/>
                </a:solidFill>
                <a:latin typeface="Ember Modern Display Standard"/>
                <a:ea typeface="Ember Modern Display Standard"/>
                <a:cs typeface="Ember Modern Display Standard"/>
              </a:defRPr>
            </a:pPr>
            <a:r>
              <a:rPr sz="2100" b="0">
                <a:solidFill>
                  <a:srgbClr val="FFFFFF"/>
                </a:solidFill>
                <a:latin typeface="Ember Modern Display Standard"/>
                <a:ea typeface="Ember Modern Display Standard"/>
                <a:cs typeface="Ember Modern Display Standard"/>
              </a:rPr>
              <a:t>The discussion includes</a:t>
            </a:r>
          </a:p>
          <a:p>
            <a:pPr>
              <a:defRPr sz="2100" b="0">
                <a:solidFill>
                  <a:srgbClr val="FFFFFF"/>
                </a:solidFill>
                <a:latin typeface="Ember Modern Display Standard"/>
                <a:ea typeface="Ember Modern Display Standard"/>
                <a:cs typeface="Ember Modern Display Standard"/>
              </a:defRPr>
            </a:pPr>
            <a:r>
              <a:rPr sz="2100" b="0">
                <a:solidFill>
                  <a:srgbClr val="FFFFFF"/>
                </a:solidFill>
                <a:latin typeface="Ember Modern Display Standard"/>
                <a:ea typeface="Ember Modern Display Standard"/>
                <a:cs typeface="Ember Modern Display Standard"/>
              </a:rPr>
              <a:t>autonomy, human judgment</a:t>
            </a:r>
          </a:p>
          <a:p>
            <a:pPr>
              <a:defRPr sz="2100" b="0">
                <a:solidFill>
                  <a:srgbClr val="FFFFFF"/>
                </a:solidFill>
                <a:latin typeface="Ember Modern Display Standard"/>
                <a:ea typeface="Ember Modern Display Standard"/>
                <a:cs typeface="Ember Modern Display Standard"/>
              </a:defRPr>
            </a:pPr>
            <a:r>
              <a:rPr sz="2100" b="0">
                <a:solidFill>
                  <a:srgbClr val="FFFFFF"/>
                </a:solidFill>
                <a:latin typeface="Ember Modern Display Standard"/>
                <a:ea typeface="Ember Modern Display Standard"/>
                <a:cs typeface="Ember Modern Display Standard"/>
              </a:rPr>
              <a:t>and how to control agents.</a:t>
            </a:r>
          </a:p>
        </p:txBody>
      </p:sp>
      <p:sp>
        <p:nvSpPr>
          <p:cNvPr id="13" name="05">
            <a:extLst>
              <a:ext uri="{FF2B5EF4-FFF2-40B4-BE49-F238E27FC236}">
                <ns3:creationId id="{46BC8E20-3650-47CC-AAA3-82D8D5033084}"/>
              </a:ext>
            </a:extLst>
          </p:cNvPr>
          <p:cNvSpPr>
            <a:spLocks noGrp="1"/>
          </p:cNvSpPr>
          <p:nvPr/>
        </p:nvSpPr>
        <p:spPr>
          <a:xfrm>
            <a:off x="11144250" y="6419850"/>
            <a:ext cx="571500" cy="247650"/>
          </a:xfrm>
          <a:prstGeom prst="rect">
            <a:avLst/>
          </a:prstGeom>
          <a:noFill/>
          <a:ln w="0">
            <a:noFill/>
          </a:ln>
        </p:spPr>
        <p:txBody>
          <a:bodyPr>
            <a:noAutofit/>
          </a:bodyPr>
          <a:lstStyle/>
          <a:p>
            <a:pPr>
              <a:defRPr sz="1425" b="0">
                <a:solidFill>
                  <a:srgbClr val="D5D9DD"/>
                </a:solidFill>
                <a:latin typeface="Ember Modern Display Standard"/>
                <a:ea typeface="Ember Modern Display Standard"/>
                <a:cs typeface="Ember Modern Display Standard"/>
              </a:defRPr>
            </a:pPr>
            <a:r>
              <a:rPr sz="1425" b="0">
                <a:solidFill>
                  <a:srgbClr val="D5D9DD"/>
                </a:solidFill>
                <a:latin typeface="Ember Modern Display Standard"/>
                <a:ea typeface="Ember Modern Display Standard"/>
                <a:cs typeface="Ember Modern Display Standard"/>
              </a:rPr>
              <a:t>05</a:t>
            </a:r>
          </a:p>
        </p:txBody>
      </p:sp>
    </p:spTree>
    <p:extLst>
      <p:ext uri="{BB962C8B-B14F-4D97-AF65-F5344CB8AC3E}">
        <ns4:creationId val="1584459636"/>
      </p:ext>
    </p:extLst>
  </p:cSld>
</p:sld>
</file>

<file path=ppt/theme/theme1.xml><?xml version="1.0" encoding="utf-8"?>
<a:theme xmlns:a="http://schemas.openxmlformats.org/drawingml/2006/main" name="01 DRE Dark Theme">
  <a:themeElements>
    <a:clrScheme name="Custom 1">
      <a:dk1>
        <a:srgbClr val="000000"/>
      </a:dk1>
      <a:lt1>
        <a:srgbClr val="FFFFFF"/>
      </a:lt1>
      <a:dk2>
        <a:srgbClr val="44546A"/>
      </a:dk2>
      <a:lt2>
        <a:srgbClr val="E7E6E6"/>
      </a:lt2>
      <a:accent1>
        <a:srgbClr val="4472C4"/>
      </a:accent1>
      <a:accent2>
        <a:srgbClr val="FF9900"/>
      </a:accent2>
      <a:accent3>
        <a:srgbClr val="A7A7A7"/>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ns0:Properties xmlns:ns0="http://schemas.openxmlformats.org/officeDocument/2006/extended-properties">
  <ns0:Application>Walnut Exporter</ns0:Application>
  <ns0:PresentationFormat>Converted Presentation</ns0:PresentationFormat>
  <ns0:Slides>12</ns0:Slides>
  <ns0:Notes>0</ns0:Notes>
  <ns0:HiddenSlides>0</ns0:HiddenSlides>
  <ns0:SharedDoc>false</ns0:SharedDoc>
  <ns0:DocSecurity>0</ns0:DocSecurity>
</ns0: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2026-09-14T11:34:37.3980000Z</dcterms:created>
  <dcterms:modified xsi:type="dcterms:W3CDTF">2026-09-14T11:34:37.3980000Z</dcterms:modified>
</coreProperties>
</file>