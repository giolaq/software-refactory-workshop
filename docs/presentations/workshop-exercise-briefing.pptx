
<file path=[Content_Types].xml><?xml version="1.0" encoding="utf-8"?>
<Types xmlns="http://schemas.openxmlformats.org/package/2006/content-types">
  <Default Extension="xml" ContentType="application/vnd.openxmlformats-package.core-properties+xml"/>
  <Default Extension="bin" ContentType="image/webp"/>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871dfbdf024ee6" /><Relationship Type="http://schemas.openxmlformats.org/officeDocument/2006/relationships/extended-properties" Target="/docProps/app.xml" Id="R7effba16251949b7" /><Relationship Type="http://schemas.openxmlformats.org/officeDocument/2006/relationships/officeDocument" Target="/ppt/presentation.xml" Id="R7b93161110264280" /></Relationships>
</file>

<file path=ppt/presentation.xml><?xml version="1.0" encoding="utf-8"?>
<p:presentation xmlns:p="http://schemas.openxmlformats.org/presentationml/2006/main">
  <p:sldMasterIdLst>
    <p:sldMasterId xmlns:r="http://schemas.openxmlformats.org/officeDocument/2006/relationships" id="2147483648" r:id="Rc5df13c3fb094775"/>
  </p:sldMasterIdLst>
  <p:notesMasterIdLst>
    <p:notesMasterId xmlns:r="http://schemas.openxmlformats.org/officeDocument/2006/relationships" r:id="R29f6bd47229646e9"/>
  </p:notesMasterIdLst>
  <p:sldIdLst>
    <p:sldId xmlns:r="http://schemas.openxmlformats.org/officeDocument/2006/relationships" id="256" r:id="R15a340a441e8480b"/>
    <p:sldId xmlns:r="http://schemas.openxmlformats.org/officeDocument/2006/relationships" id="257" r:id="Raef1ed79b0604541"/>
    <p:sldId xmlns:r="http://schemas.openxmlformats.org/officeDocument/2006/relationships" id="258" r:id="Rca5cebeb0746492d"/>
    <p:sldId xmlns:r="http://schemas.openxmlformats.org/officeDocument/2006/relationships" id="259" r:id="R3f4fae5dd2ff45eb"/>
    <p:sldId xmlns:r="http://schemas.openxmlformats.org/officeDocument/2006/relationships" id="260" r:id="R7745c3df554047ca"/>
    <p:sldId xmlns:r="http://schemas.openxmlformats.org/officeDocument/2006/relationships" id="261" r:id="R00ab378a2b3d46e3"/>
    <p:sldId xmlns:r="http://schemas.openxmlformats.org/officeDocument/2006/relationships" id="262" r:id="R31de68f3be3c4c6c"/>
    <p:sldId xmlns:r="http://schemas.openxmlformats.org/officeDocument/2006/relationships" id="263" r:id="Rf3a4a9ca0b174c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923335cb7d48c3" /><Relationship Type="http://schemas.openxmlformats.org/officeDocument/2006/relationships/slideMaster" Target="/ppt/slideMasters/slideMaster1.xml" Id="Rc5df13c3fb094775" /><Relationship Type="http://schemas.openxmlformats.org/officeDocument/2006/relationships/notesMaster" Target="/ppt/notesMasters/notesMaster1.xml" Id="R29f6bd47229646e9" /><Relationship Type="http://schemas.openxmlformats.org/officeDocument/2006/relationships/presProps" Target="/ppt/presProps.xml" Id="R85855ac5dfb24b30" /><Relationship Type="http://schemas.openxmlformats.org/officeDocument/2006/relationships/tableStyles" Target="/ppt/tableStyles.xml" Id="Ra2b1c4114ac84722" /><Relationship Type="http://schemas.openxmlformats.org/officeDocument/2006/relationships/slide" Target="/ppt/slides/slide1.xml" Id="R15a340a441e8480b" /><Relationship Type="http://schemas.openxmlformats.org/officeDocument/2006/relationships/slide" Target="/ppt/slides/slide2.xml" Id="Raef1ed79b0604541" /><Relationship Type="http://schemas.openxmlformats.org/officeDocument/2006/relationships/slide" Target="/ppt/slides/slide3.xml" Id="Rca5cebeb0746492d" /><Relationship Type="http://schemas.openxmlformats.org/officeDocument/2006/relationships/slide" Target="/ppt/slides/slide4.xml" Id="R3f4fae5dd2ff45eb" /><Relationship Type="http://schemas.openxmlformats.org/officeDocument/2006/relationships/slide" Target="/ppt/slides/slide5.xml" Id="R7745c3df554047ca" /><Relationship Type="http://schemas.openxmlformats.org/officeDocument/2006/relationships/slide" Target="/ppt/slides/slide6.xml" Id="R00ab378a2b3d46e3" /><Relationship Type="http://schemas.openxmlformats.org/officeDocument/2006/relationships/slide" Target="/ppt/slides/slide7.xml" Id="R31de68f3be3c4c6c" /><Relationship Type="http://schemas.openxmlformats.org/officeDocument/2006/relationships/slide" Target="/ppt/slides/slide8.xml" Id="Rf3a4a9ca0b174c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e1a43e3fb54a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af00c53cba48ff" /><Relationship Type="http://schemas.openxmlformats.org/officeDocument/2006/relationships/notesMaster" Target="/ppt/notesMasters/notesMaster1.xml" Id="R4710626c84e7453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45938e5d2b4159" /><Relationship Type="http://schemas.openxmlformats.org/officeDocument/2006/relationships/notesMaster" Target="/ppt/notesMasters/notesMaster1.xml" Id="R4b26b0940ae94c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c32bc1da404c75" /><Relationship Type="http://schemas.openxmlformats.org/officeDocument/2006/relationships/notesMaster" Target="/ppt/notesMasters/notesMaster1.xml" Id="Rc095aa99931d42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33a8353155a4bf6" /><Relationship Type="http://schemas.openxmlformats.org/officeDocument/2006/relationships/notesMaster" Target="/ppt/notesMasters/notesMaster1.xml" Id="R515e569c121045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675ce2c2d94686" /><Relationship Type="http://schemas.openxmlformats.org/officeDocument/2006/relationships/notesMaster" Target="/ppt/notesMasters/notesMaster1.xml" Id="R7bbfd43c43154d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eb4fd0f7ee4726" /><Relationship Type="http://schemas.openxmlformats.org/officeDocument/2006/relationships/notesMaster" Target="/ppt/notesMasters/notesMaster1.xml" Id="R00354f5403f240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5aaa5af7ee4990" /><Relationship Type="http://schemas.openxmlformats.org/officeDocument/2006/relationships/notesMaster" Target="/ppt/notesMasters/notesMaster1.xml" Id="R225baaffd6454a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fce8f029c83465f" /><Relationship Type="http://schemas.openxmlformats.org/officeDocument/2006/relationships/notesMaster" Target="/ppt/notesMasters/notesMaster1.xml" Id="R981a55c91e02424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Say: You are the engineering team taking over Pocket Cinema, an existing movie application. Hearth &amp; Harvest Foods wants to reuse it to launch TableStory, a recipe product. You are responsible for delivering that transformation using AI agents. Keep laptops on this briefing for now. Introduce the product problem before naming factory internals. This opening is a separate briefing for use before Setup; the existing three-hour deck is unchanged.</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45 seconds.</a:t>
            </a:r>
          </a:p>
          <a:p xmlns:a="http://schemas.openxmlformats.org/drawingml/2006/main">
            <a:r>
              <a:t/>
            </a:r>
          </a:p>
          <a:p xmlns:a="http://schemas.openxmlformats.org/drawingml/2006/main">
            <a:r>
              <a:t>Show the Pocket Cinema starting app and the prepared TableStory reference. Point out that familiar capabilities can be reused, but their meaning changes. Say: Today someone looks for a movie, reads its details and saves it. The new customer wants a home cook to search by ingredient, read cooking instructions and save a recipe. The screenshot is one possible completed design, not a pixel-perfect template or a promise of the exact Live output. Sources for images: workshop-guide/public/screenshots/pocket-cinema-before.webp and tablestory-desktop.webp.</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Keep one cooking journey as the teaching thread, while preserving the full PRD scope. Explain recipe data and APIs in plain language as the information and services behind the screens. The app must also work on mobile and with TV keyboard/remote navigation, and remove movie-domain language. A logo swap or one search ticket is insufficient. The provided recipe-app-prd.md contains the detailed requirements. Do not add accounts, cross-device synchronization or persistent storage beyond the PRD.</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50 seconds.</a:t>
            </a:r>
          </a:p>
          <a:p xmlns:a="http://schemas.openxmlformats.org/drawingml/2006/main">
            <a:r>
              <a:t/>
            </a:r>
          </a:p>
          <a:p xmlns:a="http://schemas.openxmlformats.org/drawingml/2006/main">
            <a:r>
              <a:t>Say: You are here to make engineering decisions about the agents’ work. The agents prepare requirements, a technical plan, acceptance tests, implementation and code review. Ordinary factory code coordinates the work and runs checks. You review product intent and the plan before tickets, approve valid QA evidence before implementation, and inspect the exact candidate before merging. You can request corrections. Separate agent roles can share blind spots; their output does not replace your judgment. Avoid listing all agent names in this opening.</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30 seconds.</a:t>
            </a:r>
          </a:p>
          <a:p xmlns:a="http://schemas.openxmlformats.org/drawingml/2006/main">
            <a:r>
              <a:t/>
            </a:r>
          </a:p>
          <a:p xmlns:a="http://schemas.openxmlformats.org/drawingml/2006/main">
            <a:r>
              <a:t>Orient the room before asking anyone to navigate. The website gives instructions, the Control Center operates the factory, the personal GitHub repository holds the changed product, and GitHub Projects shows its tickets. These are views and tools for one exercise, not four separate assignments. The factory checkout and product repository are separate. Each attendee uses their own product repository; the facilitator uses a separate one. Detailed installation and authentication remain in the website.</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30 seconds.</a:t>
            </a:r>
          </a:p>
          <a:p xmlns:a="http://schemas.openxmlformats.org/drawingml/2006/main">
            <a:r>
              <a:t/>
            </a:r>
          </a:p>
          <a:p xmlns:a="http://schemas.openxmlformats.org/drawingml/2006/main">
            <a:r>
              <a:t>Point back to the customer request. Completion requires the approved transformation to be merged and the integrated application to satisfy acceptance checks. Demonstrate the full find/read/save journey and removal from My Cookbook, plus the rest of the approved scope, including APIs, mobile/TV behavior and domain cleanup. Inspect the merged version rather than only an isolated ticket. Green ticket states alone do not establish product acceptance.</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25 seconds.</a:t>
            </a:r>
          </a:p>
          <a:p xmlns:a="http://schemas.openxmlformats.org/drawingml/2006/main">
            <a:r>
              <a:t/>
            </a:r>
          </a:p>
          <a:p xmlns:a="http://schemas.openxmlformats.org/drawingml/2006/main">
            <a:r>
              <a:t>Distinguish the product outcome from the learning outcome. A Live agent run may take longer than the workshop. Healthy agents can keep running. While waiting, inspect the starting app or prepare the acceptance example, and use clearly labeled prepared evidence if the next teaching decision arrives before the Live artifact. Never approve work just to maintain pace. Preserve incomplete work, record the ticket or stage, the next action and its owner, and explain how to resume. Do not describe a prepared example as completing a participant’s Live run.</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FACILITATOR CUE: about 40 seconds.</a:t>
            </a:r>
          </a:p>
          <a:p xmlns:a="http://schemas.openxmlformats.org/drawingml/2006/main">
            <a:r>
              <a:t/>
            </a:r>
          </a:p>
          <a:p xmlns:a="http://schemas.openxmlformats.org/drawingml/2006/main">
            <a:r>
              <a:t>Ask before anyone moves to Setup: In your own words, what are you delivering and what are you responsible for checking? Give people a moment, then hear one or two answers. Expected answer: We are transforming a movie app into the complete recipe product, using agents. We remain responsible for whether their understanding, plan, tests and finished changes meet the requirement. If the answer is only launching agents or completing tickets, return to the product and role slides. Once this is clear, proceed to the existing workshop guide Setup or confirm pre-session setup.</a:t>
            </a:r>
          </a:p>
          <a:p xmlns:a="http://schemas.openxmlformats.org/drawingml/2006/main">
            <a:r>
              <a:t/>
            </a:r>
          </a:p>
          <a:p xmlns:a="http://schemas.openxmlformats.org/drawingml/2006/main">
            <a:r>
              <a:t>SOURCES</a:t>
            </a:r>
          </a:p>
          <a:p xmlns:a="http://schemas.openxmlformats.org/drawingml/2006/main">
            <a:r>
              <a:t>recipe-app-prd.md; factory/WORKSHOP_PLAN_3_HOURS.md; factory/AGENT_REFERENCE.md; factory/CONTROL_CENTER.md.</a:t>
            </a:r>
          </a:p>
          <a:p xmlns:a="http://schemas.openxmlformats.org/drawingml/2006/main">
            <a:r>
              <a:t>Workshop guide: https://software-refactory-workshop.vercel.app/</a:t>
            </a:r>
          </a:p>
          <a:p xmlns:a="http://schemas.openxmlformats.org/drawingml/2006/main">
            <a:r>
              <a:t/>
            </a:r>
          </a:p>
          <a:p xmlns:a="http://schemas.openxmlformats.org/drawingml/2006/main">
            <a:r>
              <a:t>This is the Standard Live workshop. Use each attendee's own disposable GitHub repository. Human QA approval and human merge remain enabled. Prepared product screenshots illustrate the goal, not an attendee's completed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c943ea40864b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b7fa111d744312" /><Relationship Type="http://schemas.openxmlformats.org/officeDocument/2006/relationships/slideLayout" Target="/ppt/slideLayouts/slideLayout1.xml" Id="Rc5d37b140de9402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d37b140de9402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c7c7c34dfd0437c" /><Relationship Type="http://schemas.openxmlformats.org/officeDocument/2006/relationships/notesSlide" Target="/ppt/notesSlides/notesSlide1.xml" Id="R675ce9f8006f47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81f21b9f6a64734" /><Relationship Type="http://schemas.openxmlformats.org/officeDocument/2006/relationships/image" Target="/ppt/media/image.bin" Id="R0f1dc65ff22042b5" /><Relationship Type="http://schemas.openxmlformats.org/officeDocument/2006/relationships/image" Target="/ppt/media/image2.bin" Id="Ra1c001d7d539429c" /><Relationship Type="http://schemas.openxmlformats.org/officeDocument/2006/relationships/notesSlide" Target="/ppt/notesSlides/notesSlide2.xml" Id="R5442d37c425644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b315aeb79034a41" /><Relationship Type="http://schemas.openxmlformats.org/officeDocument/2006/relationships/notesSlide" Target="/ppt/notesSlides/notesSlide3.xml" Id="R560b4108a95f4a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e8f9b80fd942ad" /><Relationship Type="http://schemas.openxmlformats.org/officeDocument/2006/relationships/notesSlide" Target="/ppt/notesSlides/notesSlide4.xml" Id="Re2408f7249064a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0e14378ee34f2e" /><Relationship Type="http://schemas.openxmlformats.org/officeDocument/2006/relationships/notesSlide" Target="/ppt/notesSlides/notesSlide5.xml" Id="Rfe1f3e36cd514b2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dd5439ff2634806" /><Relationship Type="http://schemas.openxmlformats.org/officeDocument/2006/relationships/notesSlide" Target="/ppt/notesSlides/notesSlide6.xml" Id="Re99722e63c8043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407c4835aa4f16" /><Relationship Type="http://schemas.openxmlformats.org/officeDocument/2006/relationships/notesSlide" Target="/ppt/notesSlides/notesSlide7.xml" Id="Reb9ac14dfc2a444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6405c4396241fc" /><Relationship Type="http://schemas.openxmlformats.org/officeDocument/2006/relationships/notesSlide" Target="/ppt/notesSlides/notesSlide8.xml" Id="R343e16b5d0e54d9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Your assignment">
            <a:extLst xmlns:a="http://schemas.openxmlformats.org/drawingml/2006/main">
              <a:ext uri="{FF2B5EF4-FFF2-40B4-BE49-F238E27FC236}">
                <a16:creationId xmlns:a16="http://schemas.microsoft.com/office/drawing/2014/main" id="{3BC02046-46D4-4448-B70D-6F083F694176}"/>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Your assignment</a:t>
            </a:r>
          </a:p>
        </p:txBody>
      </p:sp>
      <p:sp>
        <p:nvSpPr>
          <p:cNvPr id="2" name="01">
            <a:extLst xmlns:a="http://schemas.openxmlformats.org/drawingml/2006/main">
              <a:ext uri="{FF2B5EF4-FFF2-40B4-BE49-F238E27FC236}">
                <a16:creationId xmlns:a16="http://schemas.microsoft.com/office/drawing/2014/main" id="{73831295-4E88-4F9D-83E5-6E043D751287}"/>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a:t>
            </a:r>
          </a:p>
        </p:txBody>
      </p:sp>
      <p:sp>
        <p:nvSpPr>
          <p:cNvPr id="3" name="A food company needs a recipe app.">
            <a:extLst xmlns:a="http://schemas.openxmlformats.org/drawingml/2006/main">
              <a:ext uri="{FF2B5EF4-FFF2-40B4-BE49-F238E27FC236}">
                <a16:creationId xmlns:a16="http://schemas.microsoft.com/office/drawing/2014/main" id="{B092C633-ED19-440C-B69D-C205D139C6A6}"/>
              </a:ext>
            </a:extLst>
          </p:cNvPr>
          <p:cNvSpPr>
            <a:spLocks xmlns:a="http://schemas.openxmlformats.org/drawingml/2006/main" noGrp="1"/>
          </p:cNvSpPr>
          <p:nvPr/>
        </p:nvSpPr>
        <p:spPr>
          <a:xfrm xmlns:a="http://schemas.openxmlformats.org/drawingml/2006/main">
            <a:off x="609600" y="18954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006CA5"/>
                </a:solidFill>
                <a:latin typeface="Helvetica Neue"/>
                <a:ea typeface="Helvetica Neue"/>
                <a:cs typeface="Helvetica Neue"/>
              </a:defRPr>
            </a:pPr>
            <a:r>
              <a:rPr sz="3675" b="1">
                <a:solidFill>
                  <a:srgbClr val="006CA5"/>
                </a:solidFill>
                <a:latin typeface="Helvetica Neue"/>
                <a:ea typeface="Helvetica Neue"/>
                <a:cs typeface="Helvetica Neue"/>
              </a:rPr>
              <a:t>A food company needs a recipe app.</a:t>
            </a:r>
          </a:p>
        </p:txBody>
      </p:sp>
      <p:sp>
        <p:nvSpPr>
          <p:cNvPr id="4" name="You have inherited Pocket Cinema.&#10;Hearth &amp; Harvest Food">
            <a:extLst xmlns:a="http://schemas.openxmlformats.org/drawingml/2006/main">
              <a:ext uri="{FF2B5EF4-FFF2-40B4-BE49-F238E27FC236}">
                <a16:creationId xmlns:a16="http://schemas.microsoft.com/office/drawing/2014/main" id="{E9A69630-AD08-4FDF-B427-A597CA441D32}"/>
              </a:ext>
            </a:extLst>
          </p:cNvPr>
          <p:cNvSpPr>
            <a:spLocks xmlns:a="http://schemas.openxmlformats.org/drawingml/2006/main" noGrp="1"/>
          </p:cNvSpPr>
          <p:nvPr/>
        </p:nvSpPr>
        <p:spPr>
          <a:xfrm xmlns:a="http://schemas.openxmlformats.org/drawingml/2006/main">
            <a:off x="609600" y="3181350"/>
            <a:ext cx="10572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52A3A"/>
                </a:solidFill>
                <a:latin typeface="Helvetica Neue"/>
                <a:ea typeface="Helvetica Neue"/>
                <a:cs typeface="Helvetica Neue"/>
              </a:defRPr>
            </a:pPr>
            <a:r>
              <a:rPr sz="2625" b="0">
                <a:solidFill>
                  <a:srgbClr val="152A3A"/>
                </a:solidFill>
                <a:latin typeface="Helvetica Neue"/>
                <a:ea typeface="Helvetica Neue"/>
                <a:cs typeface="Helvetica Neue"/>
              </a:rPr>
              <a:t>You have inherited Pocket Cinema.</a:t>
            </a:r>
          </a:p>
          <a:p xmlns:a="http://schemas.openxmlformats.org/drawingml/2006/main">
            <a:pPr>
              <a:defRPr sz="2625" b="0">
                <a:solidFill>
                  <a:srgbClr val="152A3A"/>
                </a:solidFill>
                <a:latin typeface="Helvetica Neue"/>
                <a:ea typeface="Helvetica Neue"/>
                <a:cs typeface="Helvetica Neue"/>
              </a:defRPr>
            </a:pPr>
            <a:r>
              <a:rPr sz="2625" b="0">
                <a:solidFill>
                  <a:srgbClr val="152A3A"/>
                </a:solidFill>
                <a:latin typeface="Helvetica Neue"/>
                <a:ea typeface="Helvetica Neue"/>
                <a:cs typeface="Helvetica Neue"/>
              </a:rPr>
              <a:t>Hearth &amp; Harvest Foods wants you to turn it into TableStory.</a:t>
            </a:r>
          </a:p>
        </p:txBody>
      </p:sp>
      <p:sp>
        <p:nvSpPr>
          <p:cNvPr id="5" name="You lead the transformation. AI agents help you deliver">
            <a:extLst xmlns:a="http://schemas.openxmlformats.org/drawingml/2006/main">
              <a:ext uri="{FF2B5EF4-FFF2-40B4-BE49-F238E27FC236}">
                <a16:creationId xmlns:a16="http://schemas.microsoft.com/office/drawing/2014/main" id="{A5C1C0E9-D485-4FF0-AB6A-3C4AA71EDE4F}"/>
              </a:ext>
            </a:extLst>
          </p:cNvPr>
          <p:cNvSpPr>
            <a:spLocks xmlns:a="http://schemas.openxmlformats.org/drawingml/2006/main" noGrp="1"/>
          </p:cNvSpPr>
          <p:nvPr/>
        </p:nvSpPr>
        <p:spPr>
          <a:xfrm xmlns:a="http://schemas.openxmlformats.org/drawingml/2006/main">
            <a:off x="609600" y="533400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52A3A"/>
                </a:solidFill>
                <a:latin typeface="Helvetica Neue"/>
                <a:ea typeface="Helvetica Neue"/>
                <a:cs typeface="Helvetica Neue"/>
              </a:defRPr>
            </a:pPr>
            <a:r>
              <a:rPr sz="2550" b="1">
                <a:solidFill>
                  <a:srgbClr val="152A3A"/>
                </a:solidFill>
                <a:latin typeface="Helvetica Neue"/>
                <a:ea typeface="Helvetica Neue"/>
                <a:cs typeface="Helvetica Neue"/>
              </a:rPr>
              <a:t>You lead the transformation. AI agents help you deliver it.</a:t>
            </a:r>
          </a:p>
        </p:txBody>
      </p:sp>
    </p:spTree>
    <p:extLst>
      <p:ext uri="{BB962C8B-B14F-4D97-AF65-F5344CB8AC3E}">
        <p14:creationId xmlns:p14="http://schemas.microsoft.com/office/powerpoint/2010/main" val="10589100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he product you will transform">
            <a:extLst xmlns:a="http://schemas.openxmlformats.org/drawingml/2006/main">
              <a:ext uri="{FF2B5EF4-FFF2-40B4-BE49-F238E27FC236}">
                <a16:creationId xmlns:a16="http://schemas.microsoft.com/office/drawing/2014/main" id="{ABFB13DD-5F4F-4376-BE19-B76D690A993E}"/>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The product you will transform</a:t>
            </a:r>
          </a:p>
        </p:txBody>
      </p:sp>
      <p:sp>
        <p:nvSpPr>
          <p:cNvPr id="2" name="02">
            <a:extLst xmlns:a="http://schemas.openxmlformats.org/drawingml/2006/main">
              <a:ext uri="{FF2B5EF4-FFF2-40B4-BE49-F238E27FC236}">
                <a16:creationId xmlns:a16="http://schemas.microsoft.com/office/drawing/2014/main" id="{5E681DAA-5D6B-41C0-9716-2362AE8FF49B}"/>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a:t>
            </a:r>
          </a:p>
        </p:txBody>
      </p:sp>
      <p:sp>
        <p:nvSpPr>
          <p:cNvPr id="3" name="Starting app: Pocket Cinema">
            <a:extLst xmlns:a="http://schemas.openxmlformats.org/drawingml/2006/main">
              <a:ext uri="{FF2B5EF4-FFF2-40B4-BE49-F238E27FC236}">
                <a16:creationId xmlns:a16="http://schemas.microsoft.com/office/drawing/2014/main" id="{56772358-A6FB-4945-AC3B-5211C3712C77}"/>
              </a:ext>
            </a:extLst>
          </p:cNvPr>
          <p:cNvSpPr>
            <a:spLocks xmlns:a="http://schemas.openxmlformats.org/drawingml/2006/main" noGrp="1"/>
          </p:cNvSpPr>
          <p:nvPr/>
        </p:nvSpPr>
        <p:spPr>
          <a:xfrm xmlns:a="http://schemas.openxmlformats.org/drawingml/2006/main">
            <a:off x="609600" y="1552575"/>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2A3A"/>
                </a:solidFill>
                <a:latin typeface="Helvetica Neue"/>
                <a:ea typeface="Helvetica Neue"/>
                <a:cs typeface="Helvetica Neue"/>
              </a:defRPr>
            </a:pPr>
            <a:r>
              <a:rPr sz="2175" b="1">
                <a:solidFill>
                  <a:srgbClr val="152A3A"/>
                </a:solidFill>
                <a:latin typeface="Helvetica Neue"/>
                <a:ea typeface="Helvetica Neue"/>
                <a:cs typeface="Helvetica Neue"/>
              </a:rPr>
              <a:t>Starting app: Pocket Cinema</a:t>
            </a:r>
          </a:p>
        </p:txBody>
      </p:sp>
      <p:sp>
        <p:nvSpPr>
          <p:cNvPr id="4" name="Target example: TableStory">
            <a:extLst xmlns:a="http://schemas.openxmlformats.org/drawingml/2006/main">
              <a:ext uri="{FF2B5EF4-FFF2-40B4-BE49-F238E27FC236}">
                <a16:creationId xmlns:a16="http://schemas.microsoft.com/office/drawing/2014/main" id="{494CECEC-B349-495C-AB07-397207D825B9}"/>
              </a:ext>
            </a:extLst>
          </p:cNvPr>
          <p:cNvSpPr>
            <a:spLocks xmlns:a="http://schemas.openxmlformats.org/drawingml/2006/main" noGrp="1"/>
          </p:cNvSpPr>
          <p:nvPr/>
        </p:nvSpPr>
        <p:spPr>
          <a:xfrm xmlns:a="http://schemas.openxmlformats.org/drawingml/2006/main">
            <a:off x="6324600" y="1552575"/>
            <a:ext cx="5257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2A3A"/>
                </a:solidFill>
                <a:latin typeface="Helvetica Neue"/>
                <a:ea typeface="Helvetica Neue"/>
                <a:cs typeface="Helvetica Neue"/>
              </a:defRPr>
            </a:pPr>
            <a:r>
              <a:rPr sz="2175" b="1">
                <a:solidFill>
                  <a:srgbClr val="152A3A"/>
                </a:solidFill>
                <a:latin typeface="Helvetica Neue"/>
                <a:ea typeface="Helvetica Neue"/>
                <a:cs typeface="Helvetica Neue"/>
              </a:rPr>
              <a:t>Target example: TableStory</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f1dc65ff22042b5"/>
          <a:stretch xmlns:a="http://schemas.openxmlformats.org/drawingml/2006/main"/>
        </p:blipFill>
        <p:spPr>
          <a:xfrm xmlns:a="http://schemas.openxmlformats.org/drawingml/2006/main">
            <a:off x="1111120" y="2095500"/>
            <a:ext cx="4254759" cy="289560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1c001d7d539429c"/>
          <a:stretch xmlns:a="http://schemas.openxmlformats.org/drawingml/2006/main"/>
        </p:blipFill>
        <p:spPr>
          <a:xfrm xmlns:a="http://schemas.openxmlformats.org/drawingml/2006/main">
            <a:off x="6826120" y="2095500"/>
            <a:ext cx="4254759" cy="2895600"/>
          </a:xfrm>
          <a:prstGeom xmlns:a="http://schemas.openxmlformats.org/drawingml/2006/main" prst="rect">
            <a:avLst/>
          </a:prstGeom>
        </p:spPr>
      </p:pic>
      <p:sp>
        <p:nvSpPr>
          <p:cNvPr id="7" name="Find a movie. Read its details.&#10;Save it for later.">
            <a:extLst xmlns:a="http://schemas.openxmlformats.org/drawingml/2006/main">
              <a:ext uri="{FF2B5EF4-FFF2-40B4-BE49-F238E27FC236}">
                <a16:creationId xmlns:a16="http://schemas.microsoft.com/office/drawing/2014/main" id="{29E13035-4346-42DC-8DDC-A43459C31539}"/>
              </a:ext>
            </a:extLst>
          </p:cNvPr>
          <p:cNvSpPr>
            <a:spLocks xmlns:a="http://schemas.openxmlformats.org/drawingml/2006/main" noGrp="1"/>
          </p:cNvSpPr>
          <p:nvPr/>
        </p:nvSpPr>
        <p:spPr>
          <a:xfrm xmlns:a="http://schemas.openxmlformats.org/drawingml/2006/main">
            <a:off x="609600" y="5229225"/>
            <a:ext cx="5257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Find a movie. Read its details.</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Save it for later.</a:t>
            </a:r>
          </a:p>
        </p:txBody>
      </p:sp>
      <p:sp>
        <p:nvSpPr>
          <p:cNvPr id="8" name="Find a recipe by ingredient.&#10;Read its steps. Save to My">
            <a:extLst xmlns:a="http://schemas.openxmlformats.org/drawingml/2006/main">
              <a:ext uri="{FF2B5EF4-FFF2-40B4-BE49-F238E27FC236}">
                <a16:creationId xmlns:a16="http://schemas.microsoft.com/office/drawing/2014/main" id="{1EAD92B1-8350-4C30-8813-EDFA0E226C66}"/>
              </a:ext>
            </a:extLst>
          </p:cNvPr>
          <p:cNvSpPr>
            <a:spLocks xmlns:a="http://schemas.openxmlformats.org/drawingml/2006/main" noGrp="1"/>
          </p:cNvSpPr>
          <p:nvPr/>
        </p:nvSpPr>
        <p:spPr>
          <a:xfrm xmlns:a="http://schemas.openxmlformats.org/drawingml/2006/main">
            <a:off x="6324600" y="5229225"/>
            <a:ext cx="5257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Find a recipe by ingredient.</a:t>
            </a:r>
          </a:p>
          <a:p xmlns:a="http://schemas.openxmlformats.org/drawingml/2006/main">
            <a:pPr>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Read its steps. Save to My Cookbook.</a:t>
            </a:r>
          </a:p>
        </p:txBody>
      </p:sp>
    </p:spTree>
    <p:extLst>
      <p:ext uri="{BB962C8B-B14F-4D97-AF65-F5344CB8AC3E}">
        <p14:creationId xmlns:p14="http://schemas.microsoft.com/office/powerpoint/2010/main" val="16842345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e complete transformation">
            <a:extLst xmlns:a="http://schemas.openxmlformats.org/drawingml/2006/main">
              <a:ext uri="{FF2B5EF4-FFF2-40B4-BE49-F238E27FC236}">
                <a16:creationId xmlns:a16="http://schemas.microsoft.com/office/drawing/2014/main" id="{394C02D0-5B89-4039-8675-BCEE7866ACA3}"/>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The complete transformation</a:t>
            </a:r>
          </a:p>
        </p:txBody>
      </p:sp>
      <p:sp>
        <p:nvSpPr>
          <p:cNvPr id="2" name="03">
            <a:extLst xmlns:a="http://schemas.openxmlformats.org/drawingml/2006/main">
              <a:ext uri="{FF2B5EF4-FFF2-40B4-BE49-F238E27FC236}">
                <a16:creationId xmlns:a16="http://schemas.microsoft.com/office/drawing/2014/main" id="{C4203FA2-4282-4CAA-ADD2-3C39A61B2B20}"/>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03</a:t>
            </a:r>
          </a:p>
        </p:txBody>
      </p:sp>
      <p:sp>
        <p:nvSpPr>
          <p:cNvPr id="3" name="The cooking journey">
            <a:extLst xmlns:a="http://schemas.openxmlformats.org/drawingml/2006/main">
              <a:ext uri="{FF2B5EF4-FFF2-40B4-BE49-F238E27FC236}">
                <a16:creationId xmlns:a16="http://schemas.microsoft.com/office/drawing/2014/main" id="{0B4AB8CF-8878-4290-8BBA-990DF61F7E73}"/>
              </a:ext>
            </a:extLst>
          </p:cNvPr>
          <p:cNvSpPr>
            <a:spLocks xmlns:a="http://schemas.openxmlformats.org/drawingml/2006/main" noGrp="1"/>
          </p:cNvSpPr>
          <p:nvPr/>
        </p:nvSpPr>
        <p:spPr>
          <a:xfrm xmlns:a="http://schemas.openxmlformats.org/drawingml/2006/main">
            <a:off x="609600" y="1790700"/>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6CA5"/>
                </a:solidFill>
                <a:latin typeface="Helvetica Neue"/>
                <a:ea typeface="Helvetica Neue"/>
                <a:cs typeface="Helvetica Neue"/>
              </a:defRPr>
            </a:pPr>
            <a:r>
              <a:rPr sz="2400" b="1">
                <a:solidFill>
                  <a:srgbClr val="006CA5"/>
                </a:solidFill>
                <a:latin typeface="Helvetica Neue"/>
                <a:ea typeface="Helvetica Neue"/>
                <a:cs typeface="Helvetica Neue"/>
              </a:rPr>
              <a:t>The cooking journey</a:t>
            </a:r>
          </a:p>
        </p:txBody>
      </p:sp>
      <p:sp>
        <p:nvSpPr>
          <p:cNvPr id="4" name="Search by ingredient, read the cooking steps,&#10;then save">
            <a:extLst xmlns:a="http://schemas.openxmlformats.org/drawingml/2006/main">
              <a:ext uri="{FF2B5EF4-FFF2-40B4-BE49-F238E27FC236}">
                <a16:creationId xmlns:a16="http://schemas.microsoft.com/office/drawing/2014/main" id="{318A68FC-7A72-4D18-8574-4AA6898834A5}"/>
              </a:ext>
            </a:extLst>
          </p:cNvPr>
          <p:cNvSpPr>
            <a:spLocks xmlns:a="http://schemas.openxmlformats.org/drawingml/2006/main" noGrp="1"/>
          </p:cNvSpPr>
          <p:nvPr/>
        </p:nvSpPr>
        <p:spPr>
          <a:xfrm xmlns:a="http://schemas.openxmlformats.org/drawingml/2006/main">
            <a:off x="609600" y="2362200"/>
            <a:ext cx="10858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52A3A"/>
                </a:solidFill>
                <a:latin typeface="Helvetica Neue"/>
                <a:ea typeface="Helvetica Neue"/>
                <a:cs typeface="Helvetica Neue"/>
              </a:defRPr>
            </a:pPr>
            <a:r>
              <a:rPr sz="3000" b="1">
                <a:solidFill>
                  <a:srgbClr val="152A3A"/>
                </a:solidFill>
                <a:latin typeface="Helvetica Neue"/>
                <a:ea typeface="Helvetica Neue"/>
                <a:cs typeface="Helvetica Neue"/>
              </a:rPr>
              <a:t>Search by ingredient, read the cooking steps,</a:t>
            </a:r>
          </a:p>
          <a:p xmlns:a="http://schemas.openxmlformats.org/drawingml/2006/main">
            <a:pPr>
              <a:defRPr sz="3000" b="1">
                <a:solidFill>
                  <a:srgbClr val="152A3A"/>
                </a:solidFill>
                <a:latin typeface="Helvetica Neue"/>
                <a:ea typeface="Helvetica Neue"/>
                <a:cs typeface="Helvetica Neue"/>
              </a:defRPr>
            </a:pPr>
            <a:r>
              <a:rPr sz="3000" b="1">
                <a:solidFill>
                  <a:srgbClr val="152A3A"/>
                </a:solidFill>
                <a:latin typeface="Helvetica Neue"/>
                <a:ea typeface="Helvetica Neue"/>
                <a:cs typeface="Helvetica Neue"/>
              </a:rPr>
              <a:t>then save the recipe to My Cookbook.</a:t>
            </a:r>
          </a:p>
        </p:txBody>
      </p:sp>
      <p:sp>
        <p:nvSpPr>
          <p:cNvPr id="5" name="The rest of the product changes too">
            <a:extLst xmlns:a="http://schemas.openxmlformats.org/drawingml/2006/main">
              <a:ext uri="{FF2B5EF4-FFF2-40B4-BE49-F238E27FC236}">
                <a16:creationId xmlns:a16="http://schemas.microsoft.com/office/drawing/2014/main" id="{F8F70445-C96F-45E2-9EC5-3AFE0CA04C20}"/>
              </a:ext>
            </a:extLst>
          </p:cNvPr>
          <p:cNvSpPr>
            <a:spLocks xmlns:a="http://schemas.openxmlformats.org/drawingml/2006/main" noGrp="1"/>
          </p:cNvSpPr>
          <p:nvPr/>
        </p:nvSpPr>
        <p:spPr>
          <a:xfrm xmlns:a="http://schemas.openxmlformats.org/drawingml/2006/main">
            <a:off x="609600" y="39147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6CA5"/>
                </a:solidFill>
                <a:latin typeface="Helvetica Neue"/>
                <a:ea typeface="Helvetica Neue"/>
                <a:cs typeface="Helvetica Neue"/>
              </a:defRPr>
            </a:pPr>
            <a:r>
              <a:rPr sz="2250" b="1">
                <a:solidFill>
                  <a:srgbClr val="006CA5"/>
                </a:solidFill>
                <a:latin typeface="Helvetica Neue"/>
                <a:ea typeface="Helvetica Neue"/>
                <a:cs typeface="Helvetica Neue"/>
              </a:rPr>
              <a:t>The rest of the product changes too</a:t>
            </a:r>
          </a:p>
        </p:txBody>
      </p:sp>
      <p:sp>
        <p:nvSpPr>
          <p:cNvPr id="6" name="Recipe data and APIs. A new identity and wording.&#10;Mobil">
            <a:extLst xmlns:a="http://schemas.openxmlformats.org/drawingml/2006/main">
              <a:ext uri="{FF2B5EF4-FFF2-40B4-BE49-F238E27FC236}">
                <a16:creationId xmlns:a16="http://schemas.microsoft.com/office/drawing/2014/main" id="{CB47A614-4430-4005-AF90-99C93C514211}"/>
              </a:ext>
            </a:extLst>
          </p:cNvPr>
          <p:cNvSpPr>
            <a:spLocks xmlns:a="http://schemas.openxmlformats.org/drawingml/2006/main" noGrp="1"/>
          </p:cNvSpPr>
          <p:nvPr/>
        </p:nvSpPr>
        <p:spPr>
          <a:xfrm xmlns:a="http://schemas.openxmlformats.org/drawingml/2006/main">
            <a:off x="609600" y="4486275"/>
            <a:ext cx="10858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Recipe data and APIs. A new identity and wording.</a:t>
            </a:r>
          </a:p>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Mobile and TV behavior. Removal of movie-specific behavior.</a:t>
            </a:r>
          </a:p>
        </p:txBody>
      </p:sp>
      <p:sp>
        <p:nvSpPr>
          <p:cNvPr id="7" name="The full recipe PRD defines the scope.">
            <a:extLst xmlns:a="http://schemas.openxmlformats.org/drawingml/2006/main">
              <a:ext uri="{FF2B5EF4-FFF2-40B4-BE49-F238E27FC236}">
                <a16:creationId xmlns:a16="http://schemas.microsoft.com/office/drawing/2014/main" id="{0DD49FBE-A170-4C67-AD02-31CC1593E4E9}"/>
              </a:ext>
            </a:extLst>
          </p:cNvPr>
          <p:cNvSpPr>
            <a:spLocks xmlns:a="http://schemas.openxmlformats.org/drawingml/2006/main" noGrp="1"/>
          </p:cNvSpPr>
          <p:nvPr/>
        </p:nvSpPr>
        <p:spPr>
          <a:xfrm xmlns:a="http://schemas.openxmlformats.org/drawingml/2006/main">
            <a:off x="609600" y="59436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The full recipe PRD defines the scope.</a:t>
            </a:r>
          </a:p>
        </p:txBody>
      </p:sp>
    </p:spTree>
    <p:extLst>
      <p:ext uri="{BB962C8B-B14F-4D97-AF65-F5344CB8AC3E}">
        <p14:creationId xmlns:p14="http://schemas.microsoft.com/office/powerpoint/2010/main" val="8967597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Your engineering decisions">
            <a:extLst xmlns:a="http://schemas.openxmlformats.org/drawingml/2006/main">
              <a:ext uri="{FF2B5EF4-FFF2-40B4-BE49-F238E27FC236}">
                <a16:creationId xmlns:a16="http://schemas.microsoft.com/office/drawing/2014/main" id="{9BC1785D-1299-48B5-99CE-595FFE02D0DA}"/>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Your engineering decisions</a:t>
            </a:r>
          </a:p>
        </p:txBody>
      </p:sp>
      <p:sp>
        <p:nvSpPr>
          <p:cNvPr id="2" name="04">
            <a:extLst xmlns:a="http://schemas.openxmlformats.org/drawingml/2006/main">
              <a:ext uri="{FF2B5EF4-FFF2-40B4-BE49-F238E27FC236}">
                <a16:creationId xmlns:a16="http://schemas.microsoft.com/office/drawing/2014/main" id="{8DCF9203-F506-4FA3-950F-A1918318AB5E}"/>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04</a:t>
            </a:r>
          </a:p>
        </p:txBody>
      </p:sp>
      <p:sp>
        <p:nvSpPr>
          <p:cNvPr id="3" name="1">
            <a:extLst xmlns:a="http://schemas.openxmlformats.org/drawingml/2006/main">
              <a:ext uri="{FF2B5EF4-FFF2-40B4-BE49-F238E27FC236}">
                <a16:creationId xmlns:a16="http://schemas.microsoft.com/office/drawing/2014/main" id="{F2C28BE1-5394-4F7D-8DE9-BF20A5C117A2}"/>
              </a:ext>
            </a:extLst>
          </p:cNvPr>
          <p:cNvSpPr>
            <a:spLocks xmlns:a="http://schemas.openxmlformats.org/drawingml/2006/main" noGrp="1"/>
          </p:cNvSpPr>
          <p:nvPr/>
        </p:nvSpPr>
        <p:spPr>
          <a:xfrm xmlns:a="http://schemas.openxmlformats.org/drawingml/2006/main">
            <a:off x="609600" y="1771650"/>
            <a:ext cx="5429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6CA5"/>
                </a:solidFill>
                <a:latin typeface="Helvetica Neue"/>
                <a:ea typeface="Helvetica Neue"/>
                <a:cs typeface="Helvetica Neue"/>
              </a:defRPr>
            </a:pPr>
            <a:r>
              <a:rPr sz="2625" b="1">
                <a:solidFill>
                  <a:srgbClr val="006CA5"/>
                </a:solidFill>
                <a:latin typeface="Helvetica Neue"/>
                <a:ea typeface="Helvetica Neue"/>
                <a:cs typeface="Helvetica Neue"/>
              </a:rPr>
              <a:t>1</a:t>
            </a:r>
          </a:p>
        </p:txBody>
      </p:sp>
      <p:sp>
        <p:nvSpPr>
          <p:cNvPr id="4" name="Did the agents understand the requested product?">
            <a:extLst xmlns:a="http://schemas.openxmlformats.org/drawingml/2006/main">
              <a:ext uri="{FF2B5EF4-FFF2-40B4-BE49-F238E27FC236}">
                <a16:creationId xmlns:a16="http://schemas.microsoft.com/office/drawing/2014/main" id="{F7B8C2B9-641F-43D7-B534-104A1BC645F6}"/>
              </a:ext>
            </a:extLst>
          </p:cNvPr>
          <p:cNvSpPr>
            <a:spLocks xmlns:a="http://schemas.openxmlformats.org/drawingml/2006/main" noGrp="1"/>
          </p:cNvSpPr>
          <p:nvPr/>
        </p:nvSpPr>
        <p:spPr>
          <a:xfrm xmlns:a="http://schemas.openxmlformats.org/drawingml/2006/main">
            <a:off x="1343025" y="1771650"/>
            <a:ext cx="1007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Did the agents understand the requested product?</a:t>
            </a:r>
          </a:p>
        </p:txBody>
      </p:sp>
      <p:sp>
        <p:nvSpPr>
          <p:cNvPr id="5" name="2">
            <a:extLst xmlns:a="http://schemas.openxmlformats.org/drawingml/2006/main">
              <a:ext uri="{FF2B5EF4-FFF2-40B4-BE49-F238E27FC236}">
                <a16:creationId xmlns:a16="http://schemas.microsoft.com/office/drawing/2014/main" id="{384FDE34-0162-41AC-B8E9-43C4B2336D1E}"/>
              </a:ext>
            </a:extLst>
          </p:cNvPr>
          <p:cNvSpPr>
            <a:spLocks xmlns:a="http://schemas.openxmlformats.org/drawingml/2006/main" noGrp="1"/>
          </p:cNvSpPr>
          <p:nvPr/>
        </p:nvSpPr>
        <p:spPr>
          <a:xfrm xmlns:a="http://schemas.openxmlformats.org/drawingml/2006/main">
            <a:off x="609600" y="2714625"/>
            <a:ext cx="5429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6CA5"/>
                </a:solidFill>
                <a:latin typeface="Helvetica Neue"/>
                <a:ea typeface="Helvetica Neue"/>
                <a:cs typeface="Helvetica Neue"/>
              </a:defRPr>
            </a:pPr>
            <a:r>
              <a:rPr sz="2625" b="1">
                <a:solidFill>
                  <a:srgbClr val="006CA5"/>
                </a:solidFill>
                <a:latin typeface="Helvetica Neue"/>
                <a:ea typeface="Helvetica Neue"/>
                <a:cs typeface="Helvetica Neue"/>
              </a:rPr>
              <a:t>2</a:t>
            </a:r>
          </a:p>
        </p:txBody>
      </p:sp>
      <p:sp>
        <p:nvSpPr>
          <p:cNvPr id="6" name="Does their proposed plan make sense?">
            <a:extLst xmlns:a="http://schemas.openxmlformats.org/drawingml/2006/main">
              <a:ext uri="{FF2B5EF4-FFF2-40B4-BE49-F238E27FC236}">
                <a16:creationId xmlns:a16="http://schemas.microsoft.com/office/drawing/2014/main" id="{F41BB580-A0EC-4B03-8794-70F4D1AEC79B}"/>
              </a:ext>
            </a:extLst>
          </p:cNvPr>
          <p:cNvSpPr>
            <a:spLocks xmlns:a="http://schemas.openxmlformats.org/drawingml/2006/main" noGrp="1"/>
          </p:cNvSpPr>
          <p:nvPr/>
        </p:nvSpPr>
        <p:spPr>
          <a:xfrm xmlns:a="http://schemas.openxmlformats.org/drawingml/2006/main">
            <a:off x="1343025" y="2714625"/>
            <a:ext cx="1007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Does their proposed plan make sense?</a:t>
            </a:r>
          </a:p>
        </p:txBody>
      </p:sp>
      <p:sp>
        <p:nvSpPr>
          <p:cNvPr id="7" name="3">
            <a:extLst xmlns:a="http://schemas.openxmlformats.org/drawingml/2006/main">
              <a:ext uri="{FF2B5EF4-FFF2-40B4-BE49-F238E27FC236}">
                <a16:creationId xmlns:a16="http://schemas.microsoft.com/office/drawing/2014/main" id="{11CE2236-7424-483A-8CC2-1D42779F126B}"/>
              </a:ext>
            </a:extLst>
          </p:cNvPr>
          <p:cNvSpPr>
            <a:spLocks xmlns:a="http://schemas.openxmlformats.org/drawingml/2006/main" noGrp="1"/>
          </p:cNvSpPr>
          <p:nvPr/>
        </p:nvSpPr>
        <p:spPr>
          <a:xfrm xmlns:a="http://schemas.openxmlformats.org/drawingml/2006/main">
            <a:off x="609600" y="3657600"/>
            <a:ext cx="5429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6CA5"/>
                </a:solidFill>
                <a:latin typeface="Helvetica Neue"/>
                <a:ea typeface="Helvetica Neue"/>
                <a:cs typeface="Helvetica Neue"/>
              </a:defRPr>
            </a:pPr>
            <a:r>
              <a:rPr sz="2625" b="1">
                <a:solidFill>
                  <a:srgbClr val="006CA5"/>
                </a:solidFill>
                <a:latin typeface="Helvetica Neue"/>
                <a:ea typeface="Helvetica Neue"/>
                <a:cs typeface="Helvetica Neue"/>
              </a:rPr>
              <a:t>3</a:t>
            </a:r>
          </a:p>
        </p:txBody>
      </p:sp>
      <p:sp>
        <p:nvSpPr>
          <p:cNvPr id="8" name="Will the tests demonstrate the required behavior?">
            <a:extLst xmlns:a="http://schemas.openxmlformats.org/drawingml/2006/main">
              <a:ext uri="{FF2B5EF4-FFF2-40B4-BE49-F238E27FC236}">
                <a16:creationId xmlns:a16="http://schemas.microsoft.com/office/drawing/2014/main" id="{8A7D21A2-87D1-4044-8934-2AF9A4EF94EE}"/>
              </a:ext>
            </a:extLst>
          </p:cNvPr>
          <p:cNvSpPr>
            <a:spLocks xmlns:a="http://schemas.openxmlformats.org/drawingml/2006/main" noGrp="1"/>
          </p:cNvSpPr>
          <p:nvPr/>
        </p:nvSpPr>
        <p:spPr>
          <a:xfrm xmlns:a="http://schemas.openxmlformats.org/drawingml/2006/main">
            <a:off x="1343025" y="3657600"/>
            <a:ext cx="1007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Will the tests demonstrate the required behavior?</a:t>
            </a:r>
          </a:p>
        </p:txBody>
      </p:sp>
      <p:sp>
        <p:nvSpPr>
          <p:cNvPr id="9" name="4">
            <a:extLst xmlns:a="http://schemas.openxmlformats.org/drawingml/2006/main">
              <a:ext uri="{FF2B5EF4-FFF2-40B4-BE49-F238E27FC236}">
                <a16:creationId xmlns:a16="http://schemas.microsoft.com/office/drawing/2014/main" id="{9A655D36-DBE7-4F05-A6B4-226DFC026271}"/>
              </a:ext>
            </a:extLst>
          </p:cNvPr>
          <p:cNvSpPr>
            <a:spLocks xmlns:a="http://schemas.openxmlformats.org/drawingml/2006/main" noGrp="1"/>
          </p:cNvSpPr>
          <p:nvPr/>
        </p:nvSpPr>
        <p:spPr>
          <a:xfrm xmlns:a="http://schemas.openxmlformats.org/drawingml/2006/main">
            <a:off x="609600" y="4600575"/>
            <a:ext cx="5429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06CA5"/>
                </a:solidFill>
                <a:latin typeface="Helvetica Neue"/>
                <a:ea typeface="Helvetica Neue"/>
                <a:cs typeface="Helvetica Neue"/>
              </a:defRPr>
            </a:pPr>
            <a:r>
              <a:rPr sz="2625" b="1">
                <a:solidFill>
                  <a:srgbClr val="006CA5"/>
                </a:solidFill>
                <a:latin typeface="Helvetica Neue"/>
                <a:ea typeface="Helvetica Neue"/>
                <a:cs typeface="Helvetica Neue"/>
              </a:rPr>
              <a:t>4</a:t>
            </a:r>
          </a:p>
        </p:txBody>
      </p:sp>
      <p:sp>
        <p:nvSpPr>
          <p:cNvPr id="10" name="Does the finished change deserve to be merged?">
            <a:extLst xmlns:a="http://schemas.openxmlformats.org/drawingml/2006/main">
              <a:ext uri="{FF2B5EF4-FFF2-40B4-BE49-F238E27FC236}">
                <a16:creationId xmlns:a16="http://schemas.microsoft.com/office/drawing/2014/main" id="{9DF7064D-88DB-400B-8EC8-A3F919A20FB8}"/>
              </a:ext>
            </a:extLst>
          </p:cNvPr>
          <p:cNvSpPr>
            <a:spLocks xmlns:a="http://schemas.openxmlformats.org/drawingml/2006/main" noGrp="1"/>
          </p:cNvSpPr>
          <p:nvPr/>
        </p:nvSpPr>
        <p:spPr>
          <a:xfrm xmlns:a="http://schemas.openxmlformats.org/drawingml/2006/main">
            <a:off x="1343025" y="4600575"/>
            <a:ext cx="100774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Does the finished change deserve to be merged?</a:t>
            </a:r>
          </a:p>
        </p:txBody>
      </p:sp>
      <p:sp>
        <p:nvSpPr>
          <p:cNvPr id="11" name="Agents propose the work. You inspect it and accept or r">
            <a:extLst xmlns:a="http://schemas.openxmlformats.org/drawingml/2006/main">
              <a:ext uri="{FF2B5EF4-FFF2-40B4-BE49-F238E27FC236}">
                <a16:creationId xmlns:a16="http://schemas.microsoft.com/office/drawing/2014/main" id="{EBF8DFC3-5168-4971-8F3E-2A88E8117025}"/>
              </a:ext>
            </a:extLst>
          </p:cNvPr>
          <p:cNvSpPr>
            <a:spLocks xmlns:a="http://schemas.openxmlformats.org/drawingml/2006/main" noGrp="1"/>
          </p:cNvSpPr>
          <p:nvPr/>
        </p:nvSpPr>
        <p:spPr>
          <a:xfrm xmlns:a="http://schemas.openxmlformats.org/drawingml/2006/main">
            <a:off x="609600" y="5829300"/>
            <a:ext cx="10763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Agents propose the work. You inspect it and accept or request changes.</a:t>
            </a:r>
          </a:p>
        </p:txBody>
      </p:sp>
    </p:spTree>
    <p:extLst>
      <p:ext uri="{BB962C8B-B14F-4D97-AF65-F5344CB8AC3E}">
        <p14:creationId xmlns:p14="http://schemas.microsoft.com/office/powerpoint/2010/main" val="111711645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Where you will work">
            <a:extLst xmlns:a="http://schemas.openxmlformats.org/drawingml/2006/main">
              <a:ext uri="{FF2B5EF4-FFF2-40B4-BE49-F238E27FC236}">
                <a16:creationId xmlns:a16="http://schemas.microsoft.com/office/drawing/2014/main" id="{78E53F6D-41FE-4372-BF98-8D4CF3BA871C}"/>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Where you will work</a:t>
            </a:r>
          </a:p>
        </p:txBody>
      </p:sp>
      <p:sp>
        <p:nvSpPr>
          <p:cNvPr id="2" name="05">
            <a:extLst xmlns:a="http://schemas.openxmlformats.org/drawingml/2006/main">
              <a:ext uri="{FF2B5EF4-FFF2-40B4-BE49-F238E27FC236}">
                <a16:creationId xmlns:a16="http://schemas.microsoft.com/office/drawing/2014/main" id="{1AEB4DE1-763C-425A-AD2B-303FA8DE3C2A}"/>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05</a:t>
            </a:r>
          </a:p>
        </p:txBody>
      </p:sp>
      <p:graphicFrame>
        <p:nvGraphicFramePr>
          <p:cNvPr id="6" name=""/>
          <p:cNvGraphicFramePr/>
          <p:nvPr/>
        </p:nvGraphicFramePr>
        <p:xfrm>
          <a:off xmlns:a="http://schemas.openxmlformats.org/drawingml/2006/main" x="609600" y="1743075"/>
          <a:ext xmlns:a="http://schemas.openxmlformats.org/drawingml/2006/main" cx="10972800" cy="4000500"/>
        </p:xfrm>
        <a:graphic xmlns:a="http://schemas.openxmlformats.org/drawingml/2006/main">
          <a:graphicData uri="http://schemas.openxmlformats.org/drawingml/2006/table">
            <a:tbl>
              <a:tblPr/>
              <a:tblGrid>
                <a:gridCol w="3333750"/>
                <a:gridCol w="7639050"/>
              </a:tblGrid>
              <a:tr h="800100">
                <a:tc>
                  <a:txBody>
                    <a:bodyPr>
                      <a:noAutofit/>
                    </a:bodyPr>
                    <a:lstStyle/>
                    <a:p>
                      <a:r>
                        <a:rPr sz="2100" b="1">
                          <a:solidFill>
                            <a:srgbClr val="006CA5"/>
                          </a:solidFill>
                          <a:latin typeface="Helvetica Neue"/>
                          <a:ea typeface="Helvetica Neue"/>
                          <a:cs typeface="Helvetica Neue"/>
                        </a:rPr>
                        <a:t>Place</a:t>
                      </a:r>
                    </a:p>
                  </a:txBody>
                  <a:tcPr marL="152400" marR="133350" marT="114300" marB="95250" anchor="ctr">
                    <a:solidFill>
                      <a:srgbClr val="EAF3F8"/>
                    </a:solidFill>
                  </a:tcPr>
                </a:tc>
                <a:tc>
                  <a:txBody>
                    <a:bodyPr>
                      <a:noAutofit/>
                    </a:bodyPr>
                    <a:lstStyle/>
                    <a:p>
                      <a:r>
                        <a:rPr sz="2100" b="1">
                          <a:solidFill>
                            <a:srgbClr val="006CA5"/>
                          </a:solidFill>
                          <a:latin typeface="Helvetica Neue"/>
                          <a:ea typeface="Helvetica Neue"/>
                          <a:cs typeface="Helvetica Neue"/>
                        </a:rPr>
                        <a:t>Purpose</a:t>
                      </a:r>
                    </a:p>
                  </a:txBody>
                  <a:tcPr marL="152400" marR="133350" marT="114300" marB="95250" anchor="ctr">
                    <a:solidFill>
                      <a:srgbClr val="EAF3F8"/>
                    </a:solidFill>
                  </a:tcPr>
                </a:tc>
              </a:tr>
              <a:tr h="800100">
                <a:tc>
                  <a:txBody>
                    <a:bodyPr>
                      <a:noAutofit/>
                    </a:bodyPr>
                    <a:lstStyle/>
                    <a:p>
                      <a:r>
                        <a:rPr sz="2100" b="0">
                          <a:solidFill>
                            <a:srgbClr val="152A3A"/>
                          </a:solidFill>
                          <a:latin typeface="Helvetica Neue"/>
                          <a:ea typeface="Helvetica Neue"/>
                          <a:cs typeface="Helvetica Neue"/>
                        </a:rPr>
                        <a:t>Workshop website</a:t>
                      </a:r>
                    </a:p>
                  </a:txBody>
                  <a:tcPr marL="152400" marR="133350" marT="114300" marB="95250" anchor="ctr">
                    <a:solidFill>
                      <a:srgbClr val="FFFFFF"/>
                    </a:solidFill>
                  </a:tcPr>
                </a:tc>
                <a:tc>
                  <a:txBody>
                    <a:bodyPr>
                      <a:noAutofit/>
                    </a:bodyPr>
                    <a:lstStyle/>
                    <a:p>
                      <a:r>
                        <a:rPr sz="2100" b="0">
                          <a:solidFill>
                            <a:srgbClr val="152A3A"/>
                          </a:solidFill>
                          <a:latin typeface="Helvetica Neue"/>
                          <a:ea typeface="Helvetica Neue"/>
                          <a:cs typeface="Helvetica Neue"/>
                        </a:rPr>
                        <a:t>Follow the instructions for each step.</a:t>
                      </a:r>
                    </a:p>
                  </a:txBody>
                  <a:tcPr marL="152400" marR="133350" marT="114300" marB="95250" anchor="ctr">
                    <a:solidFill>
                      <a:srgbClr val="FFFFFF"/>
                    </a:solidFill>
                  </a:tcPr>
                </a:tc>
              </a:tr>
              <a:tr h="800100">
                <a:tc>
                  <a:txBody>
                    <a:bodyPr>
                      <a:noAutofit/>
                    </a:bodyPr>
                    <a:lstStyle/>
                    <a:p>
                      <a:r>
                        <a:rPr sz="2100" b="0">
                          <a:solidFill>
                            <a:srgbClr val="152A3A"/>
                          </a:solidFill>
                          <a:latin typeface="Helvetica Neue"/>
                          <a:ea typeface="Helvetica Neue"/>
                          <a:cs typeface="Helvetica Neue"/>
                        </a:rPr>
                        <a:t>Control Center</a:t>
                      </a:r>
                    </a:p>
                  </a:txBody>
                  <a:tcPr marL="152400" marR="133350" marT="114300" marB="95250" anchor="ctr">
                    <a:solidFill>
                      <a:srgbClr val="FFFFFF"/>
                    </a:solidFill>
                  </a:tcPr>
                </a:tc>
                <a:tc>
                  <a:txBody>
                    <a:bodyPr>
                      <a:noAutofit/>
                    </a:bodyPr>
                    <a:lstStyle/>
                    <a:p>
                      <a:r>
                        <a:rPr sz="2100" b="0">
                          <a:solidFill>
                            <a:srgbClr val="152A3A"/>
                          </a:solidFill>
                          <a:latin typeface="Helvetica Neue"/>
                          <a:ea typeface="Helvetica Neue"/>
                          <a:cs typeface="Helvetica Neue"/>
                        </a:rPr>
                        <a:t>Start work, inspect results and make decisions.</a:t>
                      </a:r>
                    </a:p>
                  </a:txBody>
                  <a:tcPr marL="152400" marR="133350" marT="114300" marB="95250" anchor="ctr">
                    <a:solidFill>
                      <a:srgbClr val="FFFFFF"/>
                    </a:solidFill>
                  </a:tcPr>
                </a:tc>
              </a:tr>
              <a:tr h="800100">
                <a:tc>
                  <a:txBody>
                    <a:bodyPr>
                      <a:noAutofit/>
                    </a:bodyPr>
                    <a:lstStyle/>
                    <a:p>
                      <a:r>
                        <a:rPr sz="2100" b="0">
                          <a:solidFill>
                            <a:srgbClr val="152A3A"/>
                          </a:solidFill>
                          <a:latin typeface="Helvetica Neue"/>
                          <a:ea typeface="Helvetica Neue"/>
                          <a:cs typeface="Helvetica Neue"/>
                        </a:rPr>
                        <a:t>Your GitHub repository</a:t>
                      </a:r>
                    </a:p>
                  </a:txBody>
                  <a:tcPr marL="152400" marR="133350" marT="114300" marB="95250" anchor="ctr">
                    <a:solidFill>
                      <a:srgbClr val="FFFFFF"/>
                    </a:solidFill>
                  </a:tcPr>
                </a:tc>
                <a:tc>
                  <a:txBody>
                    <a:bodyPr>
                      <a:noAutofit/>
                    </a:bodyPr>
                    <a:lstStyle/>
                    <a:p>
                      <a:r>
                        <a:rPr sz="2100" b="0">
                          <a:solidFill>
                            <a:srgbClr val="152A3A"/>
                          </a:solidFill>
                          <a:latin typeface="Helvetica Neue"/>
                          <a:ea typeface="Helvetica Neue"/>
                          <a:cs typeface="Helvetica Neue"/>
                        </a:rPr>
                        <a:t>Keep the product code and pull requests.</a:t>
                      </a:r>
                    </a:p>
                  </a:txBody>
                  <a:tcPr marL="152400" marR="133350" marT="114300" marB="95250" anchor="ctr">
                    <a:solidFill>
                      <a:srgbClr val="FFFFFF"/>
                    </a:solidFill>
                  </a:tcPr>
                </a:tc>
              </a:tr>
              <a:tr h="800100">
                <a:tc>
                  <a:txBody>
                    <a:bodyPr>
                      <a:noAutofit/>
                    </a:bodyPr>
                    <a:lstStyle/>
                    <a:p>
                      <a:r>
                        <a:rPr sz="2100" b="0">
                          <a:solidFill>
                            <a:srgbClr val="152A3A"/>
                          </a:solidFill>
                          <a:latin typeface="Helvetica Neue"/>
                          <a:ea typeface="Helvetica Neue"/>
                          <a:cs typeface="Helvetica Neue"/>
                        </a:rPr>
                        <a:t>GitHub Projects</a:t>
                      </a:r>
                    </a:p>
                  </a:txBody>
                  <a:tcPr marL="152400" marR="133350" marT="114300" marB="95250" anchor="ctr">
                    <a:solidFill>
                      <a:srgbClr val="FFFFFF"/>
                    </a:solidFill>
                  </a:tcPr>
                </a:tc>
                <a:tc>
                  <a:txBody>
                    <a:bodyPr>
                      <a:noAutofit/>
                    </a:bodyPr>
                    <a:lstStyle/>
                    <a:p>
                      <a:r>
                        <a:rPr sz="2100" b="0">
                          <a:solidFill>
                            <a:srgbClr val="152A3A"/>
                          </a:solidFill>
                          <a:latin typeface="Helvetica Neue"/>
                          <a:ea typeface="Helvetica Neue"/>
                          <a:cs typeface="Helvetica Neue"/>
                        </a:rPr>
                        <a:t>See the tickets and their status.</a:t>
                      </a:r>
                    </a:p>
                  </a:txBody>
                  <a:tcPr marL="152400" marR="133350" marT="114300" marB="95250" anchor="ctr">
                    <a:solidFill>
                      <a:srgbClr val="FFFFFF"/>
                    </a:solidFill>
                  </a:tcPr>
                </a:tc>
              </a:tr>
            </a:tbl>
          </a:graphicData>
        </a:graphic>
      </p:graphicFrame>
    </p:spTree>
    <p:extLst>
      <p:ext uri="{BB962C8B-B14F-4D97-AF65-F5344CB8AC3E}">
        <p14:creationId xmlns:p14="http://schemas.microsoft.com/office/powerpoint/2010/main" val="5630268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What product completion means">
            <a:extLst xmlns:a="http://schemas.openxmlformats.org/drawingml/2006/main">
              <a:ext uri="{FF2B5EF4-FFF2-40B4-BE49-F238E27FC236}">
                <a16:creationId xmlns:a16="http://schemas.microsoft.com/office/drawing/2014/main" id="{F3B5E35E-1708-4104-B8E4-9853D5F94CD8}"/>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What product completion means</a:t>
            </a:r>
          </a:p>
        </p:txBody>
      </p:sp>
      <p:sp>
        <p:nvSpPr>
          <p:cNvPr id="2" name="06">
            <a:extLst xmlns:a="http://schemas.openxmlformats.org/drawingml/2006/main">
              <a:ext uri="{FF2B5EF4-FFF2-40B4-BE49-F238E27FC236}">
                <a16:creationId xmlns:a16="http://schemas.microsoft.com/office/drawing/2014/main" id="{522E7DD6-60F1-4024-93D7-AA3CC0731FBE}"/>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06</a:t>
            </a:r>
          </a:p>
        </p:txBody>
      </p:sp>
      <p:sp>
        <p:nvSpPr>
          <p:cNvPr id="3" name="You can demonstrate TableStory&#10;from your merged code.">
            <a:extLst xmlns:a="http://schemas.openxmlformats.org/drawingml/2006/main">
              <a:ext uri="{FF2B5EF4-FFF2-40B4-BE49-F238E27FC236}">
                <a16:creationId xmlns:a16="http://schemas.microsoft.com/office/drawing/2014/main" id="{D592A27A-8C21-479A-973E-43AB78D580C3}"/>
              </a:ext>
            </a:extLst>
          </p:cNvPr>
          <p:cNvSpPr>
            <a:spLocks xmlns:a="http://schemas.openxmlformats.org/drawingml/2006/main" noGrp="1"/>
          </p:cNvSpPr>
          <p:nvPr/>
        </p:nvSpPr>
        <p:spPr>
          <a:xfrm xmlns:a="http://schemas.openxmlformats.org/drawingml/2006/main">
            <a:off x="609600" y="180975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006CA5"/>
                </a:solidFill>
                <a:latin typeface="Helvetica Neue"/>
                <a:ea typeface="Helvetica Neue"/>
                <a:cs typeface="Helvetica Neue"/>
              </a:defRPr>
            </a:pPr>
            <a:r>
              <a:rPr sz="3675" b="1">
                <a:solidFill>
                  <a:srgbClr val="006CA5"/>
                </a:solidFill>
                <a:latin typeface="Helvetica Neue"/>
                <a:ea typeface="Helvetica Neue"/>
                <a:cs typeface="Helvetica Neue"/>
              </a:rPr>
              <a:t>You can demonstrate TableStory</a:t>
            </a:r>
          </a:p>
          <a:p xmlns:a="http://schemas.openxmlformats.org/drawingml/2006/main">
            <a:pPr>
              <a:defRPr sz="3675" b="1">
                <a:solidFill>
                  <a:srgbClr val="006CA5"/>
                </a:solidFill>
                <a:latin typeface="Helvetica Neue"/>
                <a:ea typeface="Helvetica Neue"/>
                <a:cs typeface="Helvetica Neue"/>
              </a:defRPr>
            </a:pPr>
            <a:r>
              <a:rPr sz="3675" b="1">
                <a:solidFill>
                  <a:srgbClr val="006CA5"/>
                </a:solidFill>
                <a:latin typeface="Helvetica Neue"/>
                <a:ea typeface="Helvetica Neue"/>
                <a:cs typeface="Helvetica Neue"/>
              </a:rPr>
              <a:t>from your merged code.</a:t>
            </a:r>
          </a:p>
        </p:txBody>
      </p:sp>
      <p:sp>
        <p:nvSpPr>
          <p:cNvPr id="4" name="The recipe journeys work.&#10;The complete approved scope p">
            <a:extLst xmlns:a="http://schemas.openxmlformats.org/drawingml/2006/main">
              <a:ext uri="{FF2B5EF4-FFF2-40B4-BE49-F238E27FC236}">
                <a16:creationId xmlns:a16="http://schemas.microsoft.com/office/drawing/2014/main" id="{99797059-C4C1-4C27-9F4D-8F22082550B0}"/>
              </a:ext>
            </a:extLst>
          </p:cNvPr>
          <p:cNvSpPr>
            <a:spLocks xmlns:a="http://schemas.openxmlformats.org/drawingml/2006/main" noGrp="1"/>
          </p:cNvSpPr>
          <p:nvPr/>
        </p:nvSpPr>
        <p:spPr>
          <a:xfrm xmlns:a="http://schemas.openxmlformats.org/drawingml/2006/main">
            <a:off x="609600" y="3714750"/>
            <a:ext cx="109728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52A3A"/>
                </a:solidFill>
                <a:latin typeface="Helvetica Neue"/>
                <a:ea typeface="Helvetica Neue"/>
                <a:cs typeface="Helvetica Neue"/>
              </a:defRPr>
            </a:pPr>
            <a:r>
              <a:rPr sz="2625" b="0">
                <a:solidFill>
                  <a:srgbClr val="152A3A"/>
                </a:solidFill>
                <a:latin typeface="Helvetica Neue"/>
                <a:ea typeface="Helvetica Neue"/>
                <a:cs typeface="Helvetica Neue"/>
              </a:rPr>
              <a:t>The recipe journeys work.</a:t>
            </a:r>
          </a:p>
          <a:p xmlns:a="http://schemas.openxmlformats.org/drawingml/2006/main">
            <a:pPr>
              <a:defRPr sz="2625" b="0">
                <a:solidFill>
                  <a:srgbClr val="152A3A"/>
                </a:solidFill>
                <a:latin typeface="Helvetica Neue"/>
                <a:ea typeface="Helvetica Neue"/>
                <a:cs typeface="Helvetica Neue"/>
              </a:defRPr>
            </a:pPr>
            <a:r>
              <a:rPr sz="2625" b="0">
                <a:solidFill>
                  <a:srgbClr val="152A3A"/>
                </a:solidFill>
                <a:latin typeface="Helvetica Neue"/>
                <a:ea typeface="Helvetica Neue"/>
                <a:cs typeface="Helvetica Neue"/>
              </a:rPr>
              <a:t>The complete approved scope passes its acceptance checks.</a:t>
            </a:r>
          </a:p>
        </p:txBody>
      </p:sp>
      <p:sp>
        <p:nvSpPr>
          <p:cNvPr id="5" name="Save the run evidence and identify the version you veri">
            <a:extLst xmlns:a="http://schemas.openxmlformats.org/drawingml/2006/main">
              <a:ext uri="{FF2B5EF4-FFF2-40B4-BE49-F238E27FC236}">
                <a16:creationId xmlns:a16="http://schemas.microsoft.com/office/drawing/2014/main" id="{55957242-7B9B-4AD1-878C-AE42573C0384}"/>
              </a:ext>
            </a:extLst>
          </p:cNvPr>
          <p:cNvSpPr>
            <a:spLocks xmlns:a="http://schemas.openxmlformats.org/drawingml/2006/main" noGrp="1"/>
          </p:cNvSpPr>
          <p:nvPr/>
        </p:nvSpPr>
        <p:spPr>
          <a:xfrm xmlns:a="http://schemas.openxmlformats.org/drawingml/2006/main">
            <a:off x="609600" y="5534025"/>
            <a:ext cx="10763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Save the run evidence and identify the version you verified.</a:t>
            </a:r>
          </a:p>
        </p:txBody>
      </p:sp>
    </p:spTree>
    <p:extLst>
      <p:ext uri="{BB962C8B-B14F-4D97-AF65-F5344CB8AC3E}">
        <p14:creationId xmlns:p14="http://schemas.microsoft.com/office/powerpoint/2010/main" val="206803639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What you should leave knowing">
            <a:extLst xmlns:a="http://schemas.openxmlformats.org/drawingml/2006/main">
              <a:ext uri="{FF2B5EF4-FFF2-40B4-BE49-F238E27FC236}">
                <a16:creationId xmlns:a16="http://schemas.microsoft.com/office/drawing/2014/main" id="{47C063B1-7258-42FD-8442-09455FD8676E}"/>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What you should leave knowing</a:t>
            </a:r>
          </a:p>
        </p:txBody>
      </p:sp>
      <p:sp>
        <p:nvSpPr>
          <p:cNvPr id="2" name="07">
            <a:extLst xmlns:a="http://schemas.openxmlformats.org/drawingml/2006/main">
              <a:ext uri="{FF2B5EF4-FFF2-40B4-BE49-F238E27FC236}">
                <a16:creationId xmlns:a16="http://schemas.microsoft.com/office/drawing/2014/main" id="{B010FFE5-6E96-4913-8D58-E94AD98DD361}"/>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07</a:t>
            </a:r>
          </a:p>
        </p:txBody>
      </p:sp>
      <p:sp>
        <p:nvSpPr>
          <p:cNvPr id="3" name="What evidence to demand.&#10;How to investigate a failure.&#10;">
            <a:extLst xmlns:a="http://schemas.openxmlformats.org/drawingml/2006/main">
              <a:ext uri="{FF2B5EF4-FFF2-40B4-BE49-F238E27FC236}">
                <a16:creationId xmlns:a16="http://schemas.microsoft.com/office/drawing/2014/main" id="{CED1E894-557D-4D65-BB51-11BBFE1DB896}"/>
              </a:ext>
            </a:extLst>
          </p:cNvPr>
          <p:cNvSpPr>
            <a:spLocks xmlns:a="http://schemas.openxmlformats.org/drawingml/2006/main" noGrp="1"/>
          </p:cNvSpPr>
          <p:nvPr/>
        </p:nvSpPr>
        <p:spPr>
          <a:xfrm xmlns:a="http://schemas.openxmlformats.org/drawingml/2006/main">
            <a:off x="609600" y="1800225"/>
            <a:ext cx="108585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6CA5"/>
                </a:solidFill>
                <a:latin typeface="Helvetica Neue"/>
                <a:ea typeface="Helvetica Neue"/>
                <a:cs typeface="Helvetica Neue"/>
              </a:defRPr>
            </a:pPr>
            <a:r>
              <a:rPr sz="3225" b="1">
                <a:solidFill>
                  <a:srgbClr val="006CA5"/>
                </a:solidFill>
                <a:latin typeface="Helvetica Neue"/>
                <a:ea typeface="Helvetica Neue"/>
                <a:cs typeface="Helvetica Neue"/>
              </a:rPr>
              <a:t>What evidence to demand.</a:t>
            </a:r>
          </a:p>
          <a:p xmlns:a="http://schemas.openxmlformats.org/drawingml/2006/main">
            <a:pPr>
              <a:defRPr sz="3225" b="1">
                <a:solidFill>
                  <a:srgbClr val="006CA5"/>
                </a:solidFill>
                <a:latin typeface="Helvetica Neue"/>
                <a:ea typeface="Helvetica Neue"/>
                <a:cs typeface="Helvetica Neue"/>
              </a:defRPr>
            </a:pPr>
            <a:r>
              <a:rPr sz="3225" b="1">
                <a:solidFill>
                  <a:srgbClr val="006CA5"/>
                </a:solidFill>
                <a:latin typeface="Helvetica Neue"/>
                <a:ea typeface="Helvetica Neue"/>
                <a:cs typeface="Helvetica Neue"/>
              </a:rPr>
              <a:t>How to investigate a failure.</a:t>
            </a:r>
          </a:p>
          <a:p xmlns:a="http://schemas.openxmlformats.org/drawingml/2006/main">
            <a:pPr>
              <a:defRPr sz="3225" b="1">
                <a:solidFill>
                  <a:srgbClr val="006CA5"/>
                </a:solidFill>
                <a:latin typeface="Helvetica Neue"/>
                <a:ea typeface="Helvetica Neue"/>
                <a:cs typeface="Helvetica Neue"/>
              </a:defRPr>
            </a:pPr>
            <a:r>
              <a:rPr sz="3225" b="1">
                <a:solidFill>
                  <a:srgbClr val="006CA5"/>
                </a:solidFill>
                <a:latin typeface="Helvetica Neue"/>
                <a:ea typeface="Helvetica Neue"/>
                <a:cs typeface="Helvetica Neue"/>
              </a:rPr>
              <a:t>What to try with your own team.</a:t>
            </a:r>
          </a:p>
        </p:txBody>
      </p:sp>
      <p:sp>
        <p:nvSpPr>
          <p:cNvPr id="4" name="If your Live run is unfinished, record what remains&#10;and">
            <a:extLst xmlns:a="http://schemas.openxmlformats.org/drawingml/2006/main">
              <a:ext uri="{FF2B5EF4-FFF2-40B4-BE49-F238E27FC236}">
                <a16:creationId xmlns:a16="http://schemas.microsoft.com/office/drawing/2014/main" id="{3A2F4BD3-7AE1-4EE6-8A7C-5894015A2CAB}"/>
              </a:ext>
            </a:extLst>
          </p:cNvPr>
          <p:cNvSpPr>
            <a:spLocks xmlns:a="http://schemas.openxmlformats.org/drawingml/2006/main" noGrp="1"/>
          </p:cNvSpPr>
          <p:nvPr/>
        </p:nvSpPr>
        <p:spPr>
          <a:xfrm xmlns:a="http://schemas.openxmlformats.org/drawingml/2006/main">
            <a:off x="609600" y="4800600"/>
            <a:ext cx="10763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If your Live run is unfinished, record what remains</a:t>
            </a:r>
          </a:p>
          <a:p xmlns:a="http://schemas.openxmlformats.org/drawingml/2006/main">
            <a:pPr>
              <a:defRPr sz="2400" b="0">
                <a:solidFill>
                  <a:srgbClr val="152A3A"/>
                </a:solidFill>
                <a:latin typeface="Helvetica Neue"/>
                <a:ea typeface="Helvetica Neue"/>
                <a:cs typeface="Helvetica Neue"/>
              </a:defRPr>
            </a:pPr>
            <a:r>
              <a:rPr sz="2400" b="0">
                <a:solidFill>
                  <a:srgbClr val="152A3A"/>
                </a:solidFill>
                <a:latin typeface="Helvetica Neue"/>
                <a:ea typeface="Helvetica Neue"/>
                <a:cs typeface="Helvetica Neue"/>
              </a:rPr>
              <a:t>and the next action needed to resume.</a:t>
            </a:r>
          </a:p>
        </p:txBody>
      </p:sp>
    </p:spTree>
    <p:extLst>
      <p:ext uri="{BB962C8B-B14F-4D97-AF65-F5344CB8AC3E}">
        <p14:creationId xmlns:p14="http://schemas.microsoft.com/office/powerpoint/2010/main" val="10800509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Your understanding of the assignment">
            <a:extLst xmlns:a="http://schemas.openxmlformats.org/drawingml/2006/main">
              <a:ext uri="{FF2B5EF4-FFF2-40B4-BE49-F238E27FC236}">
                <a16:creationId xmlns:a16="http://schemas.microsoft.com/office/drawing/2014/main" id="{9DA5F09A-F929-4743-AAF9-673A4A583C2F}"/>
              </a:ext>
            </a:extLst>
          </p:cNvPr>
          <p:cNvSpPr>
            <a:spLocks xmlns:a="http://schemas.openxmlformats.org/drawingml/2006/main" noGrp="1"/>
          </p:cNvSpPr>
          <p:nvPr/>
        </p:nvSpPr>
        <p:spPr>
          <a:xfrm xmlns:a="http://schemas.openxmlformats.org/drawingml/2006/main">
            <a:off x="609600" y="4572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52A3A"/>
                </a:solidFill>
                <a:latin typeface="Helvetica Neue"/>
                <a:ea typeface="Helvetica Neue"/>
                <a:cs typeface="Helvetica Neue"/>
              </a:defRPr>
            </a:pPr>
            <a:r>
              <a:rPr sz="3450" b="1">
                <a:solidFill>
                  <a:srgbClr val="152A3A"/>
                </a:solidFill>
                <a:latin typeface="Helvetica Neue"/>
                <a:ea typeface="Helvetica Neue"/>
                <a:cs typeface="Helvetica Neue"/>
              </a:rPr>
              <a:t>Your understanding of the assignment</a:t>
            </a:r>
          </a:p>
        </p:txBody>
      </p:sp>
      <p:sp>
        <p:nvSpPr>
          <p:cNvPr id="2" name="08">
            <a:extLst xmlns:a="http://schemas.openxmlformats.org/drawingml/2006/main">
              <a:ext uri="{FF2B5EF4-FFF2-40B4-BE49-F238E27FC236}">
                <a16:creationId xmlns:a16="http://schemas.microsoft.com/office/drawing/2014/main" id="{0577909E-96F8-4ACD-B7E2-AD39A62DD66A}"/>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08</a:t>
            </a:r>
          </a:p>
        </p:txBody>
      </p:sp>
      <p:sp>
        <p:nvSpPr>
          <p:cNvPr id="3" name="What are you delivering?">
            <a:extLst xmlns:a="http://schemas.openxmlformats.org/drawingml/2006/main">
              <a:ext uri="{FF2B5EF4-FFF2-40B4-BE49-F238E27FC236}">
                <a16:creationId xmlns:a16="http://schemas.microsoft.com/office/drawing/2014/main" id="{76ABD7A0-26AA-43B8-9AD5-98C1D84C9B5A}"/>
              </a:ext>
            </a:extLst>
          </p:cNvPr>
          <p:cNvSpPr>
            <a:spLocks xmlns:a="http://schemas.openxmlformats.org/drawingml/2006/main" noGrp="1"/>
          </p:cNvSpPr>
          <p:nvPr/>
        </p:nvSpPr>
        <p:spPr>
          <a:xfrm xmlns:a="http://schemas.openxmlformats.org/drawingml/2006/main">
            <a:off x="609600" y="1962150"/>
            <a:ext cx="10906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006CA5"/>
                </a:solidFill>
                <a:latin typeface="Helvetica Neue"/>
                <a:ea typeface="Helvetica Neue"/>
                <a:cs typeface="Helvetica Neue"/>
              </a:defRPr>
            </a:pPr>
            <a:r>
              <a:rPr sz="3675" b="1">
                <a:solidFill>
                  <a:srgbClr val="006CA5"/>
                </a:solidFill>
                <a:latin typeface="Helvetica Neue"/>
                <a:ea typeface="Helvetica Neue"/>
                <a:cs typeface="Helvetica Neue"/>
              </a:rPr>
              <a:t>What are you delivering?</a:t>
            </a:r>
          </a:p>
        </p:txBody>
      </p:sp>
      <p:sp>
        <p:nvSpPr>
          <p:cNvPr id="4" name="What are you responsible for checking?">
            <a:extLst xmlns:a="http://schemas.openxmlformats.org/drawingml/2006/main">
              <a:ext uri="{FF2B5EF4-FFF2-40B4-BE49-F238E27FC236}">
                <a16:creationId xmlns:a16="http://schemas.microsoft.com/office/drawing/2014/main" id="{5F7D3735-5198-434C-BD49-EF8262C4B412}"/>
              </a:ext>
            </a:extLst>
          </p:cNvPr>
          <p:cNvSpPr>
            <a:spLocks xmlns:a="http://schemas.openxmlformats.org/drawingml/2006/main" noGrp="1"/>
          </p:cNvSpPr>
          <p:nvPr/>
        </p:nvSpPr>
        <p:spPr>
          <a:xfrm xmlns:a="http://schemas.openxmlformats.org/drawingml/2006/main">
            <a:off x="609600" y="3400425"/>
            <a:ext cx="1090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52A3A"/>
                </a:solidFill>
                <a:latin typeface="Helvetica Neue"/>
                <a:ea typeface="Helvetica Neue"/>
                <a:cs typeface="Helvetica Neue"/>
              </a:defRPr>
            </a:pPr>
            <a:r>
              <a:rPr sz="3375" b="1">
                <a:solidFill>
                  <a:srgbClr val="152A3A"/>
                </a:solidFill>
                <a:latin typeface="Helvetica Neue"/>
                <a:ea typeface="Helvetica Neue"/>
                <a:cs typeface="Helvetica Neue"/>
              </a:rPr>
              <a:t>What are you responsible for checking?</a:t>
            </a:r>
          </a:p>
        </p:txBody>
      </p:sp>
      <p:sp>
        <p:nvSpPr>
          <p:cNvPr id="5" name="Next: connect your own repository in the Control Center">
            <a:extLst xmlns:a="http://schemas.openxmlformats.org/drawingml/2006/main">
              <a:ext uri="{FF2B5EF4-FFF2-40B4-BE49-F238E27FC236}">
                <a16:creationId xmlns:a16="http://schemas.microsoft.com/office/drawing/2014/main" id="{6B89989A-5D68-4BF2-869A-44099E5264B3}"/>
              </a:ext>
            </a:extLst>
          </p:cNvPr>
          <p:cNvSpPr>
            <a:spLocks xmlns:a="http://schemas.openxmlformats.org/drawingml/2006/main" noGrp="1"/>
          </p:cNvSpPr>
          <p:nvPr/>
        </p:nvSpPr>
        <p:spPr>
          <a:xfrm xmlns:a="http://schemas.openxmlformats.org/drawingml/2006/main">
            <a:off x="609600" y="563880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Next: connect your own repository in the Control Center.</a:t>
            </a:r>
          </a:p>
        </p:txBody>
      </p:sp>
    </p:spTree>
    <p:extLst>
      <p:ext uri="{BB962C8B-B14F-4D97-AF65-F5344CB8AC3E}">
        <p14:creationId xmlns:p14="http://schemas.microsoft.com/office/powerpoint/2010/main" val="15730144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2026-09-14T11:17:19.3650000Z</dcterms:created>
  <dcterms:modified xsi:type="dcterms:W3CDTF">2026-09-14T11:17:19.3650000Z</dcterms:modified>
</coreProperties>
</file>