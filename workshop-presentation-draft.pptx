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f1fb4a9202446c" /><Relationship Type="http://schemas.openxmlformats.org/officeDocument/2006/relationships/extended-properties" Target="/docProps/app.xml" Id="R944c72e9e37f4570" /><Relationship Type="http://schemas.openxmlformats.org/officeDocument/2006/relationships/officeDocument" Target="/ppt/presentation.xml" Id="Re547ba33ef0d4e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668e49953c4708"/>
  </p:sldMasterIdLst>
  <p:notesMasterIdLst>
    <p:notesMasterId xmlns:r="http://schemas.openxmlformats.org/officeDocument/2006/relationships" r:id="Ra176f37673b04ccb"/>
  </p:notesMasterIdLst>
  <p:sldIdLst>
    <p:sldId xmlns:r="http://schemas.openxmlformats.org/officeDocument/2006/relationships" id="256" r:id="R4e8f9b3fa5e54570"/>
    <p:sldId xmlns:r="http://schemas.openxmlformats.org/officeDocument/2006/relationships" id="257" r:id="R74b7af10f1e44ae4"/>
    <p:sldId xmlns:r="http://schemas.openxmlformats.org/officeDocument/2006/relationships" id="258" r:id="R11be39466fa74aa4"/>
    <p:sldId xmlns:r="http://schemas.openxmlformats.org/officeDocument/2006/relationships" id="259" r:id="R3f40deca42944513"/>
    <p:sldId xmlns:r="http://schemas.openxmlformats.org/officeDocument/2006/relationships" id="260" r:id="R2d5f648aaa0e4469"/>
    <p:sldId xmlns:r="http://schemas.openxmlformats.org/officeDocument/2006/relationships" id="261" r:id="R1379a8f57b5c46b7"/>
    <p:sldId xmlns:r="http://schemas.openxmlformats.org/officeDocument/2006/relationships" id="262" r:id="R086a1860314d4d1e"/>
    <p:sldId xmlns:r="http://schemas.openxmlformats.org/officeDocument/2006/relationships" id="263" r:id="Ra4d908cc8b15454b"/>
    <p:sldId xmlns:r="http://schemas.openxmlformats.org/officeDocument/2006/relationships" id="264" r:id="R93ca1b9486324f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b1ba209d1d4540" /><Relationship Type="http://schemas.openxmlformats.org/officeDocument/2006/relationships/slideMaster" Target="/ppt/slideMasters/slideMaster1.xml" Id="R08668e49953c4708" /><Relationship Type="http://schemas.openxmlformats.org/officeDocument/2006/relationships/notesMaster" Target="/ppt/notesMasters/notesMaster1.xml" Id="Ra176f37673b04ccb" /><Relationship Type="http://schemas.openxmlformats.org/officeDocument/2006/relationships/presProps" Target="/ppt/presProps.xml" Id="R228eb679ce2440c7" /><Relationship Type="http://schemas.openxmlformats.org/officeDocument/2006/relationships/tableStyles" Target="/ppt/tableStyles.xml" Id="Rdb7c4025eb3248bf" /><Relationship Type="http://schemas.openxmlformats.org/officeDocument/2006/relationships/slide" Target="/ppt/slides/slide1.xml" Id="R4e8f9b3fa5e54570" /><Relationship Type="http://schemas.openxmlformats.org/officeDocument/2006/relationships/slide" Target="/ppt/slides/slide2.xml" Id="R74b7af10f1e44ae4" /><Relationship Type="http://schemas.openxmlformats.org/officeDocument/2006/relationships/slide" Target="/ppt/slides/slide3.xml" Id="R11be39466fa74aa4" /><Relationship Type="http://schemas.openxmlformats.org/officeDocument/2006/relationships/slide" Target="/ppt/slides/slide4.xml" Id="R3f40deca42944513" /><Relationship Type="http://schemas.openxmlformats.org/officeDocument/2006/relationships/slide" Target="/ppt/slides/slide5.xml" Id="R2d5f648aaa0e4469" /><Relationship Type="http://schemas.openxmlformats.org/officeDocument/2006/relationships/slide" Target="/ppt/slides/slide6.xml" Id="R1379a8f57b5c46b7" /><Relationship Type="http://schemas.openxmlformats.org/officeDocument/2006/relationships/slide" Target="/ppt/slides/slide7.xml" Id="R086a1860314d4d1e" /><Relationship Type="http://schemas.openxmlformats.org/officeDocument/2006/relationships/slide" Target="/ppt/slides/slide8.xml" Id="Ra4d908cc8b15454b" /><Relationship Type="http://schemas.openxmlformats.org/officeDocument/2006/relationships/slide" Target="/ppt/slides/slide9.xml" Id="R93ca1b9486324f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b4bae6d1894c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2e6c29f19244af" /><Relationship Type="http://schemas.openxmlformats.org/officeDocument/2006/relationships/notesMaster" Target="/ppt/notesMasters/notesMaster1.xml" Id="R464aec5095fa4f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166fcdb9434eab" /><Relationship Type="http://schemas.openxmlformats.org/officeDocument/2006/relationships/notesMaster" Target="/ppt/notesMasters/notesMaster1.xml" Id="Rb257c32e650445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273835cc0d4c08" /><Relationship Type="http://schemas.openxmlformats.org/officeDocument/2006/relationships/notesMaster" Target="/ppt/notesMasters/notesMaster1.xml" Id="R8bcc0d65e81a4b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e4cd3c4e5742eb" /><Relationship Type="http://schemas.openxmlformats.org/officeDocument/2006/relationships/notesMaster" Target="/ppt/notesMasters/notesMaster1.xml" Id="R2ed3d83495c345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8e256d17cc4418" /><Relationship Type="http://schemas.openxmlformats.org/officeDocument/2006/relationships/notesMaster" Target="/ppt/notesMasters/notesMaster1.xml" Id="R66cdc12f2e084e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bc8a36a9644b9f" /><Relationship Type="http://schemas.openxmlformats.org/officeDocument/2006/relationships/notesMaster" Target="/ppt/notesMasters/notesMaster1.xml" Id="R7a4be1bd2dd94c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e3e2b1ee0642bf" /><Relationship Type="http://schemas.openxmlformats.org/officeDocument/2006/relationships/notesMaster" Target="/ppt/notesMasters/notesMaster1.xml" Id="R59fff380611842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5a8d2bd2f24068" /><Relationship Type="http://schemas.openxmlformats.org/officeDocument/2006/relationships/notesMaster" Target="/ppt/notesMasters/notesMaster1.xml" Id="Re2c04fcfa3d647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b04aeab58f4307" /><Relationship Type="http://schemas.openxmlformats.org/officeDocument/2006/relationships/notesMaster" Target="/ppt/notesMasters/notesMaster1.xml" Id="R0740dc1b1f1e45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Welcome participants and frame the session as a workshop about engineering systems, not prompt tricks.</a:t>
            </a:r>
          </a:p>
          <a:p xmlns:a="http://schemas.openxmlformats.org/drawingml/2006/main">
            <a:r>
              <a:t>The running example is Pocket Cinema, which we will safely transform into TableStory.</a:t>
            </a:r>
          </a:p>
          <a:p xmlns:a="http://schemas.openxmlformats.org/drawingml/2006/main">
            <a:r>
              <a:t>Set the expectation: we will plan, build, verify, and review one bounded change end to 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/Users/glaquidara/Projects/agentconf/factory/WORKSHOP_OUTLINE.md</a:t>
            </a:r>
          </a:p>
          <a:p xmlns:a="http://schemas.openxmlformats.org/drawingml/2006/main">
            <a:r>
              <a:t>- /Users/glaquidara/Projects/agentconf/factory/README.md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distinction literally: an agent can execute work; the factory governs what work is allowed and how it becomes trusted.</a:t>
            </a:r>
          </a:p>
          <a:p xmlns:a="http://schemas.openxmlformats.org/drawingml/2006/main">
            <a:r>
              <a:t>Point out the visible Plan, Build, Verify, Review loop in the Control Center.</a:t>
            </a:r>
          </a:p>
          <a:p xmlns:a="http://schemas.openxmlformats.org/drawingml/2006/main">
            <a:r>
              <a:t>Emphasize that people still own intent approval and the merge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/Users/glaquidara/Projects/agentconf/factory/WORKSHOP_OUTLINE.md</a:t>
            </a:r>
          </a:p>
          <a:p xmlns:a="http://schemas.openxmlformats.org/drawingml/2006/main">
            <a:r>
              <a:t>- /Users/glaquidara/Projects/agentconf/factory/README.md</a:t>
            </a:r>
          </a:p>
          <a:p xmlns:a="http://schemas.openxmlformats.org/drawingml/2006/main">
            <a:r>
              <a:t>- /Users/glaquidara/Projects/agentconf/workshop-guide/public/screenshots/control-center-overview.jpg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deliberately smaller than a grand autonomous system.</a:t>
            </a:r>
          </a:p>
          <a:p xmlns:a="http://schemas.openxmlformats.org/drawingml/2006/main">
            <a:r>
              <a:t>The factory begins with a bounded issue and ends only when a person can inspect causal evidence and make a merge decision.</a:t>
            </a:r>
          </a:p>
          <a:p xmlns:a="http://schemas.openxmlformats.org/drawingml/2006/main">
            <a:r>
              <a:t>Repeat the cadence: Goal, Do, Check, Decide.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/Users/glaquidara/Projects/agentconf/factory/WORKSHOP_OUTLINE.md</a:t>
            </a:r>
          </a:p>
          <a:p xmlns:a="http://schemas.openxmlformats.org/drawingml/2006/main">
            <a:r>
              <a:t>- /Users/glaquidara/Projects/agentconf/workshop-guide/public/illustrations/01-from-prompt-to-evidence.png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clockwise through the four failures and ask participants which one they have seen most often.</a:t>
            </a:r>
          </a:p>
          <a:p xmlns:a="http://schemas.openxmlformats.org/drawingml/2006/main">
            <a:r>
              <a:t>Frame controls as specific responses to real engineering failures, not ceremony for its own sake.</a:t>
            </a:r>
          </a:p>
          <a:p xmlns:a="http://schemas.openxmlformats.org/drawingml/2006/main">
            <a:r>
              <a:t>Mention handoff receipts and post-merge monitoring if the audience asks about traceability after completion.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/Users/glaquidara/Projects/agentconf/factory/WORKSHOP_OUTLINE.md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workshop moving as three acts rather than reciting every step.</a:t>
            </a:r>
          </a:p>
          <a:p xmlns:a="http://schemas.openxmlformats.org/drawingml/2006/main">
            <a:r>
              <a:t>Align covers setup, product inspection, PRD review, planning, and ticket creation.</a:t>
            </a:r>
          </a:p>
          <a:p xmlns:a="http://schemas.openxmlformats.org/drawingml/2006/main">
            <a:r>
              <a:t>Execute covers protected tests and factory execution; Prove covers evidence, merge, and monitoring.</a:t>
            </a:r>
          </a:p>
          <a:p xmlns:a="http://schemas.openxmlformats.org/drawingml/2006/main">
            <a:r>
              <a:t>Participants can follow Rehearsal mode for determinism or Live mode when integrations are ready.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/Users/glaquidara/Projects/agentconf/factory/WORKSHOP_OUTLINE.md</a:t>
            </a:r>
          </a:p>
          <a:p xmlns:a="http://schemas.openxmlformats.org/drawingml/2006/main">
            <a:r>
              <a:t>- /Users/glaquidara/Projects/agentconf/factory/FACILITATOR.md</a:t>
            </a:r>
          </a:p>
          <a:p xmlns:a="http://schemas.openxmlformats.org/drawingml/2006/main">
            <a:r>
              <a:t>- /Users/glaquidara/Projects/agentconf/factory/README.md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participants to notice that Pocket Cinema already has product behavior, data, navigation, and responsive constraints.</a:t>
            </a:r>
          </a:p>
          <a:p xmlns:a="http://schemas.openxmlformats.org/drawingml/2006/main">
            <a:r>
              <a:t>This makes it a useful factory test: we must preserve reliable behavior while changing the product model.</a:t>
            </a:r>
          </a:p>
          <a:p xmlns:a="http://schemas.openxmlformats.org/drawingml/2006/main">
            <a:r>
              <a:t>The work is a controlled transformation, not a visual reskin.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/Users/glaquidara/Projects/agentconf/factory/WORKSHOP_OUTLINE.md</a:t>
            </a:r>
          </a:p>
          <a:p xmlns:a="http://schemas.openxmlformats.org/drawingml/2006/main">
            <a:r>
              <a:t>- /Users/glaquidara/Projects/agentconf/factory/README.md</a:t>
            </a:r>
          </a:p>
          <a:p xmlns:a="http://schemas.openxmlformats.org/drawingml/2006/main">
            <a:r>
              <a:t>- /Users/glaquidara/Projects/agentconf/workshop-guide/public/screenshots/pocket-cinema-before.webp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target as a coherent product transformation: recipes replace films across the data model, interaction model, and brand.</a:t>
            </a:r>
          </a:p>
          <a:p xmlns:a="http://schemas.openxmlformats.org/drawingml/2006/main">
            <a:r>
              <a:t>The acceptance surface spans desktop, mobile, and TV. TV navigation uses arrow keys, Enter, and Escape or Backspace.</a:t>
            </a:r>
          </a:p>
          <a:p xmlns:a="http://schemas.openxmlformats.org/drawingml/2006/main">
            <a:r>
              <a:t>Core user journeys are browsing, searching, reading details, and saving recipes to a cookbook.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/Users/glaquidara/Projects/agentconf/factory/README.md</a:t>
            </a:r>
          </a:p>
          <a:p xmlns:a="http://schemas.openxmlformats.org/drawingml/2006/main">
            <a:r>
              <a:t>- /Users/glaquidara/Projects/agentconf/factory/scenarios/recipe-rebrand/steps/5/demo-app/README.md</a:t>
            </a:r>
          </a:p>
          <a:p xmlns:a="http://schemas.openxmlformats.org/drawingml/2006/main">
            <a:r>
              <a:t>- /Users/glaquidara/Projects/agentconf/workshop-guide/public/screenshots/tablestory-desktop.webp</a:t>
            </a:r>
          </a:p>
          <a:p xmlns:a="http://schemas.openxmlformats.org/drawingml/2006/main">
            <a:r>
              <a:t>- /Users/glaquidara/Projects/agentconf/workshop-guide/public/screenshots/tablestory-mobile.webp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causal evidence: the same focused command must detect the missing behavior and then pass after implementation.</a:t>
            </a:r>
          </a:p>
          <a:p xmlns:a="http://schemas.openxmlformats.org/drawingml/2006/main">
            <a:r>
              <a:t>A reviewer should receive the candidate revision, diff, tests, logs, code review, and history in one causal chain.</a:t>
            </a:r>
          </a:p>
          <a:p xmlns:a="http://schemas.openxmlformats.org/drawingml/2006/main">
            <a:r>
              <a:t>The final decision remains human, and monitoring extends responsibility beyond the merge event.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/Users/glaquidara/Projects/agentconf/factory/WORKSHOP_OUTLINE.md</a:t>
            </a:r>
          </a:p>
          <a:p xmlns:a="http://schemas.openxmlformats.org/drawingml/2006/main">
            <a:r>
              <a:t>- /Users/glaquidara/Projects/agentconf/factory/README.md</a:t>
            </a:r>
          </a:p>
          <a:p xmlns:a="http://schemas.openxmlformats.org/drawingml/2006/main">
            <a:r>
              <a:t>- /Users/glaquidara/Projects/agentconf/workshop-guide/public/illustrations/03-evidence-controls-merge.png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Transition directly into the exercise. Ask participants to open the baseline app and inspect it before reading the target PRD.</a:t>
            </a:r>
          </a:p>
          <a:p xmlns:a="http://schemas.openxmlformats.org/drawingml/2006/main">
            <a:r>
              <a:t>The three questions establish the current behavior, intended change, and non-regression boundary.</a:t>
            </a:r>
          </a:p>
          <a:p xmlns:a="http://schemas.openxmlformats.org/drawingml/2006/main">
            <a:r>
              <a:t>Then move to product review and alignment before any agent starts coding.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/Users/glaquidara/Projects/agentconf/factory/WORKSHOP_OUTLINE.md</a:t>
            </a:r>
          </a:p>
          <a:p xmlns:a="http://schemas.openxmlformats.org/drawingml/2006/main">
            <a:r>
              <a:t>- /Users/glaquidara/Projects/agentconf/workshop-guide/public/illustrations/02-four-planning-perspectives.png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8def29b68c4f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4e5a47695c412e" /><Relationship Type="http://schemas.openxmlformats.org/officeDocument/2006/relationships/slideLayout" Target="/ppt/slideLayouts/slideLayout1.xml" Id="R312c4d8a4cfa46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2c4d8a4cfa46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14401d5ed4b69" /><Relationship Type="http://schemas.openxmlformats.org/officeDocument/2006/relationships/notesSlide" Target="/ppt/notesSlides/notesSlide1.xml" Id="R8f4c501597e04d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507bae51f4fb7" /><Relationship Type="http://schemas.openxmlformats.org/officeDocument/2006/relationships/image" Target="/ppt/media/image.jpeg" Id="Rdb6568817d73448f" /><Relationship Type="http://schemas.openxmlformats.org/officeDocument/2006/relationships/notesSlide" Target="/ppt/notesSlides/notesSlide2.xml" Id="Rd8b4642428a24a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b188f28754207" /><Relationship Type="http://schemas.openxmlformats.org/officeDocument/2006/relationships/image" Target="/ppt/media/image.png" Id="R520f5bf182dc4b67" /><Relationship Type="http://schemas.openxmlformats.org/officeDocument/2006/relationships/notesSlide" Target="/ppt/notesSlides/notesSlide3.xml" Id="Rb5b65cfec68842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27790d61794da8" /><Relationship Type="http://schemas.openxmlformats.org/officeDocument/2006/relationships/notesSlide" Target="/ppt/notesSlides/notesSlide4.xml" Id="R5d48d74cfd4942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f0cc21d7ba4641" /><Relationship Type="http://schemas.openxmlformats.org/officeDocument/2006/relationships/notesSlide" Target="/ppt/notesSlides/notesSlide5.xml" Id="Rfbfade04455c43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02b46b2cf40cb" /><Relationship Type="http://schemas.openxmlformats.org/officeDocument/2006/relationships/image" Target="/ppt/media/image.bin" Id="R3902fb374a304a6b" /><Relationship Type="http://schemas.openxmlformats.org/officeDocument/2006/relationships/notesSlide" Target="/ppt/notesSlides/notesSlide6.xml" Id="R826519d0e21d43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3fe07a23e4661" /><Relationship Type="http://schemas.openxmlformats.org/officeDocument/2006/relationships/image" Target="/ppt/media/image2.bin" Id="R3dd1fc2d97c4431e" /><Relationship Type="http://schemas.openxmlformats.org/officeDocument/2006/relationships/image" Target="/ppt/media/image3.bin" Id="R2e7b645aa4f64aa0" /><Relationship Type="http://schemas.openxmlformats.org/officeDocument/2006/relationships/notesSlide" Target="/ppt/notesSlides/notesSlide7.xml" Id="Ra24cad610b4e45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1d1c93f55f48a0" /><Relationship Type="http://schemas.openxmlformats.org/officeDocument/2006/relationships/image" Target="/ppt/media/image2.png" Id="R74bda835577946e7" /><Relationship Type="http://schemas.openxmlformats.org/officeDocument/2006/relationships/notesSlide" Target="/ppt/notesSlides/notesSlide8.xml" Id="R92e785a6911d46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a7ddfeab9463c" /><Relationship Type="http://schemas.openxmlformats.org/officeDocument/2006/relationships/image" Target="/ppt/media/image3.png" Id="R685f4e57010344ec" /><Relationship Type="http://schemas.openxmlformats.org/officeDocument/2006/relationships/notesSlide" Target="/ppt/notesSlides/notesSlide9.xml" Id="R72576ae4513742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D96C5A-F644-4817-8D54-CA72BFD1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355C4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2355C4"/>
                </a:solidFill>
                <a:latin typeface="Helvetica"/>
                <a:ea typeface="Helvetica"/>
                <a:cs typeface="Helvetica"/>
              </a:rPr>
              <a:t>AGENTCONF · HANDS-ON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FFF98-E312-48FD-9D08-526D081E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828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5400" b="1" i="0">
                <a:solidFill>
                  <a:srgbClr val="111827"/>
                </a:solidFill>
                <a:latin typeface="Helvetica"/>
                <a:ea typeface="Helvetica"/>
                <a:cs typeface="Helvetica"/>
              </a:defRPr>
            </a:pPr>
            <a:r>
              <a:rPr sz="5400" b="1" i="0">
                <a:solidFill>
                  <a:srgbClr val="111827"/>
                </a:solidFill>
                <a:latin typeface="Helvetica"/>
                <a:ea typeface="Helvetica"/>
                <a:cs typeface="Helvetica"/>
              </a:rPr>
              <a:t>Build an AI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5400" b="1" i="0">
                <a:solidFill>
                  <a:srgbClr val="111827"/>
                </a:solidFill>
                <a:latin typeface="Helvetica"/>
                <a:ea typeface="Helvetica"/>
                <a:cs typeface="Helvetica"/>
              </a:defRPr>
            </a:pPr>
            <a:r>
              <a:rPr sz="5400" b="1" i="0">
                <a:solidFill>
                  <a:srgbClr val="111827"/>
                </a:solidFill>
                <a:latin typeface="Helvetica"/>
                <a:ea typeface="Helvetica"/>
                <a:cs typeface="Helvetica"/>
              </a:rPr>
              <a:t>software factory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EE645-47A6-4389-B3D8-39542F23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695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0" i="0">
                <a:solidFill>
                  <a:srgbClr val="667085"/>
                </a:solidFill>
                <a:latin typeface="Helvetica"/>
                <a:ea typeface="Helvetica"/>
                <a:cs typeface="Helvetica"/>
              </a:defRPr>
            </a:pPr>
            <a:r>
              <a:rPr sz="2100" b="0" i="0">
                <a:solidFill>
                  <a:srgbClr val="667085"/>
                </a:solidFill>
                <a:latin typeface="Helvetica"/>
                <a:ea typeface="Helvetica"/>
                <a:cs typeface="Helvetica"/>
              </a:rPr>
              <a:t>A practical introduction using Pocket Cinema as the shared 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5CAE4B-D41E-415E-9649-D39D1B93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1409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14806A-690F-4D1D-99DA-ABF41590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11827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111827"/>
                </a:solidFill>
                <a:latin typeface="Helvetica"/>
                <a:ea typeface="Helvetica"/>
                <a:cs typeface="Helvetica"/>
              </a:rPr>
              <a:t>PLAN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C75B01-1753-43A8-B775-D713120B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162550"/>
            <a:ext cx="1409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397FA0-ADDC-4C83-89BE-BC84C87B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33400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11827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111827"/>
                </a:solidFill>
                <a:latin typeface="Helvetica"/>
                <a:ea typeface="Helvetica"/>
                <a:cs typeface="Helvetica"/>
              </a:rPr>
              <a:t>BUILD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36ADCD-A115-4A4D-BA98-B1A58783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162550"/>
            <a:ext cx="1409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0885B-F025-4D3F-8DAF-852C0157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33400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11827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111827"/>
                </a:solidFill>
                <a:latin typeface="Helvetica"/>
                <a:ea typeface="Helvetica"/>
                <a:cs typeface="Helvetica"/>
              </a:rPr>
              <a:t>VERIFY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0428D3-D49C-431D-ACC7-AC7E4A63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62550"/>
            <a:ext cx="1409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394905-12D8-4D82-8BC3-5E8FF5D3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33400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11827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111827"/>
                </a:solidFill>
                <a:latin typeface="Helvetica"/>
                <a:ea typeface="Helvetica"/>
                <a:cs typeface="Helvetica"/>
              </a:rPr>
              <a:t>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9C36A7-666D-4E5C-9DE3-DF9DBC53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800100"/>
            <a:ext cx="1809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93BD05-B930-4C05-8E8C-A30FFD14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1028700"/>
            <a:ext cx="1295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496"/>
          </a:bodyPr>
          <a:lstStyle xmlns:a="http://schemas.openxmlformats.org/drawingml/2006/main"/>
          <a:p xmlns:a="http://schemas.openxmlformats.org/drawingml/2006/main">
            <a:pPr algn="ctr">
              <a:defRPr sz="6150" b="1" i="0">
                <a:solidFill>
                  <a:srgbClr val="2355C4"/>
                </a:solidFill>
                <a:latin typeface="Helvetica"/>
                <a:ea typeface="Helvetica"/>
                <a:cs typeface="Helvetica"/>
              </a:defRPr>
            </a:pPr>
            <a:r>
              <a:rPr sz="6150" b="1" i="0">
                <a:solidFill>
                  <a:srgbClr val="2355C4"/>
                </a:solidFill>
                <a:latin typeface="Helvetica"/>
                <a:ea typeface="Helvetica"/>
                <a:cs typeface="Helvetica"/>
              </a:rPr>
              <a:t>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B388A4-6382-4679-BFA3-3362F6B1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0025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355C4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2355C4"/>
                </a:solidFill>
                <a:latin typeface="Helvetica"/>
                <a:ea typeface="Helvetica"/>
                <a:cs typeface="Helvetica"/>
              </a:rPr>
              <a:t>FACTORY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8165EB-6209-4C64-B482-CF764FC5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86525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98A2B3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98A2B3"/>
                </a:solidFill>
                <a:latin typeface="Helvetica"/>
                <a:ea typeface="Helvetica"/>
                <a:cs typeface="Helvetica"/>
              </a:rPr>
              <a:t>AI SOFTWARE FACTORY WORKSHOP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EB67BA-E230-46F9-A881-5170DF86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98A2B3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98A2B3"/>
                </a:solidFill>
                <a:latin typeface="Helvetica"/>
                <a:ea typeface="Helvetica"/>
                <a:cs typeface="Helvetic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814091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7E2ABA-0E5B-4876-9A82-21A9BAEA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355C4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2355C4"/>
                </a:solidFill>
                <a:latin typeface="Helvetica"/>
                <a:ea typeface="Helvetica"/>
                <a:cs typeface="Helvetica"/>
              </a:rPr>
              <a:t>01 · THE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916FDC-A608-4AA1-AEDD-294C0DD9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38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 i="0">
                <a:solidFill>
                  <a:srgbClr val="111827"/>
                </a:solidFill>
                <a:latin typeface="Helvetica"/>
                <a:ea typeface="Helvetica"/>
                <a:cs typeface="Helvetica"/>
              </a:defRPr>
            </a:pPr>
            <a:r>
              <a:rPr sz="3075" b="1" i="0">
                <a:solidFill>
                  <a:srgbClr val="111827"/>
                </a:solidFill>
                <a:latin typeface="Helvetica"/>
                <a:ea typeface="Helvetica"/>
                <a:cs typeface="Helvetica"/>
              </a:rPr>
              <a:t>An agent executes. A factory governs the change.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7A3D14-1DB0-4CA2-A108-837DE2F4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4095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 i="0">
                <a:solidFill>
                  <a:srgbClr val="667085"/>
                </a:solidFill>
                <a:latin typeface="Helvetica"/>
                <a:ea typeface="Helvetica"/>
                <a:cs typeface="Helvetica"/>
              </a:defRPr>
            </a:pPr>
            <a:r>
              <a:rPr sz="1725" b="0" i="0">
                <a:solidFill>
                  <a:srgbClr val="667085"/>
                </a:solidFill>
                <a:latin typeface="Helvetica"/>
                <a:ea typeface="Helvetica"/>
                <a:cs typeface="Helvetica"/>
              </a:rPr>
              <a:t>An AI software factory surrounds coding agents with the system they need to deliver trustworthy software: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906C0-4B22-4E2C-939D-325EF570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0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5C4"/>
          </a:solidFill>
          <a:ln xmlns:a="http://schemas.openxmlformats.org/drawingml/2006/main" w="0">
            <a:solidFill>
              <a:srgbClr val="2355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2597D5-CD0B-4B8F-8E5D-147537D5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827"/>
                </a:solidFill>
                <a:latin typeface="Helvetica"/>
                <a:ea typeface="Helvetica"/>
                <a:cs typeface="Helvetica"/>
              </a:defRPr>
            </a:pPr>
            <a:r>
              <a:rPr sz="1575" b="1" i="0">
                <a:solidFill>
                  <a:srgbClr val="111827"/>
                </a:solidFill>
                <a:latin typeface="Helvetica"/>
                <a:ea typeface="Helvetica"/>
                <a:cs typeface="Helvetica"/>
              </a:rPr>
              <a:t>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56620-E97D-4E82-9607-477DB207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5C4"/>
          </a:solidFill>
          <a:ln xmlns:a="http://schemas.openxmlformats.org/drawingml/2006/main" w="0">
            <a:solidFill>
              <a:srgbClr val="2355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D77FCF-4F0E-4AFD-B76C-0DC3B3E8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827"/>
                </a:solidFill>
                <a:latin typeface="Helvetica"/>
                <a:ea typeface="Helvetica"/>
                <a:cs typeface="Helvetica"/>
              </a:defRPr>
            </a:pPr>
            <a:r>
              <a:rPr sz="1575" b="1" i="0">
                <a:solidFill>
                  <a:srgbClr val="111827"/>
                </a:solidFill>
                <a:latin typeface="Helvetica"/>
                <a:ea typeface="Helvetica"/>
                <a:cs typeface="Helvetica"/>
              </a:rPr>
              <a:t>Isolation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E5C35-CACC-4D8C-9FEC-EE77200F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5C4"/>
          </a:solidFill>
          <a:ln xmlns:a="http://schemas.openxmlformats.org/drawingml/2006/main" w="0">
            <a:solidFill>
              <a:srgbClr val="2355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3F9C28-ABAF-43C5-93E0-68042E87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1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827"/>
                </a:solidFill>
                <a:latin typeface="Helvetica"/>
                <a:ea typeface="Helvetica"/>
                <a:cs typeface="Helvetica"/>
              </a:defRPr>
            </a:pPr>
            <a:r>
              <a:rPr sz="1575" b="1" i="0">
                <a:solidFill>
                  <a:srgbClr val="111827"/>
                </a:solidFill>
                <a:latin typeface="Helvetica"/>
                <a:ea typeface="Helvetica"/>
                <a:cs typeface="Helvetica"/>
              </a:rPr>
              <a:t>Quality gates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D5B05F-0CC8-4C28-B2BD-15B378B2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43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4A"/>
          </a:solidFill>
          <a:ln xmlns:a="http://schemas.openxmlformats.org/drawingml/2006/main" w="0">
            <a:solidFill>
              <a:srgbClr val="2F7D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704448-D191-466A-951A-5D784792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5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827"/>
                </a:solidFill>
                <a:latin typeface="Helvetica"/>
                <a:ea typeface="Helvetica"/>
                <a:cs typeface="Helvetica"/>
              </a:defRPr>
            </a:pPr>
            <a:r>
              <a:rPr sz="1575" b="1" i="0">
                <a:solidFill>
                  <a:srgbClr val="111827"/>
                </a:solidFill>
                <a:latin typeface="Helvetica"/>
                <a:ea typeface="Helvetica"/>
                <a:cs typeface="Helvetica"/>
              </a:rPr>
              <a:t>Traceability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2412A9-BA2A-4937-BA5B-769ADC9A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57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BE0234-73C2-4F0B-AEDC-66C8D569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101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827"/>
                </a:solidFill>
                <a:latin typeface="Helvetica"/>
                <a:ea typeface="Helvetica"/>
                <a:cs typeface="Helvetica"/>
              </a:defRPr>
            </a:pPr>
            <a:r>
              <a:rPr sz="1575" b="1" i="0">
                <a:solidFill>
                  <a:srgbClr val="111827"/>
                </a:solidFill>
                <a:latin typeface="Helvetica"/>
                <a:ea typeface="Helvetica"/>
                <a:cs typeface="Helvetica"/>
              </a:rPr>
              <a:t>Human decisions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7D7B8C-98AA-4DB3-AB61-37D9AA9B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600200"/>
            <a:ext cx="6496050" cy="42672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4F7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6568817d73448f"/>
          <a:srcRect xmlns:a="http://schemas.openxmlformats.org/drawingml/2006/main" l="0" t="2500" r="0" b="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62550" y="1695450"/>
            <a:ext cx="6305550" cy="4076700"/>
          </a:xfrm>
          <a:prstGeom xmlns:a="http://schemas.openxmlformats.org/drawingml/2006/main" prst="roundRect">
            <a:avLst>
              <a:gd name="adj" fmla="val 2804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B2C41C-3ABF-411A-9585-9B3B8D0A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953125"/>
            <a:ext cx="630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  <a:latin typeface="Helvetica"/>
                <a:ea typeface="Helvetica"/>
                <a:cs typeface="Helvetica"/>
              </a:defRPr>
            </a:pPr>
            <a:r>
              <a:rPr sz="1125" b="0" i="0">
                <a:solidFill>
                  <a:srgbClr val="667085"/>
                </a:solidFill>
                <a:latin typeface="Helvetica"/>
                <a:ea typeface="Helvetica"/>
                <a:cs typeface="Helvetica"/>
              </a:rPr>
              <a:t>The factory makes state, gates, and human checkpoints visible.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FE819B-6A63-4214-9F57-0BC688AD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86525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98A2B3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98A2B3"/>
                </a:solidFill>
                <a:latin typeface="Helvetica"/>
                <a:ea typeface="Helvetica"/>
                <a:cs typeface="Helvetica"/>
              </a:rPr>
              <a:t>AI SOFTWARE FACTORY WORKSHOP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092D30-E6AF-43D4-BB8E-83947CBE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98A2B3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98A2B3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159602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69A2AC-61A7-4A1C-9D56-0E4BAF08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355C4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2355C4"/>
                </a:solidFill>
                <a:latin typeface="Helvetica"/>
                <a:ea typeface="Helvetica"/>
                <a:cs typeface="Helvetica"/>
              </a:rPr>
              <a:t>02 · THE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9000D-3285-4C6C-8390-E16474F7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800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 i="0">
                <a:solidFill>
                  <a:srgbClr val="111827"/>
                </a:solidFill>
                <a:latin typeface="Helvetica"/>
                <a:ea typeface="Helvetica"/>
                <a:cs typeface="Helvetica"/>
              </a:defRPr>
            </a:pPr>
            <a:r>
              <a:rPr sz="3225" b="1" i="0">
                <a:solidFill>
                  <a:srgbClr val="111827"/>
                </a:solidFill>
                <a:latin typeface="Helvetica"/>
                <a:ea typeface="Helvetica"/>
                <a:cs typeface="Helvetica"/>
              </a:rPr>
              <a:t>Start with the minimum responsible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39FE75-1263-436D-90A6-9D9B04A6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62075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67085"/>
                </a:solidFill>
                <a:latin typeface="Helvetica"/>
                <a:ea typeface="Helvetica"/>
                <a:cs typeface="Helvetica"/>
              </a:defRPr>
            </a:pPr>
            <a:r>
              <a:rPr sz="1650" b="0" i="0">
                <a:solidFill>
                  <a:srgbClr val="667085"/>
                </a:solidFill>
                <a:latin typeface="Helvetica"/>
                <a:ea typeface="Helvetica"/>
                <a:cs typeface="Helvetica"/>
              </a:rPr>
              <a:t>Clear intent → one bounded slice → a real test → reviewable evidence → a human merge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931B65-F1BF-4250-90D7-215C43D6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10896600" cy="3981450"/>
          </a:xfrm>
          <a:prstGeom xmlns:a="http://schemas.openxmlformats.org/drawingml/2006/main" prst="roundRect">
            <a:avLst>
              <a:gd name="adj" fmla="val 2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0f5bf182dc4b67"/>
          <a:stretch xmlns:a="http://schemas.openxmlformats.org/drawingml/2006/main"/>
        </p:blipFill>
        <p:spPr>
          <a:xfrm xmlns:a="http://schemas.openxmlformats.org/drawingml/2006/main">
            <a:off x="2694209" y="1924050"/>
            <a:ext cx="6803583" cy="3829050"/>
          </a:xfrm>
          <a:prstGeom xmlns:a="http://schemas.openxmlformats.org/drawingml/2006/main" prst="roundRect">
            <a:avLst>
              <a:gd name="adj" fmla="val 298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7110D0-2343-418B-BE3B-46DB3A1A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867400"/>
            <a:ext cx="26860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12263-60EF-4B9E-A1FE-B430AD48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962650"/>
            <a:ext cx="2305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355C4"/>
                </a:solidFill>
                <a:latin typeface="Helvetica"/>
                <a:ea typeface="Helvetica"/>
                <a:cs typeface="Helvetica"/>
              </a:defRPr>
            </a:pPr>
            <a:r>
              <a:rPr sz="1125" b="1" i="0">
                <a:solidFill>
                  <a:srgbClr val="2355C4"/>
                </a:solidFill>
                <a:latin typeface="Helvetica"/>
                <a:ea typeface="Helvetica"/>
                <a:cs typeface="Helvetica"/>
              </a:rPr>
              <a:t>Goal · Do · Check · Decide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9CDF68-CD03-4873-A994-EB12F7CB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86525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98A2B3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98A2B3"/>
                </a:solidFill>
                <a:latin typeface="Helvetica"/>
                <a:ea typeface="Helvetica"/>
                <a:cs typeface="Helvetica"/>
              </a:rPr>
              <a:t>AI SOFTWARE FACTORY WORKSHOP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79A480-1272-4506-BACD-1E2E0F77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98A2B3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98A2B3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689099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A41B66-350C-47F7-9445-98CE62B0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355C4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2355C4"/>
                </a:solidFill>
                <a:latin typeface="Helvetica"/>
                <a:ea typeface="Helvetica"/>
                <a:cs typeface="Helvetica"/>
              </a:rPr>
              <a:t>03 · THE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DBC0B-247B-4300-AA1C-2E350BE7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744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 i="0">
                <a:solidFill>
                  <a:srgbClr val="111827"/>
                </a:solidFill>
                <a:latin typeface="Helvetica"/>
                <a:ea typeface="Helvetica"/>
                <a:cs typeface="Helvetica"/>
              </a:defRPr>
            </a:pPr>
            <a:r>
              <a:rPr sz="3225" b="1" i="0">
                <a:solidFill>
                  <a:srgbClr val="111827"/>
                </a:solidFill>
                <a:latin typeface="Helvetica"/>
                <a:ea typeface="Helvetica"/>
                <a:cs typeface="Helvetica"/>
              </a:rPr>
              <a:t>Every control answers a visible failure mode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41820B-D3AB-4D97-BFB1-FFEBD96E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4838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7CFF46-8018-4905-8E9F-BA7DA4A0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355C4"/>
                </a:solidFill>
                <a:latin typeface="Helvetica"/>
                <a:ea typeface="Helvetica"/>
                <a:cs typeface="Helvetica"/>
              </a:defRPr>
            </a:pPr>
            <a:r>
              <a:rPr sz="1125" b="1" i="0">
                <a:solidFill>
                  <a:srgbClr val="2355C4"/>
                </a:solidFill>
                <a:latin typeface="Helvetica"/>
                <a:ea typeface="Helvetica"/>
                <a:cs typeface="Helvetica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711DDD-DC8D-41F2-8711-D77C2657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76425"/>
            <a:ext cx="3962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827"/>
                </a:solidFill>
                <a:latin typeface="Helvetica"/>
                <a:ea typeface="Helvetica"/>
                <a:cs typeface="Helvetica"/>
              </a:defRPr>
            </a:pPr>
            <a:r>
              <a:rPr sz="1950" b="1" i="0">
                <a:solidFill>
                  <a:srgbClr val="111827"/>
                </a:solidFill>
                <a:latin typeface="Helvetica"/>
                <a:ea typeface="Helvetica"/>
                <a:cs typeface="Helvetica"/>
              </a:rPr>
              <a:t>Ambiguous intent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F62D1E-7948-4257-A480-1F28690A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71725"/>
            <a:ext cx="390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667085"/>
                </a:solidFill>
                <a:latin typeface="Helvetica"/>
                <a:ea typeface="Helvetica"/>
                <a:cs typeface="Helvetica"/>
              </a:defRPr>
            </a:pPr>
            <a:r>
              <a:rPr sz="1425" b="0" i="0">
                <a:solidFill>
                  <a:srgbClr val="667085"/>
                </a:solidFill>
                <a:latin typeface="Helvetica"/>
                <a:ea typeface="Helvetica"/>
                <a:cs typeface="Helvetica"/>
              </a:rPr>
              <a:t>Product review turns a request into an approved problem, behavior, and boundary.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7D908-EA0C-4759-B7C3-827C3503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4838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3FA4A9-EE99-4724-AC93-2ED028AB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24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E8CF2"/>
                </a:solidFill>
                <a:latin typeface="Helvetica"/>
                <a:ea typeface="Helvetica"/>
                <a:cs typeface="Helvetica"/>
              </a:defRPr>
            </a:pPr>
            <a:r>
              <a:rPr sz="1125" b="1" i="0">
                <a:solidFill>
                  <a:srgbClr val="5E8CF2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DBC09D-3C31-451F-95F6-C3F99E93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76425"/>
            <a:ext cx="3962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827"/>
                </a:solidFill>
                <a:latin typeface="Helvetica"/>
                <a:ea typeface="Helvetica"/>
                <a:cs typeface="Helvetica"/>
              </a:defRPr>
            </a:pPr>
            <a:r>
              <a:rPr sz="1950" b="1" i="0">
                <a:solidFill>
                  <a:srgbClr val="111827"/>
                </a:solidFill>
                <a:latin typeface="Helvetica"/>
                <a:ea typeface="Helvetica"/>
                <a:cs typeface="Helvetica"/>
              </a:rPr>
              <a:t>Conflicting assumptions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ABAAD7-0112-435E-AD77-0DDC77E8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71725"/>
            <a:ext cx="390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667085"/>
                </a:solidFill>
                <a:latin typeface="Helvetica"/>
                <a:ea typeface="Helvetica"/>
                <a:cs typeface="Helvetica"/>
              </a:defRPr>
            </a:pPr>
            <a:r>
              <a:rPr sz="1425" b="0" i="0">
                <a:solidFill>
                  <a:srgbClr val="667085"/>
                </a:solidFill>
                <a:latin typeface="Helvetica"/>
                <a:ea typeface="Helvetica"/>
                <a:cs typeface="Helvetica"/>
              </a:rPr>
              <a:t>Architecture, program design, and alignment converge on one PRD and coherent slices.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9EE7DC-E18F-44E4-A1E1-DEA7E349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4838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BA6D54-AC3D-4365-9322-460ADF59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7D4A"/>
                </a:solidFill>
                <a:latin typeface="Helvetica"/>
                <a:ea typeface="Helvetica"/>
                <a:cs typeface="Helvetica"/>
              </a:defRPr>
            </a:pPr>
            <a:r>
              <a:rPr sz="1125" b="1" i="0">
                <a:solidFill>
                  <a:srgbClr val="2F7D4A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25087C-37FD-4CF6-941D-F17C5C24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00500"/>
            <a:ext cx="3962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827"/>
                </a:solidFill>
                <a:latin typeface="Helvetica"/>
                <a:ea typeface="Helvetica"/>
                <a:cs typeface="Helvetica"/>
              </a:defRPr>
            </a:pPr>
            <a:r>
              <a:rPr sz="1950" b="1" i="0">
                <a:solidFill>
                  <a:srgbClr val="111827"/>
                </a:solidFill>
                <a:latin typeface="Helvetica"/>
                <a:ea typeface="Helvetica"/>
                <a:cs typeface="Helvetica"/>
              </a:rPr>
              <a:t>Colliding workers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611013-FD29-460A-9642-C67FEAC2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95800"/>
            <a:ext cx="390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667085"/>
                </a:solidFill>
                <a:latin typeface="Helvetica"/>
                <a:ea typeface="Helvetica"/>
                <a:cs typeface="Helvetica"/>
              </a:defRPr>
            </a:pPr>
            <a:r>
              <a:rPr sz="1425" b="0" i="0">
                <a:solidFill>
                  <a:srgbClr val="667085"/>
                </a:solidFill>
                <a:latin typeface="Helvetica"/>
                <a:ea typeface="Helvetica"/>
                <a:cs typeface="Helvetica"/>
              </a:rPr>
              <a:t>Dependencies, claims, and isolated worktrees keep concurrent work bounded and reversible.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54EFEE-02C4-49D2-9415-EF78AA2E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57625"/>
            <a:ext cx="4838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8EA980-94CE-46BC-9881-4EDA3FE7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481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97316"/>
                </a:solidFill>
                <a:latin typeface="Helvetica"/>
                <a:ea typeface="Helvetica"/>
                <a:cs typeface="Helvetica"/>
              </a:defRPr>
            </a:pPr>
            <a:r>
              <a:rPr sz="1125" b="1" i="0">
                <a:solidFill>
                  <a:srgbClr val="F97316"/>
                </a:solidFill>
                <a:latin typeface="Helvetica"/>
                <a:ea typeface="Helvetica"/>
                <a:cs typeface="Helvetica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223DAC-3647-4FDA-8580-26BA3783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00500"/>
            <a:ext cx="3962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827"/>
                </a:solidFill>
                <a:latin typeface="Helvetica"/>
                <a:ea typeface="Helvetica"/>
                <a:cs typeface="Helvetica"/>
              </a:defRPr>
            </a:pPr>
            <a:r>
              <a:rPr sz="1950" b="1" i="0">
                <a:solidFill>
                  <a:srgbClr val="111827"/>
                </a:solidFill>
                <a:latin typeface="Helvetica"/>
                <a:ea typeface="Helvetica"/>
                <a:cs typeface="Helvetica"/>
              </a:rPr>
              <a:t>Weak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7A34D3-68DD-4288-B804-7AD570DD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390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667085"/>
                </a:solidFill>
                <a:latin typeface="Helvetica"/>
                <a:ea typeface="Helvetica"/>
                <a:cs typeface="Helvetica"/>
              </a:defRPr>
            </a:pPr>
            <a:r>
              <a:rPr sz="1425" b="0" i="0">
                <a:solidFill>
                  <a:srgbClr val="667085"/>
                </a:solidFill>
                <a:latin typeface="Helvetica"/>
                <a:ea typeface="Helvetica"/>
                <a:cs typeface="Helvetica"/>
              </a:rPr>
              <a:t>Protected acceptance tests, required gates, code review, and human merge make completion inspectable.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91315E-739C-4179-BFB9-CAA1210B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107442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31FF40-46CF-415E-AA82-0D2095BD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674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827"/>
                </a:solidFill>
                <a:latin typeface="Helvetica"/>
                <a:ea typeface="Helvetica"/>
                <a:cs typeface="Helvetica"/>
              </a:defRPr>
            </a:pPr>
            <a:r>
              <a:rPr sz="1125" b="1" i="0">
                <a:solidFill>
                  <a:srgbClr val="111827"/>
                </a:solidFill>
                <a:latin typeface="Helvetica"/>
                <a:ea typeface="Helvetica"/>
                <a:cs typeface="Helvetica"/>
              </a:rPr>
              <a:t>The goal is not more process. It is less ambiguity at the moments where ambiguity is expensive.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35F9E7-BD0F-41F2-8F99-39C67C59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86525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98A2B3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98A2B3"/>
                </a:solidFill>
                <a:latin typeface="Helvetica"/>
                <a:ea typeface="Helvetica"/>
                <a:cs typeface="Helvetica"/>
              </a:rPr>
              <a:t>AI SOFTWARE FACTORY WORKSHOP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3BDA51-07E4-4F18-B22D-32332287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98A2B3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98A2B3"/>
                </a:solidFill>
                <a:latin typeface="Helvetica"/>
                <a:ea typeface="Helvetica"/>
                <a:cs typeface="Helvetic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030626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30120F-5FB4-4A16-A8E7-1F642FA2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355C4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2355C4"/>
                </a:solidFill>
                <a:latin typeface="Helvetica"/>
                <a:ea typeface="Helvetica"/>
                <a:cs typeface="Helvetica"/>
              </a:rPr>
              <a:t>04 · TODAY’S ROUTE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4A1922-C579-4C57-BDD1-447A0728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744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 i="0">
                <a:solidFill>
                  <a:srgbClr val="111827"/>
                </a:solidFill>
                <a:latin typeface="Helvetica"/>
                <a:ea typeface="Helvetica"/>
                <a:cs typeface="Helvetica"/>
              </a:defRPr>
            </a:pPr>
            <a:r>
              <a:rPr sz="3225" b="1" i="0">
                <a:solidFill>
                  <a:srgbClr val="111827"/>
                </a:solidFill>
                <a:latin typeface="Helvetica"/>
                <a:ea typeface="Helvetica"/>
                <a:cs typeface="Helvetica"/>
              </a:rPr>
              <a:t>How we will proceed in 100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CF374-F1E6-4D80-ACBC-7B417A36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67085"/>
                </a:solidFill>
                <a:latin typeface="Helvetica"/>
                <a:ea typeface="Helvetica"/>
                <a:cs typeface="Helvetica"/>
              </a:defRPr>
            </a:pPr>
            <a:r>
              <a:rPr sz="1575" b="0" i="0">
                <a:solidFill>
                  <a:srgbClr val="667085"/>
                </a:solidFill>
                <a:latin typeface="Helvetica"/>
                <a:ea typeface="Helvetica"/>
                <a:cs typeface="Helvetica"/>
              </a:rPr>
              <a:t>One shared product. One visible factory loop. Three acts.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A35594-EBD1-4C01-B0DE-CD378DE9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47950"/>
            <a:ext cx="923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B681F-001A-4EC9-83A7-04D0C1CF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19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355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9F1C4-4472-4F9D-9960-8A8A2373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812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355C4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2355C4"/>
                </a:solidFill>
                <a:latin typeface="Helvetica"/>
                <a:ea typeface="Helvetica"/>
                <a:cs typeface="Helvetica"/>
              </a:rPr>
              <a:t>0–53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8A2C38-CCB1-4D2B-B006-2ACF2286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623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355C4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2355C4"/>
                </a:solidFill>
                <a:latin typeface="Helvetica"/>
                <a:ea typeface="Helvetica"/>
                <a:cs typeface="Helvetica"/>
              </a:rPr>
              <a:t>ALIGN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4710A4-C1BA-4A98-A481-E05E99EC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671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827"/>
                </a:solidFill>
                <a:latin typeface="Helvetica"/>
                <a:ea typeface="Helvetica"/>
                <a:cs typeface="Helvetica"/>
              </a:defRPr>
            </a:pPr>
            <a:r>
              <a:rPr sz="1950" b="1" i="0">
                <a:solidFill>
                  <a:srgbClr val="111827"/>
                </a:solidFill>
                <a:latin typeface="Helvetica"/>
                <a:ea typeface="Helvetica"/>
                <a:cs typeface="Helvetica"/>
              </a:rPr>
              <a:t>Agree the 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27060D-EBDD-4FDD-84E3-BFFCD428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0050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350" b="0" i="0">
                <a:solidFill>
                  <a:srgbClr val="66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667085"/>
                </a:solidFill>
                <a:latin typeface="Helvetica"/>
                <a:ea typeface="Helvetica"/>
                <a:cs typeface="Helvetica"/>
              </a:rPr>
              <a:t>Inspect Pocket Cinema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350" b="0" i="0">
                <a:solidFill>
                  <a:srgbClr val="66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667085"/>
                </a:solidFill>
                <a:latin typeface="Helvetica"/>
                <a:ea typeface="Helvetica"/>
                <a:cs typeface="Helvetica"/>
              </a:rPr>
              <a:t>Read the PRD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350" b="0" i="0">
                <a:solidFill>
                  <a:srgbClr val="66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667085"/>
                </a:solidFill>
                <a:latin typeface="Helvetica"/>
                <a:ea typeface="Helvetica"/>
                <a:cs typeface="Helvetica"/>
              </a:rPr>
              <a:t>Approve intent and tickets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DEA805-4C51-442A-BD8E-3249A6DD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19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F7D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093A81-7BA6-4790-A772-3D9350AC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812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F7D4A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2F7D4A"/>
                </a:solidFill>
                <a:latin typeface="Helvetica"/>
                <a:ea typeface="Helvetica"/>
                <a:cs typeface="Helvetica"/>
              </a:rPr>
              <a:t>53–85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9BC178-98A8-4497-8C0B-EEB1F0AB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623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F7D4A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2F7D4A"/>
                </a:solidFill>
                <a:latin typeface="Helvetica"/>
                <a:ea typeface="Helvetica"/>
                <a:cs typeface="Helvetica"/>
              </a:rPr>
              <a:t>EXECUTE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D12393-1612-4E22-8EAA-59A01BBC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4671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827"/>
                </a:solidFill>
                <a:latin typeface="Helvetica"/>
                <a:ea typeface="Helvetica"/>
                <a:cs typeface="Helvetica"/>
              </a:defRPr>
            </a:pPr>
            <a:r>
              <a:rPr sz="1950" b="1" i="0">
                <a:solidFill>
                  <a:srgbClr val="111827"/>
                </a:solidFill>
                <a:latin typeface="Helvetica"/>
                <a:ea typeface="Helvetica"/>
                <a:cs typeface="Helvetica"/>
              </a:rPr>
              <a:t>Run the factory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B91E0B-4CF8-47A8-921C-5AB5A447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0050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350" b="0" i="0">
                <a:solidFill>
                  <a:srgbClr val="66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667085"/>
                </a:solidFill>
                <a:latin typeface="Helvetica"/>
                <a:ea typeface="Helvetica"/>
                <a:cs typeface="Helvetica"/>
              </a:rPr>
              <a:t>Approve acceptance tests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350" b="0" i="0">
                <a:solidFill>
                  <a:srgbClr val="66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667085"/>
                </a:solidFill>
                <a:latin typeface="Helvetica"/>
                <a:ea typeface="Helvetica"/>
                <a:cs typeface="Helvetica"/>
              </a:rPr>
              <a:t>Launch isolated work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350" b="0" i="0">
                <a:solidFill>
                  <a:srgbClr val="66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667085"/>
                </a:solidFill>
                <a:latin typeface="Helvetica"/>
                <a:ea typeface="Helvetica"/>
                <a:cs typeface="Helvetica"/>
              </a:rPr>
              <a:t>Observe the delivery 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515041-0945-4472-845F-547635C7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19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F9731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A3BB16-F987-4DF0-90A8-B54CC9D6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812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97316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F97316"/>
                </a:solidFill>
                <a:latin typeface="Helvetica"/>
                <a:ea typeface="Helvetica"/>
                <a:cs typeface="Helvetica"/>
              </a:rPr>
              <a:t>85–100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AF87BE-D971-4C59-9717-6C5DA9F4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623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97316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F97316"/>
                </a:solidFill>
                <a:latin typeface="Helvetica"/>
                <a:ea typeface="Helvetica"/>
                <a:cs typeface="Helvetica"/>
              </a:rPr>
              <a:t>PROVE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4EFCCE-E62E-4C26-BE32-8FD21F6C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671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827"/>
                </a:solidFill>
                <a:latin typeface="Helvetica"/>
                <a:ea typeface="Helvetica"/>
                <a:cs typeface="Helvetica"/>
              </a:defRPr>
            </a:pPr>
            <a:r>
              <a:rPr sz="1950" b="1" i="0">
                <a:solidFill>
                  <a:srgbClr val="111827"/>
                </a:solidFill>
                <a:latin typeface="Helvetica"/>
                <a:ea typeface="Helvetica"/>
                <a:cs typeface="Helvetica"/>
              </a:rPr>
              <a:t>Decide with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44579F-0257-429F-8F9C-F7BA7606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0050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350" b="0" i="0">
                <a:solidFill>
                  <a:srgbClr val="66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667085"/>
                </a:solidFill>
                <a:latin typeface="Helvetica"/>
                <a:ea typeface="Helvetica"/>
                <a:cs typeface="Helvetica"/>
              </a:rPr>
              <a:t>Review RED → GREEN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350" b="0" i="0">
                <a:solidFill>
                  <a:srgbClr val="66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667085"/>
                </a:solidFill>
                <a:latin typeface="Helvetica"/>
                <a:ea typeface="Helvetica"/>
                <a:cs typeface="Helvetica"/>
              </a:rPr>
              <a:t>Inspect the candidate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350" b="0" i="0">
                <a:solidFill>
                  <a:srgbClr val="667085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667085"/>
                </a:solidFill>
                <a:latin typeface="Helvetica"/>
                <a:ea typeface="Helvetica"/>
                <a:cs typeface="Helvetica"/>
              </a:rPr>
              <a:t>Merge and monitor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D933A3-D3D9-424E-8C20-D809EB60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107442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4F7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DBD32C-63E3-4E45-8EE0-2349C045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8293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355C4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2355C4"/>
                </a:solidFill>
                <a:latin typeface="Helvetica"/>
                <a:ea typeface="Helvetica"/>
                <a:cs typeface="Helvetica"/>
              </a:rPr>
              <a:t>Rehearsal mode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D9586A-6449-47CD-83DC-FB347029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293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085"/>
                </a:solidFill>
                <a:latin typeface="Helvetica"/>
                <a:ea typeface="Helvetica"/>
                <a:cs typeface="Helvetica"/>
              </a:defRPr>
            </a:pPr>
            <a:r>
              <a:rPr sz="1200" b="0" i="0">
                <a:solidFill>
                  <a:srgbClr val="667085"/>
                </a:solidFill>
                <a:latin typeface="Helvetica"/>
                <a:ea typeface="Helvetica"/>
                <a:cs typeface="Helvetica"/>
              </a:rPr>
              <a:t>deterministic workshop run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0A380C-4F09-426E-BDDD-300B73DC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762625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2200A0-A259-42F3-A90E-8BFA218F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8293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F7D4A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2F7D4A"/>
                </a:solidFill>
                <a:latin typeface="Helvetica"/>
                <a:ea typeface="Helvetica"/>
                <a:cs typeface="Helvetica"/>
              </a:rPr>
              <a:t>Live mode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78AB7B-3087-49EF-9DEB-90ABBBAC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8293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085"/>
                </a:solidFill>
                <a:latin typeface="Helvetica"/>
                <a:ea typeface="Helvetica"/>
                <a:cs typeface="Helvetica"/>
              </a:defRPr>
            </a:pPr>
            <a:r>
              <a:rPr sz="1200" b="0" i="0">
                <a:solidFill>
                  <a:srgbClr val="667085"/>
                </a:solidFill>
                <a:latin typeface="Helvetica"/>
                <a:ea typeface="Helvetica"/>
                <a:cs typeface="Helvetica"/>
              </a:rPr>
              <a:t>same workflow with real integrations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9E7541-4E46-4EB8-B062-2CCB7F21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86525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98A2B3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98A2B3"/>
                </a:solidFill>
                <a:latin typeface="Helvetica"/>
                <a:ea typeface="Helvetica"/>
                <a:cs typeface="Helvetica"/>
              </a:rPr>
              <a:t>AI SOFTWARE FACTORY WORKSHOP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84383E-E266-44A6-B685-8E24E1BC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98A2B3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98A2B3"/>
                </a:solidFill>
                <a:latin typeface="Helvetica"/>
                <a:ea typeface="Helvetica"/>
                <a:cs typeface="Helvetic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386956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3561A5-B41A-46EE-A720-B692EB02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355C4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2355C4"/>
                </a:solidFill>
                <a:latin typeface="Helvetica"/>
                <a:ea typeface="Helvetica"/>
                <a:cs typeface="Helvetica"/>
              </a:rPr>
              <a:t>05 · THE SHARED USE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335903-8BB2-4EAB-AFF8-41BED447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744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 i="0">
                <a:solidFill>
                  <a:srgbClr val="111827"/>
                </a:solidFill>
                <a:latin typeface="Helvetica"/>
                <a:ea typeface="Helvetica"/>
                <a:cs typeface="Helvetica"/>
              </a:defRPr>
            </a:pPr>
            <a:r>
              <a:rPr sz="3225" b="1" i="0">
                <a:solidFill>
                  <a:srgbClr val="111827"/>
                </a:solidFill>
                <a:latin typeface="Helvetica"/>
                <a:ea typeface="Helvetica"/>
                <a:cs typeface="Helvetica"/>
              </a:rPr>
              <a:t>Pocket Cinema is our starting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CD48E6-DCD5-4E2B-9821-F256FABB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7181850" cy="4552950"/>
          </a:xfrm>
          <a:prstGeom xmlns:a="http://schemas.openxmlformats.org/drawingml/2006/main" prst="roundRect">
            <a:avLst>
              <a:gd name="adj" fmla="val 2510"/>
            </a:avLst>
          </a:prstGeom>
          <a:solidFill xmlns:a="http://schemas.openxmlformats.org/drawingml/2006/main">
            <a:srgbClr val="0B0B0F"/>
          </a:solidFill>
          <a:ln xmlns:a="http://schemas.openxmlformats.org/drawingml/2006/main" w="9525">
            <a:solidFill>
              <a:srgbClr val="0B0B0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02fb374a304a6b"/>
          <a:srcRect xmlns:a="http://schemas.openxmlformats.org/drawingml/2006/main" l="0" t="4007" r="0" b="40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1752600"/>
            <a:ext cx="7029450" cy="4400550"/>
          </a:xfrm>
          <a:prstGeom xmlns:a="http://schemas.openxmlformats.org/drawingml/2006/main" prst="roundRect">
            <a:avLst>
              <a:gd name="adj" fmla="val 259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7201C-2530-4606-81F7-CB0A6E13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478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827"/>
                </a:solidFill>
                <a:latin typeface="Helvetica"/>
                <a:ea typeface="Helvetica"/>
                <a:cs typeface="Helvetica"/>
              </a:defRPr>
            </a:pPr>
            <a:r>
              <a:rPr sz="2100" b="1" i="0">
                <a:solidFill>
                  <a:srgbClr val="111827"/>
                </a:solidFill>
                <a:latin typeface="Helvetica"/>
                <a:ea typeface="Helvetica"/>
                <a:cs typeface="Helvetica"/>
              </a:rPr>
              <a:t>A working streaming UI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30BDA5-3179-4129-A7D3-507A5721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57450"/>
            <a:ext cx="3143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 i="0">
                <a:solidFill>
                  <a:srgbClr val="667085"/>
                </a:solidFill>
                <a:latin typeface="Helvetica"/>
                <a:ea typeface="Helvetica"/>
                <a:cs typeface="Helvetica"/>
              </a:defRPr>
            </a:pPr>
            <a:r>
              <a:rPr sz="1500" b="0" i="0">
                <a:solidFill>
                  <a:srgbClr val="667085"/>
                </a:solidFill>
                <a:latin typeface="Helvetica"/>
                <a:ea typeface="Helvetica"/>
                <a:cs typeface="Helvetica"/>
              </a:rPr>
              <a:t>The challenge is not to generate a greenfield demo. It is to change a real, already-working product without losing what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CF00D9-6C7C-4EF8-97A2-B9055818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10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5C4"/>
          </a:solidFill>
          <a:ln xmlns:a="http://schemas.openxmlformats.org/drawingml/2006/main" w="0">
            <a:solidFill>
              <a:srgbClr val="2355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FE64C0-BA41-43D7-9832-D23A52A8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624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  <a:latin typeface="Helvetica"/>
                <a:ea typeface="Helvetica"/>
                <a:cs typeface="Helvetica"/>
              </a:defRPr>
            </a:pPr>
            <a:r>
              <a:rPr sz="1350" b="1" i="0">
                <a:solidFill>
                  <a:srgbClr val="111827"/>
                </a:solidFill>
                <a:latin typeface="Helvetica"/>
                <a:ea typeface="Helvetica"/>
                <a:cs typeface="Helvetica"/>
              </a:rPr>
              <a:t>Browse and 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7CFB5-8165-4AEC-891E-8793F890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5C4"/>
          </a:solidFill>
          <a:ln xmlns:a="http://schemas.openxmlformats.org/drawingml/2006/main" w="0">
            <a:solidFill>
              <a:srgbClr val="2355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3E14C9-7130-49B5-B1EA-F803B0E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10075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  <a:latin typeface="Helvetica"/>
                <a:ea typeface="Helvetica"/>
                <a:cs typeface="Helvetica"/>
              </a:defRPr>
            </a:pPr>
            <a:r>
              <a:rPr sz="1350" b="1" i="0">
                <a:solidFill>
                  <a:srgbClr val="111827"/>
                </a:solidFill>
                <a:latin typeface="Helvetica"/>
                <a:ea typeface="Helvetica"/>
                <a:cs typeface="Helvetica"/>
              </a:rPr>
              <a:t>Reusable data contracts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7C5326-6536-4153-806D-D6E078FD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05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5C4"/>
          </a:solidFill>
          <a:ln xmlns:a="http://schemas.openxmlformats.org/drawingml/2006/main" w="0">
            <a:solidFill>
              <a:srgbClr val="2355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82950B-255E-4236-99D9-09453ED9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577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  <a:latin typeface="Helvetica"/>
                <a:ea typeface="Helvetica"/>
                <a:cs typeface="Helvetica"/>
              </a:defRPr>
            </a:pPr>
            <a:r>
              <a:rPr sz="1350" b="1" i="0">
                <a:solidFill>
                  <a:srgbClr val="111827"/>
                </a:solidFill>
                <a:latin typeface="Helvetica"/>
                <a:ea typeface="Helvetica"/>
                <a:cs typeface="Helvetica"/>
              </a:rPr>
              <a:t>Responsive behavior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FCBAA0-ADD4-49BB-9522-5ED333BE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53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5C4"/>
          </a:solidFill>
          <a:ln xmlns:a="http://schemas.openxmlformats.org/drawingml/2006/main" w="0">
            <a:solidFill>
              <a:srgbClr val="2355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68875D-AA2C-4421-BE6E-9C0D0701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305425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  <a:latin typeface="Helvetica"/>
                <a:ea typeface="Helvetica"/>
                <a:cs typeface="Helvetica"/>
              </a:defRPr>
            </a:pPr>
            <a:r>
              <a:rPr sz="1350" b="1" i="0">
                <a:solidFill>
                  <a:srgbClr val="111827"/>
                </a:solidFill>
                <a:latin typeface="Helvetica"/>
                <a:ea typeface="Helvetica"/>
                <a:cs typeface="Helvetica"/>
              </a:rPr>
              <a:t>Existing tests and navigation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B4FA92-1276-4D19-8E84-3105C76B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86525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98A2B3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98A2B3"/>
                </a:solidFill>
                <a:latin typeface="Helvetica"/>
                <a:ea typeface="Helvetica"/>
                <a:cs typeface="Helvetica"/>
              </a:rPr>
              <a:t>AI SOFTWARE FACTORY WORKSHOP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5CA074-DC9F-4B22-AD0C-28B7E1B1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98A2B3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98A2B3"/>
                </a:solidFill>
                <a:latin typeface="Helvetica"/>
                <a:ea typeface="Helvetica"/>
                <a:cs typeface="Helvetic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837161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1DE136-4CC7-4FA3-8681-587CACC5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44329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A44329"/>
                </a:solidFill>
                <a:latin typeface="Helvetica"/>
                <a:ea typeface="Helvetica"/>
                <a:cs typeface="Helvetica"/>
              </a:rPr>
              <a:t>06 · THE TARGET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7A1AD6-753F-4676-B544-1F1FACCB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744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150" b="1" i="0">
                <a:solidFill>
                  <a:srgbClr val="111827"/>
                </a:solidFill>
                <a:latin typeface="Helvetica"/>
                <a:ea typeface="Helvetica"/>
                <a:cs typeface="Helvetica"/>
              </a:defRPr>
            </a:pPr>
            <a:r>
              <a:rPr sz="3150" b="1" i="0">
                <a:solidFill>
                  <a:srgbClr val="111827"/>
                </a:solidFill>
                <a:latin typeface="Helvetica"/>
                <a:ea typeface="Helvetica"/>
                <a:cs typeface="Helvetica"/>
              </a:rPr>
              <a:t>Pocket Cinema becomes TableStory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5C2765-F0E7-4570-ADF8-85F971CC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62075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65F55"/>
                </a:solidFill>
                <a:latin typeface="Helvetica"/>
                <a:ea typeface="Helvetica"/>
                <a:cs typeface="Helvetica"/>
              </a:defRPr>
            </a:pPr>
            <a:r>
              <a:rPr sz="1575" b="0" i="0">
                <a:solidFill>
                  <a:srgbClr val="665F55"/>
                </a:solidFill>
                <a:latin typeface="Helvetica"/>
                <a:ea typeface="Helvetica"/>
                <a:cs typeface="Helvetica"/>
              </a:rPr>
              <a:t>A recipe discovery experience designed for desktop, mobile, and TV input.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E0C4D1-EF52-481E-B5F9-A23E934F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7067550" cy="33147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d1fc2d97c4431e"/>
          <a:srcRect xmlns:a="http://schemas.openxmlformats.org/drawingml/2006/main" l="0" t="16402" r="0" b="164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1905000"/>
            <a:ext cx="6915150" cy="3162300"/>
          </a:xfrm>
          <a:prstGeom xmlns:a="http://schemas.openxmlformats.org/drawingml/2006/main" prst="roundRect">
            <a:avLst>
              <a:gd name="adj" fmla="val 361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08E17-292F-4B0B-83FB-860ABB07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3524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0B0F"/>
          </a:solidFill>
          <a:ln xmlns:a="http://schemas.openxmlformats.org/drawingml/2006/main" w="0">
            <a:solidFill>
              <a:srgbClr val="0B0B0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29041-EEBA-4276-BEFB-EFCDD826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768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2C5AF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F2C5AF"/>
                </a:solidFill>
                <a:latin typeface="Helvetica"/>
                <a:ea typeface="Helvetica"/>
                <a:cs typeface="Helvetica"/>
              </a:rPr>
              <a:t>TV MODE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677A46-E7DF-4C74-8DDA-000F43C3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102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350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←  ↑  ↓  →     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1B646-C2E8-4F0A-99A0-2248C652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8293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D0D5DD"/>
                </a:solidFill>
                <a:latin typeface="Helvetica"/>
                <a:ea typeface="Helvetica"/>
                <a:cs typeface="Helvetica"/>
              </a:defRPr>
            </a:pPr>
            <a:r>
              <a:rPr sz="975" b="0" i="0">
                <a:solidFill>
                  <a:srgbClr val="D0D5DD"/>
                </a:solidFill>
                <a:latin typeface="Helvetica"/>
                <a:ea typeface="Helvetica"/>
                <a:cs typeface="Helvetica"/>
              </a:rPr>
              <a:t>remote-first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6CAA71-ABC4-4BDD-889D-86F8E170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90700"/>
            <a:ext cx="1981200" cy="405765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7b645aa4f64aa0"/>
          <a:srcRect xmlns:a="http://schemas.openxmlformats.org/drawingml/2006/main" l="0" t="105" r="0" b="1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77200" y="1885950"/>
            <a:ext cx="1790700" cy="3867150"/>
          </a:xfrm>
          <a:prstGeom xmlns:a="http://schemas.openxmlformats.org/drawingml/2006/main" prst="roundRect">
            <a:avLst>
              <a:gd name="adj" fmla="val 6383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1F659E-9EA1-4C18-B884-16DA6832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981200"/>
            <a:ext cx="139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44329"/>
                </a:solidFill>
                <a:latin typeface="Helvetica"/>
                <a:ea typeface="Helvetica"/>
                <a:cs typeface="Helvetica"/>
              </a:defRPr>
            </a:pPr>
            <a:r>
              <a:rPr sz="1350" b="1" i="0">
                <a:solidFill>
                  <a:srgbClr val="A44329"/>
                </a:solidFill>
                <a:latin typeface="Helvetica"/>
                <a:ea typeface="Helvetica"/>
                <a:cs typeface="Helvetica"/>
              </a:rPr>
              <a:t>The product promise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CACA56-C965-4CB5-B83C-5D9187F1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628900"/>
            <a:ext cx="14097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111827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111827"/>
                </a:solidFill>
                <a:latin typeface="Helvetica"/>
                <a:ea typeface="Helvetica"/>
                <a:cs typeface="Helvetica"/>
              </a:rPr>
              <a:t>Browse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111827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111827"/>
                </a:solidFill>
                <a:latin typeface="Helvetica"/>
                <a:ea typeface="Helvetica"/>
                <a:cs typeface="Helvetica"/>
              </a:rPr>
              <a:t>Search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111827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111827"/>
                </a:solidFill>
                <a:latin typeface="Helvetica"/>
                <a:ea typeface="Helvetica"/>
                <a:cs typeface="Helvetica"/>
              </a:rPr>
              <a:t>Open details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111827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111827"/>
                </a:solidFill>
                <a:latin typeface="Helvetica"/>
                <a:ea typeface="Helvetica"/>
                <a:cs typeface="Helvetica"/>
              </a:rPr>
              <a:t>Save recipes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111827"/>
                </a:solidFill>
                <a:latin typeface="Helvetica"/>
                <a:ea typeface="Helvetica"/>
                <a:cs typeface="Helvetica"/>
              </a:defRPr>
            </a:pPr>
            <a:r>
              <a:rPr sz="1275" b="0" i="0">
                <a:solidFill>
                  <a:srgbClr val="111827"/>
                </a:solidFill>
                <a:latin typeface="Helvetica"/>
                <a:ea typeface="Helvetica"/>
                <a:cs typeface="Helvetica"/>
              </a:rPr>
              <a:t>Use arrows + Enter on TV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136271-DDBD-4655-BA42-D77D4C24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086350"/>
            <a:ext cx="1428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2C5A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571691-FE79-46FB-A131-EE36E514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524827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5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9A3412"/>
                </a:solidFill>
                <a:latin typeface="Helvetica"/>
                <a:ea typeface="Helvetica"/>
                <a:cs typeface="Helvetica"/>
              </a:defRPr>
            </a:pPr>
            <a:r>
              <a:rPr sz="1125" b="1" i="0">
                <a:solidFill>
                  <a:srgbClr val="9A3412"/>
                </a:solidFill>
                <a:latin typeface="Helvetica"/>
                <a:ea typeface="Helvetica"/>
                <a:cs typeface="Helvetica"/>
              </a:rPr>
              <a:t>Same intent.</a:t>
            </a:r>
          </a:p>
          <a:p xmlns:a="http://schemas.openxmlformats.org/drawingml/2006/main">
            <a:pPr algn="ctr">
              <a:defRPr sz="1125" b="1" i="0">
                <a:solidFill>
                  <a:srgbClr val="9A3412"/>
                </a:solidFill>
                <a:latin typeface="Helvetica"/>
                <a:ea typeface="Helvetica"/>
                <a:cs typeface="Helvetica"/>
              </a:defRPr>
            </a:pPr>
            <a:r>
              <a:rPr sz="1125" b="1" i="0">
                <a:solidFill>
                  <a:srgbClr val="9A3412"/>
                </a:solidFill>
                <a:latin typeface="Helvetica"/>
                <a:ea typeface="Helvetica"/>
                <a:cs typeface="Helvetica"/>
              </a:rPr>
              <a:t>Different surfaces.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F6107E-1DF1-456E-BFF6-78F8F4EC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86525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98A2B3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98A2B3"/>
                </a:solidFill>
                <a:latin typeface="Helvetica"/>
                <a:ea typeface="Helvetica"/>
                <a:cs typeface="Helvetica"/>
              </a:rPr>
              <a:t>POCKET CINEMA → TABLESTORY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C7F5F4-319C-4F42-90FB-4BF3F062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98A2B3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98A2B3"/>
                </a:solidFill>
                <a:latin typeface="Helvetica"/>
                <a:ea typeface="Helvetica"/>
                <a:cs typeface="Helvetica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465517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B954AE-6B18-4241-9DC9-10858A9C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355C4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2355C4"/>
                </a:solidFill>
                <a:latin typeface="Helvetica"/>
                <a:ea typeface="Helvetica"/>
                <a:cs typeface="Helvetica"/>
              </a:rPr>
              <a:t>07 · THE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7FC9FB-3D15-41A2-82F9-D69BE2B6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 i="0">
                <a:solidFill>
                  <a:srgbClr val="111827"/>
                </a:solidFill>
                <a:latin typeface="Helvetica"/>
                <a:ea typeface="Helvetica"/>
                <a:cs typeface="Helvetica"/>
              </a:defRPr>
            </a:pPr>
            <a:r>
              <a:rPr sz="3000" b="1" i="0">
                <a:solidFill>
                  <a:srgbClr val="111827"/>
                </a:solidFill>
                <a:latin typeface="Helvetica"/>
                <a:ea typeface="Helvetica"/>
                <a:cs typeface="Helvetica"/>
              </a:rPr>
              <a:t>Completion is a claim until evidence makes it reviewable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4CFC76-86CB-4CD3-B59E-37A48201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67085"/>
                </a:solidFill>
                <a:latin typeface="Helvetica"/>
                <a:ea typeface="Helvetica"/>
                <a:cs typeface="Helvetica"/>
              </a:defRPr>
            </a:pPr>
            <a:r>
              <a:rPr sz="1575" b="0" i="0">
                <a:solidFill>
                  <a:srgbClr val="667085"/>
                </a:solidFill>
                <a:latin typeface="Helvetica"/>
                <a:ea typeface="Helvetica"/>
                <a:cs typeface="Helvetica"/>
              </a:rPr>
              <a:t>The factory does not ask the reviewer to trust the agent’s confidence.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bda835577946e7"/>
          <a:stretch xmlns:a="http://schemas.openxmlformats.org/drawingml/2006/main"/>
        </p:blipFill>
        <p:spPr>
          <a:xfrm xmlns:a="http://schemas.openxmlformats.org/drawingml/2006/main">
            <a:off x="723900" y="2065347"/>
            <a:ext cx="6572250" cy="3698856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100CF-DAD3-42E6-B0DC-4FF88D2C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193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355C4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2355C4"/>
                </a:solidFill>
                <a:latin typeface="Helvetica"/>
                <a:ea typeface="Helvetica"/>
                <a:cs typeface="Helvetica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26EE3-2B1C-4125-87B4-28EBF61B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  <a:latin typeface="Helvetica"/>
                <a:ea typeface="Helvetica"/>
                <a:cs typeface="Helvetica"/>
              </a:defRPr>
            </a:pPr>
            <a:r>
              <a:rPr sz="1650" b="1" i="0">
                <a:solidFill>
                  <a:srgbClr val="111827"/>
                </a:solidFill>
                <a:latin typeface="Helvetica"/>
                <a:ea typeface="Helvetica"/>
                <a:cs typeface="Helvetica"/>
              </a:rPr>
              <a:t>Causal 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6116A-95CB-4036-BD04-E5F93DEF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6220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667085"/>
                </a:solidFill>
                <a:latin typeface="Helvetica"/>
                <a:ea typeface="Helvetica"/>
                <a:cs typeface="Helvetica"/>
              </a:defRPr>
            </a:pPr>
            <a:r>
              <a:rPr sz="1200" b="0" i="0">
                <a:solidFill>
                  <a:srgbClr val="667085"/>
                </a:solidFill>
                <a:latin typeface="Helvetica"/>
                <a:ea typeface="Helvetica"/>
                <a:cs typeface="Helvetica"/>
              </a:rPr>
              <a:t>The same focused check fails before the change and passes after 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589E3-593E-46EA-B4E1-D8702CDE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48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355C4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2355C4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B8B91B-2DA3-4196-BFED-30E18ED6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2895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  <a:latin typeface="Helvetica"/>
                <a:ea typeface="Helvetica"/>
                <a:cs typeface="Helvetica"/>
              </a:defRPr>
            </a:pPr>
            <a:r>
              <a:rPr sz="1650" b="1" i="0">
                <a:solidFill>
                  <a:srgbClr val="111827"/>
                </a:solidFill>
                <a:latin typeface="Helvetica"/>
                <a:ea typeface="Helvetica"/>
                <a:cs typeface="Helvetica"/>
              </a:rPr>
              <a:t>Required gates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4B6806-E77B-4196-941E-6583FDE9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9090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667085"/>
                </a:solidFill>
                <a:latin typeface="Helvetica"/>
                <a:ea typeface="Helvetica"/>
                <a:cs typeface="Helvetica"/>
              </a:defRPr>
            </a:pPr>
            <a:r>
              <a:rPr sz="1200" b="0" i="0">
                <a:solidFill>
                  <a:srgbClr val="667085"/>
                </a:solidFill>
                <a:latin typeface="Helvetica"/>
                <a:ea typeface="Helvetica"/>
                <a:cs typeface="Helvetica"/>
              </a:rPr>
              <a:t>Tests, lint, type checks, and review rules produce a visible result.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F96B5A-121C-4C49-A083-9CE3F852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76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97316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F97316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4ED031-440F-41B2-9F98-A94FE129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5765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  <a:latin typeface="Helvetica"/>
                <a:ea typeface="Helvetica"/>
                <a:cs typeface="Helvetica"/>
              </a:defRPr>
            </a:pPr>
            <a:r>
              <a:rPr sz="1650" b="1" i="0">
                <a:solidFill>
                  <a:srgbClr val="111827"/>
                </a:solidFill>
                <a:latin typeface="Helvetica"/>
                <a:ea typeface="Helvetica"/>
                <a:cs typeface="Helvetica"/>
              </a:rPr>
              <a:t>Human 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185462-FAA7-4843-B8B1-4B5BCA11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1960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667085"/>
                </a:solidFill>
                <a:latin typeface="Helvetica"/>
                <a:ea typeface="Helvetica"/>
                <a:cs typeface="Helvetica"/>
              </a:defRPr>
            </a:pPr>
            <a:r>
              <a:rPr sz="1200" b="0" i="0">
                <a:solidFill>
                  <a:srgbClr val="667085"/>
                </a:solidFill>
                <a:latin typeface="Helvetica"/>
                <a:ea typeface="Helvetica"/>
                <a:cs typeface="Helvetica"/>
              </a:rPr>
              <a:t>A person inspects the exact candidate revision before merge.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FF3CD6-0426-4F82-85B9-DEBB07E0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054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F7D4A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2F7D4A"/>
                </a:solidFill>
                <a:latin typeface="Helvetica"/>
                <a:ea typeface="Helvetica"/>
                <a:cs typeface="Helvetica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AE7C7A-34A9-43AD-8FBF-C97F1CA7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8635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  <a:latin typeface="Helvetica"/>
                <a:ea typeface="Helvetica"/>
                <a:cs typeface="Helvetica"/>
              </a:defRPr>
            </a:pPr>
            <a:r>
              <a:rPr sz="1650" b="1" i="0">
                <a:solidFill>
                  <a:srgbClr val="111827"/>
                </a:solidFill>
                <a:latin typeface="Helvetica"/>
                <a:ea typeface="Helvetica"/>
                <a:cs typeface="Helvetica"/>
              </a:rPr>
              <a:t>Post-merge health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D5C8A1-301E-4F85-A201-1D4CE295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4830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667085"/>
                </a:solidFill>
                <a:latin typeface="Helvetica"/>
                <a:ea typeface="Helvetica"/>
                <a:cs typeface="Helvetica"/>
              </a:defRPr>
            </a:pPr>
            <a:r>
              <a:rPr sz="1200" b="0" i="0">
                <a:solidFill>
                  <a:srgbClr val="667085"/>
                </a:solidFill>
                <a:latin typeface="Helvetica"/>
                <a:ea typeface="Helvetica"/>
                <a:cs typeface="Helvetica"/>
              </a:rPr>
              <a:t>The integrated result remains observable after delivery.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873B9B-EC72-48BB-8CAB-C093BA22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86525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98A2B3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98A2B3"/>
                </a:solidFill>
                <a:latin typeface="Helvetica"/>
                <a:ea typeface="Helvetica"/>
                <a:cs typeface="Helvetica"/>
              </a:rPr>
              <a:t>AI SOFTWARE FACTORY WORKSHOP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4F4D9-C430-4304-8030-EA74AB4A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98A2B3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98A2B3"/>
                </a:solidFill>
                <a:latin typeface="Helvetica"/>
                <a:ea typeface="Helvetica"/>
                <a:cs typeface="Helvetica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015397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A16E9E-E0EE-4001-B833-F63619D1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355C4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2355C4"/>
                </a:solidFill>
                <a:latin typeface="Helvetica"/>
                <a:ea typeface="Helvetica"/>
                <a:cs typeface="Helvetica"/>
              </a:rPr>
              <a:t>08 · FIRST MOVE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0B16E6-0D67-471F-8A0A-51FA88C0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62050"/>
            <a:ext cx="4476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4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900" b="1" i="0">
                <a:solidFill>
                  <a:srgbClr val="111827"/>
                </a:solidFill>
                <a:latin typeface="Helvetica"/>
                <a:ea typeface="Helvetica"/>
                <a:cs typeface="Helvetica"/>
              </a:defRPr>
            </a:pPr>
            <a:r>
              <a:rPr sz="3900" b="1" i="0">
                <a:solidFill>
                  <a:srgbClr val="111827"/>
                </a:solidFill>
                <a:latin typeface="Helvetica"/>
                <a:ea typeface="Helvetica"/>
                <a:cs typeface="Helvetica"/>
              </a:rPr>
              <a:t>Before we automate,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900" b="1" i="0">
                <a:solidFill>
                  <a:srgbClr val="111827"/>
                </a:solidFill>
                <a:latin typeface="Helvetica"/>
                <a:ea typeface="Helvetica"/>
                <a:cs typeface="Helvetica"/>
              </a:defRPr>
            </a:pPr>
            <a:r>
              <a:rPr sz="3900" b="1" i="0">
                <a:solidFill>
                  <a:srgbClr val="111827"/>
                </a:solidFill>
                <a:latin typeface="Helvetica"/>
                <a:ea typeface="Helvetica"/>
                <a:cs typeface="Helvetica"/>
              </a:rPr>
              <a:t>we learn the system.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F170AE-9F29-4B1F-9A0F-88A6C249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 i="0">
                <a:solidFill>
                  <a:srgbClr val="667085"/>
                </a:solidFill>
                <a:latin typeface="Helvetica"/>
                <a:ea typeface="Helvetica"/>
                <a:cs typeface="Helvetica"/>
              </a:defRPr>
            </a:pPr>
            <a:r>
              <a:rPr sz="1650" b="0" i="0">
                <a:solidFill>
                  <a:srgbClr val="667085"/>
                </a:solidFill>
                <a:latin typeface="Helvetica"/>
                <a:ea typeface="Helvetica"/>
                <a:cs typeface="Helvetica"/>
              </a:rPr>
              <a:t>Inspect Pocket Cinema and answer three questions: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921D9-A540-421C-AB26-EC46405A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355C4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2355C4"/>
                </a:solidFill>
                <a:latin typeface="Helvetica"/>
                <a:ea typeface="Helvetica"/>
                <a:cs typeface="Helvetica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F15B4-3AEA-43A6-A5EF-C70E5097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957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827"/>
                </a:solidFill>
                <a:latin typeface="Helvetica"/>
                <a:ea typeface="Helvetica"/>
                <a:cs typeface="Helvetica"/>
              </a:defRPr>
            </a:pPr>
            <a:r>
              <a:rPr sz="1575" b="1" i="0">
                <a:solidFill>
                  <a:srgbClr val="111827"/>
                </a:solidFill>
                <a:latin typeface="Helvetica"/>
                <a:ea typeface="Helvetica"/>
                <a:cs typeface="Helvetica"/>
              </a:rPr>
              <a:t>What already works?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AFB8A-3FA0-43B8-BD40-9701C46A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355C4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2355C4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D0D58-EAE8-496E-B3F9-CF5B6B0C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100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827"/>
                </a:solidFill>
                <a:latin typeface="Helvetica"/>
                <a:ea typeface="Helvetica"/>
                <a:cs typeface="Helvetica"/>
              </a:defRPr>
            </a:pPr>
            <a:r>
              <a:rPr sz="1575" b="1" i="0">
                <a:solidFill>
                  <a:srgbClr val="111827"/>
                </a:solidFill>
                <a:latin typeface="Helvetica"/>
                <a:ea typeface="Helvetica"/>
                <a:cs typeface="Helvetica"/>
              </a:rPr>
              <a:t>What must change?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8821C4-D8C4-4D16-B978-831F2657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355C4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2355C4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45203C-D9A0-4F7B-A8B2-DB4BA443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244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827"/>
                </a:solidFill>
                <a:latin typeface="Helvetica"/>
                <a:ea typeface="Helvetica"/>
                <a:cs typeface="Helvetica"/>
              </a:defRPr>
            </a:pPr>
            <a:r>
              <a:rPr sz="1575" b="1" i="0">
                <a:solidFill>
                  <a:srgbClr val="111827"/>
                </a:solidFill>
                <a:latin typeface="Helvetica"/>
                <a:ea typeface="Helvetica"/>
                <a:cs typeface="Helvetica"/>
              </a:rPr>
              <a:t>What must never regress?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699F40-5ADD-44BA-97A9-F602E6C0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40957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355C4"/>
          </a:solidFill>
          <a:ln xmlns:a="http://schemas.openxmlformats.org/drawingml/2006/main" w="0">
            <a:solidFill>
              <a:srgbClr val="2355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6593D3-1FA4-4CDB-91F7-1DF49CAD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91200"/>
            <a:ext cx="3600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OPEN POCKET CINEMA →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5f4e57010344ec"/>
          <a:stretch xmlns:a="http://schemas.openxmlformats.org/drawingml/2006/main"/>
        </p:blipFill>
        <p:spPr>
          <a:xfrm xmlns:a="http://schemas.openxmlformats.org/drawingml/2006/main">
            <a:off x="5448300" y="1754081"/>
            <a:ext cx="6019800" cy="3387938"/>
          </a:xfrm>
          <a:prstGeom xmlns:a="http://schemas.openxmlformats.org/drawingml/2006/main" prst="roundRect">
            <a:avLst>
              <a:gd name="adj" fmla="val 2308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886831-A2F4-4827-9C25-A7FB72E4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00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355C4"/>
                </a:solidFill>
                <a:latin typeface="Helvetica"/>
                <a:ea typeface="Helvetica"/>
                <a:cs typeface="Helvetica"/>
              </a:defRPr>
            </a:pPr>
            <a:r>
              <a:rPr sz="1350" b="1" i="0">
                <a:solidFill>
                  <a:srgbClr val="2355C4"/>
                </a:solidFill>
                <a:latin typeface="Helvetica"/>
                <a:ea typeface="Helvetica"/>
                <a:cs typeface="Helvetica"/>
              </a:rPr>
              <a:t>Alignment comes before acceleration.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2B31F6-FE3E-4B68-8857-6B3EA74F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86525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98A2B3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98A2B3"/>
                </a:solidFill>
                <a:latin typeface="Helvetica"/>
                <a:ea typeface="Helvetica"/>
                <a:cs typeface="Helvetica"/>
              </a:rPr>
              <a:t>AI SOFTWARE FACTORY WORKSHOP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18313F-370A-42FA-BC23-DC50DA69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98A2B3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98A2B3"/>
                </a:solidFill>
                <a:latin typeface="Helvetica"/>
                <a:ea typeface="Helvetica"/>
                <a:cs typeface="Helvetica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486149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2026-08-27T22:42:39.2490000Z</dcterms:created>
  <dcterms:modified xsi:type="dcterms:W3CDTF">2026-08-27T22:42:39.2490000Z</dcterms:modified>
</coreProperties>
</file>