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bin" ContentType="image/webp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13a479fd5df46b0" /><Relationship Type="http://schemas.openxmlformats.org/officeDocument/2006/relationships/extended-properties" Target="/docProps/app.xml" Id="Rcff7208b335643b5" /><Relationship Type="http://schemas.openxmlformats.org/officeDocument/2006/relationships/officeDocument" Target="/ppt/presentation.xml" Id="Rce777f1bda764fa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0da4bba507c4195"/>
  </p:sldMasterIdLst>
  <p:notesMasterIdLst>
    <p:notesMasterId xmlns:r="http://schemas.openxmlformats.org/officeDocument/2006/relationships" r:id="Rc44cb5a1a7204ef0"/>
  </p:notesMasterIdLst>
  <p:sldIdLst>
    <p:sldId xmlns:r="http://schemas.openxmlformats.org/officeDocument/2006/relationships" id="256" r:id="Rb6ac746c9cce4943"/>
    <p:sldId xmlns:r="http://schemas.openxmlformats.org/officeDocument/2006/relationships" id="257" r:id="R0a0905e0cfa845b6"/>
    <p:sldId xmlns:r="http://schemas.openxmlformats.org/officeDocument/2006/relationships" id="258" r:id="R5094d4ed1ea3493d"/>
    <p:sldId xmlns:r="http://schemas.openxmlformats.org/officeDocument/2006/relationships" id="259" r:id="Rad3dca7305714112"/>
    <p:sldId xmlns:r="http://schemas.openxmlformats.org/officeDocument/2006/relationships" id="260" r:id="Rfdabcd3ae70041b1"/>
    <p:sldId xmlns:r="http://schemas.openxmlformats.org/officeDocument/2006/relationships" id="261" r:id="Ra4302cf1a3ec4a6b"/>
    <p:sldId xmlns:r="http://schemas.openxmlformats.org/officeDocument/2006/relationships" id="262" r:id="Rba945549ac39469e"/>
    <p:sldId xmlns:r="http://schemas.openxmlformats.org/officeDocument/2006/relationships" id="263" r:id="Re65c74adb3264e87"/>
    <p:sldId xmlns:r="http://schemas.openxmlformats.org/officeDocument/2006/relationships" id="264" r:id="R12e186fff3bf497d"/>
    <p:sldId xmlns:r="http://schemas.openxmlformats.org/officeDocument/2006/relationships" id="265" r:id="R74e00d8e5e564b6e"/>
    <p:sldId xmlns:r="http://schemas.openxmlformats.org/officeDocument/2006/relationships" id="266" r:id="R8d05026c77ec414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5819ea3eded421a" /><Relationship Type="http://schemas.openxmlformats.org/officeDocument/2006/relationships/slideMaster" Target="/ppt/slideMasters/slideMaster1.xml" Id="R00da4bba507c4195" /><Relationship Type="http://schemas.openxmlformats.org/officeDocument/2006/relationships/notesMaster" Target="/ppt/notesMasters/notesMaster1.xml" Id="Rc44cb5a1a7204ef0" /><Relationship Type="http://schemas.openxmlformats.org/officeDocument/2006/relationships/presProps" Target="/ppt/presProps.xml" Id="Ra6ba9ecfc59844d4" /><Relationship Type="http://schemas.openxmlformats.org/officeDocument/2006/relationships/tableStyles" Target="/ppt/tableStyles.xml" Id="R4a8d1b2bca324bce" /><Relationship Type="http://schemas.openxmlformats.org/officeDocument/2006/relationships/slide" Target="/ppt/slides/slide1.xml" Id="Rb6ac746c9cce4943" /><Relationship Type="http://schemas.openxmlformats.org/officeDocument/2006/relationships/slide" Target="/ppt/slides/slide2.xml" Id="R0a0905e0cfa845b6" /><Relationship Type="http://schemas.openxmlformats.org/officeDocument/2006/relationships/slide" Target="/ppt/slides/slide3.xml" Id="R5094d4ed1ea3493d" /><Relationship Type="http://schemas.openxmlformats.org/officeDocument/2006/relationships/slide" Target="/ppt/slides/slide4.xml" Id="Rad3dca7305714112" /><Relationship Type="http://schemas.openxmlformats.org/officeDocument/2006/relationships/slide" Target="/ppt/slides/slide5.xml" Id="Rfdabcd3ae70041b1" /><Relationship Type="http://schemas.openxmlformats.org/officeDocument/2006/relationships/slide" Target="/ppt/slides/slide6.xml" Id="Ra4302cf1a3ec4a6b" /><Relationship Type="http://schemas.openxmlformats.org/officeDocument/2006/relationships/slide" Target="/ppt/slides/slide7.xml" Id="Rba945549ac39469e" /><Relationship Type="http://schemas.openxmlformats.org/officeDocument/2006/relationships/slide" Target="/ppt/slides/slide8.xml" Id="Re65c74adb3264e87" /><Relationship Type="http://schemas.openxmlformats.org/officeDocument/2006/relationships/slide" Target="/ppt/slides/slide9.xml" Id="R12e186fff3bf497d" /><Relationship Type="http://schemas.openxmlformats.org/officeDocument/2006/relationships/slide" Target="/ppt/slides/slide10.xml" Id="R74e00d8e5e564b6e" /><Relationship Type="http://schemas.openxmlformats.org/officeDocument/2006/relationships/slide" Target="/ppt/slides/slide11.xml" Id="R8d05026c77ec41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1f493aa9715447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b2411ea855d412f" /><Relationship Type="http://schemas.openxmlformats.org/officeDocument/2006/relationships/notesMaster" Target="/ppt/notesMasters/notesMaster1.xml" Id="Rf49d233fef29424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c8ed87278ab4a28" /><Relationship Type="http://schemas.openxmlformats.org/officeDocument/2006/relationships/notesMaster" Target="/ppt/notesMasters/notesMaster1.xml" Id="R5119b425bfb74c0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fc0fe0088424cf1" /><Relationship Type="http://schemas.openxmlformats.org/officeDocument/2006/relationships/notesMaster" Target="/ppt/notesMasters/notesMaster1.xml" Id="R02cb438b8872421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1e3ebec675e4475" /><Relationship Type="http://schemas.openxmlformats.org/officeDocument/2006/relationships/notesMaster" Target="/ppt/notesMasters/notesMaster1.xml" Id="Re33f410a9172461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a44881050ed405b" /><Relationship Type="http://schemas.openxmlformats.org/officeDocument/2006/relationships/notesMaster" Target="/ppt/notesMasters/notesMaster1.xml" Id="R1f274f402c30423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0e61fb787a04377" /><Relationship Type="http://schemas.openxmlformats.org/officeDocument/2006/relationships/notesMaster" Target="/ppt/notesMasters/notesMaster1.xml" Id="Rd186145ff9d8476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64a7fef4741418f" /><Relationship Type="http://schemas.openxmlformats.org/officeDocument/2006/relationships/notesMaster" Target="/ppt/notesMasters/notesMaster1.xml" Id="R743665e6211b401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16a07fccfda4051" /><Relationship Type="http://schemas.openxmlformats.org/officeDocument/2006/relationships/notesMaster" Target="/ppt/notesMasters/notesMaster1.xml" Id="R73eb6d0efd6d4de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0c2e6baff3447bf" /><Relationship Type="http://schemas.openxmlformats.org/officeDocument/2006/relationships/notesMaster" Target="/ppt/notesMasters/notesMaster1.xml" Id="R0a6c6fa120cc47b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3cde5a95c014d5e" /><Relationship Type="http://schemas.openxmlformats.org/officeDocument/2006/relationships/notesMaster" Target="/ppt/notesMasters/notesMaster1.xml" Id="R7161499a27984bd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9093cc4d3f04696" /><Relationship Type="http://schemas.openxmlformats.org/officeDocument/2006/relationships/notesMaster" Target="/ppt/notesMasters/notesMaster1.xml" Id="R447de950468141e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session as a practical engineering workshop.</a:t>
            </a:r>
          </a:p>
          <a:p xmlns:a="http://schemas.openxmlformats.org/drawingml/2006/main">
            <a:r>
              <a:t>Tell participants that Pocket Cinema is a working system, not a blank starter project.</a:t>
            </a:r>
          </a:p>
          <a:p xmlns:a="http://schemas.openxmlformats.org/drawingml/2006/main">
            <a:r>
              <a:t>The goal is to learn a repeatable delivery method, not a single tool or prompt pattern.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/Users/glaquidara/Projects/agentconf/factory/WORKSHOP_OUTLINE.md</a:t>
            </a:r>
          </a:p>
          <a:p xmlns:a="http://schemas.openxmlformats.org/drawingml/2006/main">
            <a:r>
              <a:t>- /Users/glaquidara/Projects/agentconf/factory/README.md</a:t>
            </a:r>
          </a:p>
          <a:p xmlns:a="http://schemas.openxmlformats.org/drawingml/2006/main">
            <a:r>
              <a:t>- https://developers.google.com/style/</a:t>
            </a:r>
          </a:p>
          <a:p xmlns:a="http://schemas.openxmlformats.org/drawingml/2006/main">
            <a:r>
              <a:t>- https://developers.google.com/style/highlights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objectives as capabilities participants will practice, not topics they will only hear about.</a:t>
            </a:r>
          </a:p>
          <a:p xmlns:a="http://schemas.openxmlformats.org/drawingml/2006/main">
            <a:r>
              <a:t>Point out that the workshop output includes both software and the evidence required to review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/Users/glaquidara/Projects/agentconf/factory/WORKSHOP_OUTLINE.md</a:t>
            </a:r>
          </a:p>
          <a:p xmlns:a="http://schemas.openxmlformats.org/drawingml/2006/main">
            <a:r>
              <a:t>- https://developers.google.com/learn/pathways</a:t>
            </a:r>
          </a:p>
          <a:p xmlns:a="http://schemas.openxmlformats.org/drawingml/2006/main">
            <a:r>
              <a:t>- https://developers.google.com/style/accessibility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comparison to establish a clear boundary of responsibility.</a:t>
            </a:r>
          </a:p>
          <a:p xmlns:a="http://schemas.openxmlformats.org/drawingml/2006/main">
            <a:r>
              <a:t>An agent can implement a ticket, but it does not define product intent or grant its own merge authority.</a:t>
            </a:r>
          </a:p>
          <a:p xmlns:a="http://schemas.openxmlformats.org/drawingml/2006/main">
            <a:r>
              <a:t>The factory supplies context, isolation, quality gates, traceability, and human decisions.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/Users/glaquidara/Projects/agentconf/factory/WORKSHOP_OUTLINE.md</a:t>
            </a:r>
          </a:p>
          <a:p xmlns:a="http://schemas.openxmlformats.org/drawingml/2006/main">
            <a:r>
              <a:t>- /Users/glaquidara/Projects/agentconf/factory/README.md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down the table and name the artifact produced by each stage.</a:t>
            </a:r>
          </a:p>
          <a:p xmlns:a="http://schemas.openxmlformats.org/drawingml/2006/main">
            <a:r>
              <a:t>Use the Control Center image to show that the same delivery loop is visible during execution.</a:t>
            </a:r>
          </a:p>
          <a:p xmlns:a="http://schemas.openxmlformats.org/drawingml/2006/main">
            <a:r>
              <a:t>The loop is complete only when a person reviews the evidence and decides what happens next.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/Users/glaquidara/Projects/agentconf/factory/WORKSHOP_OUTLINE.md</a:t>
            </a:r>
          </a:p>
          <a:p xmlns:a="http://schemas.openxmlformats.org/drawingml/2006/main">
            <a:r>
              <a:t>- /Users/glaquidara/Projects/agentconf/factory/README.md</a:t>
            </a:r>
          </a:p>
          <a:p xmlns:a="http://schemas.openxmlformats.org/drawingml/2006/main">
            <a:r>
              <a:t>- /Users/glaquidara/Projects/agentconf/workshop-guide/public/screenshots/control-center-overview.jpg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Repeat Goal, Do, Check throughout the workshop.</a:t>
            </a:r>
          </a:p>
          <a:p xmlns:a="http://schemas.openxmlformats.org/drawingml/2006/main">
            <a:r>
              <a:t>The schedule groups the detailed workshop steps into four learner-facing phases.</a:t>
            </a:r>
          </a:p>
          <a:p xmlns:a="http://schemas.openxmlformats.org/drawingml/2006/main">
            <a:r>
              <a:t>Rehearsal and Live use the same workflow. Rehearsal replaces external variability with deterministic behavior.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/Users/glaquidara/Projects/agentconf/factory/WORKSHOP_OUTLINE.md</a:t>
            </a:r>
          </a:p>
          <a:p xmlns:a="http://schemas.openxmlformats.org/drawingml/2006/main">
            <a:r>
              <a:t>- /Users/glaquidara/Projects/agentconf/factory/FACILITATOR.md</a:t>
            </a:r>
          </a:p>
          <a:p xmlns:a="http://schemas.openxmlformats.org/drawingml/2006/main">
            <a:r>
              <a:t>- /Users/glaquidara/Projects/agentconf/factory/README.md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participants to run the baseline and trace one user flow before opening the target PRD.</a:t>
            </a:r>
          </a:p>
          <a:p xmlns:a="http://schemas.openxmlformats.org/drawingml/2006/main">
            <a:r>
              <a:t>Record navigation, data flow, responsive behavior, and existing tests.</a:t>
            </a:r>
          </a:p>
          <a:p xmlns:a="http://schemas.openxmlformats.org/drawingml/2006/main">
            <a:r>
              <a:t>The current system establishes the non-regression boundary for the change.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/Users/glaquidara/Projects/agentconf/factory/WORKSHOP_OUTLINE.md</a:t>
            </a:r>
          </a:p>
          <a:p xmlns:a="http://schemas.openxmlformats.org/drawingml/2006/main">
            <a:r>
              <a:t>- /Users/glaquidara/Projects/agentconf/workshop-guide/public/screenshots/pocket-cinema-before.webp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Describe the target in terms of user behavior and system contracts.</a:t>
            </a:r>
          </a:p>
          <a:p xmlns:a="http://schemas.openxmlformats.org/drawingml/2006/main">
            <a:r>
              <a:t>The change replaces the film domain with recipe data, routes, search, detail, cookbook, and television navigation.</a:t>
            </a:r>
          </a:p>
          <a:p xmlns:a="http://schemas.openxmlformats.org/drawingml/2006/main">
            <a:r>
              <a:t>The preserved qualities become non-regression requirements.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/Users/glaquidara/Projects/agentconf/factory/README.md</a:t>
            </a:r>
          </a:p>
          <a:p xmlns:a="http://schemas.openxmlformats.org/drawingml/2006/main">
            <a:r>
              <a:t>- /Users/glaquidara/Projects/agentconf/factory/scenarios/recipe-rebrand/steps/5/demo-app/README.md</a:t>
            </a:r>
          </a:p>
          <a:p xmlns:a="http://schemas.openxmlformats.org/drawingml/2006/main">
            <a:r>
              <a:t>- /Users/glaquidara/Projects/agentconf/workshop-guide/public/screenshots/tablestory-desktop.webp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table to explain why the exercise has five reviewable outcomes instead of one rebrand epic.</a:t>
            </a:r>
          </a:p>
          <a:p xmlns:a="http://schemas.openxmlformats.org/drawingml/2006/main">
            <a:r>
              <a:t>T1 and T2 can begin independently. The later user journeys depend on those foundations.</a:t>
            </a:r>
          </a:p>
          <a:p xmlns:a="http://schemas.openxmlformats.org/drawingml/2006/main">
            <a:r>
              <a:t>Do not publish the tickets until requirements, contracts, program elements, and slices align.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/Users/glaquidara/Projects/agentconf/factory/scenarios/recipe-rebrand/planning/04-vertical-slices.json</a:t>
            </a:r>
          </a:p>
          <a:p xmlns:a="http://schemas.openxmlformats.org/drawingml/2006/main">
            <a:r>
              <a:t>- /Users/glaquidara/Projects/agentconf/factory/WORKSHOP_OUTLINE.md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independent QA authors ticket-specific tests before implementation.</a:t>
            </a:r>
          </a:p>
          <a:p xmlns:a="http://schemas.openxmlformats.org/drawingml/2006/main">
            <a:r>
              <a:t>Participants review the test diff and focused command before approving the ticket for implementation.</a:t>
            </a:r>
          </a:p>
          <a:p xmlns:a="http://schemas.openxmlformats.org/drawingml/2006/main">
            <a:r>
              <a:t>Causal evidence requires the same focused command to fail before the change and pass after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/Users/glaquidara/Projects/agentconf/factory/WORKSHOP_OUTLINE.md</a:t>
            </a:r>
          </a:p>
          <a:p xmlns:a="http://schemas.openxmlformats.org/drawingml/2006/main">
            <a:r>
              <a:t>- /Users/glaquidara/Projects/agentconf/factory/README.md</a:t>
            </a:r>
          </a:p>
          <a:p xmlns:a="http://schemas.openxmlformats.org/drawingml/2006/main">
            <a:r>
              <a:t>- /Users/glaquidara/Projects/agentconf/workshop-guide/public/screenshots/control-center-ticket-tests.jpg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Inspect the candidate revision, acceptance criteria, diff, tests, logs, and code review as one evidence chain.</a:t>
            </a:r>
          </a:p>
          <a:p xmlns:a="http://schemas.openxmlformats.org/drawingml/2006/main">
            <a:r>
              <a:t>The merge action targets an exact revision so the reviewed artifact cannot change underneath the decision.</a:t>
            </a:r>
          </a:p>
          <a:p xmlns:a="http://schemas.openxmlformats.org/drawingml/2006/main">
            <a:r>
              <a:t>If evidence is incomplete, send the ticket back with a precise revision request.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/Users/glaquidara/Projects/agentconf/factory/WORKSHOP_OUTLINE.md</a:t>
            </a:r>
          </a:p>
          <a:p xmlns:a="http://schemas.openxmlformats.org/drawingml/2006/main">
            <a:r>
              <a:t>- /Users/glaquidara/Projects/agentconf/factory/README.md</a:t>
            </a:r>
          </a:p>
          <a:p xmlns:a="http://schemas.openxmlformats.org/drawingml/2006/main">
            <a:r>
              <a:t>- /Users/glaquidara/Projects/agentconf/workshop-guide/public/screenshots/control-center-human-merge.jpg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End the introduction by moving participants directly into the inspection exercise.</a:t>
            </a:r>
          </a:p>
          <a:p xmlns:a="http://schemas.openxmlformats.org/drawingml/2006/main">
            <a:r>
              <a:t>Do not let participants edit code during this step.</a:t>
            </a:r>
          </a:p>
          <a:p xmlns:a="http://schemas.openxmlformats.org/drawingml/2006/main">
            <a:r>
              <a:t>The first useful output is a shared description of current behavior and the non-regression boundary.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/Users/glaquidara/Projects/agentconf/factory/WORKSHOP_OUTLINE.md</a:t>
            </a:r>
          </a:p>
          <a:p xmlns:a="http://schemas.openxmlformats.org/drawingml/2006/main">
            <a:r>
              <a:t>- /Users/glaquidara/Projects/agentconf/factory/FACILITATOR.md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f4103fd7c84a7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f788a21046b4125" /><Relationship Type="http://schemas.openxmlformats.org/officeDocument/2006/relationships/slideLayout" Target="/ppt/slideLayouts/slideLayout1.xml" Id="Rdc9d17e685cb438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c9d17e685cb438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cd45579ee648f7" /><Relationship Type="http://schemas.openxmlformats.org/officeDocument/2006/relationships/notesSlide" Target="/ppt/notesSlides/notesSlide1.xml" Id="Rdf3f4734fd43473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9cb68ce8e44cba" /><Relationship Type="http://schemas.openxmlformats.org/officeDocument/2006/relationships/notesSlide" Target="/ppt/notesSlides/notesSlide2.xml" Id="R7d5bc014faa3436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261f6a2f794eca" /><Relationship Type="http://schemas.openxmlformats.org/officeDocument/2006/relationships/notesSlide" Target="/ppt/notesSlides/notesSlide3.xml" Id="Rdb4fdbf831ab417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54a3d116dd4749" /><Relationship Type="http://schemas.openxmlformats.org/officeDocument/2006/relationships/image" Target="/ppt/media/image.jpeg" Id="R63fc526d09144a1d" /><Relationship Type="http://schemas.openxmlformats.org/officeDocument/2006/relationships/notesSlide" Target="/ppt/notesSlides/notesSlide4.xml" Id="R57342bee8f084b2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85cf8f00854f18" /><Relationship Type="http://schemas.openxmlformats.org/officeDocument/2006/relationships/notesSlide" Target="/ppt/notesSlides/notesSlide5.xml" Id="R60c5a015601d4cd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3145c7b2624801" /><Relationship Type="http://schemas.openxmlformats.org/officeDocument/2006/relationships/image" Target="/ppt/media/image.bin" Id="R0e8d6532ef0a4b3b" /><Relationship Type="http://schemas.openxmlformats.org/officeDocument/2006/relationships/notesSlide" Target="/ppt/notesSlides/notesSlide6.xml" Id="R5b8b5e3b32bc4ae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8c4b89d2db4c9b" /><Relationship Type="http://schemas.openxmlformats.org/officeDocument/2006/relationships/image" Target="/ppt/media/image2.bin" Id="Rba78d22ee75a430e" /><Relationship Type="http://schemas.openxmlformats.org/officeDocument/2006/relationships/notesSlide" Target="/ppt/notesSlides/notesSlide7.xml" Id="R6a5caa2b0ee9487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a69e8627164694" /><Relationship Type="http://schemas.openxmlformats.org/officeDocument/2006/relationships/notesSlide" Target="/ppt/notesSlides/notesSlide8.xml" Id="R5910eccea35e4ef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b28e16ffe34d1a" /><Relationship Type="http://schemas.openxmlformats.org/officeDocument/2006/relationships/image" Target="/ppt/media/image2.jpeg" Id="Ra058aadb2ea94c93" /><Relationship Type="http://schemas.openxmlformats.org/officeDocument/2006/relationships/notesSlide" Target="/ppt/notesSlides/notesSlide9.xml" Id="R411aa3accb05431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c268f5e3244e19" /><Relationship Type="http://schemas.openxmlformats.org/officeDocument/2006/relationships/image" Target="/ppt/media/image3.jpeg" Id="R34e08d3da73148bf" /><Relationship Type="http://schemas.openxmlformats.org/officeDocument/2006/relationships/notesSlide" Target="/ppt/notesSlides/notesSlide10.xml" Id="Rdb27e5fd99704b9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3040326bfb4118" /><Relationship Type="http://schemas.openxmlformats.org/officeDocument/2006/relationships/notesSlide" Target="/ppt/notesSlides/notesSlide11.xml" Id="Rc4c80e70769b4cb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1B2162-DAA0-486A-ABDC-A716A7D80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810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7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90F411-E476-4849-AA3A-C739FBC62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1466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30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523337-97F1-4561-A6E7-61330BACF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0"/>
            <a:ext cx="14573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A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6A38D5-B36B-4771-9EAB-8EB4AF72D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0"/>
            <a:ext cx="14573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80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A3CBE9-68E3-4972-88A1-0EA8BD461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4EA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4EA6"/>
                </a:solidFill>
                <a:latin typeface="Arial"/>
                <a:ea typeface="Arial"/>
                <a:cs typeface="Arial"/>
              </a:rPr>
              <a:t>Workshop guide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981F23-9DA7-47E6-A5A2-9CAF42AD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23950"/>
            <a:ext cx="78105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buNone/>
              <a:defRPr sz="5400" b="1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5400" b="1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AI software factory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5400" b="1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5400" b="1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workshop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E6F884-A813-4D25-88B1-04732B58E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90875"/>
            <a:ext cx="7239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0" i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Use Pocket Cinema to learn a controlled path from product intent to verified software.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6D3F08-7841-4C0C-92FE-53F423B98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238250"/>
            <a:ext cx="260985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E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555DE8-35F8-4AAB-969C-AE0B90B7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238250"/>
            <a:ext cx="5715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7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630034-2B18-44BF-B6B2-449EEB4F6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3716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A73E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A73E8"/>
                </a:solidFill>
                <a:latin typeface="Arial"/>
                <a:ea typeface="Arial"/>
                <a:cs typeface="Arial"/>
              </a:rPr>
              <a:t>Workshop format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C68D44-B9D4-418A-ABAB-8FB424A10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647825"/>
            <a:ext cx="2190750" cy="1400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100 minutes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425" b="0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Hands-on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425" b="0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Pocket Cinema → TableStory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FE9F30-C780-43C3-AF25-0A83F97E6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10150"/>
            <a:ext cx="1074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C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88744B-0494-4A88-9E3B-7815F85AA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149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A73E8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A73E8"/>
                </a:solidFill>
                <a:latin typeface="Arial"/>
                <a:ea typeface="Arial"/>
                <a:cs typeface="Arial"/>
              </a:rPr>
              <a:t>Plan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8F96F2-144F-4E09-B951-6A64393FB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3149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D93025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D93025"/>
                </a:solidFill>
                <a:latin typeface="Arial"/>
                <a:ea typeface="Arial"/>
                <a:cs typeface="Arial"/>
              </a:rPr>
              <a:t>Build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C77D48-B809-49A7-B6C4-84A5732C5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3149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9AB0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9AB00"/>
                </a:solidFill>
                <a:latin typeface="Arial"/>
                <a:ea typeface="Arial"/>
                <a:cs typeface="Arial"/>
              </a:rPr>
              <a:t>Verify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8941D5-CD2E-4035-855F-06E70AC9F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3149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88038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88038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22CC76-F17A-497F-A925-788CAB282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0868B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80868B"/>
                </a:solidFill>
                <a:latin typeface="Arial"/>
                <a:ea typeface="Arial"/>
                <a:cs typeface="Arial"/>
              </a:rPr>
              <a:t>A learning deck for software developers and technical leads</a:t>
            </a:r>
          </a:p>
        </p:txBody>
      </p:sp>
    </p:spTree>
    <p:extLst>
      <p:ext uri="{BB962C8B-B14F-4D97-AF65-F5344CB8AC3E}">
        <p14:creationId xmlns:p14="http://schemas.microsoft.com/office/powerpoint/2010/main" val="536021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9C466FB-89E4-41D6-85E5-12D51238B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810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7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882887-395E-4720-B97D-219756E27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1466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30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1142CD-13E6-49B0-8120-D704E1F4F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0"/>
            <a:ext cx="145732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A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0BDB37-3976-40F9-A7A4-6238C6B1C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0"/>
            <a:ext cx="145732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80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CEA8B1-F95B-4BDD-B6C9-002BFFC0B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4EA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74EA6"/>
                </a:solidFill>
                <a:latin typeface="Arial"/>
                <a:ea typeface="Arial"/>
                <a:cs typeface="Arial"/>
              </a:rPr>
              <a:t>AI software factory workshop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F4F7B9-955A-4156-B87E-B7A02457E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"/>
            <a:ext cx="3314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Overview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9228AB-D0B8-41FF-B2D1-5D3AC8A53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C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4985F8-DB31-4A7D-95A8-4D703A7EF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341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0868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80868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84BF64-B210-4277-A3C6-01577A436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What you will learn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6F4C07-BD8F-4144-9365-238D4CDC1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0" i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You will complete one delivery loop and inspect the artifacts that make the result trustworthy.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4F48EE-D021-4D52-ADF3-CC246592A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A73E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A73E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B55BCE-0255-4DDA-925C-D8932853A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66925"/>
            <a:ext cx="674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Explain the system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834B31-D607-4CEE-9CC7-4A4F028E3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28875"/>
            <a:ext cx="6743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 i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Distinguish a coding agent from the factory that governs its work.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F7EB61-123D-4257-847A-2A6814DAD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52725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C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3D5F28-8047-4845-9622-470EB26F5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A73E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A73E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D0698C-22F5-4264-9B91-CBBC61492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47975"/>
            <a:ext cx="674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Plan the change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485F66-8BD6-4DD5-B789-7A2DF0105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09925"/>
            <a:ext cx="6743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 i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Turn a product requirements document into approved, dependency-aware slices.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913C1F-7409-4A87-A1B3-266A4A392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33775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C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09E56F-5BEE-4723-9EC1-D80DA1B7A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A73E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A73E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8E3B3E-38CD-4543-BADE-C640945F4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29025"/>
            <a:ext cx="674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Run work safely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01561A-C8FE-448C-B257-E6549869A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90975"/>
            <a:ext cx="6743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 i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Use isolated worktrees and explicit ticket ownership.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5A99AC-AAA6-4249-A138-066B800A3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14825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C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76A348-3B60-4BFF-BD82-BB88AD725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A73E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A73E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AD245A-2BD0-402E-AE82-483360326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10075"/>
            <a:ext cx="674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Evaluate evidence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77B01D-FB97-4F3D-8D7D-53E4A6A9C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772025"/>
            <a:ext cx="6743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 i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Check protected tests, RED/GREEN proof, and required gates.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C8723E-ADC4-43A3-870C-A1AB54A37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095875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C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94C65C-BC14-4D89-A16C-475154C97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A73E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A73E8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A793FF8-77AE-4A5E-9D4A-94CFE4C84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191125"/>
            <a:ext cx="674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Make the decision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D6889D-0797-4798-ADA7-3DB09796E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553075"/>
            <a:ext cx="6743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 i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Review the exact candidate revision and decide whether to merge.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D95C144-5F21-445C-BD98-F9FF5E41D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14550"/>
            <a:ext cx="34671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E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8038791-ECEA-4C09-B518-C38A0379D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14550"/>
            <a:ext cx="5715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7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BCDA3E6-2864-4D15-8B9A-013B5C9F6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479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A73E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A73E8"/>
                </a:solidFill>
                <a:latin typeface="Arial"/>
                <a:ea typeface="Arial"/>
                <a:cs typeface="Arial"/>
              </a:rPr>
              <a:t>Workshop output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5244185-DC07-4C26-B7CD-57D1522A1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24125"/>
            <a:ext cx="304800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An approved plan, five vertical slices, protected acceptance tests, a candidate change, and a documented merge decision.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43F642A-963B-4075-979C-B244D5D12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95750"/>
            <a:ext cx="346710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EA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86E12A9-202C-4DF9-85D0-850F972E1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95750"/>
            <a:ext cx="571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80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5458A78-68F9-40AF-AA17-7CC124FAC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2291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8803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88038"/>
                </a:solidFill>
                <a:latin typeface="Arial"/>
                <a:ea typeface="Arial"/>
                <a:cs typeface="Arial"/>
              </a:rPr>
              <a:t>How to participate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4170C28-7FA5-4F35-9B42-9DE55EC8F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505325"/>
            <a:ext cx="30480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Follow the Goal, Do, Check rhythm. Stop when evidence is missing or a human decision is required.</a:t>
            </a:r>
          </a:p>
        </p:txBody>
      </p:sp>
    </p:spTree>
    <p:extLst>
      <p:ext uri="{BB962C8B-B14F-4D97-AF65-F5344CB8AC3E}">
        <p14:creationId xmlns:p14="http://schemas.microsoft.com/office/powerpoint/2010/main" val="19318849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223FF5-A5FA-4C0B-A20E-6C33C5ADF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810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7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E22C09-5F0B-4323-9985-2AAEB9574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1466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30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1C9C5F-CB12-495F-9219-7346B1C12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0"/>
            <a:ext cx="145732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A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869840-818B-4EF7-91E2-E583FF637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0"/>
            <a:ext cx="145732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80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4B2A78-189A-4063-B8E8-9188DDF89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4EA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74EA6"/>
                </a:solidFill>
                <a:latin typeface="Arial"/>
                <a:ea typeface="Arial"/>
                <a:cs typeface="Arial"/>
              </a:rPr>
              <a:t>AI software factory workshop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DB261F-55C1-4515-AF95-148EED3DB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"/>
            <a:ext cx="3314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Concepts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FB8675-D9A4-463C-8D4E-4024EAC7D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C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38CD8A-8794-4F40-BF8C-C9DD8BFB9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341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0868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80868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ABEB2F-5519-4704-9CBF-665DDADA9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What an AI software factory controls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B1C6A0-612A-44CA-AB47-8184E2C39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88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0" i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A factory coordinates people, agents, repositories, tests, and approvals so a change can reach a reviewable decision.</a:t>
            </a:r>
          </a:p>
        </p:txBody>
      </p:sp>
      <p:graphicFrame>
        <p:nvGraphicFramePr>
          <p:cNvPr id="26" name=""/>
          <p:cNvGraphicFramePr/>
          <p:nvPr/>
        </p:nvGraphicFramePr>
        <p:xfrm>
          <a:off xmlns:a="http://schemas.openxmlformats.org/drawingml/2006/main" x="685800" y="2152650"/>
          <a:ext xmlns:a="http://schemas.openxmlformats.org/drawingml/2006/main" cx="108204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10200"/>
                <a:gridCol w="5410200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02124"/>
                          </a:solidFill>
                          <a:latin typeface="Arial"/>
                          <a:ea typeface="Arial"/>
                          <a:cs typeface="Arial"/>
                        </a:rPr>
                        <a:t>Coding agent</a:t>
                      </a:r>
                    </a:p>
                  </a:txBody>
                  <a:tcPr marL="95250" marR="95250" marT="76200" marB="7620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74EA6"/>
                          </a:solidFill>
                          <a:latin typeface="Arial"/>
                          <a:ea typeface="Arial"/>
                          <a:cs typeface="Arial"/>
                        </a:rPr>
                        <a:t>Software factory</a:t>
                      </a:r>
                    </a:p>
                  </a:txBody>
                  <a:tcPr marL="95250" marR="95250" marT="76200" marB="76200" anchor="ctr">
                    <a:solidFill>
                      <a:srgbClr val="E8F0FE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202124"/>
                          </a:solidFill>
                          <a:latin typeface="Arial"/>
                          <a:ea typeface="Arial"/>
                          <a:cs typeface="Arial"/>
                        </a:rPr>
                        <a:t>Receives one bounded ticket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202124"/>
                          </a:solidFill>
                          <a:latin typeface="Arial"/>
                          <a:ea typeface="Arial"/>
                          <a:cs typeface="Arial"/>
                        </a:rPr>
                        <a:t>Supplies approved intent and dependencies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202124"/>
                          </a:solidFill>
                          <a:latin typeface="Arial"/>
                          <a:ea typeface="Arial"/>
                          <a:cs typeface="Arial"/>
                        </a:rPr>
                        <a:t>Edits code in one isolated worktree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202124"/>
                          </a:solidFill>
                          <a:latin typeface="Arial"/>
                          <a:ea typeface="Arial"/>
                          <a:cs typeface="Arial"/>
                        </a:rPr>
                        <a:t>Controls concurrency, ownership, and limits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202124"/>
                          </a:solidFill>
                          <a:latin typeface="Arial"/>
                          <a:ea typeface="Arial"/>
                          <a:cs typeface="Arial"/>
                        </a:rPr>
                        <a:t>Reports that work is complete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202124"/>
                          </a:solidFill>
                          <a:latin typeface="Arial"/>
                          <a:ea typeface="Arial"/>
                          <a:cs typeface="Arial"/>
                        </a:rPr>
                        <a:t>Requires causal tests and gate results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202124"/>
                          </a:solidFill>
                          <a:latin typeface="Arial"/>
                          <a:ea typeface="Arial"/>
                          <a:cs typeface="Arial"/>
                        </a:rPr>
                        <a:t>Cannot approve its own output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202124"/>
                          </a:solidFill>
                          <a:latin typeface="Arial"/>
                          <a:ea typeface="Arial"/>
                          <a:cs typeface="Arial"/>
                        </a:rPr>
                        <a:t>Preserves human authority over the merge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0BD4D2-C572-4266-9070-0419D3480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108204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E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3E2752-961B-4E3C-91CB-22C35560F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57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7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C869F5-140F-4C15-A08E-7EE2A2799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43550"/>
            <a:ext cx="1040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A73E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A73E8"/>
                </a:solidFill>
                <a:latin typeface="Arial"/>
                <a:ea typeface="Arial"/>
                <a:cs typeface="Arial"/>
              </a:rPr>
              <a:t>Key point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E8D3A5-207D-41FF-95FE-DFC94F18D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19775"/>
            <a:ext cx="10401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The agent performs the work. The factory controls how that work becomes trustworthy.</a:t>
            </a:r>
          </a:p>
        </p:txBody>
      </p:sp>
    </p:spTree>
    <p:extLst>
      <p:ext uri="{BB962C8B-B14F-4D97-AF65-F5344CB8AC3E}">
        <p14:creationId xmlns:p14="http://schemas.microsoft.com/office/powerpoint/2010/main" val="12619659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9D82A6-9013-4692-9FDD-1F77A7162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810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7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285E8B-2C00-43C6-BF87-C501247E9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1466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30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B79521-240B-4ECE-9400-B58F4331D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0"/>
            <a:ext cx="145732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A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D4F169-5D37-4903-9504-442D6D8FC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0"/>
            <a:ext cx="145732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80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A80BF5-09E7-47A6-AF50-F20B8B274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4EA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74EA6"/>
                </a:solidFill>
                <a:latin typeface="Arial"/>
                <a:ea typeface="Arial"/>
                <a:cs typeface="Arial"/>
              </a:rPr>
              <a:t>AI software factory workshop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7DF585-EC1F-419B-BCD1-8D492F360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"/>
            <a:ext cx="3314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Concepts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4BCCE1-683E-472D-9108-0124FD923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C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D26C91-41A5-4C7D-B6B9-BAC86C590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341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0868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80868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55F480-E4BC-428A-A229-E701CCD03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The factory turns intent into a decision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36689E-67EE-467B-A256-758B917EE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0" i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Each stage starts with a visible artifact and produces the input required by the next stage.</a:t>
            </a:r>
          </a:p>
        </p:txBody>
      </p:sp>
      <p:graphicFrame>
        <p:nvGraphicFramePr>
          <p:cNvPr id="28" name=""/>
          <p:cNvGraphicFramePr/>
          <p:nvPr/>
        </p:nvGraphicFramePr>
        <p:xfrm>
          <a:off xmlns:a="http://schemas.openxmlformats.org/drawingml/2006/main" x="685800" y="2114550"/>
          <a:ext xmlns:a="http://schemas.openxmlformats.org/drawingml/2006/main" cx="649605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14400"/>
                <a:gridCol w="1657350"/>
                <a:gridCol w="2038350"/>
                <a:gridCol w="1885950"/>
              </a:tblGrid>
              <a:tr h="4191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02124"/>
                          </a:solidFill>
                          <a:latin typeface="Arial"/>
                          <a:ea typeface="Arial"/>
                          <a:cs typeface="Arial"/>
                        </a:rPr>
                        <a:t>Stage</a:t>
                      </a:r>
                    </a:p>
                  </a:txBody>
                  <a:tcPr marL="95250" marR="95250" marT="76200" marB="7620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02124"/>
                          </a:solidFill>
                          <a:latin typeface="Arial"/>
                          <a:ea typeface="Arial"/>
                          <a:cs typeface="Arial"/>
                        </a:rPr>
                        <a:t>Starts with</a:t>
                      </a:r>
                    </a:p>
                  </a:txBody>
                  <a:tcPr marL="95250" marR="95250" marT="76200" marB="7620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02124"/>
                          </a:solidFill>
                          <a:latin typeface="Arial"/>
                          <a:ea typeface="Arial"/>
                          <a:cs typeface="Arial"/>
                        </a:rPr>
                        <a:t>Work</a:t>
                      </a:r>
                    </a:p>
                  </a:txBody>
                  <a:tcPr marL="95250" marR="95250" marT="76200" marB="7620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02124"/>
                          </a:solidFill>
                          <a:latin typeface="Arial"/>
                          <a:ea typeface="Arial"/>
                          <a:cs typeface="Arial"/>
                        </a:rPr>
                        <a:t>Produces</a:t>
                      </a:r>
                    </a:p>
                  </a:txBody>
                  <a:tcPr marL="95250" marR="95250" marT="76200" marB="76200" anchor="ctr">
                    <a:solidFill>
                      <a:srgbClr val="F8F9F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202124"/>
                          </a:solidFill>
                          <a:latin typeface="Arial"/>
                          <a:ea typeface="Arial"/>
                          <a:cs typeface="Arial"/>
                        </a:rPr>
                        <a:t>Plan</a:t>
                      </a:r>
                    </a:p>
                  </a:txBody>
                  <a:tcPr marL="95250" marR="95250" marT="76200" marB="76200"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02124"/>
                          </a:solidFill>
                          <a:latin typeface="Arial"/>
                          <a:ea typeface="Arial"/>
                          <a:cs typeface="Arial"/>
                        </a:rPr>
                        <a:t>PRD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02124"/>
                          </a:solidFill>
                          <a:latin typeface="Arial"/>
                          <a:ea typeface="Arial"/>
                          <a:cs typeface="Arial"/>
                        </a:rPr>
                        <a:t>Approve intent and slices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02124"/>
                          </a:solidFill>
                          <a:latin typeface="Arial"/>
                          <a:ea typeface="Arial"/>
                          <a:cs typeface="Arial"/>
                        </a:rPr>
                        <a:t>Ready tickets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202124"/>
                          </a:solidFill>
                          <a:latin typeface="Arial"/>
                          <a:ea typeface="Arial"/>
                          <a:cs typeface="Arial"/>
                        </a:rPr>
                        <a:t>Build</a:t>
                      </a:r>
                    </a:p>
                  </a:txBody>
                  <a:tcPr marL="95250" marR="95250" marT="76200" marB="76200" anchor="ctr"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02124"/>
                          </a:solidFill>
                          <a:latin typeface="Arial"/>
                          <a:ea typeface="Arial"/>
                          <a:cs typeface="Arial"/>
                        </a:rPr>
                        <a:t>Ready ticket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02124"/>
                          </a:solidFill>
                          <a:latin typeface="Arial"/>
                          <a:ea typeface="Arial"/>
                          <a:cs typeface="Arial"/>
                        </a:rPr>
                        <a:t>Work in isolation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02124"/>
                          </a:solidFill>
                          <a:latin typeface="Arial"/>
                          <a:ea typeface="Arial"/>
                          <a:cs typeface="Arial"/>
                        </a:rPr>
                        <a:t>Candidate revision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202124"/>
                          </a:solidFill>
                          <a:latin typeface="Arial"/>
                          <a:ea typeface="Arial"/>
                          <a:cs typeface="Arial"/>
                        </a:rPr>
                        <a:t>Verify</a:t>
                      </a:r>
                    </a:p>
                  </a:txBody>
                  <a:tcPr marL="95250" marR="95250" marT="76200" marB="76200" anchor="ctr">
                    <a:solidFill>
                      <a:srgbClr val="FEF7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02124"/>
                          </a:solidFill>
                          <a:latin typeface="Arial"/>
                          <a:ea typeface="Arial"/>
                          <a:cs typeface="Arial"/>
                        </a:rPr>
                        <a:t>Candidate revision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02124"/>
                          </a:solidFill>
                          <a:latin typeface="Arial"/>
                          <a:ea typeface="Arial"/>
                          <a:cs typeface="Arial"/>
                        </a:rPr>
                        <a:t>Run protected tests and gates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02124"/>
                          </a:solidFill>
                          <a:latin typeface="Arial"/>
                          <a:ea typeface="Arial"/>
                          <a:cs typeface="Arial"/>
                        </a:rPr>
                        <a:t>Evidence packet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202124"/>
                          </a:solidFill>
                          <a:latin typeface="Arial"/>
                          <a:ea typeface="Arial"/>
                          <a:cs typeface="Arial"/>
                        </a:rPr>
                        <a:t>Review</a:t>
                      </a:r>
                    </a:p>
                  </a:txBody>
                  <a:tcPr marL="95250" marR="95250" marT="76200" marB="76200"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02124"/>
                          </a:solidFill>
                          <a:latin typeface="Arial"/>
                          <a:ea typeface="Arial"/>
                          <a:cs typeface="Arial"/>
                        </a:rPr>
                        <a:t>Evidence packet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02124"/>
                          </a:solidFill>
                          <a:latin typeface="Arial"/>
                          <a:ea typeface="Arial"/>
                          <a:cs typeface="Arial"/>
                        </a:rPr>
                        <a:t>Inspect the exact revision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02124"/>
                          </a:solidFill>
                          <a:latin typeface="Arial"/>
                          <a:ea typeface="Arial"/>
                          <a:cs typeface="Arial"/>
                        </a:rPr>
                        <a:t>Merge or revise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18337E-433D-4F1F-9E3E-184EBAD08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14550"/>
            <a:ext cx="39814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fc526d09144a1d"/>
          <a:srcRect xmlns:a="http://schemas.openxmlformats.org/drawingml/2006/main" l="1424" t="0" r="142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39050" y="2228850"/>
            <a:ext cx="3752850" cy="2628900"/>
          </a:xfrm>
          <a:prstGeom xmlns:a="http://schemas.openxmlformats.org/drawingml/2006/main" prst="roundRect">
            <a:avLst>
              <a:gd name="adj" fmla="val 2174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EC6549-3C00-4A16-AFAF-275ABBF71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219700"/>
            <a:ext cx="39814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E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13567B-A823-453A-AD53-86E79B8E0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219700"/>
            <a:ext cx="571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7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6471C2-3688-43E3-B613-5DA543E0D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353050"/>
            <a:ext cx="3562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A73E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A73E8"/>
                </a:solidFill>
                <a:latin typeface="Arial"/>
                <a:ea typeface="Arial"/>
                <a:cs typeface="Arial"/>
              </a:rPr>
              <a:t>Read the system state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660508-A358-4132-9A32-4F6D9B4DE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629275"/>
            <a:ext cx="35623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78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Before continuing, name the current stage, artifact, and next human checkpoint.</a:t>
            </a:r>
          </a:p>
        </p:txBody>
      </p:sp>
    </p:spTree>
    <p:extLst>
      <p:ext uri="{BB962C8B-B14F-4D97-AF65-F5344CB8AC3E}">
        <p14:creationId xmlns:p14="http://schemas.microsoft.com/office/powerpoint/2010/main" val="945140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C7BAA6-389A-4A53-96C1-FFC1307D4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810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7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7F44E1-F34A-4DF6-B00F-0AF5DB1EB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1466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30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8DF3CC-A1CD-45D9-B7A4-C83DBC38B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0"/>
            <a:ext cx="145732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A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1F1B95-D133-4AC5-807C-4E7FBF97D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0"/>
            <a:ext cx="145732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80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D1472D-605B-4306-9A38-9C4681DAF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4EA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74EA6"/>
                </a:solidFill>
                <a:latin typeface="Arial"/>
                <a:ea typeface="Arial"/>
                <a:cs typeface="Arial"/>
              </a:rPr>
              <a:t>AI software factory workshop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37989F-8078-473C-8037-A379B5C15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"/>
            <a:ext cx="3314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Workshop procedure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53B72E-444E-4203-84D7-2172D80AF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C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6513F0-C8DD-4C71-8D5D-FAAF96352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341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0868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80868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B541B2-793D-4012-ADF8-43468EB44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Use the same learning loop at every stage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D13875-EEA8-4F59-8941-6DD67F9E8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0" i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Complete one bounded action, then inspect the result before you continue.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4F6C34-3BA8-4418-97E6-6ABAFAEFB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A73E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A73E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C6C27B-7DDB-49EC-9E24-6A856102A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8120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Goal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9B6851-F771-4ED8-9565-4EA99F09C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81250"/>
            <a:ext cx="2781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 i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Name the artifact or decision you must produce.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71758D-C131-4ACA-8F56-1687732C5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383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A73E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A73E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E28F3E-7C1C-4DD1-A8C2-93B5FB44B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98120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Do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0EEA3A-27F9-4C84-AD52-BF86F6FC0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381250"/>
            <a:ext cx="2781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 i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Perform one bounded action in the Control Center or repository.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2D8E9B-61BC-4F3C-8842-5A9BBDC23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0383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A73E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A73E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C8BFF6-E7BF-4167-B44E-E9F7BE055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98120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58A0D0-ED3F-4CFC-BAB0-0EB1F830B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81250"/>
            <a:ext cx="2781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 i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Inspect state, evidence, and the next checkpoint.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5C55BD-F52E-4F25-9FB2-7AEB8FF3E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CE0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46" name=""/>
          <p:cNvGraphicFramePr/>
          <p:nvPr/>
        </p:nvGraphicFramePr>
        <p:xfrm>
          <a:off xmlns:a="http://schemas.openxmlformats.org/drawingml/2006/main" x="685800" y="3562350"/>
          <a:ext xmlns:a="http://schemas.openxmlformats.org/drawingml/2006/main" cx="10820400" cy="2247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00150"/>
                <a:gridCol w="2647950"/>
                <a:gridCol w="6972300"/>
              </a:tblGrid>
              <a:tr h="3619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02124"/>
                          </a:solidFill>
                          <a:latin typeface="Arial"/>
                          <a:ea typeface="Arial"/>
                          <a:cs typeface="Arial"/>
                        </a:rPr>
                        <a:t>Minutes</a:t>
                      </a:r>
                    </a:p>
                  </a:txBody>
                  <a:tcPr marL="95250" marR="95250" marT="76200" marB="7620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02124"/>
                          </a:solidFill>
                          <a:latin typeface="Arial"/>
                          <a:ea typeface="Arial"/>
                          <a:cs typeface="Arial"/>
                        </a:rPr>
                        <a:t>Phase</a:t>
                      </a:r>
                    </a:p>
                  </a:txBody>
                  <a:tcPr marL="95250" marR="95250" marT="76200" marB="7620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02124"/>
                          </a:solidFill>
                          <a:latin typeface="Arial"/>
                          <a:ea typeface="Arial"/>
                          <a:cs typeface="Arial"/>
                        </a:rPr>
                        <a:t>What you will do</a:t>
                      </a:r>
                    </a:p>
                  </a:txBody>
                  <a:tcPr marL="95250" marR="95250" marT="76200" marB="76200" anchor="ctr">
                    <a:solidFill>
                      <a:srgbClr val="F8F9FA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02124"/>
                          </a:solidFill>
                          <a:latin typeface="Arial"/>
                          <a:ea typeface="Arial"/>
                          <a:cs typeface="Arial"/>
                        </a:rPr>
                        <a:t>0–20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02124"/>
                          </a:solidFill>
                          <a:latin typeface="Arial"/>
                          <a:ea typeface="Arial"/>
                          <a:cs typeface="Arial"/>
                        </a:rPr>
                        <a:t>Understand the system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02124"/>
                          </a:solidFill>
                          <a:latin typeface="Arial"/>
                          <a:ea typeface="Arial"/>
                          <a:cs typeface="Arial"/>
                        </a:rPr>
                        <a:t>Set up, inspect Pocket Cinema, and read the supplied PRD.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02124"/>
                          </a:solidFill>
                          <a:latin typeface="Arial"/>
                          <a:ea typeface="Arial"/>
                          <a:cs typeface="Arial"/>
                        </a:rPr>
                        <a:t>20–53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02124"/>
                          </a:solidFill>
                          <a:latin typeface="Arial"/>
                          <a:ea typeface="Arial"/>
                          <a:cs typeface="Arial"/>
                        </a:rPr>
                        <a:t>Plan the change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02124"/>
                          </a:solidFill>
                          <a:latin typeface="Arial"/>
                          <a:ea typeface="Arial"/>
                          <a:cs typeface="Arial"/>
                        </a:rPr>
                        <a:t>Approve product intent, architecture, and vertical slices.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02124"/>
                          </a:solidFill>
                          <a:latin typeface="Arial"/>
                          <a:ea typeface="Arial"/>
                          <a:cs typeface="Arial"/>
                        </a:rPr>
                        <a:t>53–85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02124"/>
                          </a:solidFill>
                          <a:latin typeface="Arial"/>
                          <a:ea typeface="Arial"/>
                          <a:cs typeface="Arial"/>
                        </a:rPr>
                        <a:t>Execute safely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02124"/>
                          </a:solidFill>
                          <a:latin typeface="Arial"/>
                          <a:ea typeface="Arial"/>
                          <a:cs typeface="Arial"/>
                        </a:rPr>
                        <a:t>Approve tests, run the factory, and inspect one ticket.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02124"/>
                          </a:solidFill>
                          <a:latin typeface="Arial"/>
                          <a:ea typeface="Arial"/>
                          <a:cs typeface="Arial"/>
                        </a:rPr>
                        <a:t>85–100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02124"/>
                          </a:solidFill>
                          <a:latin typeface="Arial"/>
                          <a:ea typeface="Arial"/>
                          <a:cs typeface="Arial"/>
                        </a:rPr>
                        <a:t>Decide and learn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02124"/>
                          </a:solidFill>
                          <a:latin typeface="Arial"/>
                          <a:ea typeface="Arial"/>
                          <a:cs typeface="Arial"/>
                        </a:rPr>
                        <a:t>Review evidence, merge the exact revision, and monitor the result.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EC23B9-EA3F-489E-91BB-FC3F0535C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10820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EA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A4D381-F262-4457-97C2-0DF71673F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57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80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4659DC-2EBF-441F-8B23-4ECCACE60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0960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8803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88038"/>
                </a:solidFill>
                <a:latin typeface="Arial"/>
                <a:ea typeface="Arial"/>
                <a:cs typeface="Arial"/>
              </a:rPr>
              <a:t>Choose a mode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229319-AFAD-45C2-B549-886F97F0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6076950"/>
            <a:ext cx="868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Use Rehearsal for deterministic timing. Use Live when model and GitHub integrations are ready.</a:t>
            </a:r>
          </a:p>
        </p:txBody>
      </p:sp>
    </p:spTree>
    <p:extLst>
      <p:ext uri="{BB962C8B-B14F-4D97-AF65-F5344CB8AC3E}">
        <p14:creationId xmlns:p14="http://schemas.microsoft.com/office/powerpoint/2010/main" val="19794092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71A2DD-C3BD-460D-BC6C-557E02440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810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7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1112D3-F21F-43F5-A794-52392E7D9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1466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30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20658C-0D7A-4D7A-AA23-46E4E16EF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0"/>
            <a:ext cx="145732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A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11B7C6-E4A6-48D3-82F4-2EAEA4AC7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0"/>
            <a:ext cx="145732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80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B73494-5DD7-4ACB-B1BC-C5081BD9E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4EA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74EA6"/>
                </a:solidFill>
                <a:latin typeface="Arial"/>
                <a:ea typeface="Arial"/>
                <a:cs typeface="Arial"/>
              </a:rPr>
              <a:t>AI software factory workshop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6627D5-C671-4610-90CE-24E7E00EF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"/>
            <a:ext cx="3314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Use case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48AB1B-5D01-4FA2-A0E5-7CF4EEB47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C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D538E8-78E4-40E2-B90E-CDB266F08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341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0868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80868B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AAAC3C-19A6-429D-B516-633443972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Inspect Pocket Cinema before you change 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CDD58D-F7B7-4AD2-9655-A284D24FC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0" i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The baseline already contains behavior, data, layouts, and tests. Record them before you plan the rebrand.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E65038-F673-44E9-AABF-C77350528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66675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8d6532ef0a4b3b"/>
          <a:srcRect xmlns:a="http://schemas.openxmlformats.org/drawingml/2006/main" l="0" t="10024" r="0" b="100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" y="2171700"/>
            <a:ext cx="6477000" cy="3524250"/>
          </a:xfrm>
          <a:prstGeom xmlns:a="http://schemas.openxmlformats.org/drawingml/2006/main" prst="roundRect">
            <a:avLst>
              <a:gd name="adj" fmla="val 1622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147E09-C4BF-4DDA-9F35-37DBC9D4E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152650"/>
            <a:ext cx="3505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Record these observations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668249-D2DC-4BCE-8B56-4EEF54B37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790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73E8"/>
          </a:solidFill>
          <a:ln xmlns:a="http://schemas.openxmlformats.org/drawingml/2006/main" w="0">
            <a:solidFill>
              <a:srgbClr val="1A73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98DDB6-25F6-43E3-B3A7-42F14A057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724150"/>
            <a:ext cx="323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Navigation: Browse, Watchlist, and Profile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413FA8-6764-41F7-BC86-56697FDD1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3432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73E8"/>
          </a:solidFill>
          <a:ln xmlns:a="http://schemas.openxmlformats.org/drawingml/2006/main" w="0">
            <a:solidFill>
              <a:srgbClr val="1A73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F85441-4F09-4EE5-8963-C62A20DDF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276600"/>
            <a:ext cx="323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Data: film collection, search, and detail routes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BCB85F-E59B-484C-B675-510400A0C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895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73E8"/>
          </a:solidFill>
          <a:ln xmlns:a="http://schemas.openxmlformats.org/drawingml/2006/main" w="0">
            <a:solidFill>
              <a:srgbClr val="1A73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65A8A9-FE72-463C-AF6E-DAA64ABA6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829050"/>
            <a:ext cx="323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Layouts: desktop, mobile, and television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B6C256-6817-42D3-8490-09BA1330A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481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73E8"/>
          </a:solidFill>
          <a:ln xmlns:a="http://schemas.openxmlformats.org/drawingml/2006/main" w="0">
            <a:solidFill>
              <a:srgbClr val="1A73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37F10E-EEA9-4794-B097-693A9A760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381500"/>
            <a:ext cx="323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Tests: startup path and existing behavior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CD2D63-7D64-4277-B878-CDB3B5933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105400"/>
            <a:ext cx="34861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7E0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5CA856-7ED9-4422-B7AE-6331B2640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105400"/>
            <a:ext cx="571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A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086EE4-E421-482B-A977-969018987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238750"/>
            <a:ext cx="3067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9AB0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9AB00"/>
                </a:solidFill>
                <a:latin typeface="Arial"/>
                <a:ea typeface="Arial"/>
                <a:cs typeface="Arial"/>
              </a:rPr>
              <a:t>Stop condition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4E6AA3-26BA-4F29-A0EF-7D0BECD36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514975"/>
            <a:ext cx="30670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78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Do not redesign yet. First identify what works and what must not regress.</a:t>
            </a:r>
          </a:p>
        </p:txBody>
      </p:sp>
    </p:spTree>
    <p:extLst>
      <p:ext uri="{BB962C8B-B14F-4D97-AF65-F5344CB8AC3E}">
        <p14:creationId xmlns:p14="http://schemas.microsoft.com/office/powerpoint/2010/main" val="21187589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5FFB496-09DA-4524-8E95-33D1FE32D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810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7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30BE45-7D76-4DD6-B587-FAEECFBF5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1466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30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4C7B04-1D88-4362-9509-E4FEEC596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0"/>
            <a:ext cx="145732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A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344309-618D-48DC-80BA-5C6ADB3CC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0"/>
            <a:ext cx="145732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80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162790-7624-48E7-97DE-5FCC39F1F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4EA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74EA6"/>
                </a:solidFill>
                <a:latin typeface="Arial"/>
                <a:ea typeface="Arial"/>
                <a:cs typeface="Arial"/>
              </a:rPr>
              <a:t>AI software factory workshop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6620A9-9686-4AD1-ADC2-983139BDB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"/>
            <a:ext cx="3314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Use case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95D2D9-F5B3-47A7-8448-D544902F5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C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02CCBA-8743-4D10-BF33-38DC1D078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341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0868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80868B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90E460-35C9-459F-A743-B4D180C14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Define the TableStory change as behavior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FF3B5D-48E7-4ABA-AB0A-4F8D52DAE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0" i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The target is a domain conversion with new user journeys, not a visual reskin.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273841-D5F2-4B1F-A391-4DCC53C1D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62865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78d22ee75a430e"/>
          <a:srcRect xmlns:a="http://schemas.openxmlformats.org/drawingml/2006/main" l="0" t="11429" r="0" b="114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" y="2190750"/>
            <a:ext cx="6096000" cy="3200400"/>
          </a:xfrm>
          <a:prstGeom xmlns:a="http://schemas.openxmlformats.org/drawingml/2006/main" prst="roundRect">
            <a:avLst>
              <a:gd name="adj" fmla="val 1786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F917E3-D006-43B7-8285-02917D39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076450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74EA6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174EA6"/>
                </a:solidFill>
                <a:latin typeface="Arial"/>
                <a:ea typeface="Arial"/>
                <a:cs typeface="Arial"/>
              </a:rPr>
              <a:t>Change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8F05B3-FA17-45EE-82D9-807DCE38D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600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73E8"/>
          </a:solidFill>
          <a:ln xmlns:a="http://schemas.openxmlformats.org/drawingml/2006/main" w="0">
            <a:solidFill>
              <a:srgbClr val="1A73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3E8E00-0579-44E7-A6F8-254507D8A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533650"/>
            <a:ext cx="36385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Film domain → recipe domain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FF1282-013F-412E-8AFC-8232B3BB9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009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73E8"/>
          </a:solidFill>
          <a:ln xmlns:a="http://schemas.openxmlformats.org/drawingml/2006/main" w="0">
            <a:solidFill>
              <a:srgbClr val="1A73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95523C-EBB2-4E8B-84C7-E7E044BFB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943225"/>
            <a:ext cx="36385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Recipe search, details, and cookbook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885746-F442-41A6-A0E7-78355EA08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4194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73E8"/>
          </a:solidFill>
          <a:ln xmlns:a="http://schemas.openxmlformats.org/drawingml/2006/main" w="0">
            <a:solidFill>
              <a:srgbClr val="1A73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6E1B51-9ECB-4339-9940-6426ECE83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352800"/>
            <a:ext cx="36385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Remote-first television journey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F9BE05-3D93-493E-AB81-906A30C68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829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73E8"/>
          </a:solidFill>
          <a:ln xmlns:a="http://schemas.openxmlformats.org/drawingml/2006/main" w="0">
            <a:solidFill>
              <a:srgbClr val="1A73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A23E10-2C12-41A8-808D-79D711DF7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762375"/>
            <a:ext cx="36385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TableStory terminology and identity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320270-5A31-466E-B6D0-06E6A678E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295775"/>
            <a:ext cx="3867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C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8B00B4-E33C-4311-A137-07D849105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495800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88038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188038"/>
                </a:solidFill>
                <a:latin typeface="Arial"/>
                <a:ea typeface="Arial"/>
                <a:cs typeface="Arial"/>
              </a:rPr>
              <a:t>Preserve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3B58AF-23F1-4CF8-87AE-738496B3F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019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8038"/>
          </a:solidFill>
          <a:ln xmlns:a="http://schemas.openxmlformats.org/drawingml/2006/main" w="0">
            <a:solidFill>
              <a:srgbClr val="18803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B68AEB-DE2F-4B60-B455-BC5B3537F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953000"/>
            <a:ext cx="3638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Responsive layouts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C26DF6-5C2A-4635-AD73-916C972D3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353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8038"/>
          </a:solidFill>
          <a:ln xmlns:a="http://schemas.openxmlformats.org/drawingml/2006/main" w="0">
            <a:solidFill>
              <a:srgbClr val="18803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1B3070-00B4-452F-A67D-806FB3330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286375"/>
            <a:ext cx="3638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Keyboard and remote access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3E0950-2FF5-4B96-AA45-F7C0953F8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6864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8038"/>
          </a:solidFill>
          <a:ln xmlns:a="http://schemas.openxmlformats.org/drawingml/2006/main" w="0">
            <a:solidFill>
              <a:srgbClr val="18803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B8EC31-2856-4393-A692-A71E63907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619750"/>
            <a:ext cx="3638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Deterministic data and startup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89C711-99BA-4325-92ED-9FCEFD54D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6019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8038"/>
          </a:solidFill>
          <a:ln xmlns:a="http://schemas.openxmlformats.org/drawingml/2006/main" w="0">
            <a:solidFill>
              <a:srgbClr val="18803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065C497-A49F-4C28-B722-40EEE7032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953125"/>
            <a:ext cx="3638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Testable API and browser flows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748E47-2479-46F1-B1C0-B999A1828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628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E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4E6B29-999F-4FA8-B8C9-819886DFA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57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7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5B08ACB-3A70-4E18-86A7-1BF3332AC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29300"/>
            <a:ext cx="113157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A73E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A73E8"/>
                </a:solidFill>
                <a:latin typeface="Arial"/>
                <a:ea typeface="Arial"/>
                <a:cs typeface="Arial"/>
              </a:rPr>
              <a:t>Acceptance outcome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2A64AB3-E594-4EBC-B18D-C7DE64575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1220" y="5810250"/>
            <a:ext cx="464058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A user can find a recipe, understand it, and save or remove it from My Cookbook.</a:t>
            </a:r>
          </a:p>
        </p:txBody>
      </p:sp>
    </p:spTree>
    <p:extLst>
      <p:ext uri="{BB962C8B-B14F-4D97-AF65-F5344CB8AC3E}">
        <p14:creationId xmlns:p14="http://schemas.microsoft.com/office/powerpoint/2010/main" val="196257151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4D80A9-B4AC-45B2-A98B-BE0375E77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810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7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4F72F4-5DCB-4CBB-A579-84A9E0D92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1466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30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0D2362-F986-4200-88CB-8A20B0212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0"/>
            <a:ext cx="145732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A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A33587-CFEA-43F3-9D10-B724036B6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0"/>
            <a:ext cx="145732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80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5DDE02-20AE-4770-8010-79A3A7197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4EA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74EA6"/>
                </a:solidFill>
                <a:latin typeface="Arial"/>
                <a:ea typeface="Arial"/>
                <a:cs typeface="Arial"/>
              </a:rPr>
              <a:t>AI software factory workshop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0248D4-B25E-46F8-B933-92DD3250B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"/>
            <a:ext cx="3314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Planning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B363FC-88DC-4D11-918D-8AE426FEE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C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A85237-6CDC-42DF-87ED-E1D372225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341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0868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80868B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CA8A9E-2B5B-4AE9-8380-C775DD444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Split the change into five vertical slices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ED6E50-6E46-440E-B9E9-F21BEBB8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0" i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Each slice has acceptance criteria, file ownership, dependencies, and its own QA evidence.</a:t>
            </a:r>
          </a:p>
        </p:txBody>
      </p:sp>
      <p:graphicFrame>
        <p:nvGraphicFramePr>
          <p:cNvPr id="26" name=""/>
          <p:cNvGraphicFramePr/>
          <p:nvPr/>
        </p:nvGraphicFramePr>
        <p:xfrm>
          <a:off xmlns:a="http://schemas.openxmlformats.org/drawingml/2006/main" x="685800" y="2076450"/>
          <a:ext xmlns:a="http://schemas.openxmlformats.org/drawingml/2006/main" cx="10820400" cy="3638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04850"/>
                <a:gridCol w="3105150"/>
                <a:gridCol w="1104900"/>
                <a:gridCol w="5905500"/>
              </a:tblGrid>
              <a:tr h="4000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02124"/>
                          </a:solidFill>
                          <a:latin typeface="Arial"/>
                          <a:ea typeface="Arial"/>
                          <a:cs typeface="Arial"/>
                        </a:rPr>
                        <a:t>Ticket</a:t>
                      </a:r>
                    </a:p>
                  </a:txBody>
                  <a:tcPr marL="95250" marR="95250" marT="76200" marB="7620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02124"/>
                          </a:solidFill>
                          <a:latin typeface="Arial"/>
                          <a:ea typeface="Arial"/>
                          <a:cs typeface="Arial"/>
                        </a:rPr>
                        <a:t>Slice</a:t>
                      </a:r>
                    </a:p>
                  </a:txBody>
                  <a:tcPr marL="95250" marR="95250" marT="76200" marB="7620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02124"/>
                          </a:solidFill>
                          <a:latin typeface="Arial"/>
                          <a:ea typeface="Arial"/>
                          <a:cs typeface="Arial"/>
                        </a:rPr>
                        <a:t>Needs</a:t>
                      </a:r>
                    </a:p>
                  </a:txBody>
                  <a:tcPr marL="95250" marR="95250" marT="76200" marB="7620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02124"/>
                          </a:solidFill>
                          <a:latin typeface="Arial"/>
                          <a:ea typeface="Arial"/>
                          <a:cs typeface="Arial"/>
                        </a:rPr>
                        <a:t>Observable outcome</a:t>
                      </a:r>
                    </a:p>
                  </a:txBody>
                  <a:tcPr marL="95250" marR="95250" marT="76200" marB="76200" anchor="ctr">
                    <a:solidFill>
                      <a:srgbClr val="F8F9FA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4EA6"/>
                          </a:solidFill>
                          <a:latin typeface="Arial"/>
                          <a:ea typeface="Arial"/>
                          <a:cs typeface="Arial"/>
                        </a:rPr>
                        <a:t>T1</a:t>
                      </a:r>
                    </a:p>
                  </a:txBody>
                  <a:tcPr marL="95250" marR="95250" marT="76200" marB="76200"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124"/>
                          </a:solidFill>
                          <a:latin typeface="Arial"/>
                          <a:ea typeface="Arial"/>
                          <a:cs typeface="Arial"/>
                        </a:rPr>
                        <a:t>Recipe data and API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124"/>
                          </a:solidFill>
                          <a:latin typeface="Menlo"/>
                          <a:ea typeface="Menlo"/>
                          <a:cs typeface="Menlo"/>
                        </a:rPr>
                        <a:t>—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124"/>
                          </a:solidFill>
                          <a:latin typeface="Arial"/>
                          <a:ea typeface="Arial"/>
                          <a:cs typeface="Arial"/>
                        </a:rPr>
                        <a:t>A client can discover valid recipes through the collection contract.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4EA6"/>
                          </a:solidFill>
                          <a:latin typeface="Arial"/>
                          <a:ea typeface="Arial"/>
                          <a:cs typeface="Arial"/>
                        </a:rPr>
                        <a:t>T2</a:t>
                      </a:r>
                    </a:p>
                  </a:txBody>
                  <a:tcPr marL="95250" marR="95250" marT="76200" marB="76200"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124"/>
                          </a:solidFill>
                          <a:latin typeface="Arial"/>
                          <a:ea typeface="Arial"/>
                          <a:cs typeface="Arial"/>
                        </a:rPr>
                        <a:t>Accessible mobile shell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124"/>
                          </a:solidFill>
                          <a:latin typeface="Menlo"/>
                          <a:ea typeface="Menlo"/>
                          <a:cs typeface="Menlo"/>
                        </a:rPr>
                        <a:t>—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124"/>
                          </a:solidFill>
                          <a:latin typeface="Arial"/>
                          <a:ea typeface="Arial"/>
                          <a:cs typeface="Arial"/>
                        </a:rPr>
                        <a:t>A visitor sees a coherent, readable TableStory product shell.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4EA6"/>
                          </a:solidFill>
                          <a:latin typeface="Arial"/>
                          <a:ea typeface="Arial"/>
                          <a:cs typeface="Arial"/>
                        </a:rPr>
                        <a:t>T3</a:t>
                      </a:r>
                    </a:p>
                  </a:txBody>
                  <a:tcPr marL="95250" marR="95250" marT="76200" marB="76200"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124"/>
                          </a:solidFill>
                          <a:latin typeface="Arial"/>
                          <a:ea typeface="Arial"/>
                          <a:cs typeface="Arial"/>
                        </a:rPr>
                        <a:t>Recipe and cookbook journey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124"/>
                          </a:solidFill>
                          <a:latin typeface="Menlo"/>
                          <a:ea typeface="Menlo"/>
                          <a:cs typeface="Menlo"/>
                        </a:rPr>
                        <a:t>T1, T2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124"/>
                          </a:solidFill>
                          <a:latin typeface="Arial"/>
                          <a:ea typeface="Arial"/>
                          <a:cs typeface="Arial"/>
                        </a:rPr>
                        <a:t>A home cook can find, understand, save, and remove a recipe.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4EA6"/>
                          </a:solidFill>
                          <a:latin typeface="Arial"/>
                          <a:ea typeface="Arial"/>
                          <a:cs typeface="Arial"/>
                        </a:rPr>
                        <a:t>T4</a:t>
                      </a:r>
                    </a:p>
                  </a:txBody>
                  <a:tcPr marL="95250" marR="95250" marT="76200" marB="76200"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124"/>
                          </a:solidFill>
                          <a:latin typeface="Arial"/>
                          <a:ea typeface="Arial"/>
                          <a:cs typeface="Arial"/>
                        </a:rPr>
                        <a:t>Television recipe journey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124"/>
                          </a:solidFill>
                          <a:latin typeface="Menlo"/>
                          <a:ea typeface="Menlo"/>
                          <a:cs typeface="Menlo"/>
                        </a:rPr>
                        <a:t>T3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124"/>
                          </a:solidFill>
                          <a:latin typeface="Arial"/>
                          <a:ea typeface="Arial"/>
                          <a:cs typeface="Arial"/>
                        </a:rPr>
                        <a:t>A viewer can complete the journey with remote-equivalent keys.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4EA6"/>
                          </a:solidFill>
                          <a:latin typeface="Arial"/>
                          <a:ea typeface="Arial"/>
                          <a:cs typeface="Arial"/>
                        </a:rPr>
                        <a:t>T5</a:t>
                      </a:r>
                    </a:p>
                  </a:txBody>
                  <a:tcPr marL="95250" marR="95250" marT="76200" marB="76200"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124"/>
                          </a:solidFill>
                          <a:latin typeface="Arial"/>
                          <a:ea typeface="Arial"/>
                          <a:cs typeface="Arial"/>
                        </a:rPr>
                        <a:t>Proof and documentation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124"/>
                          </a:solidFill>
                          <a:latin typeface="Menlo"/>
                          <a:ea typeface="Menlo"/>
                          <a:cs typeface="Menlo"/>
                        </a:rPr>
                        <a:t>T4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124"/>
                          </a:solidFill>
                          <a:latin typeface="Arial"/>
                          <a:ea typeface="Arial"/>
                          <a:cs typeface="Arial"/>
                        </a:rPr>
                        <a:t>A reviewer can reproduce and verify the completed conversion.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4B2CBC-B293-4A05-AB66-0506B363B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820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7E0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939517-CC18-48E6-9769-113165999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57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A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6D48C0-C8A0-4F4B-9FAE-6C9A49B82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0388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9AB0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9AB00"/>
                </a:solidFill>
                <a:latin typeface="Arial"/>
                <a:ea typeface="Arial"/>
                <a:cs typeface="Arial"/>
              </a:rPr>
              <a:t>Planning check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8B735B-C5B1-4F8E-80D5-DC3ADB901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6019800"/>
            <a:ext cx="868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Publish tickets only after every requirement traces to a slice and every dependency is explicit.</a:t>
            </a:r>
          </a:p>
        </p:txBody>
      </p:sp>
    </p:spTree>
    <p:extLst>
      <p:ext uri="{BB962C8B-B14F-4D97-AF65-F5344CB8AC3E}">
        <p14:creationId xmlns:p14="http://schemas.microsoft.com/office/powerpoint/2010/main" val="112142094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F5F65C-DD27-4369-B07E-97FFD7360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810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7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44026C-0202-4811-86AD-0FB80AE7A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1466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30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DC13A4-0219-480D-8055-848C8CB33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0"/>
            <a:ext cx="145732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A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9DE0C8-A174-4FDD-A650-E74DE2CCA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0"/>
            <a:ext cx="145732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80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C079CB-2A5D-4213-877F-550915B2E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4EA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74EA6"/>
                </a:solidFill>
                <a:latin typeface="Arial"/>
                <a:ea typeface="Arial"/>
                <a:cs typeface="Arial"/>
              </a:rPr>
              <a:t>AI software factory workshop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77B3E5-493F-4C66-820E-1C3B66F9A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"/>
            <a:ext cx="3314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Verification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143949-4720-4831-AC58-B7C6272BE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C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B2CD23-FFAD-42BE-8510-A5C14F2C9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341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0868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80868B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E5C79B-BA5A-4B15-BEDA-390EB8EBE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Approve acceptance tests before implementation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8492F6-D9A2-4340-910C-3BD039165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0" i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A protected test states the ticket requirement in executable form before the coding agent begins.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C8D823-847E-4AA9-A2A3-B0DAB2512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A73E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A73E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1E204F-DB2E-4304-9CAB-F227D80C9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24075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Create ticket-specific tests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E92681-FBBF-4930-99D0-2E31C37A7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86025"/>
            <a:ext cx="4267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 i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Independent QA converts the approved acceptance criteria into focused checks.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6B5D38-8C0D-483B-B7F6-EC1720677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A73E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A73E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C1B9DD-E7FC-4549-BF14-E9202C2CD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95625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Review the test diff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DA7ED0-A44F-47C2-9DCD-28CEC6C02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57575"/>
            <a:ext cx="4267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 i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Confirm that the tests check the requirement without assuming the implementation.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CB91C4-4EFE-4B84-90E9-CAFC3B60C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D9302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D9302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6F652A-A865-43DD-8A89-86F74B6D6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67175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Prove 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1DB646-DC83-4B79-8B0D-D90084791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29125"/>
            <a:ext cx="4267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 i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Run the focused command before implementation. It must fail for the missing behavior.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F9C298-D17C-45A9-92B3-A02F4A0DD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8803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8803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A15A6A-8297-4897-8BAE-C18065176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038725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Prove GREEN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9DE886-940D-47A1-850A-7F1390962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400675"/>
            <a:ext cx="4267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 i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Run the same command after implementation. It must pass with the required gates.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361517-2B17-4914-9C02-B6AAE638D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095500"/>
            <a:ext cx="579120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58aadb2ea94c93"/>
          <a:srcRect xmlns:a="http://schemas.openxmlformats.org/drawingml/2006/main" l="0" t="2270" r="0" b="227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10250" y="2190750"/>
            <a:ext cx="5600700" cy="3638550"/>
          </a:xfrm>
          <a:prstGeom xmlns:a="http://schemas.openxmlformats.org/drawingml/2006/main" prst="roundRect">
            <a:avLst>
              <a:gd name="adj" fmla="val 1571"/>
            </a:avLst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8C3081-0004-4117-A2E7-3334DED02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10820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8E6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D295CD-D23C-466F-802B-810CB467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57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30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A4CFB4-C223-4719-95CA-D417BA003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912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D93025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D93025"/>
                </a:solidFill>
                <a:latin typeface="Arial"/>
                <a:ea typeface="Arial"/>
                <a:cs typeface="Arial"/>
              </a:rPr>
              <a:t>Stop condition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EF8681-A564-4397-8A05-02CCB0659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6172200"/>
            <a:ext cx="868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If the test cannot prove the requirement, revise the test before any implementation work begins.</a:t>
            </a:r>
          </a:p>
        </p:txBody>
      </p:sp>
    </p:spTree>
    <p:extLst>
      <p:ext uri="{BB962C8B-B14F-4D97-AF65-F5344CB8AC3E}">
        <p14:creationId xmlns:p14="http://schemas.microsoft.com/office/powerpoint/2010/main" val="151049135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B42DB2-4E97-4AB4-A3A3-C6A6099B2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810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7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4C5EF9-1D74-4432-ADC8-48EB2920D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1466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30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1F7947-104F-489D-88D8-9239B90C7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0"/>
            <a:ext cx="145732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A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2D3D5B-2204-4EEB-9405-3C8632776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0"/>
            <a:ext cx="145732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80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C66CE4-737E-4274-A85F-B939F65C2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4EA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74EA6"/>
                </a:solidFill>
                <a:latin typeface="Arial"/>
                <a:ea typeface="Arial"/>
                <a:cs typeface="Arial"/>
              </a:rPr>
              <a:t>AI software factory workshop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BAFD3F-2E36-46E3-B107-1D343E5F5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"/>
            <a:ext cx="3314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89A078-FEDA-49EC-8D1E-C99D650B9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C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1A9F89-3D50-4D42-94FA-0DA81F218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341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0868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80868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2A6DDF-B799-4960-8E1C-CE6B22791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Review the exact candidate revision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E5572C-A1C1-430A-B6B2-B4AB0471C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0" i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The factory can recommend a merge. A person must inspect the evidence and choose what ships.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B0C4EF-21C6-4F00-AC51-5226B2B9A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65722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e08d3da73148bf"/>
          <a:srcRect xmlns:a="http://schemas.openxmlformats.org/drawingml/2006/main" l="0" t="7454" r="0" b="74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" y="2190750"/>
            <a:ext cx="6381750" cy="3695700"/>
          </a:xfrm>
          <a:prstGeom xmlns:a="http://schemas.openxmlformats.org/drawingml/2006/main" prst="roundRect">
            <a:avLst>
              <a:gd name="adj" fmla="val 1546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5E0B6B-6A24-4605-82E0-F29F4A0D1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13360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Review checklist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B2F7F2-5623-436B-A3EC-8F2E8A73E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752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8038"/>
          </a:solidFill>
          <a:ln xmlns:a="http://schemas.openxmlformats.org/drawingml/2006/main" w="0">
            <a:solidFill>
              <a:srgbClr val="18803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D4D150-A752-45A9-988A-6E9261DB2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686050"/>
            <a:ext cx="335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Acceptance criteria are satisfied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54F4AB-F2CC-43E5-AA74-6CDF54D76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1908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8038"/>
          </a:solidFill>
          <a:ln xmlns:a="http://schemas.openxmlformats.org/drawingml/2006/main" w="0">
            <a:solidFill>
              <a:srgbClr val="18803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CD6EAA-5EE9-47E9-A69C-A93DDB785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124200"/>
            <a:ext cx="335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RED/GREEN proof is visible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F7CBA9-D17E-47BD-B3C6-3A06FCECE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6290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8038"/>
          </a:solidFill>
          <a:ln xmlns:a="http://schemas.openxmlformats.org/drawingml/2006/main" w="0">
            <a:solidFill>
              <a:srgbClr val="18803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E7F4D2-39BA-42EA-AC33-0A92A31AF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562350"/>
            <a:ext cx="335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Required gates pass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31B91C-1751-4858-A20B-C790AB42D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0671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8038"/>
          </a:solidFill>
          <a:ln xmlns:a="http://schemas.openxmlformats.org/drawingml/2006/main" w="0">
            <a:solidFill>
              <a:srgbClr val="18803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819EC4-89EE-4630-83E8-2C64CFAC1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000500"/>
            <a:ext cx="335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The diff matches the ticket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A11E69-729E-456F-9A00-7047C79C8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505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8038"/>
          </a:solidFill>
          <a:ln xmlns:a="http://schemas.openxmlformats.org/drawingml/2006/main" w="0">
            <a:solidFill>
              <a:srgbClr val="18803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20A3C1-D9F1-4C8F-98DE-F4EA29D4C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38650"/>
            <a:ext cx="335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The candidate revision is recorded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AFD2AB-6F5A-4633-862B-AF81DCA8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9434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8038"/>
          </a:solidFill>
          <a:ln xmlns:a="http://schemas.openxmlformats.org/drawingml/2006/main" w="0">
            <a:solidFill>
              <a:srgbClr val="18803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149ED2-0E1C-462F-A68E-93E3002B6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876800"/>
            <a:ext cx="335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The merge decision is attributed to a person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CAA0EF-629E-4955-A73F-172940466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334000"/>
            <a:ext cx="35814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EA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1057B3-1DD2-4985-87B5-76E13B38F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334000"/>
            <a:ext cx="571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80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0DCC81-8BEE-44A3-B488-369372AB9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467350"/>
            <a:ext cx="3162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8803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88038"/>
                </a:solidFill>
                <a:latin typeface="Arial"/>
                <a:ea typeface="Arial"/>
                <a:cs typeface="Arial"/>
              </a:rPr>
              <a:t>Human authority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9A3438-3899-4C67-9E83-9311E10CB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743575"/>
            <a:ext cx="3162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49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Merge the reviewed revision, or return the ticket with a reason.</a:t>
            </a:r>
          </a:p>
        </p:txBody>
      </p:sp>
    </p:spTree>
    <p:extLst>
      <p:ext uri="{BB962C8B-B14F-4D97-AF65-F5344CB8AC3E}">
        <p14:creationId xmlns:p14="http://schemas.microsoft.com/office/powerpoint/2010/main" val="83947579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FD5676F-7699-4735-9A03-B81B69BB0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810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7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DB22F8-D42D-406E-A12C-3DE10C6DC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1466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30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F516E8-F0D9-4DAC-BCC2-723F86FE2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0"/>
            <a:ext cx="145732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A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FD0031-5FB1-4B07-9986-22E14B323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0"/>
            <a:ext cx="145732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80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23C377-BF65-44FE-BAE7-54A70107B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4EA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74EA6"/>
                </a:solidFill>
                <a:latin typeface="Arial"/>
                <a:ea typeface="Arial"/>
                <a:cs typeface="Arial"/>
              </a:rPr>
              <a:t>AI software factory workshop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71DAE4-1351-48E4-84F5-C44C218A5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"/>
            <a:ext cx="3314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Exercise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E30B39-E19F-49EA-9C38-A631CAEAF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C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19B4E6-3F45-4A68-B4AD-3B865F31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341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0868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80868B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9A9F0C-040A-4BD0-B062-CA4E89C39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Start with inspection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1D0675-DEE1-4E6F-874B-E7AC97689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0" i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Open Pocket Cinema. Do not change code yet.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9BCE69-0C6C-401D-9403-10ED8BD94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A73E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A73E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C8AA85-A9E9-4161-9C40-32B4AEBE2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85975"/>
            <a:ext cx="617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Run the baseline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807B18-03B3-474E-9CF2-F8DFB063C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47925"/>
            <a:ext cx="6172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 i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Confirm that the application starts and the current tests pass.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5D56FE-C6FC-49FC-AAD3-32E4877E5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57500"/>
            <a:ext cx="561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C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0B15DA-2612-4DFE-9D88-ED20AA7A7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A73E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A73E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E33B2F-9C4F-403E-9CB0-9C3729887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00375"/>
            <a:ext cx="617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Trace one user flow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739FCC-B947-4DD4-9C03-CB0CBAC54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62325"/>
            <a:ext cx="6172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 i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Follow Browse → search → detail and identify the data involved.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4AA918-53F1-48A3-8A13-14FCAE031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71900"/>
            <a:ext cx="561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C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DF4D4B-8821-4DBA-ADC0-18796D854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A73E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A73E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96B4A2-E9C6-4D59-8646-F924AE157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14775"/>
            <a:ext cx="617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Record your observations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567F8B-88EC-4D40-B9BC-16675C06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76725"/>
            <a:ext cx="6172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 i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Write down what must change, what must remain, and what is unclear.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88196A-CBAD-438F-A1BC-F81770808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86300"/>
            <a:ext cx="561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C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5088D2-BD67-4665-8D84-F0B0AC69F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A73E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A73E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BD35CA-A90B-41C6-AA15-4FB2815A3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29175"/>
            <a:ext cx="617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Compare with the PRD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4A9CE3-2AE8-4D6A-80A0-3355388C7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191125"/>
            <a:ext cx="6172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 i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Open the TableStory requirements and identify the first disagreement.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16396F-C212-42F6-908E-C2EDAB248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133600"/>
            <a:ext cx="363855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E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2795CA-6937-44EF-936D-3FF184916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133600"/>
            <a:ext cx="5715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7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6FB709-1BAF-480B-B71A-43C302BCB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266950"/>
            <a:ext cx="3219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A73E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A73E8"/>
                </a:solidFill>
                <a:latin typeface="Arial"/>
                <a:ea typeface="Arial"/>
                <a:cs typeface="Arial"/>
              </a:rPr>
              <a:t>You are ready to continue when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408A60-8B1C-47CA-94E2-0C0216457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543175"/>
            <a:ext cx="32194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• The baseline runs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425" b="0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• Current behavior is named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425" b="0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• The regression boundary is explicit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425" b="0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• Open questions are recorded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70050F-6BDA-49BC-923A-E4780DEBE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591050"/>
            <a:ext cx="36385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EA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1973336-0A86-49DA-87CD-1869C88A4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591050"/>
            <a:ext cx="57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80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19DF3D1-3C70-4FFC-A1E7-29849FC45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724400"/>
            <a:ext cx="3219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8803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88038"/>
                </a:solidFill>
                <a:latin typeface="Arial"/>
                <a:ea typeface="Arial"/>
                <a:cs typeface="Arial"/>
              </a:rPr>
              <a:t>Next section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188A778-BC1F-4337-8156-C147EFA19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000625"/>
            <a:ext cx="32194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Product review: agree on the problem, behavior, and boundary before you plan implementation.</a:t>
            </a:r>
          </a:p>
        </p:txBody>
      </p:sp>
    </p:spTree>
    <p:extLst>
      <p:ext uri="{BB962C8B-B14F-4D97-AF65-F5344CB8AC3E}">
        <p14:creationId xmlns:p14="http://schemas.microsoft.com/office/powerpoint/2010/main" val="15100880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2026-08-27T22:58:26.0280000Z</dcterms:created>
  <dcterms:modified xsi:type="dcterms:W3CDTF">2026-08-27T22:58:26.0280000Z</dcterms:modified>
</coreProperties>
</file>